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3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C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 —  TEMA 0: REPASO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Colecciones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Listas, mapas, pilas, colas y conjuntos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Tipos de colecciones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Colecciones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97442"/>
            <a:ext cx="11091672" cy="1212047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02436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necesitas guardar un número de elementos que no conoces de antemano, las colecciones son la solución: estructuras dinámicas que crecen y encogen mientras el programa se ejecuta.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247039"/>
              </p:ext>
            </p:extLst>
          </p:nvPr>
        </p:nvGraphicFramePr>
        <p:xfrm>
          <a:off x="651276" y="2574036"/>
          <a:ext cx="11091671" cy="3108960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8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4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Familia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se accede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posición (índice numérico)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ArrayList, LinkedList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Mapas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clave (par clave-valor)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HashMap, TreeMap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Otras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reglas propias de entrada/salida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pilas, colas, conjuntos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Listas — ArrayList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Colecciones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0608" y="1463040"/>
            <a:ext cx="11091672" cy="10058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34928" y="155448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Basada en un array que crece internamente: los elementos están contiguos en memoria, uno pegado al siguiente, como las casillas numeradas de una estantería.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60608" y="2788920"/>
            <a:ext cx="3697224" cy="1280160"/>
          </a:xfrm>
          <a:prstGeom prst="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06328" y="2788920"/>
            <a:ext cx="3605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0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'Uno'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57832" y="2788920"/>
            <a:ext cx="3697224" cy="1280160"/>
          </a:xfrm>
          <a:prstGeom prst="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403552" y="2788920"/>
            <a:ext cx="3605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1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'Dos'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055056" y="2788920"/>
            <a:ext cx="3697224" cy="1280160"/>
          </a:xfrm>
          <a:prstGeom prst="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100776" y="2788920"/>
            <a:ext cx="3605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2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'Tres'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0608" y="43891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por índice: rápido, O(1).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Insertar o borrar en medio de la lista: lento, O(n), porque hay que desplazar el resto.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Listas — LinkedList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Colecciones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091672" cy="10515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doblemente enlazada: cada nodo guarda dos referencias, al anterior y al siguiente. Es como una cadena de personas dadas de la mano: cada una solo conoce a las de al lado.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3422904" cy="109728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3331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'Uno'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57244" y="2340864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37304" y="2606040"/>
            <a:ext cx="3422904" cy="109728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383024" y="2651760"/>
            <a:ext cx="3331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'Dos'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 rot="10800000">
            <a:off x="3846483" y="283464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171688" y="2606040"/>
            <a:ext cx="3422904" cy="109728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217408" y="2651760"/>
            <a:ext cx="3331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'Tres'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por índice: más lento, O(n), porque hay que recorrer nodo a nodo.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Insertar o borrar al principio o al final: rápido, O(1).</a:t>
            </a:r>
            <a:endParaRPr lang="en-US" sz="20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F7BB1A31-B256-3D6B-B786-D8EC6E5D7CAC}"/>
              </a:ext>
            </a:extLst>
          </p:cNvPr>
          <p:cNvSpPr/>
          <p:nvPr/>
        </p:nvSpPr>
        <p:spPr>
          <a:xfrm>
            <a:off x="7729852" y="2359837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9A945660-0208-9806-B05E-818AFCAB47A4}"/>
              </a:ext>
            </a:extLst>
          </p:cNvPr>
          <p:cNvSpPr/>
          <p:nvPr/>
        </p:nvSpPr>
        <p:spPr>
          <a:xfrm rot="10800000">
            <a:off x="7737753" y="2853302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Por qué cambia el rendimiento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Colecciones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1746"/>
            <a:ext cx="110916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 ArrayList, get(2) calcula la dirección de memoria directamente (la posición de partida más 2 huecos): siempre es un único cálculo, da igual el tamaño de la lista. En una LinkedList no hay forma de "saltar" al nodo 2 sin pasar antes por el 0 y el 1 — de ahí el O(n).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10916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 inserción pasa lo simétrico: insertar en medio de un ArrayList desplaza una posición a todos los elementos siguientes. Insertar en una LinkedList no mueve ningún dato, solo cambia a qué apuntan un par de referencias — por eso es O(1) en los extremos.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526280"/>
            <a:ext cx="11091672" cy="914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vas a acceder mucho por posición (get(i)), usa ArrayList. Si vas a insertar y borrar mucho por los extremos, LinkedList sale más a cuenta.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Métodos de 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Colecciones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484501"/>
            <a:ext cx="11091672" cy="2651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21792" y="1484501"/>
            <a:ext cx="73152" cy="26517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96112" y="1594229"/>
            <a:ext cx="10588752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ArrayList&lt;String&gt; textos = new ArrayList&lt;&gt;();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textos.add("Uno");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textos.add("Dos");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textos.add("Tres");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textos.add(2, "Dos y medio"); // se inserta entre "Dos" y "Tres"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textos.remove(1); // elimina "Dos" (posición 1)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4410581"/>
            <a:ext cx="11091672" cy="10515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96112" y="4502021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recorres con for-each e intentas remove() dentro del bucle, Java lanza ConcurrentModificationException. Para borrar mientras recorres, usa un Iterator (o, más adelante, un stream).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Mapas — la tabla interna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Colecciones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mapa (Map) guarda pares clave-valor. HashMap calcula un número (el hash) a partir de la clave para decidir en qué posición de una tabla interna guarda cada par: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464308" cy="91440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3728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'Jake'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67228" y="178308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24428" y="1783080"/>
            <a:ext cx="2464308" cy="91440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470148" y="1828800"/>
            <a:ext cx="23728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hash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H('Jake')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43016" y="178308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0216" y="1783080"/>
            <a:ext cx="2464308" cy="91440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345936" y="1828800"/>
            <a:ext cx="23728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 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tabla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18804" y="178308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76004" y="1783080"/>
            <a:ext cx="2464308" cy="91440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9221724" y="1828800"/>
            <a:ext cx="23728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'Jake', 250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91672" cy="2743200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3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Posición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'Jake' → 250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vacío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'Olivia' → 22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'Emma' → 242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'Lucía' → 19  (colisión: se encadena con la anterior)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HashMap vs TreeMap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Colecciones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11091671" cy="2560320"/>
        </p:xfrm>
        <a:graphic>
          <a:graphicData uri="http://schemas.openxmlformats.org/drawingml/2006/table">
            <a:tbl>
              <a:tblPr/>
              <a:tblGrid>
                <a:gridCol w="3549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HashMap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TreeMap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Orden de los elementos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garantizado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ordenados según la clave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Inserción / borrado / acceso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O(1) en promedio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O(log n)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Memoria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 más memoria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 menos, solo lo almacenado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7490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TreeMap mantiene las claves en un árbol (rojo-negro), comparándolas entre sí. Por eso, al recorrerlo, siempre salen ordenadas de menor a mayor: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340407" y="4434840"/>
            <a:ext cx="7508138" cy="594360"/>
          </a:xfrm>
          <a:prstGeom prst="roundRect">
            <a:avLst/>
          </a:prstGeom>
          <a:solidFill>
            <a:srgbClr val="EFEBE9"/>
          </a:solidFill>
          <a:ln w="19050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2340407" y="4434840"/>
            <a:ext cx="75081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'Luis'</a:t>
            </a:r>
            <a:endParaRPr lang="en-US" sz="1700" dirty="0"/>
          </a:p>
        </p:txBody>
      </p:sp>
      <p:sp>
        <p:nvSpPr>
          <p:cNvPr id="5" name="Shape 6"/>
          <p:cNvSpPr/>
          <p:nvPr/>
        </p:nvSpPr>
        <p:spPr>
          <a:xfrm>
            <a:off x="6094476" y="5029200"/>
            <a:ext cx="914" cy="13716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548640" y="5303520"/>
            <a:ext cx="5362956" cy="59436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594360" y="5303520"/>
            <a:ext cx="52715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'Ana'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30118" y="5166360"/>
            <a:ext cx="914" cy="13716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277356" y="5303520"/>
            <a:ext cx="5362956" cy="59436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323076" y="5303520"/>
            <a:ext cx="52715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'Sofía'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958834" y="5166360"/>
            <a:ext cx="914" cy="13716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3230118" y="5166360"/>
            <a:ext cx="5728716" cy="914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Ejemplo de HashMap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Colecciones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30175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73152" cy="301752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978408"/>
            <a:ext cx="10588752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HashMap&lt;String, Producto&gt; productos = new HashMap&lt;&gt;();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productos.put("111A", new Producto("111A", "Monitor LG 22 pulg", 99.95f));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productos.put("222B", new Producto("222B", "Disco duro 512GB SSD", 109.95f));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productos.remove("222B");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(String codigo : productos.keySet()) {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System.out.println(productos.get(codigo));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11091672" cy="10058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HashMap usa equals()/hashCode() de la clave para calcular su posición. Con String no hay que pensar en ello, pero con una clase propia como clave tienes que sobrescribir tú los dos, o el mapa nunca la va a encontrar.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Pilas (LIFO)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Colecciones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914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pila sigue la regla LIFO (Last In, First Out): el último en entrar es el primero en salir, como una pila de platos.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1672" cy="2743200"/>
        </p:xfrm>
        <a:graphic>
          <a:graphicData uri="http://schemas.openxmlformats.org/drawingml/2006/table">
            <a:tbl>
              <a:tblPr/>
              <a:tblGrid>
                <a:gridCol w="11091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Pila — se opera solo por la cima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'tercero'  ←  cima: aquí actúan push() y pop()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'segundo'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'primero'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1663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Java, la interfaz recomendada para pilas hoy en día es Deque (por ejemplo, ArrayDeque). La antigua clase Stack ya no se recomienda.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Pilas — métodos y ejemplo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Colecciones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11091672" cy="2514600"/>
        </p:xfrm>
        <a:graphic>
          <a:graphicData uri="http://schemas.openxmlformats.org/drawingml/2006/table">
            <a:tbl>
              <a:tblPr/>
              <a:tblGrid>
                <a:gridCol w="3105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6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push(e)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añade e en la cima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pop()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quita y devuelve el elemento de la cima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peek()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 el elemento de la cima, sin quitarlo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isEmpty()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comprueba si la pila está vacía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657600"/>
            <a:ext cx="11091672" cy="21945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548640" y="3657600"/>
            <a:ext cx="73152" cy="21945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822960" y="3767328"/>
            <a:ext cx="10588752" cy="197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Deque&lt;String&gt; pila = new ArrayDeque&lt;&gt;();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pila.push("primero");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pila.push("segundo");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pila.push("tercero");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System.out.println(pila.pop()); // "tercero": el último en entrar sale primero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Colas (FIFO)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Colecciones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10058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cola sigue la regla FIFO (First In, First Out): el primero en entrar es el primero en salir, como una fila de gente. LinkedList implementa la interfaz Queue.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422904" cy="109728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3331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'primero'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con poll()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25824" y="219456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83024" y="2194560"/>
            <a:ext cx="3422904" cy="109728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428744" y="2240280"/>
            <a:ext cx="3331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'segundo'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60208" y="219456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17408" y="2194560"/>
            <a:ext cx="3422904" cy="109728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263128" y="2240280"/>
            <a:ext cx="3331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'tercero'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con offer()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1091672" cy="914400"/>
        </p:xfrm>
        <a:graphic>
          <a:graphicData uri="http://schemas.openxmlformats.org/drawingml/2006/table">
            <a:tbl>
              <a:tblPr/>
              <a:tblGrid>
                <a:gridCol w="3105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6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offer(e)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añade e al final de la cola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poll()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quita y devuelve el primer elemento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peek()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 el primer elemento, sin quitarlo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Colas — ejemplo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Colecciones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48740"/>
            <a:ext cx="11091672" cy="2651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348740"/>
            <a:ext cx="73152" cy="26517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458468"/>
            <a:ext cx="10588752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Queue&lt;String&gt; cola = new LinkedList&lt;&gt;();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cola.offer("primero");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cola.offer("segundo");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cola.offer("tercero");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System.out.println(cola.poll()); // "primero": el primero en entrar sale primero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4366260"/>
            <a:ext cx="11091672" cy="11430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4457700"/>
            <a:ext cx="10543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confundas push/pop (pila) con offer/poll (cola): las dos operan sobre un Deque o una Queue, pero sacan el elemento por un extremo distinto.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Conjuntos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Colecciones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91672" cy="6858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68680" y="1463040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Set guarda elementos sin admitir repetidos: si intentas añadir uno que ya está (según equals()), la segunda llamada a add() no hace nada.</a:t>
            </a:r>
            <a:endParaRPr lang="en-US" sz="1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205698"/>
              </p:ext>
            </p:extLst>
          </p:nvPr>
        </p:nvGraphicFramePr>
        <p:xfrm>
          <a:off x="617220" y="2365248"/>
          <a:ext cx="11091672" cy="1036320"/>
        </p:xfrm>
        <a:graphic>
          <a:graphicData uri="http://schemas.openxmlformats.org/drawingml/2006/table">
            <a:tbl>
              <a:tblPr/>
              <a:tblGrid>
                <a:gridCol w="266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3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3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HashSet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LinkedHashSet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TreeSet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Orden de iteración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garantizado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orden de inserción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ordenado según el valor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3886200"/>
            <a:ext cx="11091672" cy="21031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594360" y="3886200"/>
            <a:ext cx="73152" cy="210312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868680" y="3995928"/>
            <a:ext cx="10588752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Set&lt;String&gt; nombres = new HashSet&lt;&gt;();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nombres.add("Ana");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nombres.add("Luis");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nombres.add("Ana"); // ya estaba: no se añade otra vez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System.out.println(nombres.size()); // 2, no 3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Conjuntos — métodos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Colecciones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045948"/>
              </p:ext>
            </p:extLst>
          </p:nvPr>
        </p:nvGraphicFramePr>
        <p:xfrm>
          <a:off x="550164" y="1185921"/>
          <a:ext cx="11091672" cy="3200400"/>
        </p:xfrm>
        <a:graphic>
          <a:graphicData uri="http://schemas.openxmlformats.org/drawingml/2006/table">
            <a:tbl>
              <a:tblPr/>
              <a:tblGrid>
                <a:gridCol w="3327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4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add(e)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añade e, si no estaba ya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remove(e)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quita e, si estaba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contains(e)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comprueba si e está en el conjunto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número de elementos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50164" y="4752081"/>
            <a:ext cx="11091672" cy="11887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24484" y="4843521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dentro, un HashSet es literalmente un HashMap donde tus elementos son las claves y el valor no se usa para nada. Por eso comparte con los mapas el mismo mecanismo de equals()/hashCode().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Java Collection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Colecciones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77107" y="868680"/>
            <a:ext cx="4834738" cy="640080"/>
          </a:xfrm>
          <a:prstGeom prst="roundRect">
            <a:avLst/>
          </a:prstGeom>
          <a:solidFill>
            <a:srgbClr val="EFEBE9"/>
          </a:solidFill>
          <a:ln w="19050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677107" y="868680"/>
            <a:ext cx="48347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4476" y="1508760"/>
            <a:ext cx="914" cy="16002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453384" cy="64008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3361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275332" y="1668780"/>
            <a:ext cx="914" cy="16002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367784" y="1828800"/>
            <a:ext cx="3453384" cy="64008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413504" y="1828800"/>
            <a:ext cx="3361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94476" y="1668780"/>
            <a:ext cx="914" cy="16002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8186928" y="1828800"/>
            <a:ext cx="3453384" cy="64008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232648" y="1828800"/>
            <a:ext cx="3361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913620" y="1668780"/>
            <a:ext cx="914" cy="16002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275332" y="1668780"/>
            <a:ext cx="7638288" cy="914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8640" y="27889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Independiente (no extiende de Collection):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340407" y="3246120"/>
            <a:ext cx="7508138" cy="548640"/>
          </a:xfrm>
          <a:prstGeom prst="roundRect">
            <a:avLst/>
          </a:prstGeom>
          <a:solidFill>
            <a:srgbClr val="EFEBE9"/>
          </a:solidFill>
          <a:ln w="19050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2340407" y="3246120"/>
            <a:ext cx="75081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094476" y="3794760"/>
            <a:ext cx="914" cy="13716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548640" y="4069080"/>
            <a:ext cx="5362956" cy="54864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94360" y="4069080"/>
            <a:ext cx="52715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HashMap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30118" y="3931920"/>
            <a:ext cx="914" cy="13716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6277356" y="4069080"/>
            <a:ext cx="5362956" cy="54864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323076" y="4069080"/>
            <a:ext cx="52715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TreeMap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958834" y="3931920"/>
            <a:ext cx="914" cy="137160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3230118" y="3931920"/>
            <a:ext cx="5728716" cy="914"/>
          </a:xfrm>
          <a:prstGeom prst="line">
            <a:avLst/>
          </a:prstGeom>
          <a:noFill/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548640" y="4892040"/>
            <a:ext cx="11091672" cy="8229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822960" y="498348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no tiene add() ni se recorre con for-each directamente: hay que pasar antes por keySet(), values() o entrySet().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1462</Words>
  <Application>Microsoft Office PowerPoint</Application>
  <PresentationFormat>Panorámica</PresentationFormat>
  <Paragraphs>227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Programación de Servicios y Procesos</dc:creator>
  <cp:lastModifiedBy>VENTURA EDO, AITOR</cp:lastModifiedBy>
  <cp:revision>2</cp:revision>
  <dcterms:created xsi:type="dcterms:W3CDTF">2026-07-07T17:13:07Z</dcterms:created>
  <dcterms:modified xsi:type="dcterms:W3CDTF">2026-07-07T18:28:11Z</dcterms:modified>
</cp:coreProperties>
</file>