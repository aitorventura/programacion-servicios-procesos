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342E"/>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BCAAA4"/>
                </a:solidFill>
                <a:latin typeface="Arial" pitchFamily="34" charset="0"/>
                <a:ea typeface="Arial" pitchFamily="34" charset="-122"/>
                <a:cs typeface="Arial" pitchFamily="34" charset="-120"/>
              </a:rPr>
              <a:t>PROGRAMACIÓN DE SERVICIOS Y PROCESOS  —  TEMA 2: SEGURIDAD Y AUTENTICACIÓN</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Principios de</a:t>
            </a:r>
            <a:endParaRPr lang="en-US" sz="3400" dirty="0"/>
          </a:p>
          <a:p>
            <a:pPr algn="l" indent="0" marL="0">
              <a:buNone/>
            </a:pPr>
            <a:r>
              <a:rPr lang="en-US" sz="3400" b="1" dirty="0">
                <a:solidFill>
                  <a:srgbClr val="FFFFFF"/>
                </a:solidFill>
                <a:latin typeface="Arial" pitchFamily="34" charset="0"/>
                <a:ea typeface="Arial" pitchFamily="34" charset="-122"/>
                <a:cs typeface="Arial" pitchFamily="34" charset="-120"/>
              </a:rPr>
              <a:t>programación segura</a:t>
            </a:r>
            <a:endParaRPr lang="en-US" sz="34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1900" i="1" dirty="0">
                <a:solidFill>
                  <a:srgbClr val="FFFFFF"/>
                </a:solidFill>
                <a:latin typeface="Arial" pitchFamily="34" charset="0"/>
                <a:ea typeface="Arial" pitchFamily="34" charset="-122"/>
                <a:cs typeface="Arial" pitchFamily="34" charset="-120"/>
              </a:rPr>
              <a:t>1. Validación y gestión de errores</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Principios de programación segura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Shape 3"/>
          <p:cNvSpPr/>
          <p:nvPr/>
        </p:nvSpPr>
        <p:spPr>
          <a:xfrm>
            <a:off x="548640" y="1920240"/>
            <a:ext cx="11091672" cy="1828800"/>
          </a:xfrm>
          <a:prstGeom prst="roundRect">
            <a:avLst/>
          </a:prstGeom>
          <a:solidFill>
            <a:srgbClr val="FFF3E0"/>
          </a:solidFill>
          <a:ln w="19050">
            <a:solidFill>
              <a:srgbClr val="FFA000"/>
            </a:solidFill>
            <a:prstDash val="solid"/>
          </a:ln>
        </p:spPr>
      </p:sp>
      <p:sp>
        <p:nvSpPr>
          <p:cNvPr id="6" name="Text 4"/>
          <p:cNvSpPr/>
          <p:nvPr/>
        </p:nvSpPr>
        <p:spPr>
          <a:xfrm>
            <a:off x="822960" y="2011680"/>
            <a:ext cx="10543032" cy="164592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Tu proyecto, tal y como está ahora, no comprueba quién hace las peticiones ni les pone ningún límite: cualquiera que sepa la URL puede leer, crear, modificar o borrar lo que quiera. Antes de tocar autenticación, toca dar un paso atrás y preguntarse algo más básico: ¿qué significa exactamente que una aplicación sea "segura"?</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Un caso concreto, sin atacante experto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Text 3"/>
          <p:cNvSpPr/>
          <p:nvPr/>
        </p:nvSpPr>
        <p:spPr>
          <a:xfrm>
            <a:off x="548640" y="1463040"/>
            <a:ext cx="11091672" cy="2468880"/>
          </a:xfrm>
          <a:prstGeom prst="rect">
            <a:avLst/>
          </a:prstGeom>
          <a:noFill/>
          <a:ln/>
        </p:spPr>
        <p:txBody>
          <a:bodyPr wrap="square" rtlCol="0" anchor="t"/>
          <a:lstStyle/>
          <a:p>
            <a:pPr marL="190500" indent="-190500">
              <a:spcAft>
                <a:spcPts val="2200"/>
              </a:spcAft>
              <a:buSzPct val="100000"/>
              <a:buChar char="•"/>
            </a:pPr>
            <a:r>
              <a:rPr lang="en-US" sz="1900" dirty="0">
                <a:solidFill>
                  <a:srgbClr val="212121"/>
                </a:solidFill>
                <a:latin typeface="Arial" pitchFamily="34" charset="0"/>
                <a:ea typeface="Arial" pitchFamily="34" charset="-122"/>
                <a:cs typeface="Arial" pitchFamily="34" charset="-120"/>
              </a:rPr>
              <a:t>Manda un POST /api/v1/videojuegos con un precio negativo. @Valid rechaza la petición, pero la respuesta usa el formato genérico de Spring y no indica de forma clara qué campo ha fallado.</a:t>
            </a:r>
            <a:endParaRPr lang="en-US" sz="1900" dirty="0"/>
          </a:p>
          <a:p>
            <a:pPr marL="190500" indent="-190500">
              <a:buSzPct val="100000"/>
              <a:buChar char="•"/>
            </a:pPr>
            <a:r>
              <a:rPr lang="en-US" sz="1900" dirty="0">
                <a:solidFill>
                  <a:srgbClr val="212121"/>
                </a:solidFill>
                <a:latin typeface="Arial" pitchFamily="34" charset="0"/>
                <a:ea typeface="Arial" pitchFamily="34" charset="-122"/>
                <a:cs typeface="Arial" pitchFamily="34" charset="-120"/>
              </a:rPr>
              <a:t>Pide un listado ordenado por un campo que no existe, por ejemplo ?sort=noExiste,asc: la petición puede acabar en un 500, aunque el problema está realmente en el parámetro enviado por el cliente.</a:t>
            </a:r>
            <a:endParaRPr lang="en-US" sz="1900" dirty="0"/>
          </a:p>
        </p:txBody>
      </p:sp>
      <p:sp>
        <p:nvSpPr>
          <p:cNvPr id="6" name="Shape 4"/>
          <p:cNvSpPr/>
          <p:nvPr/>
        </p:nvSpPr>
        <p:spPr>
          <a:xfrm>
            <a:off x="548640" y="4297680"/>
            <a:ext cx="11091672" cy="822960"/>
          </a:xfrm>
          <a:prstGeom prst="roundRect">
            <a:avLst/>
          </a:prstGeom>
          <a:solidFill>
            <a:srgbClr val="FFF3E0"/>
          </a:solidFill>
          <a:ln w="19050">
            <a:solidFill>
              <a:srgbClr val="FFA000"/>
            </a:solidFill>
            <a:prstDash val="solid"/>
          </a:ln>
        </p:spPr>
      </p:sp>
      <p:sp>
        <p:nvSpPr>
          <p:cNvPr id="7" name="Text 5"/>
          <p:cNvSpPr/>
          <p:nvPr/>
        </p:nvSpPr>
        <p:spPr>
          <a:xfrm>
            <a:off x="822960" y="4389120"/>
            <a:ext cx="10543032" cy="640080"/>
          </a:xfrm>
          <a:prstGeom prst="rect">
            <a:avLst/>
          </a:prstGeom>
          <a:noFill/>
          <a:ln/>
        </p:spPr>
        <p:txBody>
          <a:bodyPr wrap="square" rtlCol="0" anchor="ctr"/>
          <a:lstStyle/>
          <a:p>
            <a:pPr indent="0" marL="0">
              <a:buNone/>
            </a:pPr>
            <a:r>
              <a:rPr lang="en-US" sz="1800" dirty="0">
                <a:solidFill>
                  <a:srgbClr val="212121"/>
                </a:solidFill>
                <a:latin typeface="Arial" pitchFamily="34" charset="0"/>
                <a:ea typeface="Arial" pitchFamily="34" charset="-122"/>
                <a:cs typeface="Arial" pitchFamily="34" charset="-120"/>
              </a:rPr>
              <a:t>Ninguno de los dos casos necesita un atacante: basta con un cliente mal programado o con probar la API manualmente.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Qué significa que una aplicación sea "segura"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Text 3"/>
          <p:cNvSpPr/>
          <p:nvPr/>
        </p:nvSpPr>
        <p:spPr>
          <a:xfrm>
            <a:off x="548640" y="1463040"/>
            <a:ext cx="11091672" cy="457200"/>
          </a:xfrm>
          <a:prstGeom prst="rect">
            <a:avLst/>
          </a:prstGeom>
          <a:noFill/>
          <a:ln/>
        </p:spPr>
        <p:txBody>
          <a:bodyPr wrap="square" rtlCol="0" anchor="t"/>
          <a:lstStyle/>
          <a:p>
            <a:pPr indent="0" marL="0">
              <a:buNone/>
            </a:pPr>
            <a:r>
              <a:rPr lang="en-US" sz="1900" dirty="0">
                <a:solidFill>
                  <a:srgbClr val="212121"/>
                </a:solidFill>
                <a:latin typeface="Arial" pitchFamily="34" charset="0"/>
                <a:ea typeface="Arial" pitchFamily="34" charset="-122"/>
                <a:cs typeface="Arial" pitchFamily="34" charset="-120"/>
              </a:rPr>
              <a:t>La seguridad de una aplicación se apoya, clásicamente, en tres pilares:</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914400"/>
        </p:xfrm>
        <a:graphic>
          <a:graphicData uri="http://schemas.openxmlformats.org/drawingml/2006/table">
            <a:tbl>
              <a:tblPr/>
              <a:tblGrid>
                <a:gridCol w="2772918"/>
                <a:gridCol w="8318754"/>
              </a:tblGrid>
              <a:tr h="914400">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Pilar</a:t>
                      </a:r>
                      <a:endParaRPr lang="en-US" sz="18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En una aplicación web</a:t>
                      </a:r>
                      <a:endParaRPr lang="en-US" sz="18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r>
              <a:tr h="914400">
                <a:tc>
                  <a:txBody>
                    <a:bodyPr/>
                    <a:lstStyle/>
                    <a:p>
                      <a:pPr indent="0" marL="0">
                        <a:buNone/>
                      </a:pPr>
                      <a:r>
                        <a:rPr lang="en-US" sz="1650" b="1" dirty="0">
                          <a:solidFill>
                            <a:srgbClr val="212121"/>
                          </a:solidFill>
                          <a:latin typeface="Arial" pitchFamily="34" charset="0"/>
                          <a:ea typeface="Arial" pitchFamily="34" charset="-122"/>
                          <a:cs typeface="Arial" pitchFamily="34" charset="-120"/>
                        </a:rPr>
                        <a:t>Confidencialidad</a:t>
                      </a:r>
                      <a:endParaRPr lang="en-US" sz="16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650" dirty="0">
                          <a:solidFill>
                            <a:srgbClr val="212121"/>
                          </a:solidFill>
                          <a:latin typeface="Arial" pitchFamily="34" charset="0"/>
                          <a:ea typeface="Arial" pitchFamily="34" charset="-122"/>
                          <a:cs typeface="Arial" pitchFamily="34" charset="-120"/>
                        </a:rPr>
                        <a:t>Que nadie lea lo que no debe (datos de otro usuario, contraseñas...).</a:t>
                      </a:r>
                      <a:endParaRPr lang="en-US" sz="16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914400">
                <a:tc>
                  <a:txBody>
                    <a:bodyPr/>
                    <a:lstStyle/>
                    <a:p>
                      <a:pPr indent="0" marL="0">
                        <a:buNone/>
                      </a:pPr>
                      <a:r>
                        <a:rPr lang="en-US" sz="1650" b="1" dirty="0">
                          <a:solidFill>
                            <a:srgbClr val="212121"/>
                          </a:solidFill>
                          <a:latin typeface="Arial" pitchFamily="34" charset="0"/>
                          <a:ea typeface="Arial" pitchFamily="34" charset="-122"/>
                          <a:cs typeface="Arial" pitchFamily="34" charset="-120"/>
                        </a:rPr>
                        <a:t>Integridad</a:t>
                      </a:r>
                      <a:endParaRPr lang="en-US" sz="16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650" dirty="0">
                          <a:solidFill>
                            <a:srgbClr val="212121"/>
                          </a:solidFill>
                          <a:latin typeface="Arial" pitchFamily="34" charset="0"/>
                          <a:ea typeface="Arial" pitchFamily="34" charset="-122"/>
                          <a:cs typeface="Arial" pitchFamily="34" charset="-120"/>
                        </a:rPr>
                        <a:t>Que nadie modifique lo que no debe (cambiar el precio de un producto ajeno, alterar un pedido).</a:t>
                      </a:r>
                      <a:endParaRPr lang="en-US" sz="16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914400">
                <a:tc>
                  <a:txBody>
                    <a:bodyPr/>
                    <a:lstStyle/>
                    <a:p>
                      <a:pPr indent="0" marL="0">
                        <a:buNone/>
                      </a:pPr>
                      <a:r>
                        <a:rPr lang="en-US" sz="1650" b="1" dirty="0">
                          <a:solidFill>
                            <a:srgbClr val="212121"/>
                          </a:solidFill>
                          <a:latin typeface="Arial" pitchFamily="34" charset="0"/>
                          <a:ea typeface="Arial" pitchFamily="34" charset="-122"/>
                          <a:cs typeface="Arial" pitchFamily="34" charset="-120"/>
                        </a:rPr>
                        <a:t>Disponibilidad</a:t>
                      </a:r>
                      <a:endParaRPr lang="en-US" sz="16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650" dirty="0">
                          <a:solidFill>
                            <a:srgbClr val="212121"/>
                          </a:solidFill>
                          <a:latin typeface="Arial" pitchFamily="34" charset="0"/>
                          <a:ea typeface="Arial" pitchFamily="34" charset="-122"/>
                          <a:cs typeface="Arial" pitchFamily="34" charset="-120"/>
                        </a:rPr>
                        <a:t>Que el servicio siga funcionando (no se caiga por un ataque o un uso malintencionado).</a:t>
                      </a:r>
                      <a:endParaRPr lang="en-US" sz="16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modelo mental del atacante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Shape 3"/>
          <p:cNvSpPr/>
          <p:nvPr/>
        </p:nvSpPr>
        <p:spPr>
          <a:xfrm>
            <a:off x="548640" y="1920240"/>
            <a:ext cx="11091672" cy="1828800"/>
          </a:xfrm>
          <a:prstGeom prst="roundRect">
            <a:avLst/>
          </a:prstGeom>
          <a:solidFill>
            <a:srgbClr val="FFF3E0"/>
          </a:solidFill>
          <a:ln w="19050">
            <a:solidFill>
              <a:srgbClr val="FFA000"/>
            </a:solidFill>
            <a:prstDash val="solid"/>
          </a:ln>
        </p:spPr>
      </p:sp>
      <p:sp>
        <p:nvSpPr>
          <p:cNvPr id="6" name="Text 4"/>
          <p:cNvSpPr/>
          <p:nvPr/>
        </p:nvSpPr>
        <p:spPr>
          <a:xfrm>
            <a:off x="822960" y="2011680"/>
            <a:ext cx="10543032" cy="164592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Ese mismo hueco, aceptar cualquier dato sin comprobarlo, es también la puerta favorita de quien sí actúa con mala intención. Toda API tiene una superficie de ataque: todo endpoint expuesto, todo dato de entrada que acepta, todo mensaje de error que devuelve — cualquier punto por el que algo externo puede interactuar con tu sistema es, potencialmente, un punto de ataque.</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La regla de oro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Shape 3"/>
          <p:cNvSpPr/>
          <p:nvPr/>
        </p:nvSpPr>
        <p:spPr>
          <a:xfrm>
            <a:off x="548640" y="2377440"/>
            <a:ext cx="11091672" cy="1828800"/>
          </a:xfrm>
          <a:prstGeom prst="roundRect">
            <a:avLst/>
          </a:prstGeom>
          <a:solidFill>
            <a:srgbClr val="FFF3E0"/>
          </a:solidFill>
          <a:ln w="28575">
            <a:solidFill>
              <a:srgbClr val="FFA000"/>
            </a:solidFill>
            <a:prstDash val="solid"/>
          </a:ln>
        </p:spPr>
      </p:sp>
      <p:sp>
        <p:nvSpPr>
          <p:cNvPr id="6" name="Text 4"/>
          <p:cNvSpPr/>
          <p:nvPr/>
        </p:nvSpPr>
        <p:spPr>
          <a:xfrm>
            <a:off x="822960" y="2487168"/>
            <a:ext cx="10543032" cy="1609344"/>
          </a:xfrm>
          <a:prstGeom prst="rect">
            <a:avLst/>
          </a:prstGeom>
          <a:noFill/>
          <a:ln/>
        </p:spPr>
        <p:txBody>
          <a:bodyPr wrap="square" rtlCol="0" anchor="t"/>
          <a:lstStyle/>
          <a:p>
            <a:pPr indent="0" marL="0">
              <a:buNone/>
            </a:pPr>
            <a:r>
              <a:rPr lang="en-US" sz="2100" b="1" dirty="0">
                <a:solidFill>
                  <a:srgbClr val="4E342E"/>
                </a:solidFill>
                <a:latin typeface="Arial" pitchFamily="34" charset="0"/>
                <a:ea typeface="Arial" pitchFamily="34" charset="-122"/>
                <a:cs typeface="Arial" pitchFamily="34" charset="-120"/>
              </a:rPr>
              <a:t>⚠ Nunca te fíes de lo que llega de fuera
</a:t>
            </a:r>
            <a:endParaRPr lang="en-US" sz="2100" dirty="0"/>
          </a:p>
          <a:p>
            <a:pPr indent="0" marL="0">
              <a:buNone/>
            </a:pPr>
            <a:r>
              <a:rPr lang="en-US" sz="2000" dirty="0">
                <a:solidFill>
                  <a:srgbClr val="212121"/>
                </a:solidFill>
                <a:latin typeface="Arial" pitchFamily="34" charset="0"/>
                <a:ea typeface="Arial" pitchFamily="34" charset="-122"/>
                <a:cs typeface="Arial" pitchFamily="34" charset="-120"/>
              </a:rPr>
              <a:t>Todo dato de entrada es hostil hasta que se valida — no porque asumas mala fe de cada usuario, sino porque no controlas qué envía realmente el cliente: puede ser un formulario mal rellenado, un bug del cliente, o alguien probando deliberadamente a romper tu API.</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Principios generales de programación segura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Text 3"/>
          <p:cNvSpPr/>
          <p:nvPr/>
        </p:nvSpPr>
        <p:spPr>
          <a:xfrm>
            <a:off x="548640" y="1920240"/>
            <a:ext cx="11091672" cy="3749040"/>
          </a:xfrm>
          <a:prstGeom prst="rect">
            <a:avLst/>
          </a:prstGeom>
          <a:noFill/>
          <a:ln/>
        </p:spPr>
        <p:txBody>
          <a:bodyPr wrap="square" rtlCol="0" anchor="t"/>
          <a:lstStyle/>
          <a:p>
            <a:pPr marL="190500" indent="-190500">
              <a:spcAft>
                <a:spcPts val="2000"/>
              </a:spcAft>
              <a:buSzPct val="100000"/>
              <a:buChar char="•"/>
            </a:pPr>
            <a:r>
              <a:rPr lang="en-US" sz="1900" dirty="0">
                <a:solidFill>
                  <a:srgbClr val="212121"/>
                </a:solidFill>
                <a:latin typeface="Arial" pitchFamily="34" charset="0"/>
                <a:ea typeface="Arial" pitchFamily="34" charset="-122"/>
                <a:cs typeface="Arial" pitchFamily="34" charset="-120"/>
              </a:rPr>
              <a:t>Validar en la frontera: comprobar los datos de entrada en el punto donde entran al sistema, antes de que lleguen a la lógica de negocio.</a:t>
            </a:r>
            <a:endParaRPr lang="en-US" sz="1900" dirty="0"/>
          </a:p>
          <a:p>
            <a:pPr marL="190500" indent="-190500">
              <a:spcAft>
                <a:spcPts val="2000"/>
              </a:spcAft>
              <a:buSzPct val="100000"/>
              <a:buChar char="•"/>
            </a:pPr>
            <a:r>
              <a:rPr lang="en-US" sz="1900" dirty="0">
                <a:solidFill>
                  <a:srgbClr val="212121"/>
                </a:solidFill>
                <a:latin typeface="Arial" pitchFamily="34" charset="0"/>
                <a:ea typeface="Arial" pitchFamily="34" charset="-122"/>
                <a:cs typeface="Arial" pitchFamily="34" charset="-120"/>
              </a:rPr>
              <a:t>Mínimo privilegio / mínima exposición: por defecto, todo cerrado; se abre explícitamente solo lo necesario.</a:t>
            </a:r>
            <a:endParaRPr lang="en-US" sz="1900" dirty="0"/>
          </a:p>
          <a:p>
            <a:pPr marL="190500" indent="-190500">
              <a:spcAft>
                <a:spcPts val="2000"/>
              </a:spcAft>
              <a:buSzPct val="100000"/>
              <a:buChar char="•"/>
            </a:pPr>
            <a:r>
              <a:rPr lang="en-US" sz="1900" dirty="0">
                <a:solidFill>
                  <a:srgbClr val="212121"/>
                </a:solidFill>
                <a:latin typeface="Arial" pitchFamily="34" charset="0"/>
                <a:ea typeface="Arial" pitchFamily="34" charset="-122"/>
                <a:cs typeface="Arial" pitchFamily="34" charset="-120"/>
              </a:rPr>
              <a:t>No filtrar información interna en los errores: un mensaje de error no debería revelar detalles de implementación.</a:t>
            </a:r>
            <a:endParaRPr lang="en-US" sz="1900" dirty="0"/>
          </a:p>
          <a:p>
            <a:pPr marL="190500" indent="-190500">
              <a:spcAft>
                <a:spcPts val="2000"/>
              </a:spcAft>
              <a:buSzPct val="100000"/>
              <a:buChar char="•"/>
            </a:pPr>
            <a:r>
              <a:rPr lang="en-US" sz="1900" dirty="0">
                <a:solidFill>
                  <a:srgbClr val="212121"/>
                </a:solidFill>
                <a:latin typeface="Arial" pitchFamily="34" charset="0"/>
                <a:ea typeface="Arial" pitchFamily="34" charset="-122"/>
                <a:cs typeface="Arial" pitchFamily="34" charset="-120"/>
              </a:rPr>
              <a:t>No guardar secretos en el código: contraseñas, claves, tokens viven en configuración externa, nunca en una clase Java.</a:t>
            </a:r>
            <a:endParaRPr lang="en-US" sz="1900" dirty="0"/>
          </a:p>
          <a:p>
            <a:pPr marL="190500" indent="-190500">
              <a:buSzPct val="100000"/>
              <a:buChar char="•"/>
            </a:pPr>
            <a:r>
              <a:rPr lang="en-US" sz="1900" dirty="0">
                <a:solidFill>
                  <a:srgbClr val="212121"/>
                </a:solidFill>
                <a:latin typeface="Arial" pitchFamily="34" charset="0"/>
                <a:ea typeface="Arial" pitchFamily="34" charset="-122"/>
                <a:cs typeface="Arial" pitchFamily="34" charset="-120"/>
              </a:rPr>
              <a:t>Defensa en profundidad: varias capas de protección, no una sola barrera — si una falla, las siguientes siguen ahí.</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¿Y la contraseña de PostgreSQL en application-dev.yml?</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Text 3"/>
          <p:cNvSpPr/>
          <p:nvPr/>
        </p:nvSpPr>
        <p:spPr>
          <a:xfrm>
            <a:off x="548640" y="1554480"/>
            <a:ext cx="11091672" cy="1051560"/>
          </a:xfrm>
          <a:prstGeom prst="rect">
            <a:avLst/>
          </a:prstGeom>
          <a:noFill/>
          <a:ln/>
        </p:spPr>
        <p:txBody>
          <a:bodyPr wrap="square" rtlCol="0" anchor="t"/>
          <a:lstStyle/>
          <a:p>
            <a:pPr indent="0" marL="0">
              <a:buNone/>
            </a:pPr>
            <a:r>
              <a:rPr lang="en-US" sz="1900" dirty="0">
                <a:solidFill>
                  <a:srgbClr val="212121"/>
                </a:solidFill>
                <a:latin typeface="Arial" pitchFamily="34" charset="0"/>
                <a:ea typeface="Arial" pitchFamily="34" charset="-122"/>
                <a:cs typeface="Arial" pitchFamily="34" charset="-120"/>
              </a:rPr>
              <a:t>En el entorno local de GameVault usamos una contraseña sencilla y versionada porque solo pertenece a una base de datos de desarrollo creada dentro de Docker y no se reutiliza en ningún entorno real.</a:t>
            </a:r>
            <a:endParaRPr lang="en-US" sz="1900" dirty="0"/>
          </a:p>
        </p:txBody>
      </p:sp>
      <p:sp>
        <p:nvSpPr>
          <p:cNvPr id="6" name="Shape 4"/>
          <p:cNvSpPr/>
          <p:nvPr/>
        </p:nvSpPr>
        <p:spPr>
          <a:xfrm>
            <a:off x="548640" y="2971800"/>
            <a:ext cx="11091672" cy="1463040"/>
          </a:xfrm>
          <a:prstGeom prst="roundRect">
            <a:avLst/>
          </a:prstGeom>
          <a:solidFill>
            <a:srgbClr val="FFF3E0"/>
          </a:solidFill>
          <a:ln w="19050">
            <a:solidFill>
              <a:srgbClr val="FFA000"/>
            </a:solidFill>
            <a:prstDash val="solid"/>
          </a:ln>
        </p:spPr>
      </p:sp>
      <p:sp>
        <p:nvSpPr>
          <p:cNvPr id="7" name="Text 5"/>
          <p:cNvSpPr/>
          <p:nvPr/>
        </p:nvSpPr>
        <p:spPr>
          <a:xfrm>
            <a:off x="822960" y="3063240"/>
            <a:ext cx="10543032" cy="1280160"/>
          </a:xfrm>
          <a:prstGeom prst="rect">
            <a:avLst/>
          </a:prstGeom>
          <a:noFill/>
          <a:ln/>
        </p:spPr>
        <p:txBody>
          <a:bodyPr wrap="square" rtlCol="0" anchor="ctr"/>
          <a:lstStyle/>
          <a:p>
            <a:pPr indent="0" marL="0">
              <a:buNone/>
            </a:pPr>
            <a:r>
              <a:rPr lang="en-US" sz="1800" dirty="0">
                <a:solidFill>
                  <a:srgbClr val="212121"/>
                </a:solidFill>
                <a:latin typeface="Arial" pitchFamily="34" charset="0"/>
                <a:ea typeface="Arial" pitchFamily="34" charset="-122"/>
                <a:cs typeface="Arial" pitchFamily="34" charset="-120"/>
              </a:rPr>
              <a:t>Esto es aceptable para una credencial local y desechable, pero no para una base de datos desplegada ni para ningún secreto real. En esos casos, las credenciales deben quedar fuera del repositorio y proporcionarse mediante variables de entorno u otro sistema de configuración externa.</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Un ataque real detrás de cada principio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3549335"/>
                <a:gridCol w="7542337"/>
              </a:tblGrid>
              <a:tr h="868680">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Ataque</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En qué consiste</a:t>
                      </a:r>
                      <a:endParaRPr lang="en-US" sz="17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r>
              <a:tr h="868680">
                <a:tc>
                  <a:txBody>
                    <a:bodyPr/>
                    <a:lstStyle/>
                    <a:p>
                      <a:pPr indent="0" marL="0">
                        <a:buNone/>
                      </a:pPr>
                      <a:r>
                        <a:rPr lang="en-US" sz="1550" b="1" dirty="0">
                          <a:solidFill>
                            <a:srgbClr val="212121"/>
                          </a:solidFill>
                          <a:latin typeface="Arial" pitchFamily="34" charset="0"/>
                          <a:ea typeface="Arial" pitchFamily="34" charset="-122"/>
                          <a:cs typeface="Arial" pitchFamily="34" charset="-120"/>
                        </a:rPr>
                        <a:t>Inyección</a:t>
                      </a:r>
                      <a:endParaRPr lang="en-US" sz="15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50" dirty="0">
                          <a:solidFill>
                            <a:srgbClr val="212121"/>
                          </a:solidFill>
                          <a:latin typeface="Arial" pitchFamily="34" charset="0"/>
                          <a:ea typeface="Arial" pitchFamily="34" charset="-122"/>
                          <a:cs typeface="Arial" pitchFamily="34" charset="-120"/>
                        </a:rPr>
                        <a:t>Código que trata datos externos como si fueran código — ya lo has visto de primera mano en Acceso a Datos, con JDBC puro y Statement.</a:t>
                      </a:r>
                      <a:endParaRPr lang="en-US" sz="15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868680">
                <a:tc>
                  <a:txBody>
                    <a:bodyPr/>
                    <a:lstStyle/>
                    <a:p>
                      <a:pPr indent="0" marL="0">
                        <a:buNone/>
                      </a:pPr>
                      <a:r>
                        <a:rPr lang="en-US" sz="1550" b="1" dirty="0">
                          <a:solidFill>
                            <a:srgbClr val="212121"/>
                          </a:solidFill>
                          <a:latin typeface="Arial" pitchFamily="34" charset="0"/>
                          <a:ea typeface="Arial" pitchFamily="34" charset="-122"/>
                          <a:cs typeface="Arial" pitchFamily="34" charset="-120"/>
                        </a:rPr>
                        <a:t>Datos malformados</a:t>
                      </a:r>
                      <a:endParaRPr lang="en-US" sz="15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50" dirty="0">
                          <a:solidFill>
                            <a:srgbClr val="212121"/>
                          </a:solidFill>
                          <a:latin typeface="Arial" pitchFamily="34" charset="0"/>
                          <a:ea typeface="Arial" pitchFamily="34" charset="-122"/>
                          <a:cs typeface="Arial" pitchFamily="34" charset="-120"/>
                        </a:rPr>
                        <a:t>Entradas que rompen la lógica de la aplicación si no se comprueban antes de usarlas.</a:t>
                      </a:r>
                      <a:endParaRPr lang="en-US" sz="15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868680">
                <a:tc>
                  <a:txBody>
                    <a:bodyPr/>
                    <a:lstStyle/>
                    <a:p>
                      <a:pPr indent="0" marL="0">
                        <a:buNone/>
                      </a:pPr>
                      <a:r>
                        <a:rPr lang="en-US" sz="1550" b="1" dirty="0">
                          <a:solidFill>
                            <a:srgbClr val="212121"/>
                          </a:solidFill>
                          <a:latin typeface="Arial" pitchFamily="34" charset="0"/>
                          <a:ea typeface="Arial" pitchFamily="34" charset="-122"/>
                          <a:cs typeface="Arial" pitchFamily="34" charset="-120"/>
                        </a:rPr>
                        <a:t>Fuerza bruta sobre logins</a:t>
                      </a:r>
                      <a:endParaRPr lang="en-US" sz="15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50" dirty="0">
                          <a:solidFill>
                            <a:srgbClr val="212121"/>
                          </a:solidFill>
                          <a:latin typeface="Arial" pitchFamily="34" charset="0"/>
                          <a:ea typeface="Arial" pitchFamily="34" charset="-122"/>
                          <a:cs typeface="Arial" pitchFamily="34" charset="-120"/>
                        </a:rPr>
                        <a:t>Probar contraseñas una tras otra hasta acertar.</a:t>
                      </a:r>
                      <a:endParaRPr lang="en-US" sz="15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868680">
                <a:tc>
                  <a:txBody>
                    <a:bodyPr/>
                    <a:lstStyle/>
                    <a:p>
                      <a:pPr indent="0" marL="0">
                        <a:buNone/>
                      </a:pPr>
                      <a:r>
                        <a:rPr lang="en-US" sz="1550" b="1" dirty="0">
                          <a:solidFill>
                            <a:srgbClr val="212121"/>
                          </a:solidFill>
                          <a:latin typeface="Arial" pitchFamily="34" charset="0"/>
                          <a:ea typeface="Arial" pitchFamily="34" charset="-122"/>
                          <a:cs typeface="Arial" pitchFamily="34" charset="-120"/>
                        </a:rPr>
                        <a:t>Robo de credenciales en tránsito</a:t>
                      </a:r>
                      <a:endParaRPr lang="en-US" sz="15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50" dirty="0">
                          <a:solidFill>
                            <a:srgbClr val="212121"/>
                          </a:solidFill>
                          <a:latin typeface="Arial" pitchFamily="34" charset="0"/>
                          <a:ea typeface="Arial" pitchFamily="34" charset="-122"/>
                          <a:cs typeface="Arial" pitchFamily="34" charset="-120"/>
                        </a:rPr>
                        <a:t>Interceptar datos sensibles mientras viajan por la red.</a:t>
                      </a:r>
                      <a:endParaRPr lang="en-US" sz="15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Dos prácticas concretas, hoy</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Shape 3"/>
          <p:cNvSpPr/>
          <p:nvPr/>
        </p:nvSpPr>
        <p:spPr>
          <a:xfrm>
            <a:off x="548640" y="2286000"/>
            <a:ext cx="11091672" cy="1737360"/>
          </a:xfrm>
          <a:prstGeom prst="roundRect">
            <a:avLst/>
          </a:prstGeom>
          <a:solidFill>
            <a:srgbClr val="FFF3E0"/>
          </a:solidFill>
          <a:ln w="19050">
            <a:solidFill>
              <a:srgbClr val="FFA000"/>
            </a:solidFill>
            <a:prstDash val="solid"/>
          </a:ln>
        </p:spPr>
      </p:sp>
      <p:sp>
        <p:nvSpPr>
          <p:cNvPr id="6" name="Text 4"/>
          <p:cNvSpPr/>
          <p:nvPr/>
        </p:nvSpPr>
        <p:spPr>
          <a:xfrm>
            <a:off x="822960" y="2377440"/>
            <a:ext cx="10543032" cy="155448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De los cinco principios, hoy conviertes dos en código real: validar en la frontera y no filtrar información en los errores. Los otros tres —mínima exposición, no guardar secretos, defensa en profundidad— los verás materializados en los próximos apartados, cuando entre en juego la autenticación.</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Validación de entrada con Bean Validation</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Text 3"/>
          <p:cNvSpPr/>
          <p:nvPr/>
        </p:nvSpPr>
        <p:spPr>
          <a:xfrm>
            <a:off x="548640" y="1645920"/>
            <a:ext cx="11091672" cy="640080"/>
          </a:xfrm>
          <a:prstGeom prst="rect">
            <a:avLst/>
          </a:prstGeom>
          <a:noFill/>
          <a:ln/>
        </p:spPr>
        <p:txBody>
          <a:bodyPr wrap="square" rtlCol="0" anchor="t"/>
          <a:lstStyle/>
          <a:p>
            <a:pPr indent="0" marL="0">
              <a:buNone/>
            </a:pPr>
            <a:r>
              <a:rPr lang="en-US" sz="1900" dirty="0">
                <a:solidFill>
                  <a:srgbClr val="212121"/>
                </a:solidFill>
                <a:latin typeface="Arial" pitchFamily="34" charset="0"/>
                <a:ea typeface="Arial" pitchFamily="34" charset="-122"/>
                <a:cs typeface="Arial" pitchFamily="34" charset="-120"/>
              </a:rPr>
              <a:t>Las anotaciones de Bean Validation ya las conoces de Acceso a Datos. Lo que falta es decirles qué mensaje devolver cuando fallan, con el atributo message:</a:t>
            </a:r>
            <a:endParaRPr lang="en-US" sz="1900" dirty="0"/>
          </a:p>
        </p:txBody>
      </p:sp>
      <p:sp>
        <p:nvSpPr>
          <p:cNvPr id="6" name="Shape 4"/>
          <p:cNvSpPr/>
          <p:nvPr/>
        </p:nvSpPr>
        <p:spPr>
          <a:xfrm>
            <a:off x="548640" y="2606040"/>
            <a:ext cx="11091672" cy="2926080"/>
          </a:xfrm>
          <a:prstGeom prst="rect">
            <a:avLst/>
          </a:prstGeom>
          <a:solidFill>
            <a:srgbClr val="ECEFF1"/>
          </a:solidFill>
          <a:ln w="12700">
            <a:solidFill>
              <a:srgbClr val="EEEEEE"/>
            </a:solidFill>
            <a:prstDash val="solid"/>
          </a:ln>
        </p:spPr>
      </p:sp>
      <p:sp>
        <p:nvSpPr>
          <p:cNvPr id="7" name="Shape 5"/>
          <p:cNvSpPr/>
          <p:nvPr/>
        </p:nvSpPr>
        <p:spPr>
          <a:xfrm>
            <a:off x="548640" y="2606040"/>
            <a:ext cx="73152" cy="2926080"/>
          </a:xfrm>
          <a:prstGeom prst="rect">
            <a:avLst/>
          </a:prstGeom>
          <a:solidFill>
            <a:srgbClr val="FFA000"/>
          </a:solidFill>
          <a:ln w="12700">
            <a:solidFill>
              <a:srgbClr val="FFA000"/>
            </a:solidFill>
            <a:prstDash val="solid"/>
          </a:ln>
        </p:spPr>
      </p:sp>
      <p:sp>
        <p:nvSpPr>
          <p:cNvPr id="8" name="Text 6"/>
          <p:cNvSpPr/>
          <p:nvPr/>
        </p:nvSpPr>
        <p:spPr>
          <a:xfrm>
            <a:off x="822960" y="2715768"/>
            <a:ext cx="10588752" cy="2706624"/>
          </a:xfrm>
          <a:prstGeom prst="rect">
            <a:avLst/>
          </a:prstGeom>
          <a:noFill/>
          <a:ln/>
        </p:spPr>
        <p:txBody>
          <a:bodyPr wrap="square" rtlCol="0" anchor="t"/>
          <a:lstStyle/>
          <a:p>
            <a:pPr indent="0" marL="0">
              <a:buNone/>
            </a:pPr>
            <a:r>
              <a:rPr lang="en-US" sz="1350" dirty="0">
                <a:solidFill>
                  <a:srgbClr val="263238"/>
                </a:solidFill>
                <a:latin typeface="Courier New" pitchFamily="34" charset="0"/>
                <a:ea typeface="Courier New" pitchFamily="34" charset="-122"/>
                <a:cs typeface="Courier New" pitchFamily="34" charset="-120"/>
              </a:rPr>
              <a:t>public record LibroCreateDTO(</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@NotBlank(message = "El título no puede estar vacío")</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@Size(max = 150, message = "El título no puede superar los 150 caracteres")</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String titulo,</a:t>
            </a:r>
            <a:endParaRPr lang="en-US" sz="1350" dirty="0"/>
          </a:p>
          <a:p>
            <a:pPr indent="0" marL="0">
              <a:buNone/>
            </a:pP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@NotNull(message = "El precio es obligatorio")</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@PositiveOrZero(message = "El precio no puede ser negativo")</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BigDecimal precio</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 ...</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@Valid: validar en la frontera, hecho código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Shape 3"/>
          <p:cNvSpPr/>
          <p:nvPr/>
        </p:nvSpPr>
        <p:spPr>
          <a:xfrm>
            <a:off x="548640" y="2286000"/>
            <a:ext cx="11091672" cy="1828800"/>
          </a:xfrm>
          <a:prstGeom prst="roundRect">
            <a:avLst/>
          </a:prstGeom>
          <a:solidFill>
            <a:srgbClr val="FFF3E0"/>
          </a:solidFill>
          <a:ln w="19050">
            <a:solidFill>
              <a:srgbClr val="FFA000"/>
            </a:solidFill>
            <a:prstDash val="solid"/>
          </a:ln>
        </p:spPr>
      </p:sp>
      <p:sp>
        <p:nvSpPr>
          <p:cNvPr id="6" name="Text 4"/>
          <p:cNvSpPr/>
          <p:nvPr/>
        </p:nvSpPr>
        <p:spPr>
          <a:xfrm>
            <a:off x="822960" y="2377440"/>
            <a:ext cx="10543032" cy="164592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El create(...) del controller ya tiene @Valid sobre este DTO, así que nada cambia en esa parte: @Valid activa la comprobación de estas anotaciones antes de que el cuerpo del método se ejecute — si algo no cumple, ni siquiera llega a tu lógica de negocio. Esto es "validar en la frontera" hecho código: el dato hostil se rechaza en la puerta, no dentro de la casa.</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Gestión centralizada de errores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Text 3"/>
          <p:cNvSpPr/>
          <p:nvPr/>
        </p:nvSpPr>
        <p:spPr>
          <a:xfrm>
            <a:off x="548640" y="1188720"/>
            <a:ext cx="11091672" cy="777240"/>
          </a:xfrm>
          <a:prstGeom prst="rect">
            <a:avLst/>
          </a:prstGeom>
          <a:noFill/>
          <a:ln/>
        </p:spPr>
        <p:txBody>
          <a:bodyPr wrap="square" rtlCol="0" anchor="t"/>
          <a:lstStyle/>
          <a:p>
            <a:pPr indent="0" marL="0">
              <a:buNone/>
            </a:pPr>
            <a:r>
              <a:rPr lang="en-US" sz="1750" dirty="0">
                <a:solidFill>
                  <a:srgbClr val="212121"/>
                </a:solidFill>
                <a:latin typeface="Arial" pitchFamily="34" charset="0"/>
                <a:ea typeface="Arial" pitchFamily="34" charset="-122"/>
                <a:cs typeface="Arial" pitchFamily="34" charset="-120"/>
              </a:rPr>
              <a:t>Sin nada más, Spring devuelve una respuesta por defecto — funcional, pero poco cuidada. La solución centraliza la conversión de excepciones en un único punto, con un formato común:</a:t>
            </a:r>
            <a:endParaRPr lang="en-US" sz="1750" dirty="0"/>
          </a:p>
        </p:txBody>
      </p:sp>
      <p:sp>
        <p:nvSpPr>
          <p:cNvPr id="6" name="Shape 4"/>
          <p:cNvSpPr/>
          <p:nvPr/>
        </p:nvSpPr>
        <p:spPr>
          <a:xfrm>
            <a:off x="548640" y="2194560"/>
            <a:ext cx="11091672" cy="2788920"/>
          </a:xfrm>
          <a:prstGeom prst="rect">
            <a:avLst/>
          </a:prstGeom>
          <a:solidFill>
            <a:srgbClr val="ECEFF1"/>
          </a:solidFill>
          <a:ln w="12700">
            <a:solidFill>
              <a:srgbClr val="EEEEEE"/>
            </a:solidFill>
            <a:prstDash val="solid"/>
          </a:ln>
        </p:spPr>
      </p:sp>
      <p:sp>
        <p:nvSpPr>
          <p:cNvPr id="7" name="Shape 5"/>
          <p:cNvSpPr/>
          <p:nvPr/>
        </p:nvSpPr>
        <p:spPr>
          <a:xfrm>
            <a:off x="548640" y="2194560"/>
            <a:ext cx="73152" cy="2788920"/>
          </a:xfrm>
          <a:prstGeom prst="rect">
            <a:avLst/>
          </a:prstGeom>
          <a:solidFill>
            <a:srgbClr val="FFA000"/>
          </a:solidFill>
          <a:ln w="12700">
            <a:solidFill>
              <a:srgbClr val="FFA000"/>
            </a:solidFill>
            <a:prstDash val="solid"/>
          </a:ln>
        </p:spPr>
      </p:sp>
      <p:sp>
        <p:nvSpPr>
          <p:cNvPr id="8" name="Text 6"/>
          <p:cNvSpPr/>
          <p:nvPr/>
        </p:nvSpPr>
        <p:spPr>
          <a:xfrm>
            <a:off x="822960" y="2304288"/>
            <a:ext cx="10588752" cy="2569464"/>
          </a:xfrm>
          <a:prstGeom prst="rect">
            <a:avLst/>
          </a:prstGeom>
          <a:noFill/>
          <a:ln/>
        </p:spPr>
        <p:txBody>
          <a:bodyPr wrap="square" rtlCol="0" anchor="t"/>
          <a:lstStyle/>
          <a:p>
            <a:pPr indent="0" marL="0">
              <a:buNone/>
            </a:pPr>
            <a:r>
              <a:rPr lang="en-US" sz="1350" dirty="0">
                <a:solidFill>
                  <a:srgbClr val="263238"/>
                </a:solidFill>
                <a:latin typeface="Courier New" pitchFamily="34" charset="0"/>
                <a:ea typeface="Courier New" pitchFamily="34" charset="-122"/>
                <a:cs typeface="Courier New" pitchFamily="34" charset="-120"/>
              </a:rPr>
              <a:t>public record ErrorResponse(</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String timestamp, int status, String error,</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String message, String path,</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Map&lt;String, List&lt;String&gt;&gt; fields</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public ErrorResponse(String timestamp, int status,</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String error, String message, String path) {</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this(timestamp, status, error, message, path, Map.of());</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Qué guarda cada campo de ErrorResponse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218334"/>
                <a:gridCol w="8873338"/>
              </a:tblGrid>
              <a:tr h="566928">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Campo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Qué guarda</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r>
              <a:tr h="566928">
                <a:tc>
                  <a:txBody>
                    <a:bodyPr/>
                    <a:lstStyle/>
                    <a:p>
                      <a:pPr indent="0" marL="0">
                        <a:buNone/>
                      </a:pPr>
                      <a:r>
                        <a:rPr lang="en-US" sz="1450" b="1" dirty="0">
                          <a:solidFill>
                            <a:srgbClr val="212121"/>
                          </a:solidFill>
                          <a:latin typeface="Arial" pitchFamily="34" charset="0"/>
                          <a:ea typeface="Arial" pitchFamily="34" charset="-122"/>
                          <a:cs typeface="Arial" pitchFamily="34" charset="-120"/>
                        </a:rPr>
                        <a:t>timestamp</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Cuándo ha ocurrido el error.</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66928">
                <a:tc>
                  <a:txBody>
                    <a:bodyPr/>
                    <a:lstStyle/>
                    <a:p>
                      <a:pPr indent="0" marL="0">
                        <a:buNone/>
                      </a:pPr>
                      <a:r>
                        <a:rPr lang="en-US" sz="1450" b="1" dirty="0">
                          <a:solidFill>
                            <a:srgbClr val="212121"/>
                          </a:solidFill>
                          <a:latin typeface="Arial" pitchFamily="34" charset="0"/>
                          <a:ea typeface="Arial" pitchFamily="34" charset="-122"/>
                          <a:cs typeface="Arial" pitchFamily="34" charset="-120"/>
                        </a:rPr>
                        <a:t>status</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El código HTTP, repetido también en el cuerpo, no solo en la cabecera.</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66928">
                <a:tc>
                  <a:txBody>
                    <a:bodyPr/>
                    <a:lstStyle/>
                    <a:p>
                      <a:pPr indent="0" marL="0">
                        <a:buNone/>
                      </a:pPr>
                      <a:r>
                        <a:rPr lang="en-US" sz="1450" b="1" dirty="0">
                          <a:solidFill>
                            <a:srgbClr val="212121"/>
                          </a:solidFill>
                          <a:latin typeface="Arial" pitchFamily="34" charset="0"/>
                          <a:ea typeface="Arial" pitchFamily="34" charset="-122"/>
                          <a:cs typeface="Arial" pitchFamily="34" charset="-120"/>
                        </a:rPr>
                        <a:t>error</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Nombre corto del error ("Error de validación", "Not Found"...).</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66928">
                <a:tc>
                  <a:txBody>
                    <a:bodyPr/>
                    <a:lstStyle/>
                    <a:p>
                      <a:pPr indent="0" marL="0">
                        <a:buNone/>
                      </a:pPr>
                      <a:r>
                        <a:rPr lang="en-US" sz="1450" b="1" dirty="0">
                          <a:solidFill>
                            <a:srgbClr val="212121"/>
                          </a:solidFill>
                          <a:latin typeface="Arial" pitchFamily="34" charset="0"/>
                          <a:ea typeface="Arial" pitchFamily="34" charset="-122"/>
                          <a:cs typeface="Arial" pitchFamily="34" charset="-120"/>
                        </a:rPr>
                        <a:t>message</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Explicación legible, pensada para quien consume la API.</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66928">
                <a:tc>
                  <a:txBody>
                    <a:bodyPr/>
                    <a:lstStyle/>
                    <a:p>
                      <a:pPr indent="0" marL="0">
                        <a:buNone/>
                      </a:pPr>
                      <a:r>
                        <a:rPr lang="en-US" sz="1450" b="1" dirty="0">
                          <a:solidFill>
                            <a:srgbClr val="212121"/>
                          </a:solidFill>
                          <a:latin typeface="Arial" pitchFamily="34" charset="0"/>
                          <a:ea typeface="Arial" pitchFamily="34" charset="-122"/>
                          <a:cs typeface="Arial" pitchFamily="34" charset="-120"/>
                        </a:rPr>
                        <a:t>path</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La ruta que se ha pedido, para saber qué endpoint ha fallado.</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66928">
                <a:tc>
                  <a:txBody>
                    <a:bodyPr/>
                    <a:lstStyle/>
                    <a:p>
                      <a:pPr indent="0" marL="0">
                        <a:buNone/>
                      </a:pPr>
                      <a:r>
                        <a:rPr lang="en-US" sz="1450" b="1" dirty="0">
                          <a:solidFill>
                            <a:srgbClr val="212121"/>
                          </a:solidFill>
                          <a:latin typeface="Arial" pitchFamily="34" charset="0"/>
                          <a:ea typeface="Arial" pitchFamily="34" charset="-122"/>
                          <a:cs typeface="Arial" pitchFamily="34" charset="-120"/>
                        </a:rPr>
                        <a:t>fields</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Solo en errores de validación: qué campo ha fallado y con qué mensajes.</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@RestControllerAdvice: un punto transversal</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Shape 3"/>
          <p:cNvSpPr/>
          <p:nvPr/>
        </p:nvSpPr>
        <p:spPr>
          <a:xfrm>
            <a:off x="548640" y="2286000"/>
            <a:ext cx="11091672" cy="1828800"/>
          </a:xfrm>
          <a:prstGeom prst="roundRect">
            <a:avLst/>
          </a:prstGeom>
          <a:solidFill>
            <a:srgbClr val="FFF3E0"/>
          </a:solidFill>
          <a:ln w="19050">
            <a:solidFill>
              <a:srgbClr val="FFA000"/>
            </a:solidFill>
            <a:prstDash val="solid"/>
          </a:ln>
        </p:spPr>
      </p:sp>
      <p:sp>
        <p:nvSpPr>
          <p:cNvPr id="6" name="Text 4"/>
          <p:cNvSpPr/>
          <p:nvPr/>
        </p:nvSpPr>
        <p:spPr>
          <a:xfrm>
            <a:off x="822960" y="2377440"/>
            <a:ext cx="10543032" cy="164592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Con esa forma decidida, @RestControllerAdvice es la anotación que la pone en marcha de verdad: marca una clase como punto transversal, que intercepta las excepciones de todos los controllers de la aplicación, no de uno solo. Dentro, cada método marcado con @ExceptionHandler(TipoDeExcepcion.class) decide qué tipo de excepción atrapa y cómo la convierte en un ErrorResponse.</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De la excepción al ErrorResponse uniforme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Text 3"/>
          <p:cNvSpPr/>
          <p:nvPr/>
        </p:nvSpPr>
        <p:spPr>
          <a:xfrm>
            <a:off x="548640" y="1554480"/>
            <a:ext cx="11091672" cy="502920"/>
          </a:xfrm>
          <a:prstGeom prst="rect">
            <a:avLst/>
          </a:prstGeom>
          <a:noFill/>
          <a:ln/>
        </p:spPr>
        <p:txBody>
          <a:bodyPr wrap="square" rtlCol="0" anchor="t"/>
          <a:lstStyle/>
          <a:p>
            <a:pPr indent="0" marL="0">
              <a:buNone/>
            </a:pPr>
            <a:r>
              <a:rPr lang="en-US" sz="1700" dirty="0">
                <a:solidFill>
                  <a:srgbClr val="212121"/>
                </a:solidFill>
                <a:latin typeface="Arial" pitchFamily="34" charset="0"/>
                <a:ea typeface="Arial" pitchFamily="34" charset="-122"/>
                <a:cs typeface="Arial" pitchFamily="34" charset="-120"/>
              </a:rPr>
              <a:t>Vas a construir la clase con sus cinco handlers uno a uno — cada uno responde a una excepción que ya conoces de algún sitio:</a:t>
            </a:r>
            <a:endParaRPr lang="en-US" sz="1700" dirty="0"/>
          </a:p>
        </p:txBody>
      </p:sp>
      <p:pic>
        <p:nvPicPr>
          <p:cNvPr id="6" name="Image 0" descr="C:/Users/Aitor/docxgen/img/psp-t2-exception-routing.png">    </p:cNvPr>
          <p:cNvPicPr>
            <a:picLocks noChangeAspect="1"/>
          </p:cNvPicPr>
          <p:nvPr/>
        </p:nvPicPr>
        <p:blipFill>
          <a:blip r:embed="rId1"/>
          <a:stretch>
            <a:fillRect/>
          </a:stretch>
        </p:blipFill>
        <p:spPr>
          <a:xfrm>
            <a:off x="789827" y="2331720"/>
            <a:ext cx="10609298" cy="33832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Handler 1: la validación que acabas de ver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Text 3"/>
          <p:cNvSpPr/>
          <p:nvPr/>
        </p:nvSpPr>
        <p:spPr>
          <a:xfrm>
            <a:off x="548640" y="1188720"/>
            <a:ext cx="11091672" cy="457200"/>
          </a:xfrm>
          <a:prstGeom prst="rect">
            <a:avLst/>
          </a:prstGeom>
          <a:noFill/>
          <a:ln/>
        </p:spPr>
        <p:txBody>
          <a:bodyPr wrap="square" rtlCol="0" anchor="t"/>
          <a:lstStyle/>
          <a:p>
            <a:pPr indent="0" marL="0">
              <a:buNone/>
            </a:pPr>
            <a:r>
              <a:rPr lang="en-US" sz="1700" dirty="0">
                <a:solidFill>
                  <a:srgbClr val="212121"/>
                </a:solidFill>
                <a:latin typeface="Arial" pitchFamily="34" charset="0"/>
                <a:ea typeface="Arial" pitchFamily="34" charset="-122"/>
                <a:cs typeface="Arial" pitchFamily="34" charset="-120"/>
              </a:rPr>
              <a:t>Atrapa lo que provoca @Valid cuando LibroCreateDTO no cumple alguna de sus anotaciones:</a:t>
            </a:r>
            <a:endParaRPr lang="en-US" sz="1700" dirty="0"/>
          </a:p>
        </p:txBody>
      </p:sp>
      <p:sp>
        <p:nvSpPr>
          <p:cNvPr id="6" name="Shape 4"/>
          <p:cNvSpPr/>
          <p:nvPr/>
        </p:nvSpPr>
        <p:spPr>
          <a:xfrm>
            <a:off x="548640" y="1828800"/>
            <a:ext cx="11091672" cy="3566160"/>
          </a:xfrm>
          <a:prstGeom prst="rect">
            <a:avLst/>
          </a:prstGeom>
          <a:solidFill>
            <a:srgbClr val="ECEFF1"/>
          </a:solidFill>
          <a:ln w="12700">
            <a:solidFill>
              <a:srgbClr val="EEEEEE"/>
            </a:solidFill>
            <a:prstDash val="solid"/>
          </a:ln>
        </p:spPr>
      </p:sp>
      <p:sp>
        <p:nvSpPr>
          <p:cNvPr id="7" name="Shape 5"/>
          <p:cNvSpPr/>
          <p:nvPr/>
        </p:nvSpPr>
        <p:spPr>
          <a:xfrm>
            <a:off x="548640" y="1828800"/>
            <a:ext cx="73152" cy="3566160"/>
          </a:xfrm>
          <a:prstGeom prst="rect">
            <a:avLst/>
          </a:prstGeom>
          <a:solidFill>
            <a:srgbClr val="FFA000"/>
          </a:solidFill>
          <a:ln w="12700">
            <a:solidFill>
              <a:srgbClr val="FFA000"/>
            </a:solidFill>
            <a:prstDash val="solid"/>
          </a:ln>
        </p:spPr>
      </p:sp>
      <p:sp>
        <p:nvSpPr>
          <p:cNvPr id="8" name="Text 6"/>
          <p:cNvSpPr/>
          <p:nvPr/>
        </p:nvSpPr>
        <p:spPr>
          <a:xfrm>
            <a:off x="822960" y="1938528"/>
            <a:ext cx="10588752" cy="3346704"/>
          </a:xfrm>
          <a:prstGeom prst="rect">
            <a:avLst/>
          </a:prstGeom>
          <a:noFill/>
          <a:ln/>
        </p:spPr>
        <p:txBody>
          <a:bodyPr wrap="square" rtlCol="0" anchor="t"/>
          <a:lstStyle/>
          <a:p>
            <a:pPr indent="0" marL="0">
              <a:buNone/>
            </a:pPr>
            <a:r>
              <a:rPr lang="en-US" sz="1250" dirty="0">
                <a:solidFill>
                  <a:srgbClr val="263238"/>
                </a:solidFill>
                <a:latin typeface="Courier New" pitchFamily="34" charset="0"/>
                <a:ea typeface="Courier New" pitchFamily="34" charset="-122"/>
                <a:cs typeface="Courier New" pitchFamily="34" charset="-120"/>
              </a:rPr>
              <a:t>@ExceptionHandler(MethodArgumentNotValidException.class)</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public ResponseEntity&lt;ErrorResponse&gt; handleValidationExceptions(</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MethodArgumentNotValidException ex, HttpServletRequest request) {</a:t>
            </a:r>
            <a:endParaRPr lang="en-US" sz="1250" dirty="0"/>
          </a:p>
          <a:p>
            <a:pPr indent="0" marL="0">
              <a:buNone/>
            </a:pP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Map&lt;String, List&lt;String&gt;&gt; fields = ex.getBindingResult().getFieldErrors()</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.stream().collect(Collectors.groupingBy(FieldError::getField,</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Collectors.mapping(FieldError::getDefaultMessage, Collectors.toList())));</a:t>
            </a:r>
            <a:endParaRPr lang="en-US" sz="1250" dirty="0"/>
          </a:p>
          <a:p>
            <a:pPr indent="0" marL="0">
              <a:buNone/>
            </a:pP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ErrorResponse response = new ErrorResponse(</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LocalDateTime.now().toString(), 400, "Error de validación",</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"La petición contiene campos inválidos", request.getRequestURI(), fields);</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return ResponseEntity.status(HttpStatus.BAD_REQUEST).body(response);</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Handler 1: qué hace cada pieza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Shape 3"/>
          <p:cNvSpPr/>
          <p:nvPr/>
        </p:nvSpPr>
        <p:spPr>
          <a:xfrm>
            <a:off x="548640" y="2103120"/>
            <a:ext cx="11091672" cy="1828800"/>
          </a:xfrm>
          <a:prstGeom prst="roundRect">
            <a:avLst/>
          </a:prstGeom>
          <a:solidFill>
            <a:srgbClr val="FFF3E0"/>
          </a:solidFill>
          <a:ln w="19050">
            <a:solidFill>
              <a:srgbClr val="FFA000"/>
            </a:solidFill>
            <a:prstDash val="solid"/>
          </a:ln>
        </p:spPr>
      </p:sp>
      <p:sp>
        <p:nvSpPr>
          <p:cNvPr id="6" name="Text 4"/>
          <p:cNvSpPr/>
          <p:nvPr/>
        </p:nvSpPr>
        <p:spPr>
          <a:xfrm>
            <a:off x="822960" y="2194560"/>
            <a:ext cx="10543032" cy="164592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ex.getBindingResult().getFieldErrors() es la lista de campos que han fallado la validación, con el mensaje que tú mismo has escrito en el DTO (message = "..."). Collectors.groupingBy la convierte en un mapa campo → lista de mensajes: si un mismo campo incumple dos anotaciones a la vez, aparecen los dos mensajes, no solo el primero.</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Handler 2: los errores que ya lanzas tú</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Text 3"/>
          <p:cNvSpPr/>
          <p:nvPr/>
        </p:nvSpPr>
        <p:spPr>
          <a:xfrm>
            <a:off x="548640" y="1188720"/>
            <a:ext cx="11091672" cy="502920"/>
          </a:xfrm>
          <a:prstGeom prst="rect">
            <a:avLst/>
          </a:prstGeom>
          <a:noFill/>
          <a:ln/>
        </p:spPr>
        <p:txBody>
          <a:bodyPr wrap="square" rtlCol="0" anchor="t"/>
          <a:lstStyle/>
          <a:p>
            <a:pPr indent="0" marL="0">
              <a:buNone/>
            </a:pPr>
            <a:r>
              <a:rPr lang="en-US" sz="1700" dirty="0">
                <a:solidFill>
                  <a:srgbClr val="212121"/>
                </a:solidFill>
                <a:latin typeface="Arial" pitchFamily="34" charset="0"/>
                <a:ea typeface="Arial" pitchFamily="34" charset="-122"/>
                <a:cs typeface="Arial" pitchFamily="34" charset="-120"/>
              </a:rPr>
              <a:t>Atrapa ResponseStatusException, la misma que usas en el service con orElseThrow(...) — el mismo 404 que viste en el Tema 1:</a:t>
            </a:r>
            <a:endParaRPr lang="en-US" sz="1700" dirty="0"/>
          </a:p>
        </p:txBody>
      </p:sp>
      <p:sp>
        <p:nvSpPr>
          <p:cNvPr id="6" name="Shape 4"/>
          <p:cNvSpPr/>
          <p:nvPr/>
        </p:nvSpPr>
        <p:spPr>
          <a:xfrm>
            <a:off x="548640" y="1874520"/>
            <a:ext cx="11091672" cy="3566160"/>
          </a:xfrm>
          <a:prstGeom prst="rect">
            <a:avLst/>
          </a:prstGeom>
          <a:solidFill>
            <a:srgbClr val="ECEFF1"/>
          </a:solidFill>
          <a:ln w="12700">
            <a:solidFill>
              <a:srgbClr val="EEEEEE"/>
            </a:solidFill>
            <a:prstDash val="solid"/>
          </a:ln>
        </p:spPr>
      </p:sp>
      <p:sp>
        <p:nvSpPr>
          <p:cNvPr id="7" name="Shape 5"/>
          <p:cNvSpPr/>
          <p:nvPr/>
        </p:nvSpPr>
        <p:spPr>
          <a:xfrm>
            <a:off x="548640" y="1874520"/>
            <a:ext cx="73152" cy="3566160"/>
          </a:xfrm>
          <a:prstGeom prst="rect">
            <a:avLst/>
          </a:prstGeom>
          <a:solidFill>
            <a:srgbClr val="FFA000"/>
          </a:solidFill>
          <a:ln w="12700">
            <a:solidFill>
              <a:srgbClr val="FFA000"/>
            </a:solidFill>
            <a:prstDash val="solid"/>
          </a:ln>
        </p:spPr>
      </p:sp>
      <p:sp>
        <p:nvSpPr>
          <p:cNvPr id="8" name="Text 6"/>
          <p:cNvSpPr/>
          <p:nvPr/>
        </p:nvSpPr>
        <p:spPr>
          <a:xfrm>
            <a:off x="822960" y="1984248"/>
            <a:ext cx="10588752" cy="3346704"/>
          </a:xfrm>
          <a:prstGeom prst="rect">
            <a:avLst/>
          </a:prstGeom>
          <a:noFill/>
          <a:ln/>
        </p:spPr>
        <p:txBody>
          <a:bodyPr wrap="square" rtlCol="0" anchor="t"/>
          <a:lstStyle/>
          <a:p>
            <a:pPr indent="0" marL="0">
              <a:buNone/>
            </a:pPr>
            <a:r>
              <a:rPr lang="en-US" sz="1250" dirty="0">
                <a:solidFill>
                  <a:srgbClr val="263238"/>
                </a:solidFill>
                <a:latin typeface="Courier New" pitchFamily="34" charset="0"/>
                <a:ea typeface="Courier New" pitchFamily="34" charset="-122"/>
                <a:cs typeface="Courier New" pitchFamily="34" charset="-120"/>
              </a:rPr>
              <a:t>@ExceptionHandler(ResponseStatusException.class)</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public ResponseEntity&lt;ErrorResponse&gt; handleResponseStatusException(</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ResponseStatusException ex, HttpServletRequest request) {</a:t>
            </a:r>
            <a:endParaRPr lang="en-US" sz="1250" dirty="0"/>
          </a:p>
          <a:p>
            <a:pPr indent="0" marL="0">
              <a:buNone/>
            </a:pP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int statusCode = ex.getStatusCode().value();</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HttpStatus status = HttpStatus.resolve(statusCode);</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String error = status != null ? status.getReasonPhrase() : "Error";</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String message = ex.getReason() != null ? ex.getReason() : error;</a:t>
            </a:r>
            <a:endParaRPr lang="en-US" sz="1250" dirty="0"/>
          </a:p>
          <a:p>
            <a:pPr indent="0" marL="0">
              <a:buNone/>
            </a:pP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ErrorResponse response = new ErrorResponse(</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LocalDateTime.now().toString(), statusCode, error, message, request.getRequestURI());</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return ResponseEntity.status(ex.getStatusCode()).body(response);</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Handler 2: el código de estado no está fijo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Shape 3"/>
          <p:cNvSpPr/>
          <p:nvPr/>
        </p:nvSpPr>
        <p:spPr>
          <a:xfrm>
            <a:off x="548640" y="2468880"/>
            <a:ext cx="11091672" cy="1737360"/>
          </a:xfrm>
          <a:prstGeom prst="roundRect">
            <a:avLst/>
          </a:prstGeom>
          <a:solidFill>
            <a:srgbClr val="FFF3E0"/>
          </a:solidFill>
          <a:ln w="19050">
            <a:solidFill>
              <a:srgbClr val="FFA000"/>
            </a:solidFill>
            <a:prstDash val="solid"/>
          </a:ln>
        </p:spPr>
      </p:sp>
      <p:sp>
        <p:nvSpPr>
          <p:cNvPr id="6" name="Text 4"/>
          <p:cNvSpPr/>
          <p:nvPr/>
        </p:nvSpPr>
        <p:spPr>
          <a:xfrm>
            <a:off x="822960" y="2560320"/>
            <a:ext cx="10543032" cy="155448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Aquí el código de estado no está fijo, al contrario que en el handler anterior (siempre 400): sale de la propia excepción, con ex.getStatusCode(), porque un ResponseStatusException puede llevar cualquier código que tú hayas decidido al lanzarla — no solo 404.</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Handler 3: un parámetro que Spring Data no interpreta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Text 3"/>
          <p:cNvSpPr/>
          <p:nvPr/>
        </p:nvSpPr>
        <p:spPr>
          <a:xfrm>
            <a:off x="548640" y="1188720"/>
            <a:ext cx="11091672" cy="822960"/>
          </a:xfrm>
          <a:prstGeom prst="rect">
            <a:avLst/>
          </a:prstGeom>
          <a:noFill/>
          <a:ln/>
        </p:spPr>
        <p:txBody>
          <a:bodyPr wrap="square" rtlCol="0" anchor="t"/>
          <a:lstStyle/>
          <a:p>
            <a:pPr indent="0" marL="0">
              <a:buNone/>
            </a:pPr>
            <a:r>
              <a:rPr lang="en-US" sz="1650" dirty="0">
                <a:solidFill>
                  <a:srgbClr val="212121"/>
                </a:solidFill>
                <a:latin typeface="Arial" pitchFamily="34" charset="0"/>
                <a:ea typeface="Arial" pitchFamily="34" charset="-122"/>
                <a:cs typeface="Arial" pitchFamily="34" charset="-120"/>
              </a:rPr>
              <a:t>Pedir un listado con ?sort=noExiste,asc lanza PropertyReferenceException: Spring Data no encuentra esa propiedad en tu entidad. Sin capturarla, la petición puede acabar en un 500 aunque el fallo sea del cliente:</a:t>
            </a:r>
            <a:endParaRPr lang="en-US" sz="1650" dirty="0"/>
          </a:p>
        </p:txBody>
      </p:sp>
      <p:sp>
        <p:nvSpPr>
          <p:cNvPr id="6" name="Shape 4"/>
          <p:cNvSpPr/>
          <p:nvPr/>
        </p:nvSpPr>
        <p:spPr>
          <a:xfrm>
            <a:off x="548640" y="2240280"/>
            <a:ext cx="11091672" cy="2468880"/>
          </a:xfrm>
          <a:prstGeom prst="rect">
            <a:avLst/>
          </a:prstGeom>
          <a:solidFill>
            <a:srgbClr val="ECEFF1"/>
          </a:solidFill>
          <a:ln w="12700">
            <a:solidFill>
              <a:srgbClr val="EEEEEE"/>
            </a:solidFill>
            <a:prstDash val="solid"/>
          </a:ln>
        </p:spPr>
      </p:sp>
      <p:sp>
        <p:nvSpPr>
          <p:cNvPr id="7" name="Shape 5"/>
          <p:cNvSpPr/>
          <p:nvPr/>
        </p:nvSpPr>
        <p:spPr>
          <a:xfrm>
            <a:off x="548640" y="2240280"/>
            <a:ext cx="73152" cy="2468880"/>
          </a:xfrm>
          <a:prstGeom prst="rect">
            <a:avLst/>
          </a:prstGeom>
          <a:solidFill>
            <a:srgbClr val="FFA000"/>
          </a:solidFill>
          <a:ln w="12700">
            <a:solidFill>
              <a:srgbClr val="FFA000"/>
            </a:solidFill>
            <a:prstDash val="solid"/>
          </a:ln>
        </p:spPr>
      </p:sp>
      <p:sp>
        <p:nvSpPr>
          <p:cNvPr id="8" name="Text 6"/>
          <p:cNvSpPr/>
          <p:nvPr/>
        </p:nvSpPr>
        <p:spPr>
          <a:xfrm>
            <a:off x="822960" y="2350008"/>
            <a:ext cx="10588752" cy="2249424"/>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@ExceptionHandler(PropertyReferenceException.class)</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public ResponseEntity&lt;ErrorResponse&gt; handlePropertyReferenceException(</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PropertyReferenceException ex, HttpServletRequest request) {</a:t>
            </a:r>
            <a:endParaRPr lang="en-US" sz="1300" dirty="0"/>
          </a:p>
          <a:p>
            <a:pPr indent="0" marL="0">
              <a:buNone/>
            </a:pP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ErrorResponse response = new ErrorResponse(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LocalDateTime.now().toString(), 400, "Parámetro inválido",</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"Uno de los parámetros de la consulta no es válido", request.getRequestURI());</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return ResponseEntity.status(HttpStatus.BAD_REQUEST).body(response);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Handler 3: por qué el mensaje es fijo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Shape 3"/>
          <p:cNvSpPr/>
          <p:nvPr/>
        </p:nvSpPr>
        <p:spPr>
          <a:xfrm>
            <a:off x="548640" y="2468880"/>
            <a:ext cx="11091672" cy="1737360"/>
          </a:xfrm>
          <a:prstGeom prst="roundRect">
            <a:avLst/>
          </a:prstGeom>
          <a:solidFill>
            <a:srgbClr val="FFF3E0"/>
          </a:solidFill>
          <a:ln w="19050">
            <a:solidFill>
              <a:srgbClr val="FFA000"/>
            </a:solidFill>
            <a:prstDash val="solid"/>
          </a:ln>
        </p:spPr>
      </p:sp>
      <p:sp>
        <p:nvSpPr>
          <p:cNvPr id="6" name="Text 4"/>
          <p:cNvSpPr/>
          <p:nvPr/>
        </p:nvSpPr>
        <p:spPr>
          <a:xfrm>
            <a:off x="822960" y="2560320"/>
            <a:ext cx="10543032" cy="155448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A diferencia del primer handler, aquí no hay un campo concreto que señalar —la excepción no identifica el parámetro que ha fallado con la misma precisión que FieldError—, así que el mensaje es fijo. Sigue siendo mucho mejor que devolver un 500 genérico o información interna de la aplicación.</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Handler 4: una restricción que solo existe en la BD</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Text 3"/>
          <p:cNvSpPr/>
          <p:nvPr/>
        </p:nvSpPr>
        <p:spPr>
          <a:xfrm>
            <a:off x="548640" y="1371600"/>
            <a:ext cx="11091672" cy="502920"/>
          </a:xfrm>
          <a:prstGeom prst="rect">
            <a:avLst/>
          </a:prstGeom>
          <a:noFill/>
          <a:ln/>
        </p:spPr>
        <p:txBody>
          <a:bodyPr wrap="square" rtlCol="0" anchor="t"/>
          <a:lstStyle/>
          <a:p>
            <a:pPr indent="0" marL="0">
              <a:buNone/>
            </a:pPr>
            <a:r>
              <a:rPr lang="en-US" sz="1700" dirty="0">
                <a:solidFill>
                  <a:srgbClr val="212121"/>
                </a:solidFill>
                <a:latin typeface="Arial" pitchFamily="34" charset="0"/>
                <a:ea typeface="Arial" pitchFamily="34" charset="-122"/>
                <a:cs typeface="Arial" pitchFamily="34" charset="-120"/>
              </a:rPr>
              <a:t>Bean Validation no consulta la base de datos. Dos ejemplos de tu propio GameVault, con resultados distintos:</a:t>
            </a:r>
            <a:endParaRPr lang="en-US" sz="1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914400"/>
        </p:xfrm>
        <a:graphic>
          <a:graphicData uri="http://schemas.openxmlformats.org/drawingml/2006/table">
            <a:tbl>
              <a:tblPr/>
              <a:tblGrid>
                <a:gridCol w="4658502"/>
                <a:gridCol w="6433170"/>
              </a:tblGrid>
              <a:tr h="914400">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Operación</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Qué ocurre</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r>
              <a:tr h="914400">
                <a:tc>
                  <a:txBody>
                    <a:bodyPr/>
                    <a:lstStyle/>
                    <a:p>
                      <a:pPr indent="0" marL="0">
                        <a:buNone/>
                      </a:pPr>
                      <a:r>
                        <a:rPr lang="en-US" sz="1400" b="1" dirty="0">
                          <a:solidFill>
                            <a:srgbClr val="212121"/>
                          </a:solidFill>
                          <a:latin typeface="Arial" pitchFamily="34" charset="0"/>
                          <a:ea typeface="Arial" pitchFamily="34" charset="-122"/>
                          <a:cs typeface="Arial" pitchFamily="34" charset="-120"/>
                        </a:rPr>
                        <a:t>POST /videojuegos con un estudioId inexistente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VideojuegoService.create() busca primero el Estudio y lanza un 404 controlado si no existe.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914400">
                <a:tc>
                  <a:txBody>
                    <a:bodyPr/>
                    <a:lstStyle/>
                    <a:p>
                      <a:pPr indent="0" marL="0">
                        <a:buNone/>
                      </a:pPr>
                      <a:r>
                        <a:rPr lang="en-US" sz="1400" b="1" dirty="0">
                          <a:solidFill>
                            <a:srgbClr val="212121"/>
                          </a:solidFill>
                          <a:latin typeface="Arial" pitchFamily="34" charset="0"/>
                          <a:ea typeface="Arial" pitchFamily="34" charset="-122"/>
                          <a:cs typeface="Arial" pitchFamily="34" charset="-120"/>
                        </a:rPr>
                        <a:t>DELETE /estudios/{id} con videojuegos asociados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Si el borrado no se propaga mediante cascade, PostgreSQL rechaza la operación por la clave foránea.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Handler 4: código y por qué 409 Conflict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Shape 3"/>
          <p:cNvSpPr/>
          <p:nvPr/>
        </p:nvSpPr>
        <p:spPr>
          <a:xfrm>
            <a:off x="548640" y="1188720"/>
            <a:ext cx="11091672" cy="3017520"/>
          </a:xfrm>
          <a:prstGeom prst="rect">
            <a:avLst/>
          </a:prstGeom>
          <a:solidFill>
            <a:srgbClr val="ECEFF1"/>
          </a:solidFill>
          <a:ln w="12700">
            <a:solidFill>
              <a:srgbClr val="EEEEEE"/>
            </a:solidFill>
            <a:prstDash val="solid"/>
          </a:ln>
        </p:spPr>
      </p:sp>
      <p:sp>
        <p:nvSpPr>
          <p:cNvPr id="6" name="Shape 4"/>
          <p:cNvSpPr/>
          <p:nvPr/>
        </p:nvSpPr>
        <p:spPr>
          <a:xfrm>
            <a:off x="548640" y="1188720"/>
            <a:ext cx="73152" cy="3017520"/>
          </a:xfrm>
          <a:prstGeom prst="rect">
            <a:avLst/>
          </a:prstGeom>
          <a:solidFill>
            <a:srgbClr val="FFA000"/>
          </a:solidFill>
          <a:ln w="12700">
            <a:solidFill>
              <a:srgbClr val="FFA000"/>
            </a:solidFill>
            <a:prstDash val="solid"/>
          </a:ln>
        </p:spPr>
      </p:sp>
      <p:sp>
        <p:nvSpPr>
          <p:cNvPr id="7" name="Text 5"/>
          <p:cNvSpPr/>
          <p:nvPr/>
        </p:nvSpPr>
        <p:spPr>
          <a:xfrm>
            <a:off x="822960" y="1298448"/>
            <a:ext cx="10588752" cy="2798064"/>
          </a:xfrm>
          <a:prstGeom prst="rect">
            <a:avLst/>
          </a:prstGeom>
          <a:noFill/>
          <a:ln/>
        </p:spPr>
        <p:txBody>
          <a:bodyPr wrap="square" rtlCol="0" anchor="t"/>
          <a:lstStyle/>
          <a:p>
            <a:pPr indent="0" marL="0">
              <a:buNone/>
            </a:pPr>
            <a:r>
              <a:rPr lang="en-US" sz="1250" dirty="0">
                <a:solidFill>
                  <a:srgbClr val="263238"/>
                </a:solidFill>
                <a:latin typeface="Courier New" pitchFamily="34" charset="0"/>
                <a:ea typeface="Courier New" pitchFamily="34" charset="-122"/>
                <a:cs typeface="Courier New" pitchFamily="34" charset="-120"/>
              </a:rPr>
              <a:t>@ExceptionHandler(DataIntegrityViolationException.class)</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public ResponseEntity&lt;ErrorResponse&gt; handleDataIntegrityViolationException(</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DataIntegrityViolationException ex, HttpServletRequest request) {</a:t>
            </a:r>
            <a:endParaRPr lang="en-US" sz="1250" dirty="0"/>
          </a:p>
          <a:p>
            <a:pPr indent="0" marL="0">
              <a:buNone/>
            </a:pP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ErrorResponse response = new ErrorResponse(</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LocalDateTime.now().toString(), 409, "Conflicto de datos",</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"La operación viola una restricción de la base de datos (una referencia " +</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"que no existe, un registro del que aún dependen otros, un valor duplicado, etc.)",</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request.getRequestURI());</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    return ResponseEntity.status(HttpStatus.CONFLICT).body(response);</a:t>
            </a:r>
            <a:endParaRPr lang="en-US" sz="1250" dirty="0"/>
          </a:p>
          <a:p>
            <a:pPr indent="0" marL="0">
              <a:buNone/>
            </a:pPr>
            <a:r>
              <a:rPr lang="en-US" sz="1250" dirty="0">
                <a:solidFill>
                  <a:srgbClr val="263238"/>
                </a:solidFill>
                <a:latin typeface="Courier New" pitchFamily="34" charset="0"/>
                <a:ea typeface="Courier New" pitchFamily="34" charset="-122"/>
                <a:cs typeface="Courier New" pitchFamily="34" charset="-120"/>
              </a:rPr>
              <a:t>}</a:t>
            </a:r>
            <a:endParaRPr lang="en-US" sz="1250" dirty="0"/>
          </a:p>
        </p:txBody>
      </p:sp>
      <p:sp>
        <p:nvSpPr>
          <p:cNvPr id="8" name="Text 6"/>
          <p:cNvSpPr/>
          <p:nvPr/>
        </p:nvSpPr>
        <p:spPr>
          <a:xfrm>
            <a:off x="548640" y="4480560"/>
            <a:ext cx="11091672" cy="685800"/>
          </a:xfrm>
          <a:prstGeom prst="rect">
            <a:avLst/>
          </a:prstGeom>
          <a:noFill/>
          <a:ln/>
        </p:spPr>
        <p:txBody>
          <a:bodyPr wrap="square" rtlCol="0" anchor="t"/>
          <a:lstStyle/>
          <a:p>
            <a:pPr indent="0" marL="0">
              <a:buNone/>
            </a:pPr>
            <a:r>
              <a:rPr lang="en-US" sz="1550" dirty="0">
                <a:solidFill>
                  <a:srgbClr val="757575"/>
                </a:solidFill>
                <a:latin typeface="Arial" pitchFamily="34" charset="0"/>
                <a:ea typeface="Arial" pitchFamily="34" charset="-122"/>
                <a:cs typeface="Arial" pitchFamily="34" charset="-120"/>
              </a:rPr>
              <a:t>409, no 400: la petición está bien construida, pero no puede completarse porque entra en conflicto con el estado actual de los datos.</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Handler 5: la red de seguridad final</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Text 3"/>
          <p:cNvSpPr/>
          <p:nvPr/>
        </p:nvSpPr>
        <p:spPr>
          <a:xfrm>
            <a:off x="548640" y="1188720"/>
            <a:ext cx="11091672" cy="548640"/>
          </a:xfrm>
          <a:prstGeom prst="rect">
            <a:avLst/>
          </a:prstGeom>
          <a:noFill/>
          <a:ln/>
        </p:spPr>
        <p:txBody>
          <a:bodyPr wrap="square" rtlCol="0" anchor="t"/>
          <a:lstStyle/>
          <a:p>
            <a:pPr indent="0" marL="0">
              <a:buNone/>
            </a:pPr>
            <a:r>
              <a:rPr lang="en-US" sz="1650" dirty="0">
                <a:solidFill>
                  <a:srgbClr val="212121"/>
                </a:solidFill>
                <a:latin typeface="Arial" pitchFamily="34" charset="0"/>
                <a:ea typeface="Arial" pitchFamily="34" charset="-122"/>
                <a:cs typeface="Arial" pitchFamily="34" charset="-120"/>
              </a:rPr>
              <a:t>Cualquier otra excepción —un bug en tu propio código, por ejemplo— queda fuera del formato común. Un último handler genérico controla la respuesta:</a:t>
            </a:r>
            <a:endParaRPr lang="en-US" sz="1650" dirty="0"/>
          </a:p>
        </p:txBody>
      </p:sp>
      <p:sp>
        <p:nvSpPr>
          <p:cNvPr id="6" name="Shape 4"/>
          <p:cNvSpPr/>
          <p:nvPr/>
        </p:nvSpPr>
        <p:spPr>
          <a:xfrm>
            <a:off x="548640" y="1920240"/>
            <a:ext cx="11091672" cy="2331720"/>
          </a:xfrm>
          <a:prstGeom prst="rect">
            <a:avLst/>
          </a:prstGeom>
          <a:solidFill>
            <a:srgbClr val="ECEFF1"/>
          </a:solidFill>
          <a:ln w="12700">
            <a:solidFill>
              <a:srgbClr val="EEEEEE"/>
            </a:solidFill>
            <a:prstDash val="solid"/>
          </a:ln>
        </p:spPr>
      </p:sp>
      <p:sp>
        <p:nvSpPr>
          <p:cNvPr id="7" name="Shape 5"/>
          <p:cNvSpPr/>
          <p:nvPr/>
        </p:nvSpPr>
        <p:spPr>
          <a:xfrm>
            <a:off x="548640" y="1920240"/>
            <a:ext cx="73152" cy="2331720"/>
          </a:xfrm>
          <a:prstGeom prst="rect">
            <a:avLst/>
          </a:prstGeom>
          <a:solidFill>
            <a:srgbClr val="FFA000"/>
          </a:solidFill>
          <a:ln w="12700">
            <a:solidFill>
              <a:srgbClr val="FFA000"/>
            </a:solidFill>
            <a:prstDash val="solid"/>
          </a:ln>
        </p:spPr>
      </p:sp>
      <p:sp>
        <p:nvSpPr>
          <p:cNvPr id="8" name="Text 6"/>
          <p:cNvSpPr/>
          <p:nvPr/>
        </p:nvSpPr>
        <p:spPr>
          <a:xfrm>
            <a:off x="822960" y="2029968"/>
            <a:ext cx="10588752" cy="2112264"/>
          </a:xfrm>
          <a:prstGeom prst="rect">
            <a:avLst/>
          </a:prstGeom>
          <a:noFill/>
          <a:ln/>
        </p:spPr>
        <p:txBody>
          <a:bodyPr wrap="square" rtlCol="0" anchor="t"/>
          <a:lstStyle/>
          <a:p>
            <a:pPr indent="0" marL="0">
              <a:buNone/>
            </a:pPr>
            <a:r>
              <a:rPr lang="en-US" sz="1350" dirty="0">
                <a:solidFill>
                  <a:srgbClr val="263238"/>
                </a:solidFill>
                <a:latin typeface="Courier New" pitchFamily="34" charset="0"/>
                <a:ea typeface="Courier New" pitchFamily="34" charset="-122"/>
                <a:cs typeface="Courier New" pitchFamily="34" charset="-120"/>
              </a:rPr>
              <a:t>@ExceptionHandler(Exception.class)</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public ResponseEntity&lt;ErrorResponse&gt; handleGenericException(</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Exception ex, HttpServletRequest request) {</a:t>
            </a:r>
            <a:endParaRPr lang="en-US" sz="1350" dirty="0"/>
          </a:p>
          <a:p>
            <a:pPr indent="0" marL="0">
              <a:buNone/>
            </a:pP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ErrorResponse response = new ErrorResponse(</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LocalDateTime.now().toString(), 500, "Error interno",</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"Ha ocurrido un error inesperado", request.getRequestURI());</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    return ResponseEntity.status(HttpStatus.INTERNAL_SERVER_ERROR).body(response);</a:t>
            </a:r>
            <a:endParaRPr lang="en-US" sz="1350" dirty="0"/>
          </a:p>
          <a:p>
            <a:pPr indent="0" marL="0">
              <a:buNone/>
            </a:pPr>
            <a:r>
              <a:rPr lang="en-US" sz="1350" dirty="0">
                <a:solidFill>
                  <a:srgbClr val="263238"/>
                </a:solidFill>
                <a:latin typeface="Courier New" pitchFamily="34" charset="0"/>
                <a:ea typeface="Courier New" pitchFamily="34" charset="-122"/>
                <a:cs typeface="Courier New" pitchFamily="34" charset="-120"/>
              </a:rPr>
              <a:t>}</a:t>
            </a:r>
            <a:endParaRPr lang="en-US" sz="1350" dirty="0"/>
          </a:p>
        </p:txBody>
      </p:sp>
      <p:sp>
        <p:nvSpPr>
          <p:cNvPr id="9" name="Shape 7"/>
          <p:cNvSpPr/>
          <p:nvPr/>
        </p:nvSpPr>
        <p:spPr>
          <a:xfrm>
            <a:off x="548640" y="4526280"/>
            <a:ext cx="11091672" cy="1051560"/>
          </a:xfrm>
          <a:prstGeom prst="roundRect">
            <a:avLst/>
          </a:prstGeom>
          <a:solidFill>
            <a:srgbClr val="FFF3E0"/>
          </a:solidFill>
          <a:ln w="28575">
            <a:solidFill>
              <a:srgbClr val="FFA000"/>
            </a:solidFill>
            <a:prstDash val="solid"/>
          </a:ln>
        </p:spPr>
      </p:sp>
      <p:sp>
        <p:nvSpPr>
          <p:cNvPr id="10" name="Text 8"/>
          <p:cNvSpPr/>
          <p:nvPr/>
        </p:nvSpPr>
        <p:spPr>
          <a:xfrm>
            <a:off x="822960" y="4636008"/>
            <a:ext cx="10543032" cy="832104"/>
          </a:xfrm>
          <a:prstGeom prst="rect">
            <a:avLst/>
          </a:prstGeom>
          <a:noFill/>
          <a:ln/>
        </p:spPr>
        <p:txBody>
          <a:bodyPr wrap="square" rtlCol="0" anchor="t"/>
          <a:lstStyle/>
          <a:p>
            <a:pPr indent="0" marL="0">
              <a:buNone/>
            </a:pPr>
            <a:r>
              <a:rPr lang="en-US" sz="1550" b="1" dirty="0">
                <a:solidFill>
                  <a:srgbClr val="4E342E"/>
                </a:solidFill>
                <a:latin typeface="Arial" pitchFamily="34" charset="0"/>
                <a:ea typeface="Arial" pitchFamily="34" charset="-122"/>
                <a:cs typeface="Arial" pitchFamily="34" charset="-120"/>
              </a:rPr>
              <a:t>⚠ No devuelvas ex.getMessage() aquí
</a:t>
            </a:r>
            <a:endParaRPr lang="en-US" sz="1550" dirty="0"/>
          </a:p>
          <a:p>
            <a:pPr indent="0" marL="0">
              <a:buNone/>
            </a:pPr>
            <a:r>
              <a:rPr lang="en-US" sz="1450" dirty="0">
                <a:solidFill>
                  <a:srgbClr val="212121"/>
                </a:solidFill>
                <a:latin typeface="Arial" pitchFamily="34" charset="0"/>
                <a:ea typeface="Arial" pitchFamily="34" charset="-122"/>
                <a:cs typeface="Arial" pitchFamily="34" charset="-120"/>
              </a:rPr>
              <a:t>Es tentador pasarle al cliente el mensaje real para depurar más rápido, pero puede contener detalles internos. Devuelve un mensaje genérico y registra la excepción completa en los logs.</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Los cinco handlers, de un vistazo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549335"/>
                <a:gridCol w="3771168"/>
                <a:gridCol w="3771168"/>
              </a:tblGrid>
              <a:tr h="658368">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Handler</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Qué atrapa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Cuándo salta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r>
              <a:tr h="658368">
                <a:tc>
                  <a:txBody>
                    <a:bodyPr/>
                    <a:lstStyle/>
                    <a:p>
                      <a:pPr indent="0" marL="0">
                        <a:buNone/>
                      </a:pPr>
                      <a:r>
                        <a:rPr lang="en-US" sz="1200" b="1" dirty="0">
                          <a:solidFill>
                            <a:srgbClr val="212121"/>
                          </a:solidFill>
                          <a:latin typeface="Arial" pitchFamily="34" charset="0"/>
                          <a:ea typeface="Arial" pitchFamily="34" charset="-122"/>
                          <a:cs typeface="Arial" pitchFamily="34" charset="-120"/>
                        </a:rPr>
                        <a:t>handleValidationExceptions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MethodArgumentNotValidException</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Un DTO con @Valid no cumple sus anotaciones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212121"/>
                          </a:solidFill>
                          <a:latin typeface="Arial" pitchFamily="34" charset="0"/>
                          <a:ea typeface="Arial" pitchFamily="34" charset="-122"/>
                          <a:cs typeface="Arial" pitchFamily="34" charset="-120"/>
                        </a:rPr>
                        <a:t>handleResponseStatusException</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ResponseStatusException</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Un orElseThrow(...) lanza un 404, u otro código explícito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58368">
                <a:tc>
                  <a:txBody>
                    <a:bodyPr/>
                    <a:lstStyle/>
                    <a:p>
                      <a:pPr indent="0" marL="0">
                        <a:buNone/>
                      </a:pPr>
                      <a:r>
                        <a:rPr lang="en-US" sz="1200" b="1" dirty="0">
                          <a:solidFill>
                            <a:srgbClr val="212121"/>
                          </a:solidFill>
                          <a:latin typeface="Arial" pitchFamily="34" charset="0"/>
                          <a:ea typeface="Arial" pitchFamily="34" charset="-122"/>
                          <a:cs typeface="Arial" pitchFamily="34" charset="-120"/>
                        </a:rPr>
                        <a:t>handlePropertyReferenceException</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PropertyReferenceException</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Un sort sobre un campo que no existe</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212121"/>
                          </a:solidFill>
                          <a:latin typeface="Arial" pitchFamily="34" charset="0"/>
                          <a:ea typeface="Arial" pitchFamily="34" charset="-122"/>
                          <a:cs typeface="Arial" pitchFamily="34" charset="-120"/>
                        </a:rPr>
                        <a:t>handleDataIntegrityViolationException</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DataIntegrityViolationException</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La base de datos rechaza la operación</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58368">
                <a:tc>
                  <a:txBody>
                    <a:bodyPr/>
                    <a:lstStyle/>
                    <a:p>
                      <a:pPr indent="0" marL="0">
                        <a:buNone/>
                      </a:pPr>
                      <a:r>
                        <a:rPr lang="en-US" sz="1200" b="1" dirty="0">
                          <a:solidFill>
                            <a:srgbClr val="212121"/>
                          </a:solidFill>
                          <a:latin typeface="Arial" pitchFamily="34" charset="0"/>
                          <a:ea typeface="Arial" pitchFamily="34" charset="-122"/>
                          <a:cs typeface="Arial" pitchFamily="34" charset="-120"/>
                        </a:rPr>
                        <a:t>handleGenericException</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Exception</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Cualquier otra excepción no prevista</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Lo que viene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Shape 3"/>
          <p:cNvSpPr/>
          <p:nvPr/>
        </p:nvSpPr>
        <p:spPr>
          <a:xfrm>
            <a:off x="548640" y="2103120"/>
            <a:ext cx="11091672" cy="1920240"/>
          </a:xfrm>
          <a:prstGeom prst="roundRect">
            <a:avLst/>
          </a:prstGeom>
          <a:solidFill>
            <a:srgbClr val="FFF3E0"/>
          </a:solidFill>
          <a:ln w="19050">
            <a:solidFill>
              <a:srgbClr val="FFA000"/>
            </a:solidFill>
            <a:prstDash val="solid"/>
          </a:ln>
        </p:spPr>
      </p:sp>
      <p:sp>
        <p:nvSpPr>
          <p:cNvPr id="6" name="Text 4"/>
          <p:cNvSpPr/>
          <p:nvPr/>
        </p:nvSpPr>
        <p:spPr>
          <a:xfrm>
            <a:off x="822960" y="2194560"/>
            <a:ext cx="10543032" cy="173736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El resto de este tema va a materializar, uno a uno, los principios que has visto hoy: mínima exposición se convierte en rutas cerradas por defecto ("Roles y rutas protegidas"), no guardar secretos en el código se convierte en el jwt.secret como propiedad externa ("Autenticación con JWT"), no almacenar contraseñas en claro se convierte en BCrypt ("Usuarios persistidos y BCrypt"). Hoy has visto los principios; en los próximos apartados les pones nombre y apellido en Spring Security.</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Ideas clave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Text 3"/>
          <p:cNvSpPr/>
          <p:nvPr/>
        </p:nvSpPr>
        <p:spPr>
          <a:xfrm>
            <a:off x="548640" y="1645920"/>
            <a:ext cx="11091672" cy="4023360"/>
          </a:xfrm>
          <a:prstGeom prst="rect">
            <a:avLst/>
          </a:prstGeom>
          <a:noFill/>
          <a:ln/>
        </p:spPr>
        <p:txBody>
          <a:bodyPr wrap="square" rtlCol="0" anchor="t"/>
          <a:lstStyle/>
          <a:p>
            <a:pPr marL="190500" indent="-190500">
              <a:spcAft>
                <a:spcPts val="2000"/>
              </a:spcAft>
              <a:buSzPct val="100000"/>
              <a:buChar char="•"/>
            </a:pPr>
            <a:r>
              <a:rPr lang="en-US" sz="1750" dirty="0">
                <a:solidFill>
                  <a:srgbClr val="212121"/>
                </a:solidFill>
                <a:latin typeface="Arial" pitchFamily="34" charset="0"/>
                <a:ea typeface="Arial" pitchFamily="34" charset="-122"/>
                <a:cs typeface="Arial" pitchFamily="34" charset="-120"/>
              </a:rPr>
              <a:t>Los tres pilares clásicos de la seguridad: confidencialidad, integridad, disponibilidad.</a:t>
            </a:r>
            <a:endParaRPr lang="en-US" sz="1750" dirty="0"/>
          </a:p>
          <a:p>
            <a:pPr marL="190500" indent="-190500">
              <a:spcAft>
                <a:spcPts val="2000"/>
              </a:spcAft>
              <a:buSzPct val="100000"/>
              <a:buChar char="•"/>
            </a:pPr>
            <a:r>
              <a:rPr lang="en-US" sz="1750" dirty="0">
                <a:solidFill>
                  <a:srgbClr val="212121"/>
                </a:solidFill>
                <a:latin typeface="Arial" pitchFamily="34" charset="0"/>
                <a:ea typeface="Arial" pitchFamily="34" charset="-122"/>
                <a:cs typeface="Arial" pitchFamily="34" charset="-120"/>
              </a:rPr>
              <a:t>La superficie de ataque es todo punto por el que algo externo interactúa con tu sistema; la regla de oro es no fiarse nunca de los datos de entrada.</a:t>
            </a:r>
            <a:endParaRPr lang="en-US" sz="1750" dirty="0"/>
          </a:p>
          <a:p>
            <a:pPr marL="190500" indent="-190500">
              <a:spcAft>
                <a:spcPts val="2000"/>
              </a:spcAft>
              <a:buSzPct val="100000"/>
              <a:buChar char="•"/>
            </a:pPr>
            <a:r>
              <a:rPr lang="en-US" sz="1750" dirty="0">
                <a:solidFill>
                  <a:srgbClr val="212121"/>
                </a:solidFill>
                <a:latin typeface="Arial" pitchFamily="34" charset="0"/>
                <a:ea typeface="Arial" pitchFamily="34" charset="-122"/>
                <a:cs typeface="Arial" pitchFamily="34" charset="-120"/>
              </a:rPr>
              <a:t>Principios clave: validar en la frontera, mínima exposición, no filtrar información en los errores, no guardar secretos en el código, defensa en profundidad.</a:t>
            </a:r>
            <a:endParaRPr lang="en-US" sz="1750" dirty="0"/>
          </a:p>
          <a:p>
            <a:pPr marL="190500" indent="-190500">
              <a:buSzPct val="100000"/>
              <a:buChar char="•"/>
            </a:pPr>
            <a:r>
              <a:rPr lang="en-US" sz="1750" dirty="0">
                <a:solidFill>
                  <a:srgbClr val="212121"/>
                </a:solidFill>
                <a:latin typeface="Arial" pitchFamily="34" charset="0"/>
                <a:ea typeface="Arial" pitchFamily="34" charset="-122"/>
                <a:cs typeface="Arial" pitchFamily="34" charset="-120"/>
              </a:rPr>
              <a:t>@Valid + anotaciones de jakarta.validation en los DTOs validan la entrada antes de que llegue a la lógica de negocio.</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Ideas clave (cont.)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Principios de programación segura</a:t>
            </a:r>
            <a:endParaRPr lang="en-US" sz="1100" dirty="0"/>
          </a:p>
        </p:txBody>
      </p:sp>
      <p:sp>
        <p:nvSpPr>
          <p:cNvPr id="5" name="Text 3"/>
          <p:cNvSpPr/>
          <p:nvPr/>
        </p:nvSpPr>
        <p:spPr>
          <a:xfrm>
            <a:off x="548640" y="1920240"/>
            <a:ext cx="11091672" cy="3566160"/>
          </a:xfrm>
          <a:prstGeom prst="rect">
            <a:avLst/>
          </a:prstGeom>
          <a:noFill/>
          <a:ln/>
        </p:spPr>
        <p:txBody>
          <a:bodyPr wrap="square" rtlCol="0" anchor="t"/>
          <a:lstStyle/>
          <a:p>
            <a:pPr marL="190500" indent="-190500">
              <a:spcAft>
                <a:spcPts val="2000"/>
              </a:spcAft>
              <a:buSzPct val="100000"/>
              <a:buChar char="•"/>
            </a:pPr>
            <a:r>
              <a:rPr lang="en-US" sz="1850" dirty="0">
                <a:solidFill>
                  <a:srgbClr val="212121"/>
                </a:solidFill>
                <a:latin typeface="Arial" pitchFamily="34" charset="0"/>
                <a:ea typeface="Arial" pitchFamily="34" charset="-122"/>
                <a:cs typeface="Arial" pitchFamily="34" charset="-120"/>
              </a:rPr>
              <a:t>@RestControllerAdvice + @ExceptionHandler centralizan la conversión de excepciones en respuestas HTTP coherentes, sin filtrar detalles internos.</a:t>
            </a:r>
            <a:endParaRPr lang="en-US" sz="1850" dirty="0"/>
          </a:p>
          <a:p>
            <a:pPr marL="190500" indent="-190500">
              <a:buSzPct val="100000"/>
              <a:buChar char="•"/>
            </a:pPr>
            <a:r>
              <a:rPr lang="en-US" sz="1850" dirty="0">
                <a:solidFill>
                  <a:srgbClr val="212121"/>
                </a:solidFill>
                <a:latin typeface="Arial" pitchFamily="34" charset="0"/>
                <a:ea typeface="Arial" pitchFamily="34" charset="-122"/>
                <a:cs typeface="Arial" pitchFamily="34" charset="-120"/>
              </a:rPr>
              <a:t>Cinco handlers cubren los casos conocidos: MethodArgumentNotValidException (validación), ResponseStatusException (404 y similares), PropertyReferenceException (parámetros que Spring Data no interpreta), DataIntegrityViolationException (restricciones de la base de datos) y, como red de seguridad final, Exception genérica.</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Principios de programación segura: validación y gestión de errores</dc:title>
  <dc:subject>PptxGenJS Presentation</dc:subject>
  <dc:creator>Programación de Servicios y Procesos</dc:creator>
  <cp:lastModifiedBy>Programación de Servicios y Procesos</cp:lastModifiedBy>
  <cp:revision>1</cp:revision>
  <dcterms:created xsi:type="dcterms:W3CDTF">2026-08-06T21:14:26Z</dcterms:created>
  <dcterms:modified xsi:type="dcterms:W3CDTF">2026-08-06T21:14:26Z</dcterms:modified>
</cp:coreProperties>
</file>