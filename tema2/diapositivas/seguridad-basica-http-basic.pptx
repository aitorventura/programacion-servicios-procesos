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3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CA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 —  TEMA 2: SEGURIDAD Y AUTENTICACIÓN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 básica: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usuarios en memoria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HTTP Basic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Seguridad básica: usuarios en memoria y HTTP Basic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empezar por algo que vas a sustituir?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91672" cy="1920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03120"/>
            <a:ext cx="105430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ves aquí —usuarios en memoria y HTTP Basic— no es la versión final: dentro de dos apartados no quedará ni rastro de ninguna de las dos piezas. Si empezaras directamente por la versión final, tendrías código que funciona, pero no sabrías responder a "¿por qué hace falta proteger la contraseña?" — esas respuestas solo se entienden habiendo visto antes el problema real.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48640" y="429768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camino completo: usuarios en memoria y HTTP Basic (aquí) → BCrypt en base de datos (próximo apartado) → JWT (dos apartados más adelante).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primero que hace Spring Security: cerrarlo todo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11091672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Security es el framework de seguridad de Spring: comprueba quién hace cada petición y qué tiene permiso para hacer. Se instala como una dependencia más de Maven, pero con una diferencia importante: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548640" y="3337560"/>
            <a:ext cx="11091672" cy="12801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429000"/>
            <a:ext cx="105430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cuanto está en el proyecto, empieza a actuar sola, con un comportamiento por defecto muy estricto, sin que hayas escrito ni una línea de configuración propia todavía.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y después de spring-boot-starter-security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6858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88720"/>
            <a:ext cx="73152" cy="6858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298448"/>
            <a:ext cx="105887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-i http://localhost:8080/api/v1/libros</a:t>
            </a:r>
            <a:endParaRPr lang="en-US" sz="1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91672" cy="914400"/>
        </p:xfrm>
        <a:graphic>
          <a:graphicData uri="http://schemas.openxmlformats.org/drawingml/2006/table">
            <a:tbl>
              <a:tblPr/>
              <a:tblGrid>
                <a:gridCol w="4436669"/>
                <a:gridCol w="6655003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Momento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Respuesta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 de la dependencia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OK, con el catálogo completo.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Spring Security en el proyecto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 Unauthorized, sin cuerpo útil, con WWW-Authenticate: Basic realm="Realm".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475488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la API deja de responder libremente de golpe — cada petición exige autenticarse, incluida la que hace un momento era pública.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Mínima exposición, llevada al extremo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91672" cy="118872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1168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el principio de "mínima exposición" del apartado anterior, llevado al extremo por defecto: Spring Security asume que, si no se le dice explícitamente qué dejar abierto, todo debe estar cerrado.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48640" y="3429000"/>
            <a:ext cx="110916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lo consigue insertando un filtro delante de todos los controllers: una pieza que intercepta la petición HTTP antes de que llegue al código de la aplicación, la inspecciona, y decide si la deja continuar o la corta ahí mismo. Spring Security no añade uno, sino una cadena entera de ellos (la filter chain).</a:t>
            </a:r>
            <a:endParaRPr lang="en-US" sz="1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encaja Spring Security en una petición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11091672" cy="17373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46888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tocar código, conviene ver el mapa completo: por dónde pasa una petición desde que sale del cliente hasta que llega al Controller, y qué pieza decide, en cada paso, si la deja continuar. Mejor verlo en tres pasos, de menos a más complicado.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Cuando todo va bien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pic>
        <p:nvPicPr>
          <p:cNvPr id="5" name="Image 0" descr="C:/Users/Aitor/docxgen/img/psp-t2-basic-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754" y="1554480"/>
            <a:ext cx="10359444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filtro, el AuthenticationManager y el DispatcherServlet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filtro intercepta la petición y decodifica la cabecera; el AuthenticationManager coordina la comprobación; el UserDetailsService es quien de verdad sabe si ese usuario existe y con qué contraseña y roles.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11091672" cy="14630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97180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todo eso sale bien, la petición llega al DispatcherServlet — la pieza de Spring MVC que decide a qué método de qué controller mandar cada una. Es el mismo mecanismo de siempre: lo único que cambia es que, antes de llegar hasta él, la petición ahora tiene que pasar primero el control del filtro.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Sin ninguna cabecera Authorization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fallo más simple: la petición no trae credenciales de ningún tipo.</a:t>
            </a:r>
            <a:endParaRPr lang="en-US" sz="1900" dirty="0"/>
          </a:p>
        </p:txBody>
      </p:sp>
      <p:pic>
        <p:nvPicPr>
          <p:cNvPr id="6" name="Image 0" descr="C:/Users/Aitor/docxgen/img/psp-t2-basic-sin-cabece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948" y="2286000"/>
            <a:ext cx="10931056" cy="2971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AuthenticationManager ni UserDetailsService intervienen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1672" cy="17373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BasicAuthenticationFilter continúa sin autenticar al usuario; después, la autorización detecta que un usuario anónimo intenta acceder a una ruta protegida y ExceptionTranslationFilter activa el AuthenticationEntryPoint, que devuelve el 401. Todo ocurre antes de llegar al DispatcherServlet.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Credenciales incorrectas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caso menos evidente: la petición sí trae una cabecera Authorization con forma correcta, pero el usuario no existe o la contraseña no coincide.</a:t>
            </a:r>
            <a:endParaRPr lang="en-US" sz="1800" dirty="0"/>
          </a:p>
        </p:txBody>
      </p:sp>
      <p:pic>
        <p:nvPicPr>
          <p:cNvPr id="6" name="Image 0" descr="C:/Users/Aitor/docxgen/img/psp-t2-basic-credenciales-incorrect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935" y="2240280"/>
            <a:ext cx="10931082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 circuito, distinto final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167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caso es casi idéntico al primero hasta el penúltimo paso — el filtro sí pregunta, AuthenticationManager sí consulta al UserDetailsService — y solo al final cambia la respuesta. El resultado es el mismo 401 que sin credenciales, pero el camino es bastante más largo.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926080"/>
            <a:ext cx="11091672" cy="1737360"/>
          </a:xfrm>
          <a:prstGeom prst="roundRect">
            <a:avLst/>
          </a:prstGeom>
          <a:solidFill>
            <a:srgbClr val="FFF3E0"/>
          </a:solidFill>
          <a:ln w="28575">
            <a:solidFill>
              <a:srgbClr val="FFA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035808"/>
            <a:ext cx="10543032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E34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Queda pendiente un tercer tipo de fallo: el 403
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tres diagramas son sobre autenticación (¿quién eres?). Pero hay un cuarto caso: credenciales válidas de un usuario real que no tiene permiso para esa ruta en concreto — eso ya es autorización, y da un 403 Forbidden, no un 401. Lo trabajarás más adelante en el tema.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Autenticación vs. autorización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96501"/>
                <a:gridCol w="3105668"/>
                <a:gridCol w="5989503"/>
              </a:tblGrid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Pregunta que responde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Autenticación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¿Quién eres?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Comprobar que el usuario y la contraseña son correctos.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Autorización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¿Puedes hacer esto?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Comprobar que tienes permiso para borrar un libro del catálogo.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61772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Puedes estar autenticado y aun así no autorizado para una acción concreta: son dos capas distintas.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tarjeta de acceso de un edificio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1091672" cy="12801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86000"/>
            <a:ext cx="105430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presentas la tarjeta, el lector comprueba quién eres y que la tarjeta sigue activa: eso es autenticación. Después, la puerta concreta comprueba si esa identidad tiene permiso para abrirla: eso es autorización.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48640" y="3794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Spring Security, httpBasic(...) configura el mecanismo de autenticación y authorizeHttpRequests(...) decide qué puede hacer el usuario autenticado en cada ruta.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Basic: cómo viaja usuario y contraseña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cliente manda usuario y contraseña en una cabecera Authorization, codificados en Base64 — un sistema que convierte bytes en texto imprimible: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548640" y="2926080"/>
            <a:ext cx="11091672" cy="8229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73152" cy="82296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035808"/>
            <a:ext cx="105887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"user:user123"  →  codificar en Base64  →  "dXNlcjp1c2VyMTIz"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114800"/>
            <a:ext cx="11091672" cy="8229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4114800"/>
            <a:ext cx="73152" cy="82296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224528"/>
            <a:ext cx="105887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Authorization: Basic dXNlcjp1c2VyMTIz</a:t>
            </a:r>
            <a:endParaRPr lang="en-US" sz="1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Base64 NO es cifrado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91672" cy="1920240"/>
          </a:xfrm>
          <a:prstGeom prst="roundRect">
            <a:avLst/>
          </a:prstGeom>
          <a:solidFill>
            <a:srgbClr val="FFF3E0"/>
          </a:solidFill>
          <a:ln w="28575">
            <a:solidFill>
              <a:srgbClr val="FFA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29968"/>
            <a:ext cx="10543032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Cualquiera que intercepte la cabecera lee la contraseña
</a:t>
            </a:r>
            <a:endParaRPr lang="en-US" sz="2000" dirty="0"/>
          </a:p>
          <a:p>
            <a:pPr indent="0" marL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decodificaras esa cabecera —echo "dXNlcjp1c2VyMTIz" | base64 -d— obtendrías user:user123, en texto legible. Base64 es solo una codificación, no una forma de ocultar información. HTTP Basic solo es aceptable sobre una conexión cifrada con HTTPS — sin eso, la contraseña viaja prácticamente en claro en cada petición.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Usuarios en memoria: InMemoryUserDetailsManager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la pieza que en el diagrama de antes aparecía como UserDetailsService: quien responde "¿quién es el usuario user, y con qué contraseña y roles?"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11091672" cy="28803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20240"/>
            <a:ext cx="73152" cy="288036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029968"/>
            <a:ext cx="10588752" cy="2660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@Bean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UserDetailsService userDetailsService()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UserDetails user = User.withUsername("user")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.password("{noop}user123").roles("USER").build();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UserDetails admin = User.withUsername("admin")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.password("{noop}admin123").roles("ADMIN").build();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new InMemoryUserDetailsManager(user, admin);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{noop} y el prefijo ROLE_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1091672" cy="10058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37360"/>
            <a:ext cx="10543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prefijo {noop} le dice a Spring Security "esta contraseña está almacenada en texto claro y no se le aplica ningún PasswordEncoder; compárala tal cual".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11091672" cy="1828800"/>
          </a:xfrm>
          <a:prstGeom prst="roundRect">
            <a:avLst/>
          </a:prstGeom>
          <a:solidFill>
            <a:srgbClr val="FFF3E0"/>
          </a:solidFill>
          <a:ln w="28575">
            <a:solidFill>
              <a:srgbClr val="FFA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127248"/>
            <a:ext cx="10543032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50" b="1" dirty="0">
                <a:solidFill>
                  <a:srgbClr val="4E34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.roles("USER") no es literalmente el rol
</a:t>
            </a:r>
            <a:endParaRPr lang="en-US" sz="1850" dirty="0"/>
          </a:p>
          <a:p>
            <a:pPr indent="0" marL="0">
              <a:buNone/>
            </a:pPr>
            <a:r>
              <a:rPr lang="en-US" sz="17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debajo, Spring Security le añade el prefijo ROLE_: el rol real que queda registrado es ROLE_USER, no USER. No tienes que escribir ese prefijo tú mismo, pero si lo ves en un log o en un test, ya sabes de dónde sale.</a:t>
            </a:r>
            <a:endParaRPr lang="en-US" sz="1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primera política de acceso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91672" cy="35661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920240"/>
            <a:ext cx="73152" cy="356616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29968"/>
            <a:ext cx="10588752" cy="3346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@Bean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SecurityFilterChain securityFilterChain(HttpSecurity http) throws Exception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http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.authorizeHttpRequests(auth -&gt; auth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.requestMatchers(HttpMethod.GET, "/api/v1/libros/**").permitAll()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.anyRequest().authenticated()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.csrf(AbstractHttpConfigurer::disable)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.httpBasic(Customizer.withDefaults())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.build();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Léela como una lista de reglas, de arriba abajo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658502"/>
                <a:gridCol w="643317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Pieza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significa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.requestMatchers(GET, "/api/v1/libros/**")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peticiones GET bajo /api/v1/libros/ (el ** cubre sub-recursos).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.permitAll()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Esa regla no exige ninguna autenticación — pasan hasta las peticiones anónimas.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.anyRequest()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regla "para todo lo demás" — solo lo que ninguna regla anterior haya capturado.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.authenticated()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Exige estar autenticado, sin mirar el rol todavía.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.httpBasic(Customizer.withDefaults())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Activa HTTP Basic — registra el BasicAuthenticationFilter.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orden importa: gana la primera regla que encaje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1672" cy="1920240"/>
          </a:xfrm>
          <a:prstGeom prst="roundRect">
            <a:avLst/>
          </a:prstGeom>
          <a:solidFill>
            <a:srgbClr val="FFF3E0"/>
          </a:solidFill>
          <a:ln w="28575">
            <a:solidFill>
              <a:srgbClr val="FFA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12848"/>
            <a:ext cx="10543032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No es la más específica, es la primera en el código
</a:t>
            </a:r>
            <a:endParaRPr lang="en-US" sz="2000" dirty="0"/>
          </a:p>
          <a:p>
            <a:pPr indent="0" marL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Security evalúa las reglas de authorizeHttpRequests de arriba abajo, y aplica la primera que encaje — no la más específica. Si pusieras .anyRequest().authenticated() antes que la regla de /api/v1/libros/**, esa segunda regla nunca se aplicaría: anyRequest() ya lo captura todo. Las reglas concretas van siempre antes que las generales.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hace falta .csrf(...disable)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1737360"/>
          </a:xfrm>
          <a:prstGeom prst="roundRect">
            <a:avLst/>
          </a:prstGeom>
          <a:solidFill>
            <a:srgbClr val="FFF3E0"/>
          </a:solidFill>
          <a:ln w="28575">
            <a:solidFill>
              <a:srgbClr val="FFA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81328"/>
            <a:ext cx="10543032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4E34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Sin esta línea, un POST/PUT/DELETE puede dar 403
</a:t>
            </a:r>
            <a:endParaRPr lang="en-US" sz="1900" dirty="0"/>
          </a:p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esta línea, una petición sin un token CSRF válido devolverá normalmente un 403 Forbidden, aunque incluya credenciales HTTP Basic correctas: el CsrfFilter se ejecuta antes que BasicAuthenticationFilter.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48640" y="3429000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CSRF protege especialmente a aplicaciones donde el navegador adjunta credenciales automáticamente (cookies de sesión). Aquí se desactiva porque las peticiones añaden explícitamente la cabecera Authorization y no usamos cookies — no significa que deba desactivarse en cualquier API REST.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Cerrando la grieta: AuthenticationEntryPoint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a pedir una ruta protegida sin credenciales: el cuerpo del 401 no tiene el formato de tu ErrorResponse — es la respuesta por defecto de Spring Security. La razón: ese 401 lo genera un filtro de seguridad, antes de que la petición llegue al DispatcherServlet — tu GlobalExceptionHandler nunca llega a intervenir.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11091672" cy="12344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154680"/>
            <a:ext cx="10543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Security tiene su propia pieza para el mismo trabajo: un AuthenticationEntryPoint. Es una interfaz con un único método, commence(...), que se llama exactamente cuando una petición no autenticada intenta entrar en una ruta protegida.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ErrorResponseAuthenticationEntryPoint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40233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88720"/>
            <a:ext cx="73152" cy="402336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298448"/>
            <a:ext cx="10588752" cy="3803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@Component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@RequiredArgsConstructor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ErrorResponseAuthenticationEntryPoint implements AuthenticationEntryPoint {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final JsonMapper jsonMapper;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@Override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void commence(HttpServletRequest request, HttpServletResponse response,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AuthenticationException authException) throws IOException {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ErrorResponse error = new ErrorResponse(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LocalDateTime.now().toString(), HttpStatus.UNAUTHORIZED.value(),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"No autenticado", "Se requieren credenciales válidas...", request.getRequestURI());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response.setStatus(HttpStatus.UNAUTHORIZED.value());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response.setContentType(MediaType.APPLICATION_JSON_VALUE);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response.getWriter().write(jsonMapper.writeValueAsString(error));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aquí no hay ResponseEntity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17373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6304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diferencia de un @ExceptionHandler normal, aquí no hay ningún ResponseEntity — trabajas directamente sobre HttpServletResponse, porque commence(...) se ejecuta antes de que exista ningún mecanismo de Spring MVC que convierta objetos a JSON por ti. Por eso el método usa el JsonMapper inyectado y llama a writeValueAsString(...) a mano.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548640" y="342900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hace falta memorizar la sintaxis exacta: lo que importa es entender que Spring Security tiene su propio punto de entrada para este caso, fuera del circuito normal de tu GlobalExceptionHandler.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Registrando el AuthenticationEntryPoint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38404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88720"/>
            <a:ext cx="73152" cy="384048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298448"/>
            <a:ext cx="10588752" cy="3621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@Bean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SecurityFilterChain securityFilterChain(HttpSecurity http,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AuthenticationEntryPoint customAuthenticationEntryPoint) throws Exception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http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.authorizeHttpRequests(auth -&gt; auth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.requestMatchers(HttpMethod.GET, "/api/v1/libros/**").permitAll()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.anyRequest().authenticated()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.exceptionHandling(exceptions -&gt; exceptions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.authenticationEntryPoint(customAuthenticationEntryPoint)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.csrf(AbstractHttpConfigurer::disable)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.httpBasic(Customizer.withDefaults())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.build();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en .exceptionHandling(...) y no en .httpBasic(...)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1672" cy="182880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Podrías registrarlo dentro de .httpBasic(...), y también funcionaría — pero quedaría atado a HTTP Basic. Dentro de dos apartados sustituyes .httpBasic(...) por la configuración de JWT, y esa línea desaparecería con él. Puesto en .exceptionHandling(...), sobrevive al cambio sin tocar nada: es independiente de qué mecanismo de autenticación esté activo.</a:t>
            </a:r>
            <a:endParaRPr lang="en-US" sz="1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limitaciones de esta versión — a propósito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configuración tiene dos problemas serios, y son intencionados: sirven de motivación para lo que viene.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11091672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2000"/>
              </a:spcAft>
              <a:buSzPct val="100000"/>
              <a:buChar char="•"/>
            </a:pPr>
            <a:r>
              <a:rPr lang="en-US" sz="17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Usuarios definidos en código y sin persistencia: user y admin se reconstruyen igual en cada arranque. Cualquier modificación se pierde al reiniciar, y cualquiera con acceso al repositorio ve las contraseñas.</a:t>
            </a:r>
            <a:endParaRPr lang="en-US" sz="1750" dirty="0"/>
          </a:p>
          <a:p>
            <a:pPr marL="190500" indent="-190500">
              <a:buSzPct val="100000"/>
              <a:buChar char="•"/>
            </a:pPr>
            <a:r>
              <a:rPr lang="en-US" sz="17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Credenciales que viajan en cada petición: con HTTP Basic, cada petición vuelve a mandar usuario y contraseña, apenas ofuscados en Base64. Más adelante esto se sustituye por JWT.</a:t>
            </a:r>
            <a:endParaRPr lang="en-US" sz="17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91672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800"/>
              </a:spcAft>
              <a:buSzPct val="100000"/>
              <a:buChar char="•"/>
            </a:pPr>
            <a:r>
              <a:rPr lang="en-US" sz="16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Security, nada más añadirse, cierra todo por defecto — mínima exposición llevada al extremo — con un filtro que examina cada petición antes de llegar al DispatcherServlet.</a:t>
            </a:r>
            <a:endParaRPr lang="en-US" sz="1650" dirty="0"/>
          </a:p>
          <a:p>
            <a:pPr marL="190500" indent="-190500">
              <a:spcAft>
                <a:spcPts val="1800"/>
              </a:spcAft>
              <a:buSzPct val="100000"/>
              <a:buChar char="•"/>
            </a:pPr>
            <a:r>
              <a:rPr lang="en-US" sz="16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Autenticación (¿quién eres?) y autorización (¿puedes hacer esto?) son capas distintas.</a:t>
            </a:r>
            <a:endParaRPr lang="en-US" sz="1650" dirty="0"/>
          </a:p>
          <a:p>
            <a:pPr marL="190500" indent="-190500">
              <a:spcAft>
                <a:spcPts val="1800"/>
              </a:spcAft>
              <a:buSzPct val="100000"/>
              <a:buChar char="•"/>
            </a:pPr>
            <a:r>
              <a:rPr lang="en-US" sz="16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Basic manda usuario:contraseña codificado en Base64 en la cabecera Authorization — Base64 no es cifrado, solo es seguro sobre HTTPS.</a:t>
            </a:r>
            <a:endParaRPr lang="en-US" sz="1650" dirty="0"/>
          </a:p>
          <a:p>
            <a:pPr marL="190500" indent="-190500">
              <a:buSzPct val="100000"/>
              <a:buChar char="•"/>
            </a:pPr>
            <a:r>
              <a:rPr lang="en-US" sz="16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InMemoryUserDetailsManager es tu UserDetailsService: declara usuarios en código, sin conservar modificaciones entre arranques.</a:t>
            </a:r>
            <a:endParaRPr lang="en-US" sz="16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 (cont.)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2: Seguridad básica (HTTP Basic)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91672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800"/>
              </a:spcAft>
              <a:buSzPct val="100000"/>
              <a:buChar char="•"/>
            </a:pPr>
            <a:r>
              <a:rPr lang="en-US" sz="16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authorizeHttpRequests, las reglas se evalúan de arriba abajo y gana la primera que encaje — las rutas concretas van antes que anyRequest().</a:t>
            </a:r>
            <a:endParaRPr lang="en-US" sz="1650" dirty="0"/>
          </a:p>
          <a:p>
            <a:pPr marL="190500" indent="-190500">
              <a:spcAft>
                <a:spcPts val="1800"/>
              </a:spcAft>
              <a:buSzPct val="100000"/>
              <a:buChar char="•"/>
            </a:pPr>
            <a:r>
              <a:rPr lang="en-US" sz="16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.roles("USER") registra internamente ROLE_USER, con el prefijo ROLE_ añadido por Spring Security.</a:t>
            </a:r>
            <a:endParaRPr lang="en-US" sz="1650" dirty="0"/>
          </a:p>
          <a:p>
            <a:pPr marL="190500" indent="-190500">
              <a:spcAft>
                <a:spcPts val="1800"/>
              </a:spcAft>
              <a:buSzPct val="100000"/>
              <a:buChar char="•"/>
            </a:pPr>
            <a:r>
              <a:rPr lang="en-US" sz="16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.csrf(...disable), un POST/PUT/DELETE sin token CSRF da normalmente 403, incluso con credenciales correctas.</a:t>
            </a:r>
            <a:endParaRPr lang="en-US" sz="1650" dirty="0"/>
          </a:p>
          <a:p>
            <a:pPr marL="190500" indent="-190500">
              <a:buSzPct val="100000"/>
              <a:buChar char="•"/>
            </a:pPr>
            <a:r>
              <a:rPr lang="en-US" sz="16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401 de Spring Security no pasa por tu GlobalExceptionHandler — lo lanza un filtro, antes del DispatcherServlet. Un AuthenticationEntryPoint a medida lo arregla.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Seguridad básica: usuarios en memoria y HTTP Basic</dc:title>
  <dc:subject>PptxGenJS Presentation</dc:subject>
  <dc:creator>Programación de Servicios y Procesos</dc:creator>
  <cp:lastModifiedBy>Programación de Servicios y Procesos</cp:lastModifiedBy>
  <cp:revision>1</cp:revision>
  <dcterms:created xsi:type="dcterms:W3CDTF">2026-08-06T21:24:41Z</dcterms:created>
  <dcterms:modified xsi:type="dcterms:W3CDTF">2026-08-06T21:24:41Z</dcterms:modified>
</cp:coreProperties>
</file>