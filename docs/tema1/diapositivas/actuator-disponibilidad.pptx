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342E"/>
        </a:solidFill>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indent="0" marL="0">
              <a:buNone/>
            </a:pPr>
            <a:r>
              <a:rPr lang="en-US" sz="1400" dirty="0">
                <a:solidFill>
                  <a:srgbClr val="BCAAA4"/>
                </a:solidFill>
                <a:latin typeface="Arial" pitchFamily="34" charset="0"/>
                <a:ea typeface="Arial" pitchFamily="34" charset="-122"/>
                <a:cs typeface="Arial" pitchFamily="34" charset="-120"/>
              </a:rPr>
              <a:t>PROGRAMACIÓN DE SERVICIOS Y PROCESOS  —  TEMA 1: GENERACIÓN DE SERVICIOS EN RED</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Comunicación simultánea</a:t>
            </a:r>
            <a:endParaRPr lang="en-US" sz="3600" dirty="0"/>
          </a:p>
          <a:p>
            <a:pPr algn="l" indent="0" marL="0">
              <a:buNone/>
            </a:pPr>
            <a:r>
              <a:rPr lang="en-US" sz="3600" b="1" dirty="0">
                <a:solidFill>
                  <a:srgbClr val="FFFFFF"/>
                </a:solidFill>
                <a:latin typeface="Arial" pitchFamily="34" charset="0"/>
                <a:ea typeface="Arial" pitchFamily="34" charset="-122"/>
                <a:cs typeface="Arial" pitchFamily="34" charset="-120"/>
              </a:rPr>
              <a:t>y disponibilidad</a:t>
            </a:r>
            <a:endParaRPr lang="en-US" sz="3600" dirty="0"/>
          </a:p>
          <a:p>
            <a:pPr algn="l" indent="0" marL="0">
              <a:buNone/>
            </a:pPr>
            <a:r>
              <a:rPr lang="en-US" sz="3600" b="1" dirty="0">
                <a:solidFill>
                  <a:srgbClr val="FFFFFF"/>
                </a:solidFill>
                <a:latin typeface="Arial" pitchFamily="34" charset="0"/>
                <a:ea typeface="Arial" pitchFamily="34" charset="-122"/>
                <a:cs typeface="Arial" pitchFamily="34" charset="-120"/>
              </a:rPr>
              <a:t>del servicio</a:t>
            </a:r>
            <a:endParaRPr lang="en-US" sz="3600" dirty="0"/>
          </a:p>
        </p:txBody>
      </p:sp>
      <p:sp>
        <p:nvSpPr>
          <p:cNvPr id="4" name="Shape 2"/>
          <p:cNvSpPr/>
          <p:nvPr/>
        </p:nvSpPr>
        <p:spPr>
          <a:xfrm>
            <a:off x="0" y="5120640"/>
            <a:ext cx="12188952" cy="914400"/>
          </a:xfrm>
          <a:prstGeom prst="rect">
            <a:avLst/>
          </a:prstGeom>
          <a:solidFill>
            <a:srgbClr val="FFA000"/>
          </a:solidFill>
          <a:ln w="12700">
            <a:solidFill>
              <a:srgbClr val="FFA000"/>
            </a:solidFill>
            <a:prstDash val="solid"/>
          </a:ln>
        </p:spPr>
      </p:sp>
      <p:sp>
        <p:nvSpPr>
          <p:cNvPr id="5" name="Text 3"/>
          <p:cNvSpPr/>
          <p:nvPr/>
        </p:nvSpPr>
        <p:spPr>
          <a:xfrm>
            <a:off x="548640" y="5120640"/>
            <a:ext cx="11091672" cy="914400"/>
          </a:xfrm>
          <a:prstGeom prst="rect">
            <a:avLst/>
          </a:prstGeom>
          <a:noFill/>
          <a:ln/>
        </p:spPr>
        <p:txBody>
          <a:bodyPr wrap="square" rtlCol="0" anchor="ctr"/>
          <a:lstStyle/>
          <a:p>
            <a:pPr indent="0" marL="0">
              <a:buNone/>
            </a:pPr>
            <a:r>
              <a:rPr lang="en-US" sz="2000" i="1" dirty="0">
                <a:solidFill>
                  <a:srgbClr val="FFFFFF"/>
                </a:solidFill>
                <a:latin typeface="Arial" pitchFamily="34" charset="0"/>
                <a:ea typeface="Arial" pitchFamily="34" charset="-122"/>
                <a:cs typeface="Arial" pitchFamily="34" charset="-120"/>
              </a:rPr>
              <a:t>4. Comunicación simultánea y disponibilidad del servicio</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Comunicación simultánea y disponibilidad del servicio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Shape 3"/>
          <p:cNvSpPr/>
          <p:nvPr/>
        </p:nvSpPr>
        <p:spPr>
          <a:xfrm>
            <a:off x="548640" y="2103120"/>
            <a:ext cx="11091672" cy="1920240"/>
          </a:xfrm>
          <a:prstGeom prst="roundRect">
            <a:avLst/>
          </a:prstGeom>
          <a:solidFill>
            <a:srgbClr val="FFF3E0"/>
          </a:solidFill>
          <a:ln w="19050">
            <a:solidFill>
              <a:srgbClr val="FFA000"/>
            </a:solidFill>
            <a:prstDash val="solid"/>
          </a:ln>
        </p:spPr>
      </p:sp>
      <p:sp>
        <p:nvSpPr>
          <p:cNvPr id="6" name="Text 4"/>
          <p:cNvSpPr/>
          <p:nvPr/>
        </p:nvSpPr>
        <p:spPr>
          <a:xfrm>
            <a:off x="822960" y="2194560"/>
            <a:ext cx="10543032" cy="1737360"/>
          </a:xfrm>
          <a:prstGeom prst="rect">
            <a:avLst/>
          </a:prstGeom>
          <a:noFill/>
          <a:ln/>
        </p:spPr>
        <p:txBody>
          <a:bodyPr wrap="square" rtlCol="0" anchor="ctr"/>
          <a:lstStyle/>
          <a:p>
            <a:pPr indent="0" marL="0">
              <a:buNone/>
            </a:pPr>
            <a:r>
              <a:rPr lang="en-US" sz="1900" dirty="0">
                <a:solidFill>
                  <a:srgbClr val="212121"/>
                </a:solidFill>
                <a:latin typeface="Arial" pitchFamily="34" charset="0"/>
                <a:ea typeface="Arial" pitchFamily="34" charset="-122"/>
                <a:cs typeface="Arial" pitchFamily="34" charset="-120"/>
              </a:rPr>
              <a:t>Hasta ahora has comprobado que tu API responde bien a una petición aislada: el código de estado correcto, el JSON esperado, el test que pasa. Hoy cierras el tema con dos preguntas distintas, sobre ese mismo servicio ya en marcha: ¿aguanta varias peticiones a la vez sin que unas tengan que esperar a otras? Y, más allá de una petición concreta, ¿cómo sabes si el servicio en general sigue sano y disponible ahora mismo, sin comprobarlo tú a mano?</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Comunicación simultánea de varios clientes</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Text 3"/>
          <p:cNvSpPr/>
          <p:nvPr/>
        </p:nvSpPr>
        <p:spPr>
          <a:xfrm>
            <a:off x="548640" y="1371600"/>
            <a:ext cx="11091672" cy="1188720"/>
          </a:xfrm>
          <a:prstGeom prst="rect">
            <a:avLst/>
          </a:prstGeom>
          <a:noFill/>
          <a:ln/>
        </p:spPr>
        <p:txBody>
          <a:bodyPr wrap="square" rtlCol="0" anchor="t"/>
          <a:lstStyle/>
          <a:p>
            <a:pPr indent="0" marL="0">
              <a:buNone/>
            </a:pPr>
            <a:r>
              <a:rPr lang="en-US" sz="1900" dirty="0">
                <a:solidFill>
                  <a:srgbClr val="212121"/>
                </a:solidFill>
                <a:latin typeface="Arial" pitchFamily="34" charset="0"/>
                <a:ea typeface="Arial" pitchFamily="34" charset="-122"/>
                <a:cs typeface="Arial" pitchFamily="34" charset="-120"/>
              </a:rPr>
              <a:t>Piensa en tu propio GameVault, ya en producción: no lo vas a usar solo tú. Si veinte personas consultan el catálogo a la vez y tu servidor las atendiera de una en una —terminar la primera antes de empezar la segunda—, la última persona esperaría veinte veces más que la primera.</a:t>
            </a:r>
            <a:endParaRPr lang="en-US" sz="1900" dirty="0"/>
          </a:p>
        </p:txBody>
      </p:sp>
      <p:sp>
        <p:nvSpPr>
          <p:cNvPr id="6" name="Shape 4"/>
          <p:cNvSpPr/>
          <p:nvPr/>
        </p:nvSpPr>
        <p:spPr>
          <a:xfrm>
            <a:off x="548640" y="2880360"/>
            <a:ext cx="11091672" cy="1645920"/>
          </a:xfrm>
          <a:prstGeom prst="roundRect">
            <a:avLst/>
          </a:prstGeom>
          <a:solidFill>
            <a:srgbClr val="FFF3E0"/>
          </a:solidFill>
          <a:ln w="19050">
            <a:solidFill>
              <a:srgbClr val="FFA000"/>
            </a:solidFill>
            <a:prstDash val="solid"/>
          </a:ln>
        </p:spPr>
      </p:sp>
      <p:sp>
        <p:nvSpPr>
          <p:cNvPr id="7" name="Text 5"/>
          <p:cNvSpPr/>
          <p:nvPr/>
        </p:nvSpPr>
        <p:spPr>
          <a:xfrm>
            <a:off x="822960" y="2971800"/>
            <a:ext cx="10543032" cy="1463040"/>
          </a:xfrm>
          <a:prstGeom prst="rect">
            <a:avLst/>
          </a:prstGeom>
          <a:noFill/>
          <a:ln/>
        </p:spPr>
        <p:txBody>
          <a:bodyPr wrap="square" rtlCol="0" anchor="ctr"/>
          <a:lstStyle/>
          <a:p>
            <a:pPr indent="0" marL="0">
              <a:buNone/>
            </a:pPr>
            <a:r>
              <a:rPr lang="en-US" sz="1800" dirty="0">
                <a:solidFill>
                  <a:srgbClr val="212121"/>
                </a:solidFill>
                <a:latin typeface="Arial" pitchFamily="34" charset="0"/>
                <a:ea typeface="Arial" pitchFamily="34" charset="-122"/>
                <a:cs typeface="Arial" pitchFamily="34" charset="-120"/>
              </a:rPr>
              <a:t>Spring Web, sobre Tomcat, atiende cada petición HTTP en un hilo distinto —una línea de ejecución independiente que avanza en paralelo con las demás— tomado de un pool ya creado de antemano. Es como varios camareros, cada uno con su propia mesa, en vez de un único camarero que no pasa a la siguiente mesa hasta terminar con la anterior.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Un hilo por petición, tomado de un pool</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Shape 3"/>
          <p:cNvSpPr/>
          <p:nvPr/>
        </p:nvSpPr>
        <p:spPr>
          <a:xfrm>
            <a:off x="548640" y="2331720"/>
            <a:ext cx="3453384" cy="914400"/>
          </a:xfrm>
          <a:prstGeom prst="roundRect">
            <a:avLst/>
          </a:prstGeom>
          <a:solidFill>
            <a:srgbClr val="EFEBE9"/>
          </a:solidFill>
          <a:ln w="15875">
            <a:solidFill>
              <a:srgbClr val="6D4C41"/>
            </a:solidFill>
            <a:prstDash val="solid"/>
          </a:ln>
        </p:spPr>
      </p:sp>
      <p:sp>
        <p:nvSpPr>
          <p:cNvPr id="6" name="Text 4"/>
          <p:cNvSpPr/>
          <p:nvPr/>
        </p:nvSpPr>
        <p:spPr>
          <a:xfrm>
            <a:off x="594360" y="2331720"/>
            <a:ext cx="3361944" cy="914400"/>
          </a:xfrm>
          <a:prstGeom prst="rect">
            <a:avLst/>
          </a:prstGeom>
          <a:noFill/>
          <a:ln/>
        </p:spPr>
        <p:txBody>
          <a:bodyPr wrap="square" rtlCol="0" anchor="ctr"/>
          <a:lstStyle/>
          <a:p>
            <a:pPr algn="ctr" indent="0" marL="0">
              <a:buNone/>
            </a:pPr>
            <a:r>
              <a:rPr lang="en-US" sz="1800" dirty="0">
                <a:solidFill>
                  <a:srgbClr val="212121"/>
                </a:solidFill>
                <a:latin typeface="Arial" pitchFamily="34" charset="0"/>
                <a:ea typeface="Arial" pitchFamily="34" charset="-122"/>
                <a:cs typeface="Arial" pitchFamily="34" charset="-120"/>
              </a:rPr>
              <a:t>🧑‍🍳 Hilo 1</a:t>
            </a:r>
            <a:endParaRPr lang="en-US" sz="1800" dirty="0"/>
          </a:p>
        </p:txBody>
      </p:sp>
      <p:sp>
        <p:nvSpPr>
          <p:cNvPr id="7" name="Text 5"/>
          <p:cNvSpPr/>
          <p:nvPr/>
        </p:nvSpPr>
        <p:spPr>
          <a:xfrm>
            <a:off x="548640" y="3246120"/>
            <a:ext cx="3453384" cy="457200"/>
          </a:xfrm>
          <a:prstGeom prst="rect">
            <a:avLst/>
          </a:prstGeom>
          <a:noFill/>
          <a:ln/>
        </p:spPr>
        <p:txBody>
          <a:bodyPr wrap="square" rtlCol="0" anchor="ctr"/>
          <a:lstStyle/>
          <a:p>
            <a:pPr algn="ctr" indent="0" marL="0">
              <a:buNone/>
            </a:pPr>
            <a:r>
              <a:rPr lang="en-US" sz="2000" b="1" dirty="0">
                <a:solidFill>
                  <a:srgbClr val="6D4C41"/>
                </a:solidFill>
                <a:latin typeface="Arial" pitchFamily="34" charset="0"/>
                <a:ea typeface="Arial" pitchFamily="34" charset="-122"/>
                <a:cs typeface="Arial" pitchFamily="34" charset="-120"/>
              </a:rPr>
              <a:t>↓</a:t>
            </a:r>
            <a:endParaRPr lang="en-US" sz="2000" dirty="0"/>
          </a:p>
        </p:txBody>
      </p:sp>
      <p:sp>
        <p:nvSpPr>
          <p:cNvPr id="8" name="Shape 6"/>
          <p:cNvSpPr/>
          <p:nvPr/>
        </p:nvSpPr>
        <p:spPr>
          <a:xfrm>
            <a:off x="548640" y="3703320"/>
            <a:ext cx="3453384" cy="914400"/>
          </a:xfrm>
          <a:prstGeom prst="roundRect">
            <a:avLst/>
          </a:prstGeom>
          <a:solidFill>
            <a:srgbClr val="EFEBE9"/>
          </a:solidFill>
          <a:ln w="15875">
            <a:solidFill>
              <a:srgbClr val="6D4C41"/>
            </a:solidFill>
            <a:prstDash val="solid"/>
          </a:ln>
        </p:spPr>
      </p:sp>
      <p:sp>
        <p:nvSpPr>
          <p:cNvPr id="9" name="Text 7"/>
          <p:cNvSpPr/>
          <p:nvPr/>
        </p:nvSpPr>
        <p:spPr>
          <a:xfrm>
            <a:off x="594360" y="3703320"/>
            <a:ext cx="3361944" cy="914400"/>
          </a:xfrm>
          <a:prstGeom prst="rect">
            <a:avLst/>
          </a:prstGeom>
          <a:noFill/>
          <a:ln/>
        </p:spPr>
        <p:txBody>
          <a:bodyPr wrap="square" rtlCol="0" anchor="ctr"/>
          <a:lstStyle/>
          <a:p>
            <a:pPr algn="ctr" indent="0" marL="0">
              <a:buNone/>
            </a:pPr>
            <a:r>
              <a:rPr lang="en-US" sz="1800" dirty="0">
                <a:solidFill>
                  <a:srgbClr val="212121"/>
                </a:solidFill>
                <a:latin typeface="Arial" pitchFamily="34" charset="0"/>
                <a:ea typeface="Arial" pitchFamily="34" charset="-122"/>
                <a:cs typeface="Arial" pitchFamily="34" charset="-120"/>
              </a:rPr>
              <a:t>Petición 1</a:t>
            </a:r>
            <a:endParaRPr lang="en-US" sz="1800" dirty="0"/>
          </a:p>
        </p:txBody>
      </p:sp>
      <p:sp>
        <p:nvSpPr>
          <p:cNvPr id="10" name="Shape 8"/>
          <p:cNvSpPr/>
          <p:nvPr/>
        </p:nvSpPr>
        <p:spPr>
          <a:xfrm>
            <a:off x="4367784" y="2331720"/>
            <a:ext cx="3453384" cy="914400"/>
          </a:xfrm>
          <a:prstGeom prst="roundRect">
            <a:avLst/>
          </a:prstGeom>
          <a:solidFill>
            <a:srgbClr val="EFEBE9"/>
          </a:solidFill>
          <a:ln w="15875">
            <a:solidFill>
              <a:srgbClr val="6D4C41"/>
            </a:solidFill>
            <a:prstDash val="solid"/>
          </a:ln>
        </p:spPr>
      </p:sp>
      <p:sp>
        <p:nvSpPr>
          <p:cNvPr id="11" name="Text 9"/>
          <p:cNvSpPr/>
          <p:nvPr/>
        </p:nvSpPr>
        <p:spPr>
          <a:xfrm>
            <a:off x="4413504" y="2331720"/>
            <a:ext cx="3361944" cy="914400"/>
          </a:xfrm>
          <a:prstGeom prst="rect">
            <a:avLst/>
          </a:prstGeom>
          <a:noFill/>
          <a:ln/>
        </p:spPr>
        <p:txBody>
          <a:bodyPr wrap="square" rtlCol="0" anchor="ctr"/>
          <a:lstStyle/>
          <a:p>
            <a:pPr algn="ctr" indent="0" marL="0">
              <a:buNone/>
            </a:pPr>
            <a:r>
              <a:rPr lang="en-US" sz="1800" dirty="0">
                <a:solidFill>
                  <a:srgbClr val="212121"/>
                </a:solidFill>
                <a:latin typeface="Arial" pitchFamily="34" charset="0"/>
                <a:ea typeface="Arial" pitchFamily="34" charset="-122"/>
                <a:cs typeface="Arial" pitchFamily="34" charset="-120"/>
              </a:rPr>
              <a:t>🧑‍🍳 Hilo 2</a:t>
            </a:r>
            <a:endParaRPr lang="en-US" sz="1800" dirty="0"/>
          </a:p>
        </p:txBody>
      </p:sp>
      <p:sp>
        <p:nvSpPr>
          <p:cNvPr id="12" name="Text 10"/>
          <p:cNvSpPr/>
          <p:nvPr/>
        </p:nvSpPr>
        <p:spPr>
          <a:xfrm>
            <a:off x="4367784" y="3246120"/>
            <a:ext cx="3453384" cy="457200"/>
          </a:xfrm>
          <a:prstGeom prst="rect">
            <a:avLst/>
          </a:prstGeom>
          <a:noFill/>
          <a:ln/>
        </p:spPr>
        <p:txBody>
          <a:bodyPr wrap="square" rtlCol="0" anchor="ctr"/>
          <a:lstStyle/>
          <a:p>
            <a:pPr algn="ctr" indent="0" marL="0">
              <a:buNone/>
            </a:pPr>
            <a:r>
              <a:rPr lang="en-US" sz="2000" b="1" dirty="0">
                <a:solidFill>
                  <a:srgbClr val="6D4C41"/>
                </a:solidFill>
                <a:latin typeface="Arial" pitchFamily="34" charset="0"/>
                <a:ea typeface="Arial" pitchFamily="34" charset="-122"/>
                <a:cs typeface="Arial" pitchFamily="34" charset="-120"/>
              </a:rPr>
              <a:t>↓</a:t>
            </a:r>
            <a:endParaRPr lang="en-US" sz="2000" dirty="0"/>
          </a:p>
        </p:txBody>
      </p:sp>
      <p:sp>
        <p:nvSpPr>
          <p:cNvPr id="13" name="Shape 11"/>
          <p:cNvSpPr/>
          <p:nvPr/>
        </p:nvSpPr>
        <p:spPr>
          <a:xfrm>
            <a:off x="4367784" y="3703320"/>
            <a:ext cx="3453384" cy="914400"/>
          </a:xfrm>
          <a:prstGeom prst="roundRect">
            <a:avLst/>
          </a:prstGeom>
          <a:solidFill>
            <a:srgbClr val="EFEBE9"/>
          </a:solidFill>
          <a:ln w="15875">
            <a:solidFill>
              <a:srgbClr val="6D4C41"/>
            </a:solidFill>
            <a:prstDash val="solid"/>
          </a:ln>
        </p:spPr>
      </p:sp>
      <p:sp>
        <p:nvSpPr>
          <p:cNvPr id="14" name="Text 12"/>
          <p:cNvSpPr/>
          <p:nvPr/>
        </p:nvSpPr>
        <p:spPr>
          <a:xfrm>
            <a:off x="4413504" y="3703320"/>
            <a:ext cx="3361944" cy="914400"/>
          </a:xfrm>
          <a:prstGeom prst="rect">
            <a:avLst/>
          </a:prstGeom>
          <a:noFill/>
          <a:ln/>
        </p:spPr>
        <p:txBody>
          <a:bodyPr wrap="square" rtlCol="0" anchor="ctr"/>
          <a:lstStyle/>
          <a:p>
            <a:pPr algn="ctr" indent="0" marL="0">
              <a:buNone/>
            </a:pPr>
            <a:r>
              <a:rPr lang="en-US" sz="1800" dirty="0">
                <a:solidFill>
                  <a:srgbClr val="212121"/>
                </a:solidFill>
                <a:latin typeface="Arial" pitchFamily="34" charset="0"/>
                <a:ea typeface="Arial" pitchFamily="34" charset="-122"/>
                <a:cs typeface="Arial" pitchFamily="34" charset="-120"/>
              </a:rPr>
              <a:t>Petición 2</a:t>
            </a:r>
            <a:endParaRPr lang="en-US" sz="1800" dirty="0"/>
          </a:p>
        </p:txBody>
      </p:sp>
      <p:sp>
        <p:nvSpPr>
          <p:cNvPr id="15" name="Shape 13"/>
          <p:cNvSpPr/>
          <p:nvPr/>
        </p:nvSpPr>
        <p:spPr>
          <a:xfrm>
            <a:off x="8186928" y="2331720"/>
            <a:ext cx="3453384" cy="914400"/>
          </a:xfrm>
          <a:prstGeom prst="roundRect">
            <a:avLst/>
          </a:prstGeom>
          <a:solidFill>
            <a:srgbClr val="EFEBE9"/>
          </a:solidFill>
          <a:ln w="15875">
            <a:solidFill>
              <a:srgbClr val="6D4C41"/>
            </a:solidFill>
            <a:prstDash val="solid"/>
          </a:ln>
        </p:spPr>
      </p:sp>
      <p:sp>
        <p:nvSpPr>
          <p:cNvPr id="16" name="Text 14"/>
          <p:cNvSpPr/>
          <p:nvPr/>
        </p:nvSpPr>
        <p:spPr>
          <a:xfrm>
            <a:off x="8232648" y="2331720"/>
            <a:ext cx="3361944" cy="914400"/>
          </a:xfrm>
          <a:prstGeom prst="rect">
            <a:avLst/>
          </a:prstGeom>
          <a:noFill/>
          <a:ln/>
        </p:spPr>
        <p:txBody>
          <a:bodyPr wrap="square" rtlCol="0" anchor="ctr"/>
          <a:lstStyle/>
          <a:p>
            <a:pPr algn="ctr" indent="0" marL="0">
              <a:buNone/>
            </a:pPr>
            <a:r>
              <a:rPr lang="en-US" sz="1800" dirty="0">
                <a:solidFill>
                  <a:srgbClr val="212121"/>
                </a:solidFill>
                <a:latin typeface="Arial" pitchFamily="34" charset="0"/>
                <a:ea typeface="Arial" pitchFamily="34" charset="-122"/>
                <a:cs typeface="Arial" pitchFamily="34" charset="-120"/>
              </a:rPr>
              <a:t>🧑‍🍳 Hilo 3</a:t>
            </a:r>
            <a:endParaRPr lang="en-US" sz="1800" dirty="0"/>
          </a:p>
        </p:txBody>
      </p:sp>
      <p:sp>
        <p:nvSpPr>
          <p:cNvPr id="17" name="Text 15"/>
          <p:cNvSpPr/>
          <p:nvPr/>
        </p:nvSpPr>
        <p:spPr>
          <a:xfrm>
            <a:off x="8186928" y="3246120"/>
            <a:ext cx="3453384" cy="457200"/>
          </a:xfrm>
          <a:prstGeom prst="rect">
            <a:avLst/>
          </a:prstGeom>
          <a:noFill/>
          <a:ln/>
        </p:spPr>
        <p:txBody>
          <a:bodyPr wrap="square" rtlCol="0" anchor="ctr"/>
          <a:lstStyle/>
          <a:p>
            <a:pPr algn="ctr" indent="0" marL="0">
              <a:buNone/>
            </a:pPr>
            <a:r>
              <a:rPr lang="en-US" sz="2000" b="1" dirty="0">
                <a:solidFill>
                  <a:srgbClr val="6D4C41"/>
                </a:solidFill>
                <a:latin typeface="Arial" pitchFamily="34" charset="0"/>
                <a:ea typeface="Arial" pitchFamily="34" charset="-122"/>
                <a:cs typeface="Arial" pitchFamily="34" charset="-120"/>
              </a:rPr>
              <a:t>↓</a:t>
            </a:r>
            <a:endParaRPr lang="en-US" sz="2000" dirty="0"/>
          </a:p>
        </p:txBody>
      </p:sp>
      <p:sp>
        <p:nvSpPr>
          <p:cNvPr id="18" name="Shape 16"/>
          <p:cNvSpPr/>
          <p:nvPr/>
        </p:nvSpPr>
        <p:spPr>
          <a:xfrm>
            <a:off x="8186928" y="3703320"/>
            <a:ext cx="3453384" cy="914400"/>
          </a:xfrm>
          <a:prstGeom prst="roundRect">
            <a:avLst/>
          </a:prstGeom>
          <a:solidFill>
            <a:srgbClr val="EFEBE9"/>
          </a:solidFill>
          <a:ln w="15875">
            <a:solidFill>
              <a:srgbClr val="6D4C41"/>
            </a:solidFill>
            <a:prstDash val="solid"/>
          </a:ln>
        </p:spPr>
      </p:sp>
      <p:sp>
        <p:nvSpPr>
          <p:cNvPr id="19" name="Text 17"/>
          <p:cNvSpPr/>
          <p:nvPr/>
        </p:nvSpPr>
        <p:spPr>
          <a:xfrm>
            <a:off x="8232648" y="3703320"/>
            <a:ext cx="3361944" cy="914400"/>
          </a:xfrm>
          <a:prstGeom prst="rect">
            <a:avLst/>
          </a:prstGeom>
          <a:noFill/>
          <a:ln/>
        </p:spPr>
        <p:txBody>
          <a:bodyPr wrap="square" rtlCol="0" anchor="ctr"/>
          <a:lstStyle/>
          <a:p>
            <a:pPr algn="ctr" indent="0" marL="0">
              <a:buNone/>
            </a:pPr>
            <a:r>
              <a:rPr lang="en-US" sz="1800" dirty="0">
                <a:solidFill>
                  <a:srgbClr val="212121"/>
                </a:solidFill>
                <a:latin typeface="Arial" pitchFamily="34" charset="0"/>
                <a:ea typeface="Arial" pitchFamily="34" charset="-122"/>
                <a:cs typeface="Arial" pitchFamily="34" charset="-120"/>
              </a:rPr>
              <a:t>Petición 3</a:t>
            </a:r>
            <a:endParaRPr lang="en-US" sz="1800" dirty="0"/>
          </a:p>
        </p:txBody>
      </p:sp>
      <p:sp>
        <p:nvSpPr>
          <p:cNvPr id="20" name="Text 18"/>
          <p:cNvSpPr/>
          <p:nvPr/>
        </p:nvSpPr>
        <p:spPr>
          <a:xfrm>
            <a:off x="548640" y="5212080"/>
            <a:ext cx="11091672" cy="640080"/>
          </a:xfrm>
          <a:prstGeom prst="rect">
            <a:avLst/>
          </a:prstGeom>
          <a:noFill/>
          <a:ln/>
        </p:spPr>
        <p:txBody>
          <a:bodyPr wrap="square" rtlCol="0" anchor="t"/>
          <a:lstStyle/>
          <a:p>
            <a:pPr algn="ctr" indent="0" marL="0">
              <a:buNone/>
            </a:pPr>
            <a:r>
              <a:rPr lang="en-US" sz="1800" dirty="0">
                <a:solidFill>
                  <a:srgbClr val="757575"/>
                </a:solidFill>
                <a:latin typeface="Arial" pitchFamily="34" charset="0"/>
                <a:ea typeface="Arial" pitchFamily="34" charset="-122"/>
                <a:cs typeface="Arial" pitchFamily="34" charset="-120"/>
              </a:rPr>
              <a:t>Cada petición la procesa un hilo ya creado de antemano en el pool, no uno nuevo cada vez (verás ambas ideas con detalle en el Tema 3).</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Cómo lo vas a comprobar tú mismo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Text 3"/>
          <p:cNvSpPr/>
          <p:nvPr/>
        </p:nvSpPr>
        <p:spPr>
          <a:xfrm>
            <a:off x="548640" y="2148840"/>
            <a:ext cx="11091672" cy="960120"/>
          </a:xfrm>
          <a:prstGeom prst="rect">
            <a:avLst/>
          </a:prstGeom>
          <a:noFill/>
          <a:ln/>
        </p:spPr>
        <p:txBody>
          <a:bodyPr wrap="square" rtlCol="0" anchor="t"/>
          <a:lstStyle/>
          <a:p>
            <a:pPr indent="0" marL="0">
              <a:buNone/>
            </a:pPr>
            <a:r>
              <a:rPr lang="en-US" sz="2000" dirty="0">
                <a:solidFill>
                  <a:srgbClr val="212121"/>
                </a:solidFill>
                <a:latin typeface="Arial" pitchFamily="34" charset="0"/>
                <a:ea typeface="Arial" pitchFamily="34" charset="-122"/>
                <a:cs typeface="Arial" pitchFamily="34" charset="-120"/>
              </a:rPr>
              <a:t>En la Actividad 1.4 montarás un método del service con un Thread.sleep(2000) puesto a propósito, que simula una consulta lenta, y lanzarás dos peticiones simultáneas contra su endpoint:</a:t>
            </a:r>
            <a:endParaRPr lang="en-US" sz="2000" dirty="0"/>
          </a:p>
        </p:txBody>
      </p:sp>
      <p:sp>
        <p:nvSpPr>
          <p:cNvPr id="6" name="Shape 4"/>
          <p:cNvSpPr/>
          <p:nvPr/>
        </p:nvSpPr>
        <p:spPr>
          <a:xfrm>
            <a:off x="548640" y="3474720"/>
            <a:ext cx="11091672" cy="1463040"/>
          </a:xfrm>
          <a:prstGeom prst="rect">
            <a:avLst/>
          </a:prstGeom>
          <a:solidFill>
            <a:srgbClr val="ECEFF1"/>
          </a:solidFill>
          <a:ln w="12700">
            <a:solidFill>
              <a:srgbClr val="EEEEEE"/>
            </a:solidFill>
            <a:prstDash val="solid"/>
          </a:ln>
        </p:spPr>
      </p:sp>
      <p:sp>
        <p:nvSpPr>
          <p:cNvPr id="7" name="Shape 5"/>
          <p:cNvSpPr/>
          <p:nvPr/>
        </p:nvSpPr>
        <p:spPr>
          <a:xfrm>
            <a:off x="548640" y="3474720"/>
            <a:ext cx="73152" cy="1463040"/>
          </a:xfrm>
          <a:prstGeom prst="rect">
            <a:avLst/>
          </a:prstGeom>
          <a:solidFill>
            <a:srgbClr val="FFA000"/>
          </a:solidFill>
          <a:ln w="12700">
            <a:solidFill>
              <a:srgbClr val="FFA000"/>
            </a:solidFill>
            <a:prstDash val="solid"/>
          </a:ln>
        </p:spPr>
      </p:sp>
      <p:sp>
        <p:nvSpPr>
          <p:cNvPr id="8" name="Text 6"/>
          <p:cNvSpPr/>
          <p:nvPr/>
        </p:nvSpPr>
        <p:spPr>
          <a:xfrm>
            <a:off x="822960" y="3584448"/>
            <a:ext cx="10588752" cy="1243584"/>
          </a:xfrm>
          <a:prstGeom prst="rect">
            <a:avLst/>
          </a:prstGeom>
          <a:noFill/>
          <a:ln/>
        </p:spPr>
        <p:txBody>
          <a:bodyPr wrap="square" rtlCol="0" anchor="t"/>
          <a:lstStyle/>
          <a:p>
            <a:pPr indent="0" marL="0">
              <a:buNone/>
            </a:pPr>
            <a:r>
              <a:rPr lang="en-US" sz="1800" dirty="0">
                <a:solidFill>
                  <a:srgbClr val="263238"/>
                </a:solidFill>
                <a:latin typeface="Courier New" pitchFamily="34" charset="0"/>
                <a:ea typeface="Courier New" pitchFamily="34" charset="-122"/>
                <a:cs typeface="Courier New" pitchFamily="34" charset="-120"/>
              </a:rPr>
              <a:t>time (curl -s http://localhost:8080/api/v1/libros/top &amp; \</a:t>
            </a:r>
            <a:endParaRPr lang="en-US" sz="1800" dirty="0"/>
          </a:p>
          <a:p>
            <a:pPr indent="0" marL="0">
              <a:buNone/>
            </a:pPr>
            <a:r>
              <a:rPr lang="en-US" sz="1800" dirty="0">
                <a:solidFill>
                  <a:srgbClr val="263238"/>
                </a:solidFill>
                <a:latin typeface="Courier New" pitchFamily="34" charset="0"/>
                <a:ea typeface="Courier New" pitchFamily="34" charset="-122"/>
                <a:cs typeface="Courier New" pitchFamily="34" charset="-120"/>
              </a:rPr>
              <a:t>      curl -s http://localhost:8080/api/v1/libros/top &amp; \</a:t>
            </a:r>
            <a:endParaRPr lang="en-US" sz="1800" dirty="0"/>
          </a:p>
          <a:p>
            <a:pPr indent="0" marL="0">
              <a:buNone/>
            </a:pPr>
            <a:r>
              <a:rPr lang="en-US" sz="1800" dirty="0">
                <a:solidFill>
                  <a:srgbClr val="263238"/>
                </a:solidFill>
                <a:latin typeface="Courier New" pitchFamily="34" charset="0"/>
                <a:ea typeface="Courier New" pitchFamily="34" charset="-122"/>
                <a:cs typeface="Courier New" pitchFamily="34" charset="-120"/>
              </a:rPr>
              <a:t>      wait)</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Secuencial vs. en paralelo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Text 3"/>
          <p:cNvSpPr/>
          <p:nvPr/>
        </p:nvSpPr>
        <p:spPr>
          <a:xfrm>
            <a:off x="548640" y="1463040"/>
            <a:ext cx="11091672" cy="502920"/>
          </a:xfrm>
          <a:prstGeom prst="rect">
            <a:avLst/>
          </a:prstGeom>
          <a:noFill/>
          <a:ln/>
        </p:spPr>
        <p:txBody>
          <a:bodyPr wrap="square" rtlCol="0" anchor="t"/>
          <a:lstStyle/>
          <a:p>
            <a:pPr indent="0" marL="0">
              <a:buNone/>
            </a:pPr>
            <a:r>
              <a:rPr lang="en-US" sz="1700" dirty="0">
                <a:solidFill>
                  <a:srgbClr val="212121"/>
                </a:solidFill>
                <a:latin typeface="Arial" pitchFamily="34" charset="0"/>
                <a:ea typeface="Arial" pitchFamily="34" charset="-122"/>
                <a:cs typeface="Arial" pitchFamily="34" charset="-120"/>
              </a:rPr>
              <a:t>Antes de probarlo tú mismo, compara las dos formas posibles en que tu servidor podría atender esas dos peticiones:</a:t>
            </a:r>
            <a:endParaRPr lang="en-US" sz="1700" dirty="0"/>
          </a:p>
        </p:txBody>
      </p:sp>
      <p:sp>
        <p:nvSpPr>
          <p:cNvPr id="6" name="Shape 4"/>
          <p:cNvSpPr/>
          <p:nvPr/>
        </p:nvSpPr>
        <p:spPr>
          <a:xfrm>
            <a:off x="548640" y="2286000"/>
            <a:ext cx="11091672" cy="502920"/>
          </a:xfrm>
          <a:prstGeom prst="rect">
            <a:avLst/>
          </a:prstGeom>
          <a:solidFill>
            <a:srgbClr val="6D4C41"/>
          </a:solidFill>
          <a:ln w="12700">
            <a:solidFill>
              <a:srgbClr val="6D4C41"/>
            </a:solidFill>
            <a:prstDash val="solid"/>
          </a:ln>
        </p:spPr>
      </p:sp>
      <p:sp>
        <p:nvSpPr>
          <p:cNvPr id="7" name="Text 5"/>
          <p:cNvSpPr/>
          <p:nvPr/>
        </p:nvSpPr>
        <p:spPr>
          <a:xfrm>
            <a:off x="731520" y="2286000"/>
            <a:ext cx="10725912" cy="502920"/>
          </a:xfrm>
          <a:prstGeom prst="rect">
            <a:avLst/>
          </a:prstGeom>
          <a:noFill/>
          <a:ln/>
        </p:spPr>
        <p:txBody>
          <a:bodyPr wrap="square" rtlCol="0" anchor="ctr"/>
          <a:lstStyle/>
          <a:p>
            <a:pPr indent="0" marL="0">
              <a:buNone/>
            </a:pPr>
            <a:r>
              <a:rPr lang="en-US" sz="1900" b="1" dirty="0">
                <a:solidFill>
                  <a:srgbClr val="FFFFFF"/>
                </a:solidFill>
                <a:latin typeface="Arial" pitchFamily="34" charset="0"/>
                <a:ea typeface="Arial" pitchFamily="34" charset="-122"/>
                <a:cs typeface="Arial" pitchFamily="34" charset="-120"/>
              </a:rPr>
              <a:t>🐢 Secuencial — un solo hilo</a:t>
            </a:r>
            <a:endParaRPr lang="en-US" sz="1900" dirty="0"/>
          </a:p>
        </p:txBody>
      </p:sp>
      <p:sp>
        <p:nvSpPr>
          <p:cNvPr id="8" name="Shape 6"/>
          <p:cNvSpPr/>
          <p:nvPr/>
        </p:nvSpPr>
        <p:spPr>
          <a:xfrm>
            <a:off x="548640" y="3108960"/>
            <a:ext cx="5340096" cy="777240"/>
          </a:xfrm>
          <a:prstGeom prst="roundRect">
            <a:avLst/>
          </a:prstGeom>
          <a:solidFill>
            <a:srgbClr val="EFEBE9"/>
          </a:solidFill>
          <a:ln w="15875">
            <a:solidFill>
              <a:srgbClr val="6D4C41"/>
            </a:solidFill>
            <a:prstDash val="solid"/>
          </a:ln>
        </p:spPr>
      </p:sp>
      <p:sp>
        <p:nvSpPr>
          <p:cNvPr id="9" name="Text 7"/>
          <p:cNvSpPr/>
          <p:nvPr/>
        </p:nvSpPr>
        <p:spPr>
          <a:xfrm>
            <a:off x="594360" y="3154680"/>
            <a:ext cx="5248656" cy="685800"/>
          </a:xfrm>
          <a:prstGeom prst="rect">
            <a:avLst/>
          </a:prstGeom>
          <a:noFill/>
          <a:ln/>
        </p:spPr>
        <p:txBody>
          <a:bodyPr wrap="square" rtlCol="0" anchor="ctr"/>
          <a:lstStyle/>
          <a:p>
            <a:pPr algn="ctr" indent="0" marL="0">
              <a:buNone/>
            </a:pPr>
            <a:r>
              <a:rPr lang="en-US" sz="1700" dirty="0">
                <a:solidFill>
                  <a:srgbClr val="212121"/>
                </a:solidFill>
                <a:latin typeface="Arial" pitchFamily="34" charset="0"/>
                <a:ea typeface="Arial" pitchFamily="34" charset="-122"/>
                <a:cs typeface="Arial" pitchFamily="34" charset="-120"/>
              </a:rPr>
              <a:t>Petición 1 — 2s</a:t>
            </a:r>
            <a:endParaRPr lang="en-US" sz="1700" dirty="0"/>
          </a:p>
        </p:txBody>
      </p:sp>
      <p:sp>
        <p:nvSpPr>
          <p:cNvPr id="10" name="Text 8"/>
          <p:cNvSpPr/>
          <p:nvPr/>
        </p:nvSpPr>
        <p:spPr>
          <a:xfrm>
            <a:off x="5843016" y="3108960"/>
            <a:ext cx="502920" cy="777240"/>
          </a:xfrm>
          <a:prstGeom prst="rect">
            <a:avLst/>
          </a:prstGeom>
          <a:noFill/>
          <a:ln/>
        </p:spPr>
        <p:txBody>
          <a:bodyPr wrap="square" rtlCol="0" anchor="ctr"/>
          <a:lstStyle/>
          <a:p>
            <a:pPr algn="ctr" indent="0" marL="0">
              <a:buNone/>
            </a:pPr>
            <a:r>
              <a:rPr lang="en-US" sz="2200" b="1" dirty="0">
                <a:solidFill>
                  <a:srgbClr val="6D4C41"/>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6300216" y="3108960"/>
            <a:ext cx="5340096" cy="777240"/>
          </a:xfrm>
          <a:prstGeom prst="roundRect">
            <a:avLst/>
          </a:prstGeom>
          <a:solidFill>
            <a:srgbClr val="EFEBE9"/>
          </a:solidFill>
          <a:ln w="15875">
            <a:solidFill>
              <a:srgbClr val="6D4C41"/>
            </a:solidFill>
            <a:prstDash val="solid"/>
          </a:ln>
        </p:spPr>
      </p:sp>
      <p:sp>
        <p:nvSpPr>
          <p:cNvPr id="12" name="Text 10"/>
          <p:cNvSpPr/>
          <p:nvPr/>
        </p:nvSpPr>
        <p:spPr>
          <a:xfrm>
            <a:off x="6345936" y="3154680"/>
            <a:ext cx="5248656" cy="685800"/>
          </a:xfrm>
          <a:prstGeom prst="rect">
            <a:avLst/>
          </a:prstGeom>
          <a:noFill/>
          <a:ln/>
        </p:spPr>
        <p:txBody>
          <a:bodyPr wrap="square" rtlCol="0" anchor="ctr"/>
          <a:lstStyle/>
          <a:p>
            <a:pPr algn="ctr" indent="0" marL="0">
              <a:buNone/>
            </a:pPr>
            <a:r>
              <a:rPr lang="en-US" sz="1700" dirty="0">
                <a:solidFill>
                  <a:srgbClr val="212121"/>
                </a:solidFill>
                <a:latin typeface="Arial" pitchFamily="34" charset="0"/>
                <a:ea typeface="Arial" pitchFamily="34" charset="-122"/>
                <a:cs typeface="Arial" pitchFamily="34" charset="-120"/>
              </a:rPr>
              <a:t>Petición 2 — 2s</a:t>
            </a:r>
            <a:endParaRPr lang="en-US" sz="1700" dirty="0"/>
          </a:p>
        </p:txBody>
      </p:sp>
      <p:sp>
        <p:nvSpPr>
          <p:cNvPr id="13" name="Shape 11"/>
          <p:cNvSpPr/>
          <p:nvPr/>
        </p:nvSpPr>
        <p:spPr>
          <a:xfrm>
            <a:off x="548640" y="4389120"/>
            <a:ext cx="11091672" cy="502920"/>
          </a:xfrm>
          <a:prstGeom prst="rect">
            <a:avLst/>
          </a:prstGeom>
          <a:solidFill>
            <a:srgbClr val="6D4C41"/>
          </a:solidFill>
          <a:ln w="12700">
            <a:solidFill>
              <a:srgbClr val="6D4C41"/>
            </a:solidFill>
            <a:prstDash val="solid"/>
          </a:ln>
        </p:spPr>
      </p:sp>
      <p:sp>
        <p:nvSpPr>
          <p:cNvPr id="14" name="Text 12"/>
          <p:cNvSpPr/>
          <p:nvPr/>
        </p:nvSpPr>
        <p:spPr>
          <a:xfrm>
            <a:off x="731520" y="4389120"/>
            <a:ext cx="10725912" cy="502920"/>
          </a:xfrm>
          <a:prstGeom prst="rect">
            <a:avLst/>
          </a:prstGeom>
          <a:noFill/>
          <a:ln/>
        </p:spPr>
        <p:txBody>
          <a:bodyPr wrap="square" rtlCol="0" anchor="ctr"/>
          <a:lstStyle/>
          <a:p>
            <a:pPr indent="0" marL="0">
              <a:buNone/>
            </a:pPr>
            <a:r>
              <a:rPr lang="en-US" sz="1900" b="1" dirty="0">
                <a:solidFill>
                  <a:srgbClr val="FFFFFF"/>
                </a:solidFill>
                <a:latin typeface="Arial" pitchFamily="34" charset="0"/>
                <a:ea typeface="Arial" pitchFamily="34" charset="-122"/>
                <a:cs typeface="Arial" pitchFamily="34" charset="-120"/>
              </a:rPr>
              <a:t>🐇 En paralelo — un hilo por petición</a:t>
            </a:r>
            <a:endParaRPr lang="en-US" sz="1900" dirty="0"/>
          </a:p>
        </p:txBody>
      </p:sp>
      <p:sp>
        <p:nvSpPr>
          <p:cNvPr id="15" name="Shape 13"/>
          <p:cNvSpPr/>
          <p:nvPr/>
        </p:nvSpPr>
        <p:spPr>
          <a:xfrm>
            <a:off x="548640" y="5212080"/>
            <a:ext cx="5340096" cy="777240"/>
          </a:xfrm>
          <a:prstGeom prst="roundRect">
            <a:avLst/>
          </a:prstGeom>
          <a:solidFill>
            <a:srgbClr val="EFEBE9"/>
          </a:solidFill>
          <a:ln w="15875">
            <a:solidFill>
              <a:srgbClr val="6D4C41"/>
            </a:solidFill>
            <a:prstDash val="solid"/>
          </a:ln>
        </p:spPr>
      </p:sp>
      <p:sp>
        <p:nvSpPr>
          <p:cNvPr id="16" name="Text 14"/>
          <p:cNvSpPr/>
          <p:nvPr/>
        </p:nvSpPr>
        <p:spPr>
          <a:xfrm>
            <a:off x="594360" y="5257800"/>
            <a:ext cx="5248656" cy="685800"/>
          </a:xfrm>
          <a:prstGeom prst="rect">
            <a:avLst/>
          </a:prstGeom>
          <a:noFill/>
          <a:ln/>
        </p:spPr>
        <p:txBody>
          <a:bodyPr wrap="square" rtlCol="0" anchor="ctr"/>
          <a:lstStyle/>
          <a:p>
            <a:pPr algn="ctr" indent="0" marL="0">
              <a:buNone/>
            </a:pPr>
            <a:r>
              <a:rPr lang="en-US" sz="1700" dirty="0">
                <a:solidFill>
                  <a:srgbClr val="212121"/>
                </a:solidFill>
                <a:latin typeface="Arial" pitchFamily="34" charset="0"/>
                <a:ea typeface="Arial" pitchFamily="34" charset="-122"/>
                <a:cs typeface="Arial" pitchFamily="34" charset="-120"/>
              </a:rPr>
              <a:t>Petición 1 — 2s</a:t>
            </a:r>
            <a:endParaRPr lang="en-US" sz="1700" dirty="0"/>
          </a:p>
        </p:txBody>
      </p:sp>
      <p:sp>
        <p:nvSpPr>
          <p:cNvPr id="17" name="Shape 15"/>
          <p:cNvSpPr/>
          <p:nvPr/>
        </p:nvSpPr>
        <p:spPr>
          <a:xfrm>
            <a:off x="6300216" y="5212080"/>
            <a:ext cx="5340096" cy="777240"/>
          </a:xfrm>
          <a:prstGeom prst="roundRect">
            <a:avLst/>
          </a:prstGeom>
          <a:solidFill>
            <a:srgbClr val="EFEBE9"/>
          </a:solidFill>
          <a:ln w="15875">
            <a:solidFill>
              <a:srgbClr val="6D4C41"/>
            </a:solidFill>
            <a:prstDash val="solid"/>
          </a:ln>
        </p:spPr>
      </p:sp>
      <p:sp>
        <p:nvSpPr>
          <p:cNvPr id="18" name="Text 16"/>
          <p:cNvSpPr/>
          <p:nvPr/>
        </p:nvSpPr>
        <p:spPr>
          <a:xfrm>
            <a:off x="6345936" y="5257800"/>
            <a:ext cx="5248656" cy="685800"/>
          </a:xfrm>
          <a:prstGeom prst="rect">
            <a:avLst/>
          </a:prstGeom>
          <a:noFill/>
          <a:ln/>
        </p:spPr>
        <p:txBody>
          <a:bodyPr wrap="square" rtlCol="0" anchor="ctr"/>
          <a:lstStyle/>
          <a:p>
            <a:pPr algn="ctr" indent="0" marL="0">
              <a:buNone/>
            </a:pPr>
            <a:r>
              <a:rPr lang="en-US" sz="1700" dirty="0">
                <a:solidFill>
                  <a:srgbClr val="212121"/>
                </a:solidFill>
                <a:latin typeface="Arial" pitchFamily="34" charset="0"/>
                <a:ea typeface="Arial" pitchFamily="34" charset="-122"/>
                <a:cs typeface="Arial" pitchFamily="34" charset="-120"/>
              </a:rPr>
              <a:t>Petición 2 — 2s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Qué significan esos tiempos</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Shape 3"/>
          <p:cNvSpPr/>
          <p:nvPr/>
        </p:nvSpPr>
        <p:spPr>
          <a:xfrm>
            <a:off x="548640" y="1920240"/>
            <a:ext cx="11091672" cy="1645920"/>
          </a:xfrm>
          <a:prstGeom prst="roundRect">
            <a:avLst/>
          </a:prstGeom>
          <a:solidFill>
            <a:srgbClr val="FFF3E0"/>
          </a:solidFill>
          <a:ln w="19050">
            <a:solidFill>
              <a:srgbClr val="FFA000"/>
            </a:solidFill>
            <a:prstDash val="solid"/>
          </a:ln>
        </p:spPr>
      </p:sp>
      <p:sp>
        <p:nvSpPr>
          <p:cNvPr id="6" name="Text 4"/>
          <p:cNvSpPr/>
          <p:nvPr/>
        </p:nvSpPr>
        <p:spPr>
          <a:xfrm>
            <a:off x="822960" y="2011680"/>
            <a:ext cx="10543032" cy="1463040"/>
          </a:xfrm>
          <a:prstGeom prst="rect">
            <a:avLst/>
          </a:prstGeom>
          <a:noFill/>
          <a:ln/>
        </p:spPr>
        <p:txBody>
          <a:bodyPr wrap="square" rtlCol="0" anchor="ctr"/>
          <a:lstStyle/>
          <a:p>
            <a:pPr indent="0" marL="0">
              <a:buNone/>
            </a:pPr>
            <a:r>
              <a:rPr lang="en-US" sz="2000" dirty="0">
                <a:solidFill>
                  <a:srgbClr val="212121"/>
                </a:solidFill>
                <a:latin typeface="Arial" pitchFamily="34" charset="0"/>
                <a:ea typeface="Arial" pitchFamily="34" charset="-122"/>
                <a:cs typeface="Arial" pitchFamily="34" charset="-120"/>
              </a:rPr>
              <a:t>Si las dos peticiones se atendieran una detrás de otra (Secuencial), el conjunto tardaría unos 4 segundos. Si se atienden en paralelo, tardan aproximadamente 2 — porque cada una la procesa un hilo distinto del pool, igual que los dos camareros de la analogía.</a:t>
            </a:r>
            <a:endParaRPr lang="en-US" sz="2000" dirty="0"/>
          </a:p>
        </p:txBody>
      </p:sp>
      <p:sp>
        <p:nvSpPr>
          <p:cNvPr id="7" name="Text 5"/>
          <p:cNvSpPr/>
          <p:nvPr/>
        </p:nvSpPr>
        <p:spPr>
          <a:xfrm>
            <a:off x="548640" y="3931920"/>
            <a:ext cx="11091672" cy="1188720"/>
          </a:xfrm>
          <a:prstGeom prst="rect">
            <a:avLst/>
          </a:prstGeom>
          <a:noFill/>
          <a:ln/>
        </p:spPr>
        <p:txBody>
          <a:bodyPr wrap="square" rtlCol="0" anchor="t"/>
          <a:lstStyle/>
          <a:p>
            <a:pPr indent="0" marL="0">
              <a:buNone/>
            </a:pPr>
            <a:r>
              <a:rPr lang="en-US" sz="1800" dirty="0">
                <a:solidFill>
                  <a:srgbClr val="757575"/>
                </a:solidFill>
                <a:latin typeface="Arial" pitchFamily="34" charset="0"/>
                <a:ea typeface="Arial" pitchFamily="34" charset="-122"/>
                <a:cs typeface="Arial" pitchFamily="34" charset="-120"/>
              </a:rPr>
              <a:t>Puedes confirmarlo añadiendo temporalmente una traza con Thread.currentThread().getName() en el método y mirando el log: verás dos nombres de hilo distintos (http-nio-8080-exec-1, http-nio-8080-exec-2...) para las dos peticiones.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Qué es la disponibilidad de un servicio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Text 3"/>
          <p:cNvSpPr/>
          <p:nvPr/>
        </p:nvSpPr>
        <p:spPr>
          <a:xfrm>
            <a:off x="548640" y="1920240"/>
            <a:ext cx="11091672" cy="822960"/>
          </a:xfrm>
          <a:prstGeom prst="rect">
            <a:avLst/>
          </a:prstGeom>
          <a:noFill/>
          <a:ln/>
        </p:spPr>
        <p:txBody>
          <a:bodyPr wrap="square" rtlCol="0" anchor="t"/>
          <a:lstStyle/>
          <a:p>
            <a:pPr indent="0" marL="0">
              <a:buNone/>
            </a:pPr>
            <a:r>
              <a:rPr lang="en-US" sz="1900" dirty="0">
                <a:solidFill>
                  <a:srgbClr val="212121"/>
                </a:solidFill>
                <a:latin typeface="Arial" pitchFamily="34" charset="0"/>
                <a:ea typeface="Arial" pitchFamily="34" charset="-122"/>
                <a:cs typeface="Arial" pitchFamily="34" charset="-120"/>
              </a:rPr>
              <a:t>Todo lo anterior daba por hecho algo que no has cuestionado en ningún momento: que tu servicio está funcionando de verdad. ¿Cómo lo sabes, en realidad?</a:t>
            </a:r>
            <a:endParaRPr lang="en-US" sz="1900" dirty="0"/>
          </a:p>
        </p:txBody>
      </p:sp>
      <p:sp>
        <p:nvSpPr>
          <p:cNvPr id="6" name="Shape 4"/>
          <p:cNvSpPr/>
          <p:nvPr/>
        </p:nvSpPr>
        <p:spPr>
          <a:xfrm>
            <a:off x="548640" y="3063240"/>
            <a:ext cx="11091672" cy="1280160"/>
          </a:xfrm>
          <a:prstGeom prst="roundRect">
            <a:avLst/>
          </a:prstGeom>
          <a:solidFill>
            <a:srgbClr val="FFF3E0"/>
          </a:solidFill>
          <a:ln w="19050">
            <a:solidFill>
              <a:srgbClr val="FFA000"/>
            </a:solidFill>
            <a:prstDash val="solid"/>
          </a:ln>
        </p:spPr>
      </p:sp>
      <p:sp>
        <p:nvSpPr>
          <p:cNvPr id="7" name="Text 5"/>
          <p:cNvSpPr/>
          <p:nvPr/>
        </p:nvSpPr>
        <p:spPr>
          <a:xfrm>
            <a:off x="822960" y="3154680"/>
            <a:ext cx="10543032" cy="1097280"/>
          </a:xfrm>
          <a:prstGeom prst="rect">
            <a:avLst/>
          </a:prstGeom>
          <a:noFill/>
          <a:ln/>
        </p:spPr>
        <p:txBody>
          <a:bodyPr wrap="square" rtlCol="0" anchor="ctr"/>
          <a:lstStyle/>
          <a:p>
            <a:pPr indent="0" marL="0">
              <a:buNone/>
            </a:pPr>
            <a:r>
              <a:rPr lang="en-US" sz="1900" dirty="0">
                <a:solidFill>
                  <a:srgbClr val="212121"/>
                </a:solidFill>
                <a:latin typeface="Arial" pitchFamily="34" charset="0"/>
                <a:ea typeface="Arial" pitchFamily="34" charset="-122"/>
                <a:cs typeface="Arial" pitchFamily="34" charset="-120"/>
              </a:rPr>
              <a:t>Imagina que tu GameVault, ya desplegado, se cae un sábado a las tres de la madrugada. Si nadie lo comprueba a mano, nadie se entera hasta que un usuario se queja de que la web no funciona — pueden pasar horas.</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Distintos niveles de "estar bien"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Text 3"/>
          <p:cNvSpPr/>
          <p:nvPr/>
        </p:nvSpPr>
        <p:spPr>
          <a:xfrm>
            <a:off x="548640" y="1554480"/>
            <a:ext cx="11091672" cy="548640"/>
          </a:xfrm>
          <a:prstGeom prst="rect">
            <a:avLst/>
          </a:prstGeom>
          <a:noFill/>
          <a:ln/>
        </p:spPr>
        <p:txBody>
          <a:bodyPr wrap="square" rtlCol="0" anchor="t"/>
          <a:lstStyle/>
          <a:p>
            <a:pPr indent="0" marL="0">
              <a:buNone/>
            </a:pPr>
            <a:r>
              <a:rPr lang="en-US" sz="1800" dirty="0">
                <a:solidFill>
                  <a:srgbClr val="212121"/>
                </a:solidFill>
                <a:latin typeface="Arial" pitchFamily="34" charset="0"/>
                <a:ea typeface="Arial" pitchFamily="34" charset="-122"/>
                <a:cs typeface="Arial" pitchFamily="34" charset="-120"/>
              </a:rPr>
              <a:t>Que un servicio esté disponible no es una única cosa binaria — hay distintos niveles, cada uno más exigente que el anterior:</a:t>
            </a:r>
            <a:endParaRPr lang="en-US" sz="1800" dirty="0"/>
          </a:p>
        </p:txBody>
      </p:sp>
      <p:sp>
        <p:nvSpPr>
          <p:cNvPr id="6" name="Text 4"/>
          <p:cNvSpPr/>
          <p:nvPr/>
        </p:nvSpPr>
        <p:spPr>
          <a:xfrm>
            <a:off x="548640" y="2377440"/>
            <a:ext cx="11091672" cy="2834640"/>
          </a:xfrm>
          <a:prstGeom prst="rect">
            <a:avLst/>
          </a:prstGeom>
          <a:noFill/>
          <a:ln/>
        </p:spPr>
        <p:txBody>
          <a:bodyPr wrap="square" rtlCol="0" anchor="t"/>
          <a:lstStyle/>
          <a:p>
            <a:pPr marL="342900" indent="-342900">
              <a:spcAft>
                <a:spcPts val="1200"/>
              </a:spcAft>
              <a:buSzPct val="100000"/>
              <a:buChar char="•"/>
            </a:pPr>
            <a:r>
              <a:rPr lang="en-US" sz="1900" dirty="0">
                <a:solidFill>
                  <a:srgbClr val="212121"/>
                </a:solidFill>
                <a:latin typeface="Arial" pitchFamily="34" charset="0"/>
                <a:ea typeface="Arial" pitchFamily="34" charset="-122"/>
                <a:cs typeface="Arial" pitchFamily="34" charset="-120"/>
              </a:rPr>
              <a:t>El proceso está arrancado: la aplicación no se ha caído, sigue viva.</a:t>
            </a:r>
            <a:endParaRPr lang="en-US" sz="1900" dirty="0"/>
          </a:p>
          <a:p>
            <a:pPr marL="342900" indent="-342900">
              <a:spcAft>
                <a:spcPts val="1200"/>
              </a:spcAft>
              <a:buSzPct val="100000"/>
              <a:buChar char="•"/>
            </a:pPr>
            <a:r>
              <a:rPr lang="en-US" sz="1900" dirty="0">
                <a:solidFill>
                  <a:srgbClr val="212121"/>
                </a:solidFill>
                <a:latin typeface="Arial" pitchFamily="34" charset="0"/>
                <a:ea typeface="Arial" pitchFamily="34" charset="-122"/>
                <a:cs typeface="Arial" pitchFamily="34" charset="-120"/>
              </a:rPr>
              <a:t>Responde peticiones: acepta conexiones y contesta algo, lo que sea.</a:t>
            </a:r>
            <a:endParaRPr lang="en-US" sz="1900" dirty="0"/>
          </a:p>
          <a:p>
            <a:pPr marL="342900" indent="-342900">
              <a:spcAft>
                <a:spcPts val="1200"/>
              </a:spcAft>
              <a:buSzPct val="100000"/>
              <a:buChar char="•"/>
            </a:pPr>
            <a:r>
              <a:rPr lang="en-US" sz="1900" dirty="0">
                <a:solidFill>
                  <a:srgbClr val="212121"/>
                </a:solidFill>
                <a:latin typeface="Arial" pitchFamily="34" charset="0"/>
                <a:ea typeface="Arial" pitchFamily="34" charset="-122"/>
                <a:cs typeface="Arial" pitchFamily="34" charset="-120"/>
              </a:rPr>
              <a:t>Sus dependencias funcionan: la base de datos, la cola de mensajería, cualquier servicio del que dependa, están accesibles — un proceso vivo que no puede hablar con su base de datos no está realmente "disponible" para hacer su trabajo.</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De proceso caído a realmente disponible</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Shape 3"/>
          <p:cNvSpPr/>
          <p:nvPr/>
        </p:nvSpPr>
        <p:spPr>
          <a:xfrm>
            <a:off x="548640" y="2926080"/>
            <a:ext cx="2464308" cy="1280160"/>
          </a:xfrm>
          <a:prstGeom prst="roundRect">
            <a:avLst/>
          </a:prstGeom>
          <a:solidFill>
            <a:srgbClr val="EFEBE9"/>
          </a:solidFill>
          <a:ln w="15875">
            <a:solidFill>
              <a:srgbClr val="6D4C41"/>
            </a:solidFill>
            <a:prstDash val="solid"/>
          </a:ln>
        </p:spPr>
      </p:sp>
      <p:sp>
        <p:nvSpPr>
          <p:cNvPr id="6" name="Text 4"/>
          <p:cNvSpPr/>
          <p:nvPr/>
        </p:nvSpPr>
        <p:spPr>
          <a:xfrm>
            <a:off x="594360" y="2971800"/>
            <a:ext cx="2372868" cy="1188720"/>
          </a:xfrm>
          <a:prstGeom prst="rect">
            <a:avLst/>
          </a:prstGeom>
          <a:noFill/>
          <a:ln/>
        </p:spPr>
        <p:txBody>
          <a:bodyPr wrap="square" rtlCol="0" anchor="ctr"/>
          <a:lstStyle/>
          <a:p>
            <a:pPr algn="ctr" indent="0" marL="0">
              <a:buNone/>
            </a:pPr>
            <a:r>
              <a:rPr lang="en-US" sz="1550" dirty="0">
                <a:solidFill>
                  <a:srgbClr val="212121"/>
                </a:solidFill>
                <a:latin typeface="Arial" pitchFamily="34" charset="0"/>
                <a:ea typeface="Arial" pitchFamily="34" charset="-122"/>
                <a:cs typeface="Arial" pitchFamily="34" charset="-120"/>
              </a:rPr>
              <a:t>🔴 Proceso caído</a:t>
            </a:r>
            <a:endParaRPr lang="en-US" sz="1550" dirty="0"/>
          </a:p>
        </p:txBody>
      </p:sp>
      <p:sp>
        <p:nvSpPr>
          <p:cNvPr id="7" name="Text 5"/>
          <p:cNvSpPr/>
          <p:nvPr/>
        </p:nvSpPr>
        <p:spPr>
          <a:xfrm>
            <a:off x="2967228" y="2926080"/>
            <a:ext cx="502920" cy="1280160"/>
          </a:xfrm>
          <a:prstGeom prst="rect">
            <a:avLst/>
          </a:prstGeom>
          <a:noFill/>
          <a:ln/>
        </p:spPr>
        <p:txBody>
          <a:bodyPr wrap="square" rtlCol="0" anchor="ctr"/>
          <a:lstStyle/>
          <a:p>
            <a:pPr algn="ctr" indent="0" marL="0">
              <a:buNone/>
            </a:pPr>
            <a:r>
              <a:rPr lang="en-US" sz="2200" b="1" dirty="0">
                <a:solidFill>
                  <a:srgbClr val="6D4C41"/>
                </a:solidFill>
                <a:latin typeface="Arial" pitchFamily="34" charset="0"/>
                <a:ea typeface="Arial" pitchFamily="34" charset="-122"/>
                <a:cs typeface="Arial" pitchFamily="34" charset="-120"/>
              </a:rPr>
              <a:t>→</a:t>
            </a:r>
            <a:endParaRPr lang="en-US" sz="2200" dirty="0"/>
          </a:p>
        </p:txBody>
      </p:sp>
      <p:sp>
        <p:nvSpPr>
          <p:cNvPr id="8" name="Shape 6"/>
          <p:cNvSpPr/>
          <p:nvPr/>
        </p:nvSpPr>
        <p:spPr>
          <a:xfrm>
            <a:off x="3424428" y="2926080"/>
            <a:ext cx="2464308" cy="1280160"/>
          </a:xfrm>
          <a:prstGeom prst="roundRect">
            <a:avLst/>
          </a:prstGeom>
          <a:solidFill>
            <a:srgbClr val="EFEBE9"/>
          </a:solidFill>
          <a:ln w="15875">
            <a:solidFill>
              <a:srgbClr val="6D4C41"/>
            </a:solidFill>
            <a:prstDash val="solid"/>
          </a:ln>
        </p:spPr>
      </p:sp>
      <p:sp>
        <p:nvSpPr>
          <p:cNvPr id="9" name="Text 7"/>
          <p:cNvSpPr/>
          <p:nvPr/>
        </p:nvSpPr>
        <p:spPr>
          <a:xfrm>
            <a:off x="3470148" y="2971800"/>
            <a:ext cx="2372868" cy="1188720"/>
          </a:xfrm>
          <a:prstGeom prst="rect">
            <a:avLst/>
          </a:prstGeom>
          <a:noFill/>
          <a:ln/>
        </p:spPr>
        <p:txBody>
          <a:bodyPr wrap="square" rtlCol="0" anchor="ctr"/>
          <a:lstStyle/>
          <a:p>
            <a:pPr algn="ctr" indent="0" marL="0">
              <a:buNone/>
            </a:pPr>
            <a:r>
              <a:rPr lang="en-US" sz="1550" dirty="0">
                <a:solidFill>
                  <a:srgbClr val="212121"/>
                </a:solidFill>
                <a:latin typeface="Arial" pitchFamily="34" charset="0"/>
                <a:ea typeface="Arial" pitchFamily="34" charset="-122"/>
                <a:cs typeface="Arial" pitchFamily="34" charset="-120"/>
              </a:rPr>
              <a:t>🟡 Proceso vivo,</a:t>
            </a:r>
            <a:endParaRPr lang="en-US" sz="1550" dirty="0"/>
          </a:p>
          <a:p>
            <a:pPr algn="ctr" indent="0" marL="0">
              <a:buNone/>
            </a:pPr>
            <a:r>
              <a:rPr lang="en-US" sz="1550" dirty="0">
                <a:solidFill>
                  <a:srgbClr val="212121"/>
                </a:solidFill>
                <a:latin typeface="Arial" pitchFamily="34" charset="0"/>
                <a:ea typeface="Arial" pitchFamily="34" charset="-122"/>
                <a:cs typeface="Arial" pitchFamily="34" charset="-120"/>
              </a:rPr>
              <a:t>no responde</a:t>
            </a:r>
            <a:endParaRPr lang="en-US" sz="1550" dirty="0"/>
          </a:p>
        </p:txBody>
      </p:sp>
      <p:sp>
        <p:nvSpPr>
          <p:cNvPr id="10" name="Text 8"/>
          <p:cNvSpPr/>
          <p:nvPr/>
        </p:nvSpPr>
        <p:spPr>
          <a:xfrm>
            <a:off x="5843016" y="2926080"/>
            <a:ext cx="502920" cy="1280160"/>
          </a:xfrm>
          <a:prstGeom prst="rect">
            <a:avLst/>
          </a:prstGeom>
          <a:noFill/>
          <a:ln/>
        </p:spPr>
        <p:txBody>
          <a:bodyPr wrap="square" rtlCol="0" anchor="ctr"/>
          <a:lstStyle/>
          <a:p>
            <a:pPr algn="ctr" indent="0" marL="0">
              <a:buNone/>
            </a:pPr>
            <a:r>
              <a:rPr lang="en-US" sz="2200" b="1" dirty="0">
                <a:solidFill>
                  <a:srgbClr val="6D4C41"/>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6300216" y="2926080"/>
            <a:ext cx="2464308" cy="1280160"/>
          </a:xfrm>
          <a:prstGeom prst="roundRect">
            <a:avLst/>
          </a:prstGeom>
          <a:solidFill>
            <a:srgbClr val="EFEBE9"/>
          </a:solidFill>
          <a:ln w="15875">
            <a:solidFill>
              <a:srgbClr val="6D4C41"/>
            </a:solidFill>
            <a:prstDash val="solid"/>
          </a:ln>
        </p:spPr>
      </p:sp>
      <p:sp>
        <p:nvSpPr>
          <p:cNvPr id="12" name="Text 10"/>
          <p:cNvSpPr/>
          <p:nvPr/>
        </p:nvSpPr>
        <p:spPr>
          <a:xfrm>
            <a:off x="6345936" y="2971800"/>
            <a:ext cx="2372868" cy="1188720"/>
          </a:xfrm>
          <a:prstGeom prst="rect">
            <a:avLst/>
          </a:prstGeom>
          <a:noFill/>
          <a:ln/>
        </p:spPr>
        <p:txBody>
          <a:bodyPr wrap="square" rtlCol="0" anchor="ctr"/>
          <a:lstStyle/>
          <a:p>
            <a:pPr algn="ctr" indent="0" marL="0">
              <a:buNone/>
            </a:pPr>
            <a:r>
              <a:rPr lang="en-US" sz="1550" dirty="0">
                <a:solidFill>
                  <a:srgbClr val="212121"/>
                </a:solidFill>
                <a:latin typeface="Arial" pitchFamily="34" charset="0"/>
                <a:ea typeface="Arial" pitchFamily="34" charset="-122"/>
                <a:cs typeface="Arial" pitchFamily="34" charset="-120"/>
              </a:rPr>
              <a:t>🟠 Responde, pero</a:t>
            </a:r>
            <a:endParaRPr lang="en-US" sz="1550" dirty="0"/>
          </a:p>
          <a:p>
            <a:pPr algn="ctr" indent="0" marL="0">
              <a:buNone/>
            </a:pPr>
            <a:r>
              <a:rPr lang="en-US" sz="1550" dirty="0">
                <a:solidFill>
                  <a:srgbClr val="212121"/>
                </a:solidFill>
                <a:latin typeface="Arial" pitchFamily="34" charset="0"/>
                <a:ea typeface="Arial" pitchFamily="34" charset="-122"/>
                <a:cs typeface="Arial" pitchFamily="34" charset="-120"/>
              </a:rPr>
              <a:t>fallan sus dependencias</a:t>
            </a:r>
            <a:endParaRPr lang="en-US" sz="1550" dirty="0"/>
          </a:p>
        </p:txBody>
      </p:sp>
      <p:sp>
        <p:nvSpPr>
          <p:cNvPr id="13" name="Text 11"/>
          <p:cNvSpPr/>
          <p:nvPr/>
        </p:nvSpPr>
        <p:spPr>
          <a:xfrm>
            <a:off x="8718804" y="2926080"/>
            <a:ext cx="502920" cy="1280160"/>
          </a:xfrm>
          <a:prstGeom prst="rect">
            <a:avLst/>
          </a:prstGeom>
          <a:noFill/>
          <a:ln/>
        </p:spPr>
        <p:txBody>
          <a:bodyPr wrap="square" rtlCol="0" anchor="ctr"/>
          <a:lstStyle/>
          <a:p>
            <a:pPr algn="ctr" indent="0" marL="0">
              <a:buNone/>
            </a:pPr>
            <a:r>
              <a:rPr lang="en-US" sz="2200" b="1" dirty="0">
                <a:solidFill>
                  <a:srgbClr val="6D4C41"/>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9176004" y="2926080"/>
            <a:ext cx="2464308" cy="1280160"/>
          </a:xfrm>
          <a:prstGeom prst="roundRect">
            <a:avLst/>
          </a:prstGeom>
          <a:solidFill>
            <a:srgbClr val="EFEBE9"/>
          </a:solidFill>
          <a:ln w="15875">
            <a:solidFill>
              <a:srgbClr val="6D4C41"/>
            </a:solidFill>
            <a:prstDash val="solid"/>
          </a:ln>
        </p:spPr>
      </p:sp>
      <p:sp>
        <p:nvSpPr>
          <p:cNvPr id="15" name="Text 13"/>
          <p:cNvSpPr/>
          <p:nvPr/>
        </p:nvSpPr>
        <p:spPr>
          <a:xfrm>
            <a:off x="9221724" y="2971800"/>
            <a:ext cx="2372868" cy="1188720"/>
          </a:xfrm>
          <a:prstGeom prst="rect">
            <a:avLst/>
          </a:prstGeom>
          <a:noFill/>
          <a:ln/>
        </p:spPr>
        <p:txBody>
          <a:bodyPr wrap="square" rtlCol="0" anchor="ctr"/>
          <a:lstStyle/>
          <a:p>
            <a:pPr algn="ctr" indent="0" marL="0">
              <a:buNone/>
            </a:pPr>
            <a:r>
              <a:rPr lang="en-US" sz="1550" dirty="0">
                <a:solidFill>
                  <a:srgbClr val="212121"/>
                </a:solidFill>
                <a:latin typeface="Arial" pitchFamily="34" charset="0"/>
                <a:ea typeface="Arial" pitchFamily="34" charset="-122"/>
                <a:cs typeface="Arial" pitchFamily="34" charset="-120"/>
              </a:rPr>
              <a:t>🟢 Realmente</a:t>
            </a:r>
            <a:endParaRPr lang="en-US" sz="1550" dirty="0"/>
          </a:p>
          <a:p>
            <a:pPr algn="ctr" indent="0" marL="0">
              <a:buNone/>
            </a:pPr>
            <a:r>
              <a:rPr lang="en-US" sz="1550" dirty="0">
                <a:solidFill>
                  <a:srgbClr val="212121"/>
                </a:solidFill>
                <a:latin typeface="Arial" pitchFamily="34" charset="0"/>
                <a:ea typeface="Arial" pitchFamily="34" charset="-122"/>
                <a:cs typeface="Arial" pitchFamily="34" charset="-120"/>
              </a:rPr>
              <a:t>disponible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Qué es un health check</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Shape 3"/>
          <p:cNvSpPr/>
          <p:nvPr/>
        </p:nvSpPr>
        <p:spPr>
          <a:xfrm>
            <a:off x="548640" y="2286000"/>
            <a:ext cx="11091672" cy="1371600"/>
          </a:xfrm>
          <a:prstGeom prst="roundRect">
            <a:avLst/>
          </a:prstGeom>
          <a:solidFill>
            <a:srgbClr val="FFF3E0"/>
          </a:solidFill>
          <a:ln w="19050">
            <a:solidFill>
              <a:srgbClr val="FFA000"/>
            </a:solidFill>
            <a:prstDash val="solid"/>
          </a:ln>
        </p:spPr>
      </p:sp>
      <p:sp>
        <p:nvSpPr>
          <p:cNvPr id="6" name="Text 4"/>
          <p:cNvSpPr/>
          <p:nvPr/>
        </p:nvSpPr>
        <p:spPr>
          <a:xfrm>
            <a:off x="822960" y="2377440"/>
            <a:ext cx="10543032" cy="1188720"/>
          </a:xfrm>
          <a:prstGeom prst="rect">
            <a:avLst/>
          </a:prstGeom>
          <a:noFill/>
          <a:ln/>
        </p:spPr>
        <p:txBody>
          <a:bodyPr wrap="square" rtlCol="0" anchor="ctr"/>
          <a:lstStyle/>
          <a:p>
            <a:pPr indent="0" marL="0">
              <a:buNone/>
            </a:pPr>
            <a:r>
              <a:rPr lang="en-US" sz="1900" dirty="0">
                <a:solidFill>
                  <a:srgbClr val="212121"/>
                </a:solidFill>
                <a:latin typeface="Arial" pitchFamily="34" charset="0"/>
                <a:ea typeface="Arial" pitchFamily="34" charset="-122"/>
                <a:cs typeface="Arial" pitchFamily="34" charset="-120"/>
              </a:rPr>
              <a:t>Un health check (comprobación de salud) es una forma automática —pensada para que la ejecute una máquina, sin intervención humana— de responder a estas preguntas cada pocos segundos, sin que nadie tenga que mirar una pantalla.</a:t>
            </a:r>
            <a:endParaRPr lang="en-US" sz="1900" dirty="0"/>
          </a:p>
        </p:txBody>
      </p:sp>
      <p:sp>
        <p:nvSpPr>
          <p:cNvPr id="7" name="Text 5"/>
          <p:cNvSpPr/>
          <p:nvPr/>
        </p:nvSpPr>
        <p:spPr>
          <a:xfrm>
            <a:off x="548640" y="3977640"/>
            <a:ext cx="11091672" cy="1005840"/>
          </a:xfrm>
          <a:prstGeom prst="rect">
            <a:avLst/>
          </a:prstGeom>
          <a:noFill/>
          <a:ln/>
        </p:spPr>
        <p:txBody>
          <a:bodyPr wrap="square" rtlCol="0" anchor="t"/>
          <a:lstStyle/>
          <a:p>
            <a:pPr indent="0" marL="0">
              <a:buNone/>
            </a:pPr>
            <a:r>
              <a:rPr lang="en-US" sz="1700" dirty="0">
                <a:solidFill>
                  <a:srgbClr val="757575"/>
                </a:solidFill>
                <a:latin typeface="Arial" pitchFamily="34" charset="0"/>
                <a:ea typeface="Arial" pitchFamily="34" charset="-122"/>
                <a:cs typeface="Arial" pitchFamily="34" charset="-120"/>
              </a:rPr>
              <a:t>Quien lo consulta no eres tú, a mano: puede ser un programa que avise a alguien en cuanto el servicio deje de responder, un sistema de despliegue que lo reinicie automáticamente, o el propio CI, que comprueba que arranca correctamente antes de darlo por bueno.</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Spring Boot Actuator</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Shape 3"/>
          <p:cNvSpPr/>
          <p:nvPr/>
        </p:nvSpPr>
        <p:spPr>
          <a:xfrm>
            <a:off x="548640" y="1463040"/>
            <a:ext cx="11091672" cy="1280160"/>
          </a:xfrm>
          <a:prstGeom prst="roundRect">
            <a:avLst/>
          </a:prstGeom>
          <a:solidFill>
            <a:srgbClr val="FFF3E0"/>
          </a:solidFill>
          <a:ln w="19050">
            <a:solidFill>
              <a:srgbClr val="FFA000"/>
            </a:solidFill>
            <a:prstDash val="solid"/>
          </a:ln>
        </p:spPr>
      </p:sp>
      <p:sp>
        <p:nvSpPr>
          <p:cNvPr id="6" name="Text 4"/>
          <p:cNvSpPr/>
          <p:nvPr/>
        </p:nvSpPr>
        <p:spPr>
          <a:xfrm>
            <a:off x="822960" y="1554480"/>
            <a:ext cx="10543032" cy="1097280"/>
          </a:xfrm>
          <a:prstGeom prst="rect">
            <a:avLst/>
          </a:prstGeom>
          <a:noFill/>
          <a:ln/>
        </p:spPr>
        <p:txBody>
          <a:bodyPr wrap="square" rtlCol="0" anchor="ctr"/>
          <a:lstStyle/>
          <a:p>
            <a:pPr indent="0" marL="0">
              <a:buNone/>
            </a:pPr>
            <a:r>
              <a:rPr lang="en-US" sz="2000" dirty="0">
                <a:solidFill>
                  <a:srgbClr val="212121"/>
                </a:solidFill>
                <a:latin typeface="Arial" pitchFamily="34" charset="0"/>
                <a:ea typeface="Arial" pitchFamily="34" charset="-122"/>
                <a:cs typeface="Arial" pitchFamily="34" charset="-120"/>
              </a:rPr>
              <a:t>Spring Boot Actuator es la implementación de todo esto para una aplicación Spring Boot: un conjunto de endpoints HTTP listos para usar que exponen información operativa sobre tu aplicación — entre ellos, su salud.</a:t>
            </a:r>
            <a:endParaRPr lang="en-US" sz="2000" dirty="0"/>
          </a:p>
        </p:txBody>
      </p:sp>
      <p:sp>
        <p:nvSpPr>
          <p:cNvPr id="7" name="Text 5"/>
          <p:cNvSpPr/>
          <p:nvPr/>
        </p:nvSpPr>
        <p:spPr>
          <a:xfrm>
            <a:off x="548640" y="3108960"/>
            <a:ext cx="11091672" cy="502920"/>
          </a:xfrm>
          <a:prstGeom prst="rect">
            <a:avLst/>
          </a:prstGeom>
          <a:noFill/>
          <a:ln/>
        </p:spPr>
        <p:txBody>
          <a:bodyPr wrap="square" rtlCol="0" anchor="t"/>
          <a:lstStyle/>
          <a:p>
            <a:pPr indent="0" marL="0">
              <a:buNone/>
            </a:pPr>
            <a:r>
              <a:rPr lang="en-US" sz="1800" dirty="0">
                <a:solidFill>
                  <a:srgbClr val="212121"/>
                </a:solidFill>
                <a:latin typeface="Arial" pitchFamily="34" charset="0"/>
                <a:ea typeface="Arial" pitchFamily="34" charset="-122"/>
                <a:cs typeface="Arial" pitchFamily="34" charset="-120"/>
              </a:rPr>
              <a:t>Tu propio proyecto no incluye Actuator todavía (revisa tu pom.xml: no está la dependencia) — es la mejora que añades esta semana:</a:t>
            </a:r>
            <a:endParaRPr lang="en-US" sz="1800" dirty="0"/>
          </a:p>
        </p:txBody>
      </p:sp>
      <p:sp>
        <p:nvSpPr>
          <p:cNvPr id="8" name="Shape 6"/>
          <p:cNvSpPr/>
          <p:nvPr/>
        </p:nvSpPr>
        <p:spPr>
          <a:xfrm>
            <a:off x="548640" y="3886200"/>
            <a:ext cx="11091672" cy="1280160"/>
          </a:xfrm>
          <a:prstGeom prst="rect">
            <a:avLst/>
          </a:prstGeom>
          <a:solidFill>
            <a:srgbClr val="ECEFF1"/>
          </a:solidFill>
          <a:ln w="12700">
            <a:solidFill>
              <a:srgbClr val="EEEEEE"/>
            </a:solidFill>
            <a:prstDash val="solid"/>
          </a:ln>
        </p:spPr>
      </p:sp>
      <p:sp>
        <p:nvSpPr>
          <p:cNvPr id="9" name="Shape 7"/>
          <p:cNvSpPr/>
          <p:nvPr/>
        </p:nvSpPr>
        <p:spPr>
          <a:xfrm>
            <a:off x="548640" y="3886200"/>
            <a:ext cx="73152" cy="1280160"/>
          </a:xfrm>
          <a:prstGeom prst="rect">
            <a:avLst/>
          </a:prstGeom>
          <a:solidFill>
            <a:srgbClr val="FFA000"/>
          </a:solidFill>
          <a:ln w="12700">
            <a:solidFill>
              <a:srgbClr val="FFA000"/>
            </a:solidFill>
            <a:prstDash val="solid"/>
          </a:ln>
        </p:spPr>
      </p:sp>
      <p:sp>
        <p:nvSpPr>
          <p:cNvPr id="10" name="Text 8"/>
          <p:cNvSpPr/>
          <p:nvPr/>
        </p:nvSpPr>
        <p:spPr>
          <a:xfrm>
            <a:off x="822960" y="3995928"/>
            <a:ext cx="10588752" cy="1060704"/>
          </a:xfrm>
          <a:prstGeom prst="rect">
            <a:avLst/>
          </a:prstGeom>
          <a:noFill/>
          <a:ln/>
        </p:spPr>
        <p:txBody>
          <a:bodyPr wrap="square" rtlCol="0" anchor="t"/>
          <a:lstStyle/>
          <a:p>
            <a:pPr indent="0" marL="0">
              <a:buNone/>
            </a:pPr>
            <a:r>
              <a:rPr lang="en-US" sz="1800" dirty="0">
                <a:solidFill>
                  <a:srgbClr val="263238"/>
                </a:solidFill>
                <a:latin typeface="Courier New" pitchFamily="34" charset="0"/>
                <a:ea typeface="Courier New" pitchFamily="34" charset="-122"/>
                <a:cs typeface="Courier New" pitchFamily="34" charset="-120"/>
              </a:rPr>
              <a:t>&lt;dependency&gt;</a:t>
            </a:r>
            <a:endParaRPr lang="en-US" sz="1800" dirty="0"/>
          </a:p>
          <a:p>
            <a:pPr indent="0" marL="0">
              <a:buNone/>
            </a:pPr>
            <a:r>
              <a:rPr lang="en-US" sz="1800" dirty="0">
                <a:solidFill>
                  <a:srgbClr val="263238"/>
                </a:solidFill>
                <a:latin typeface="Courier New" pitchFamily="34" charset="0"/>
                <a:ea typeface="Courier New" pitchFamily="34" charset="-122"/>
                <a:cs typeface="Courier New" pitchFamily="34" charset="-120"/>
              </a:rPr>
              <a:t>    &lt;groupId&gt;org.springframework.boot&lt;/groupId&gt;</a:t>
            </a:r>
            <a:endParaRPr lang="en-US" sz="1800" dirty="0"/>
          </a:p>
          <a:p>
            <a:pPr indent="0" marL="0">
              <a:buNone/>
            </a:pPr>
            <a:r>
              <a:rPr lang="en-US" sz="1800" dirty="0">
                <a:solidFill>
                  <a:srgbClr val="263238"/>
                </a:solidFill>
                <a:latin typeface="Courier New" pitchFamily="34" charset="0"/>
                <a:ea typeface="Courier New" pitchFamily="34" charset="-122"/>
                <a:cs typeface="Courier New" pitchFamily="34" charset="-120"/>
              </a:rPr>
              <a:t>    &lt;artifactId&gt;spring-boot-starter-actuator&lt;/artifactId&gt;</a:t>
            </a:r>
            <a:endParaRPr lang="en-US" sz="1800" dirty="0"/>
          </a:p>
          <a:p>
            <a:pPr indent="0" marL="0">
              <a:buNone/>
            </a:pPr>
            <a:r>
              <a:rPr lang="en-US" sz="1800" dirty="0">
                <a:solidFill>
                  <a:srgbClr val="263238"/>
                </a:solidFill>
                <a:latin typeface="Courier New" pitchFamily="34" charset="0"/>
                <a:ea typeface="Courier New" pitchFamily="34" charset="-122"/>
                <a:cs typeface="Courier New" pitchFamily="34" charset="-120"/>
              </a:rPr>
              <a:t>&lt;/dependency&gt;</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No aparecen en Swagger UI con la configuración actual</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Text 3"/>
          <p:cNvSpPr/>
          <p:nvPr/>
        </p:nvSpPr>
        <p:spPr>
          <a:xfrm>
            <a:off x="548640" y="1554480"/>
            <a:ext cx="11091672" cy="822960"/>
          </a:xfrm>
          <a:prstGeom prst="rect">
            <a:avLst/>
          </a:prstGeom>
          <a:noFill/>
          <a:ln/>
        </p:spPr>
        <p:txBody>
          <a:bodyPr wrap="square" rtlCol="0" anchor="t"/>
          <a:lstStyle/>
          <a:p>
            <a:pPr indent="0" marL="0">
              <a:buNone/>
            </a:pPr>
            <a:r>
              <a:rPr lang="en-US" sz="1900" dirty="0">
                <a:solidFill>
                  <a:srgbClr val="212121"/>
                </a:solidFill>
                <a:latin typeface="Arial" pitchFamily="34" charset="0"/>
                <a:ea typeface="Arial" pitchFamily="34" charset="-122"/>
                <a:cs typeface="Arial" pitchFamily="34" charset="-120"/>
              </a:rPr>
              <a:t>De forma predeterminada, springdoc no añade los endpoints de Actuator a Swagger UI. Por eso verás los endpoints de tu API, pero no /actuator/health.</a:t>
            </a:r>
            <a:endParaRPr lang="en-US" sz="1900" dirty="0"/>
          </a:p>
        </p:txBody>
      </p:sp>
      <p:sp>
        <p:nvSpPr>
          <p:cNvPr id="6" name="Shape 4"/>
          <p:cNvSpPr/>
          <p:nvPr/>
        </p:nvSpPr>
        <p:spPr>
          <a:xfrm>
            <a:off x="548640" y="2697480"/>
            <a:ext cx="11091672" cy="1371600"/>
          </a:xfrm>
          <a:prstGeom prst="roundRect">
            <a:avLst/>
          </a:prstGeom>
          <a:solidFill>
            <a:srgbClr val="FFF3E0"/>
          </a:solidFill>
          <a:ln w="19050">
            <a:solidFill>
              <a:srgbClr val="FFA000"/>
            </a:solidFill>
            <a:prstDash val="solid"/>
          </a:ln>
        </p:spPr>
      </p:sp>
      <p:sp>
        <p:nvSpPr>
          <p:cNvPr id="7" name="Text 5"/>
          <p:cNvSpPr/>
          <p:nvPr/>
        </p:nvSpPr>
        <p:spPr>
          <a:xfrm>
            <a:off x="822960" y="2788920"/>
            <a:ext cx="10543032" cy="1188720"/>
          </a:xfrm>
          <a:prstGeom prst="rect">
            <a:avLst/>
          </a:prstGeom>
          <a:noFill/>
          <a:ln/>
        </p:spPr>
        <p:txBody>
          <a:bodyPr wrap="square" rtlCol="0" anchor="ctr"/>
          <a:lstStyle/>
          <a:p>
            <a:pPr indent="0" marL="0">
              <a:buNone/>
            </a:pPr>
            <a:r>
              <a:rPr lang="en-US" sz="1800" dirty="0">
                <a:solidFill>
                  <a:srgbClr val="212121"/>
                </a:solidFill>
                <a:latin typeface="Arial" pitchFamily="34" charset="0"/>
                <a:ea typeface="Arial" pitchFamily="34" charset="-122"/>
                <a:cs typeface="Arial" pitchFamily="34" charset="-120"/>
              </a:rPr>
              <a:t>Tiene sentido mantenerlos separados: /actuator/health no es un recurso del catálogo pensado para sus usuarios, sino información operativa para comprobar el estado de la aplicación. Consultarás /actuator/health directamente desde el navegador o mediante curl.</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Ver el detalle de cada dependencia</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Text 3"/>
          <p:cNvSpPr/>
          <p:nvPr/>
        </p:nvSpPr>
        <p:spPr>
          <a:xfrm>
            <a:off x="548640" y="1920240"/>
            <a:ext cx="11091672" cy="1051560"/>
          </a:xfrm>
          <a:prstGeom prst="rect">
            <a:avLst/>
          </a:prstGeom>
          <a:noFill/>
          <a:ln/>
        </p:spPr>
        <p:txBody>
          <a:bodyPr wrap="square" rtlCol="0" anchor="t"/>
          <a:lstStyle/>
          <a:p>
            <a:pPr indent="0" marL="0">
              <a:buNone/>
            </a:pPr>
            <a:r>
              <a:rPr lang="en-US" sz="1900" dirty="0">
                <a:solidFill>
                  <a:srgbClr val="212121"/>
                </a:solidFill>
                <a:latin typeface="Arial" pitchFamily="34" charset="0"/>
                <a:ea typeface="Arial" pitchFamily="34" charset="-122"/>
                <a:cs typeface="Arial" pitchFamily="34" charset="-120"/>
              </a:rPr>
              <a:t>Con solo esa dependencia, Spring Boot expone automáticamente /actuator/health. Para ver, durante el desarrollo, el detalle de cada dependencia —y no solo un UP o DOWN general— añade esto en application-dev.yml:</a:t>
            </a:r>
            <a:endParaRPr lang="en-US" sz="1900" dirty="0"/>
          </a:p>
        </p:txBody>
      </p:sp>
      <p:sp>
        <p:nvSpPr>
          <p:cNvPr id="6" name="Shape 4"/>
          <p:cNvSpPr/>
          <p:nvPr/>
        </p:nvSpPr>
        <p:spPr>
          <a:xfrm>
            <a:off x="548640" y="3337560"/>
            <a:ext cx="11091672" cy="1554480"/>
          </a:xfrm>
          <a:prstGeom prst="rect">
            <a:avLst/>
          </a:prstGeom>
          <a:solidFill>
            <a:srgbClr val="ECEFF1"/>
          </a:solidFill>
          <a:ln w="12700">
            <a:solidFill>
              <a:srgbClr val="EEEEEE"/>
            </a:solidFill>
            <a:prstDash val="solid"/>
          </a:ln>
        </p:spPr>
      </p:sp>
      <p:sp>
        <p:nvSpPr>
          <p:cNvPr id="7" name="Shape 5"/>
          <p:cNvSpPr/>
          <p:nvPr/>
        </p:nvSpPr>
        <p:spPr>
          <a:xfrm>
            <a:off x="548640" y="3337560"/>
            <a:ext cx="73152" cy="1554480"/>
          </a:xfrm>
          <a:prstGeom prst="rect">
            <a:avLst/>
          </a:prstGeom>
          <a:solidFill>
            <a:srgbClr val="FFA000"/>
          </a:solidFill>
          <a:ln w="12700">
            <a:solidFill>
              <a:srgbClr val="FFA000"/>
            </a:solidFill>
            <a:prstDash val="solid"/>
          </a:ln>
        </p:spPr>
      </p:sp>
      <p:sp>
        <p:nvSpPr>
          <p:cNvPr id="8" name="Text 6"/>
          <p:cNvSpPr/>
          <p:nvPr/>
        </p:nvSpPr>
        <p:spPr>
          <a:xfrm>
            <a:off x="822960" y="3447288"/>
            <a:ext cx="10588752" cy="1335024"/>
          </a:xfrm>
          <a:prstGeom prst="rect">
            <a:avLst/>
          </a:prstGeom>
          <a:noFill/>
          <a:ln/>
        </p:spPr>
        <p:txBody>
          <a:bodyPr wrap="square" rtlCol="0" anchor="t"/>
          <a:lstStyle/>
          <a:p>
            <a:pPr indent="0" marL="0">
              <a:buNone/>
            </a:pPr>
            <a:r>
              <a:rPr lang="en-US" sz="2000" dirty="0">
                <a:solidFill>
                  <a:srgbClr val="263238"/>
                </a:solidFill>
                <a:latin typeface="Courier New" pitchFamily="34" charset="0"/>
                <a:ea typeface="Courier New" pitchFamily="34" charset="-122"/>
                <a:cs typeface="Courier New" pitchFamily="34" charset="-120"/>
              </a:rPr>
              <a:t>management:</a:t>
            </a:r>
            <a:endParaRPr lang="en-US" sz="2000" dirty="0"/>
          </a:p>
          <a:p>
            <a:pPr indent="0" marL="0">
              <a:buNone/>
            </a:pPr>
            <a:r>
              <a:rPr lang="en-US" sz="2000" dirty="0">
                <a:solidFill>
                  <a:srgbClr val="263238"/>
                </a:solidFill>
                <a:latin typeface="Courier New" pitchFamily="34" charset="0"/>
                <a:ea typeface="Courier New" pitchFamily="34" charset="-122"/>
                <a:cs typeface="Courier New" pitchFamily="34" charset="-120"/>
              </a:rPr>
              <a:t>  endpoint:</a:t>
            </a:r>
            <a:endParaRPr lang="en-US" sz="2000" dirty="0"/>
          </a:p>
          <a:p>
            <a:pPr indent="0" marL="0">
              <a:buNone/>
            </a:pPr>
            <a:r>
              <a:rPr lang="en-US" sz="2000" dirty="0">
                <a:solidFill>
                  <a:srgbClr val="263238"/>
                </a:solidFill>
                <a:latin typeface="Courier New" pitchFamily="34" charset="0"/>
                <a:ea typeface="Courier New" pitchFamily="34" charset="-122"/>
                <a:cs typeface="Courier New" pitchFamily="34" charset="-120"/>
              </a:rPr>
              <a:t>    health:</a:t>
            </a:r>
            <a:endParaRPr lang="en-US" sz="2000" dirty="0"/>
          </a:p>
          <a:p>
            <a:pPr indent="0" marL="0">
              <a:buNone/>
            </a:pPr>
            <a:r>
              <a:rPr lang="en-US" sz="2000" dirty="0">
                <a:solidFill>
                  <a:srgbClr val="263238"/>
                </a:solidFill>
                <a:latin typeface="Courier New" pitchFamily="34" charset="0"/>
                <a:ea typeface="Courier New" pitchFamily="34" charset="-122"/>
                <a:cs typeface="Courier New" pitchFamily="34" charset="-120"/>
              </a:rPr>
              <a:t>      show-details: always</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Configuración para desarrollo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Shape 3"/>
          <p:cNvSpPr/>
          <p:nvPr/>
        </p:nvSpPr>
        <p:spPr>
          <a:xfrm>
            <a:off x="548640" y="1645920"/>
            <a:ext cx="11091672" cy="1737360"/>
          </a:xfrm>
          <a:prstGeom prst="roundRect">
            <a:avLst/>
          </a:prstGeom>
          <a:solidFill>
            <a:srgbClr val="FFF3E0"/>
          </a:solidFill>
          <a:ln w="28575">
            <a:solidFill>
              <a:srgbClr val="FFA000"/>
            </a:solidFill>
            <a:prstDash val="solid"/>
          </a:ln>
        </p:spPr>
      </p:sp>
      <p:sp>
        <p:nvSpPr>
          <p:cNvPr id="6" name="Text 4"/>
          <p:cNvSpPr/>
          <p:nvPr/>
        </p:nvSpPr>
        <p:spPr>
          <a:xfrm>
            <a:off x="822960" y="1755648"/>
            <a:ext cx="10543032" cy="1517904"/>
          </a:xfrm>
          <a:prstGeom prst="rect">
            <a:avLst/>
          </a:prstGeom>
          <a:noFill/>
          <a:ln/>
        </p:spPr>
        <p:txBody>
          <a:bodyPr wrap="square" rtlCol="0" anchor="t"/>
          <a:lstStyle/>
          <a:p>
            <a:pPr indent="0" marL="0">
              <a:buNone/>
            </a:pPr>
            <a:r>
              <a:rPr lang="en-US" sz="2000" b="1" dirty="0">
                <a:solidFill>
                  <a:srgbClr val="4E342E"/>
                </a:solidFill>
                <a:latin typeface="Arial" pitchFamily="34" charset="0"/>
                <a:ea typeface="Arial" pitchFamily="34" charset="-122"/>
                <a:cs typeface="Arial" pitchFamily="34" charset="-120"/>
              </a:rPr>
              <a:t>⚠ show-details: always expone información
</a:t>
            </a:r>
            <a:endParaRPr lang="en-US" sz="2000" dirty="0"/>
          </a:p>
          <a:p>
            <a:pPr indent="0" marL="0">
              <a:buNone/>
            </a:pPr>
            <a:r>
              <a:rPr lang="en-US" sz="1900" dirty="0">
                <a:solidFill>
                  <a:srgbClr val="212121"/>
                </a:solidFill>
                <a:latin typeface="Arial" pitchFamily="34" charset="0"/>
                <a:ea typeface="Arial" pitchFamily="34" charset="-122"/>
                <a:cs typeface="Arial" pitchFamily="34" charset="-120"/>
              </a:rPr>
              <a:t>Permite que cualquiera que pueda acceder a /actuator/health vea el detalle de los componentes comprobados. En estas prácticas resulta útil porque trabajarás en local y podrás identificar rápidamente si ha fallado PostgreSQL, MongoDB u otra dependencia.</a:t>
            </a:r>
            <a:endParaRPr lang="en-US" sz="2000" dirty="0"/>
          </a:p>
        </p:txBody>
      </p:sp>
      <p:sp>
        <p:nvSpPr>
          <p:cNvPr id="7" name="Text 5"/>
          <p:cNvSpPr/>
          <p:nvPr/>
        </p:nvSpPr>
        <p:spPr>
          <a:xfrm>
            <a:off x="548640" y="3703320"/>
            <a:ext cx="11091672" cy="548640"/>
          </a:xfrm>
          <a:prstGeom prst="rect">
            <a:avLst/>
          </a:prstGeom>
          <a:noFill/>
          <a:ln/>
        </p:spPr>
        <p:txBody>
          <a:bodyPr wrap="square" rtlCol="0" anchor="t"/>
          <a:lstStyle/>
          <a:p>
            <a:pPr indent="0" marL="0">
              <a:buNone/>
            </a:pPr>
            <a:r>
              <a:rPr lang="en-US" sz="1700" dirty="0">
                <a:solidFill>
                  <a:srgbClr val="757575"/>
                </a:solidFill>
                <a:latin typeface="Arial" pitchFamily="34" charset="0"/>
                <a:ea typeface="Arial" pitchFamily="34" charset="-122"/>
                <a:cs typeface="Arial" pitchFamily="34" charset="-120"/>
              </a:rPr>
              <a:t>En producción, estos detalles normalmente se ocultan o se muestran únicamente a usuarios autorizados.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El endpoint /actuator/health</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Text 3"/>
          <p:cNvSpPr/>
          <p:nvPr/>
        </p:nvSpPr>
        <p:spPr>
          <a:xfrm>
            <a:off x="548640" y="1737360"/>
            <a:ext cx="11091672" cy="548640"/>
          </a:xfrm>
          <a:prstGeom prst="rect">
            <a:avLst/>
          </a:prstGeom>
          <a:noFill/>
          <a:ln/>
        </p:spPr>
        <p:txBody>
          <a:bodyPr wrap="square" rtlCol="0" anchor="t"/>
          <a:lstStyle/>
          <a:p>
            <a:pPr indent="0" marL="0">
              <a:buNone/>
            </a:pPr>
            <a:r>
              <a:rPr lang="en-US" sz="1900" dirty="0">
                <a:solidFill>
                  <a:srgbClr val="212121"/>
                </a:solidFill>
                <a:latin typeface="Arial" pitchFamily="34" charset="0"/>
                <a:ea typeface="Arial" pitchFamily="34" charset="-122"/>
                <a:cs typeface="Arial" pitchFamily="34" charset="-120"/>
              </a:rPr>
              <a:t>Con los detalles activados, agrega el estado de cada dependencia real que Spring Boot detecta en el classpath:</a:t>
            </a:r>
            <a:endParaRPr lang="en-US" sz="1900" dirty="0"/>
          </a:p>
        </p:txBody>
      </p:sp>
      <p:sp>
        <p:nvSpPr>
          <p:cNvPr id="6" name="Shape 4"/>
          <p:cNvSpPr/>
          <p:nvPr/>
        </p:nvSpPr>
        <p:spPr>
          <a:xfrm>
            <a:off x="548640" y="2606040"/>
            <a:ext cx="11091672" cy="2606040"/>
          </a:xfrm>
          <a:prstGeom prst="rect">
            <a:avLst/>
          </a:prstGeom>
          <a:solidFill>
            <a:srgbClr val="ECEFF1"/>
          </a:solidFill>
          <a:ln w="12700">
            <a:solidFill>
              <a:srgbClr val="EEEEEE"/>
            </a:solidFill>
            <a:prstDash val="solid"/>
          </a:ln>
        </p:spPr>
      </p:sp>
      <p:sp>
        <p:nvSpPr>
          <p:cNvPr id="7" name="Shape 5"/>
          <p:cNvSpPr/>
          <p:nvPr/>
        </p:nvSpPr>
        <p:spPr>
          <a:xfrm>
            <a:off x="548640" y="2606040"/>
            <a:ext cx="73152" cy="2606040"/>
          </a:xfrm>
          <a:prstGeom prst="rect">
            <a:avLst/>
          </a:prstGeom>
          <a:solidFill>
            <a:srgbClr val="FFA000"/>
          </a:solidFill>
          <a:ln w="12700">
            <a:solidFill>
              <a:srgbClr val="FFA000"/>
            </a:solidFill>
            <a:prstDash val="solid"/>
          </a:ln>
        </p:spPr>
      </p:sp>
      <p:sp>
        <p:nvSpPr>
          <p:cNvPr id="8" name="Text 6"/>
          <p:cNvSpPr/>
          <p:nvPr/>
        </p:nvSpPr>
        <p:spPr>
          <a:xfrm>
            <a:off x="822960" y="2715768"/>
            <a:ext cx="10588752" cy="2386584"/>
          </a:xfrm>
          <a:prstGeom prst="rect">
            <a:avLst/>
          </a:prstGeom>
          <a:noFill/>
          <a:ln/>
        </p:spPr>
        <p:txBody>
          <a:bodyPr wrap="square" rtlCol="0" anchor="t"/>
          <a:lstStyle/>
          <a:p>
            <a:pPr indent="0" marL="0">
              <a:buNone/>
            </a:pPr>
            <a:r>
              <a:rPr lang="en-US" sz="2100" dirty="0">
                <a:solidFill>
                  <a:srgbClr val="263238"/>
                </a:solidFill>
                <a:latin typeface="Courier New" pitchFamily="34" charset="0"/>
                <a:ea typeface="Courier New" pitchFamily="34" charset="-122"/>
                <a:cs typeface="Courier New" pitchFamily="34" charset="-120"/>
              </a:rPr>
              <a:t>{</a:t>
            </a:r>
            <a:endParaRPr lang="en-US" sz="2100" dirty="0"/>
          </a:p>
          <a:p>
            <a:pPr indent="0" marL="0">
              <a:buNone/>
            </a:pPr>
            <a:r>
              <a:rPr lang="en-US" sz="2100" dirty="0">
                <a:solidFill>
                  <a:srgbClr val="263238"/>
                </a:solidFill>
                <a:latin typeface="Courier New" pitchFamily="34" charset="0"/>
                <a:ea typeface="Courier New" pitchFamily="34" charset="-122"/>
                <a:cs typeface="Courier New" pitchFamily="34" charset="-120"/>
              </a:rPr>
              <a:t>  "status": "UP",</a:t>
            </a:r>
            <a:endParaRPr lang="en-US" sz="2100" dirty="0"/>
          </a:p>
          <a:p>
            <a:pPr indent="0" marL="0">
              <a:buNone/>
            </a:pPr>
            <a:r>
              <a:rPr lang="en-US" sz="2100" dirty="0">
                <a:solidFill>
                  <a:srgbClr val="263238"/>
                </a:solidFill>
                <a:latin typeface="Courier New" pitchFamily="34" charset="0"/>
                <a:ea typeface="Courier New" pitchFamily="34" charset="-122"/>
                <a:cs typeface="Courier New" pitchFamily="34" charset="-120"/>
              </a:rPr>
              <a:t>  "components": {</a:t>
            </a:r>
            <a:endParaRPr lang="en-US" sz="2100" dirty="0"/>
          </a:p>
          <a:p>
            <a:pPr indent="0" marL="0">
              <a:buNone/>
            </a:pPr>
            <a:r>
              <a:rPr lang="en-US" sz="2100" dirty="0">
                <a:solidFill>
                  <a:srgbClr val="263238"/>
                </a:solidFill>
                <a:latin typeface="Courier New" pitchFamily="34" charset="0"/>
                <a:ea typeface="Courier New" pitchFamily="34" charset="-122"/>
                <a:cs typeface="Courier New" pitchFamily="34" charset="-120"/>
              </a:rPr>
              <a:t>    "db": { "status": "UP" },</a:t>
            </a:r>
            <a:endParaRPr lang="en-US" sz="2100" dirty="0"/>
          </a:p>
          <a:p>
            <a:pPr indent="0" marL="0">
              <a:buNone/>
            </a:pPr>
            <a:r>
              <a:rPr lang="en-US" sz="2100" dirty="0">
                <a:solidFill>
                  <a:srgbClr val="263238"/>
                </a:solidFill>
                <a:latin typeface="Courier New" pitchFamily="34" charset="0"/>
                <a:ea typeface="Courier New" pitchFamily="34" charset="-122"/>
                <a:cs typeface="Courier New" pitchFamily="34" charset="-120"/>
              </a:rPr>
              <a:t>    "mongo": { "status": "UP" }</a:t>
            </a:r>
            <a:endParaRPr lang="en-US" sz="2100" dirty="0"/>
          </a:p>
          <a:p>
            <a:pPr indent="0" marL="0">
              <a:buNone/>
            </a:pPr>
            <a:r>
              <a:rPr lang="en-US" sz="2100" dirty="0">
                <a:solidFill>
                  <a:srgbClr val="263238"/>
                </a:solidFill>
                <a:latin typeface="Courier New" pitchFamily="34" charset="0"/>
                <a:ea typeface="Courier New" pitchFamily="34" charset="-122"/>
                <a:cs typeface="Courier New" pitchFamily="34" charset="-120"/>
              </a:rPr>
              <a:t>  }</a:t>
            </a:r>
            <a:endParaRPr lang="en-US" sz="2100" dirty="0"/>
          </a:p>
          <a:p>
            <a:pPr indent="0" marL="0">
              <a:buNone/>
            </a:pPr>
            <a:r>
              <a:rPr lang="en-US" sz="2100" dirty="0">
                <a:solidFill>
                  <a:srgbClr val="263238"/>
                </a:solidFill>
                <a:latin typeface="Courier New" pitchFamily="34" charset="0"/>
                <a:ea typeface="Courier New" pitchFamily="34" charset="-122"/>
                <a:cs typeface="Courier New" pitchFamily="34" charset="-120"/>
              </a:rPr>
              <a:t>}</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La implicación de agregar cada dependencia</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Shape 3"/>
          <p:cNvSpPr/>
          <p:nvPr/>
        </p:nvSpPr>
        <p:spPr>
          <a:xfrm>
            <a:off x="548640" y="2194560"/>
            <a:ext cx="11091672" cy="1645920"/>
          </a:xfrm>
          <a:prstGeom prst="roundRect">
            <a:avLst/>
          </a:prstGeom>
          <a:solidFill>
            <a:srgbClr val="FFF3E0"/>
          </a:solidFill>
          <a:ln w="19050">
            <a:solidFill>
              <a:srgbClr val="FFA000"/>
            </a:solidFill>
            <a:prstDash val="solid"/>
          </a:ln>
        </p:spPr>
      </p:sp>
      <p:sp>
        <p:nvSpPr>
          <p:cNvPr id="6" name="Text 4"/>
          <p:cNvSpPr/>
          <p:nvPr/>
        </p:nvSpPr>
        <p:spPr>
          <a:xfrm>
            <a:off x="822960" y="2286000"/>
            <a:ext cx="10543032" cy="1463040"/>
          </a:xfrm>
          <a:prstGeom prst="rect">
            <a:avLst/>
          </a:prstGeom>
          <a:noFill/>
          <a:ln/>
        </p:spPr>
        <p:txBody>
          <a:bodyPr wrap="square" rtlCol="0" anchor="ctr"/>
          <a:lstStyle/>
          <a:p>
            <a:pPr indent="0" marL="0">
              <a:buNone/>
            </a:pPr>
            <a:r>
              <a:rPr lang="en-US" sz="1900" dirty="0">
                <a:solidFill>
                  <a:srgbClr val="212121"/>
                </a:solidFill>
                <a:latin typeface="Arial" pitchFamily="34" charset="0"/>
                <a:ea typeface="Arial" pitchFamily="34" charset="-122"/>
                <a:cs typeface="Arial" pitchFamily="34" charset="-120"/>
              </a:rPr>
              <a:t>Si el contenedor de MongoDB se cae, /actuator/health pasa a DOWN con el detalle del componente mongo marcado como el culpable — aunque la aplicación siga respondiendo peticiones sobre PostgreSQL sin ningún problema. Es exactamente el matiz de antes: "responder" y "estar realmente sano" no son lo mismo.</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Pensado para máquinas, no para personas</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Shape 3"/>
          <p:cNvSpPr/>
          <p:nvPr/>
        </p:nvSpPr>
        <p:spPr>
          <a:xfrm>
            <a:off x="548640" y="1554480"/>
            <a:ext cx="11091672" cy="1371600"/>
          </a:xfrm>
          <a:prstGeom prst="roundRect">
            <a:avLst/>
          </a:prstGeom>
          <a:solidFill>
            <a:srgbClr val="FFF3E0"/>
          </a:solidFill>
          <a:ln w="19050">
            <a:solidFill>
              <a:srgbClr val="FFA000"/>
            </a:solidFill>
            <a:prstDash val="solid"/>
          </a:ln>
        </p:spPr>
      </p:sp>
      <p:sp>
        <p:nvSpPr>
          <p:cNvPr id="6" name="Text 4"/>
          <p:cNvSpPr/>
          <p:nvPr/>
        </p:nvSpPr>
        <p:spPr>
          <a:xfrm>
            <a:off x="822960" y="1645920"/>
            <a:ext cx="10543032" cy="1188720"/>
          </a:xfrm>
          <a:prstGeom prst="rect">
            <a:avLst/>
          </a:prstGeom>
          <a:noFill/>
          <a:ln/>
        </p:spPr>
        <p:txBody>
          <a:bodyPr wrap="square" rtlCol="0" anchor="ctr"/>
          <a:lstStyle/>
          <a:p>
            <a:pPr indent="0" marL="0">
              <a:buNone/>
            </a:pPr>
            <a:r>
              <a:rPr lang="en-US" sz="1900" dirty="0">
                <a:solidFill>
                  <a:srgbClr val="212121"/>
                </a:solidFill>
                <a:latin typeface="Arial" pitchFamily="34" charset="0"/>
                <a:ea typeface="Arial" pitchFamily="34" charset="-122"/>
                <a:cs typeface="Arial" pitchFamily="34" charset="-120"/>
              </a:rPr>
              <a:t>/actuator/health no deja de ser una petición HTTP estándar — el mismo protocolo de siempre. La diferencia es quién lo consulta: normalmente no una persona con un navegador, sino un orquestador o un monitor, cada pocos segundos, de forma automática.</a:t>
            </a:r>
            <a:endParaRPr lang="en-US" sz="1900" dirty="0"/>
          </a:p>
        </p:txBody>
      </p:sp>
      <p:sp>
        <p:nvSpPr>
          <p:cNvPr id="7" name="Text 5"/>
          <p:cNvSpPr/>
          <p:nvPr/>
        </p:nvSpPr>
        <p:spPr>
          <a:xfrm>
            <a:off x="548640" y="3291840"/>
            <a:ext cx="11091672" cy="1005840"/>
          </a:xfrm>
          <a:prstGeom prst="rect">
            <a:avLst/>
          </a:prstGeom>
          <a:noFill/>
          <a:ln/>
        </p:spPr>
        <p:txBody>
          <a:bodyPr wrap="square" rtlCol="0" anchor="t"/>
          <a:lstStyle/>
          <a:p>
            <a:pPr indent="0" marL="0">
              <a:buNone/>
            </a:pPr>
            <a:r>
              <a:rPr lang="en-US" sz="1800" dirty="0">
                <a:solidFill>
                  <a:srgbClr val="757575"/>
                </a:solidFill>
                <a:latin typeface="Arial" pitchFamily="34" charset="0"/>
                <a:ea typeface="Arial" pitchFamily="34" charset="-122"/>
                <a:cs typeface="Arial" pitchFamily="34" charset="-120"/>
              </a:rPr>
              <a:t>Actuator trae también otros endpoints útiles, como /actuator/info (metadatos de la aplicación) o /actuator/metrics (métricas de rendimiento) — no vas a profundizar en ellos ahora, pero conviene que sepas que existen.</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Ideas clave</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Text 3"/>
          <p:cNvSpPr/>
          <p:nvPr/>
        </p:nvSpPr>
        <p:spPr>
          <a:xfrm>
            <a:off x="548640" y="1920240"/>
            <a:ext cx="11091672" cy="3657600"/>
          </a:xfrm>
          <a:prstGeom prst="rect">
            <a:avLst/>
          </a:prstGeom>
          <a:noFill/>
          <a:ln/>
        </p:spPr>
        <p:txBody>
          <a:bodyPr wrap="square" rtlCol="0" anchor="t"/>
          <a:lstStyle/>
          <a:p>
            <a:pPr marL="190500" indent="-190500">
              <a:spcAft>
                <a:spcPts val="2200"/>
              </a:spcAft>
              <a:buSzPct val="100000"/>
              <a:buChar char="•"/>
            </a:pPr>
            <a:r>
              <a:rPr lang="en-US" sz="1950" dirty="0">
                <a:solidFill>
                  <a:srgbClr val="212121"/>
                </a:solidFill>
                <a:latin typeface="Arial" pitchFamily="34" charset="0"/>
                <a:ea typeface="Arial" pitchFamily="34" charset="-122"/>
                <a:cs typeface="Arial" pitchFamily="34" charset="-120"/>
              </a:rPr>
              <a:t>Cada petición HTTP la atiende un hilo distinto del pool de Tomcat — por eso dos peticiones lentas simultáneas no tardan el doble, sino aproximadamente lo mismo que una sola.</a:t>
            </a:r>
            <a:endParaRPr lang="en-US" sz="1950" dirty="0"/>
          </a:p>
          <a:p>
            <a:pPr marL="190500" indent="-190500">
              <a:spcAft>
                <a:spcPts val="2200"/>
              </a:spcAft>
              <a:buSzPct val="100000"/>
              <a:buChar char="•"/>
            </a:pPr>
            <a:r>
              <a:rPr lang="en-US" sz="1950" dirty="0">
                <a:solidFill>
                  <a:srgbClr val="212121"/>
                </a:solidFill>
                <a:latin typeface="Arial" pitchFamily="34" charset="0"/>
                <a:ea typeface="Arial" pitchFamily="34" charset="-122"/>
                <a:cs typeface="Arial" pitchFamily="34" charset="-120"/>
              </a:rPr>
              <a:t>La disponibilidad de un servicio tiene varios niveles: proceso vivo, responde peticiones, dependencias funcionando — no son lo mismo.</a:t>
            </a:r>
            <a:endParaRPr lang="en-US" sz="1950" dirty="0"/>
          </a:p>
          <a:p>
            <a:pPr marL="190500" indent="-190500">
              <a:buSzPct val="100000"/>
              <a:buChar char="•"/>
            </a:pPr>
            <a:r>
              <a:rPr lang="en-US" sz="1950" dirty="0">
                <a:solidFill>
                  <a:srgbClr val="212121"/>
                </a:solidFill>
                <a:latin typeface="Arial" pitchFamily="34" charset="0"/>
                <a:ea typeface="Arial" pitchFamily="34" charset="-122"/>
                <a:cs typeface="Arial" pitchFamily="34" charset="-120"/>
              </a:rPr>
              <a:t>Un health check es una comprobación automática, pensada para que la consulte una máquina (un programa de monitorización, un sistema de despliegue, el propio CI), no una persona.</a:t>
            </a:r>
            <a:endParaRPr lang="en-US" sz="1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sp>
      <p:sp>
        <p:nvSpPr>
          <p:cNvPr id="3" name="Text 1"/>
          <p:cNvSpPr/>
          <p:nvPr/>
        </p:nvSpPr>
        <p:spPr>
          <a:xfrm>
            <a:off x="365760" y="0"/>
            <a:ext cx="11457432" cy="77724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Ideas clave (cont.)</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algn="r" indent="0" marL="0">
              <a:buNone/>
            </a:pPr>
            <a:r>
              <a:rPr lang="en-US" sz="1100" dirty="0">
                <a:solidFill>
                  <a:srgbClr val="757575"/>
                </a:solidFill>
                <a:latin typeface="Arial" pitchFamily="34" charset="0"/>
                <a:ea typeface="Arial" pitchFamily="34" charset="-122"/>
                <a:cs typeface="Arial" pitchFamily="34" charset="-120"/>
              </a:rPr>
              <a:t>Programación de Servicios y Procesos — Tema 1: Comunicación simultánea y disponibilidad</a:t>
            </a:r>
            <a:endParaRPr lang="en-US" sz="1100" dirty="0"/>
          </a:p>
        </p:txBody>
      </p:sp>
      <p:sp>
        <p:nvSpPr>
          <p:cNvPr id="5" name="Text 3"/>
          <p:cNvSpPr/>
          <p:nvPr/>
        </p:nvSpPr>
        <p:spPr>
          <a:xfrm>
            <a:off x="548640" y="1920240"/>
            <a:ext cx="11091672" cy="3657600"/>
          </a:xfrm>
          <a:prstGeom prst="rect">
            <a:avLst/>
          </a:prstGeom>
          <a:noFill/>
          <a:ln/>
        </p:spPr>
        <p:txBody>
          <a:bodyPr wrap="square" rtlCol="0" anchor="t"/>
          <a:lstStyle/>
          <a:p>
            <a:pPr marL="190500" indent="-190500">
              <a:spcAft>
                <a:spcPts val="2200"/>
              </a:spcAft>
              <a:buSzPct val="100000"/>
              <a:buChar char="•"/>
            </a:pPr>
            <a:r>
              <a:rPr lang="en-US" sz="1900" dirty="0">
                <a:solidFill>
                  <a:srgbClr val="212121"/>
                </a:solidFill>
                <a:latin typeface="Arial" pitchFamily="34" charset="0"/>
                <a:ea typeface="Arial" pitchFamily="34" charset="-122"/>
                <a:cs typeface="Arial" pitchFamily="34" charset="-120"/>
              </a:rPr>
              <a:t>Spring Boot Actuator expone /actuator/health con la dependencia spring-boot-starter-actuator; management.endpoint.health.show-details: always, durante el desarrollo, permite ver el detalle de los componentes comprobados por Actuator.</a:t>
            </a:r>
            <a:endParaRPr lang="en-US" sz="1900" dirty="0"/>
          </a:p>
          <a:p>
            <a:pPr marL="190500" indent="-190500">
              <a:spcAft>
                <a:spcPts val="2200"/>
              </a:spcAft>
              <a:buSzPct val="100000"/>
              <a:buChar char="•"/>
            </a:pPr>
            <a:r>
              <a:rPr lang="en-US" sz="1900" dirty="0">
                <a:solidFill>
                  <a:srgbClr val="212121"/>
                </a:solidFill>
                <a:latin typeface="Arial" pitchFamily="34" charset="0"/>
                <a:ea typeface="Arial" pitchFamily="34" charset="-122"/>
                <a:cs typeface="Arial" pitchFamily="34" charset="-120"/>
              </a:rPr>
              <a:t>/actuator/health agrega el estado de cada dependencia real (PostgreSQL, MongoDB...) — si una cae, el estado general pasa a DOWN aunque el resto siga funcionando.</a:t>
            </a:r>
            <a:endParaRPr lang="en-US" sz="1900" dirty="0"/>
          </a:p>
          <a:p>
            <a:pPr marL="190500" indent="-190500">
              <a:buSzPct val="100000"/>
              <a:buChar char="•"/>
            </a:pPr>
            <a:r>
              <a:rPr lang="en-US" sz="1900" dirty="0">
                <a:solidFill>
                  <a:srgbClr val="212121"/>
                </a:solidFill>
                <a:latin typeface="Arial" pitchFamily="34" charset="0"/>
                <a:ea typeface="Arial" pitchFamily="34" charset="-122"/>
                <a:cs typeface="Arial" pitchFamily="34" charset="-120"/>
              </a:rPr>
              <a:t>Los endpoints de Actuator no aparecen en Swagger UI: springdoc solo escanea tus propios @RestController, no el mecanismo aparte que usa Actuator.</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Comunicación simultánea y disponibilidad del servicio</dc:title>
  <dc:subject>PptxGenJS Presentation</dc:subject>
  <dc:creator>Programación de Servicios y Procesos</dc:creator>
  <cp:lastModifiedBy>Programación de Servicios y Procesos</cp:lastModifiedBy>
  <cp:revision>1</cp:revision>
  <dcterms:created xsi:type="dcterms:W3CDTF">2026-08-06T21:05:23Z</dcterms:created>
  <dcterms:modified xsi:type="dcterms:W3CDTF">2026-08-06T21:05:23Z</dcterms:modified>
</cp:coreProperties>
</file>