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84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3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6100" y="469900"/>
            <a:ext cx="863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DC3BE"/>
                </a:solidFill>
                <a:latin typeface="Arial"/>
              </a:rPr>
              <a:t>PROGRAMACIÓN DE SERVICIOS Y PROCESOS  —  TEMA 1: GENERACIÓN DE SERVICIOS EN 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841500"/>
            <a:ext cx="5969000" cy="184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Comunicación simultánea
y disponibilidad
del servicio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51400"/>
            <a:ext cx="12192000" cy="8890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6100" y="5181600"/>
            <a:ext cx="10414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Arial"/>
              </a:rPr>
              <a:t>4. Comunicación simultánea y disponibilidad del servicio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98500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8300" y="177800"/>
            <a:ext cx="1143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Objetivo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0" y="6438900"/>
            <a:ext cx="584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87878"/>
                </a:solidFill>
                <a:latin typeface="Arial"/>
              </a:rPr>
              <a:t>Programación de Servicios y Procesos — Tema 1: Comunicación simultánea y disponibilidad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0" y="1104900"/>
            <a:ext cx="9525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41414"/>
                </a:solidFill>
                <a:latin typeface="Arial"/>
              </a:rPr>
              <a:t>Cerramos el tema mirando el servicio desde dos perspectivas distintas.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3100" y="1943100"/>
            <a:ext cx="4889500" cy="2082800"/>
          </a:xfrm>
          <a:prstGeom prst="roundRect">
            <a:avLst/>
          </a:prstGeom>
          <a:solidFill>
            <a:srgbClr val="E0EFFB"/>
          </a:solidFill>
          <a:ln w="15240">
            <a:solidFill>
              <a:srgbClr val="7EB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6800" y="1943100"/>
            <a:ext cx="4889500" cy="2082800"/>
          </a:xfrm>
          <a:prstGeom prst="roundRect">
            <a:avLst/>
          </a:prstGeom>
          <a:solidFill>
            <a:srgbClr val="E6F4E4"/>
          </a:solidFill>
          <a:ln w="15240">
            <a:solidFill>
              <a:srgbClr val="91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5200" y="2209800"/>
            <a:ext cx="355600" cy="355600"/>
          </a:xfrm>
          <a:prstGeom prst="roundRect">
            <a:avLst/>
          </a:prstGeom>
          <a:solidFill>
            <a:srgbClr val="20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5200" y="2247900"/>
            <a:ext cx="3556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1600" y="2209800"/>
            <a:ext cx="355600" cy="355600"/>
          </a:xfrm>
          <a:prstGeom prst="roundRect">
            <a:avLst/>
          </a:prstGeom>
          <a:solidFill>
            <a:srgbClr val="308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1600" y="2247900"/>
            <a:ext cx="3556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9700" y="2171700"/>
            <a:ext cx="228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  <a:latin typeface="Arial"/>
              </a:rPr>
              <a:t>Concurrencia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6100" y="2171700"/>
            <a:ext cx="228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  <a:latin typeface="Arial"/>
              </a:rPr>
              <a:t>Disponibilidad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768600"/>
            <a:ext cx="4191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141414"/>
                </a:solidFill>
                <a:latin typeface="Arial"/>
              </a:rPr>
              <a:t>¿</a:t>
            </a:r>
            <a:r>
              <a:rPr sz="1800" b="0" i="0" dirty="0" err="1">
                <a:solidFill>
                  <a:srgbClr val="141414"/>
                </a:solidFill>
                <a:latin typeface="Arial"/>
              </a:rPr>
              <a:t>Puede</a:t>
            </a:r>
            <a:r>
              <a:rPr sz="1800" b="0" i="0" dirty="0">
                <a:solidFill>
                  <a:srgbClr val="141414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141414"/>
                </a:solidFill>
                <a:latin typeface="Arial"/>
              </a:rPr>
              <a:t>atender</a:t>
            </a:r>
            <a:r>
              <a:rPr sz="1800" b="0" i="0" dirty="0">
                <a:solidFill>
                  <a:srgbClr val="141414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141414"/>
                </a:solidFill>
                <a:latin typeface="Arial"/>
              </a:rPr>
              <a:t>varias</a:t>
            </a:r>
            <a:r>
              <a:rPr sz="1800" b="0" i="0" dirty="0">
                <a:solidFill>
                  <a:srgbClr val="141414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141414"/>
                </a:solidFill>
                <a:latin typeface="Arial"/>
              </a:rPr>
              <a:t>peticiones</a:t>
            </a:r>
            <a:r>
              <a:rPr sz="1800" b="0" i="0" dirty="0">
                <a:solidFill>
                  <a:srgbClr val="141414"/>
                </a:solidFill>
                <a:latin typeface="Arial"/>
              </a:rPr>
              <a:t> a la </a:t>
            </a:r>
            <a:r>
              <a:rPr sz="1800" b="0" i="0" dirty="0" err="1">
                <a:solidFill>
                  <a:srgbClr val="141414"/>
                </a:solidFill>
                <a:latin typeface="Arial"/>
              </a:rPr>
              <a:t>vez</a:t>
            </a:r>
            <a:r>
              <a:rPr sz="1800" b="0" i="0" dirty="0">
                <a:solidFill>
                  <a:srgbClr val="141414"/>
                </a:solidFill>
                <a:latin typeface="Arial"/>
              </a:rPr>
              <a:t>
sin </a:t>
            </a:r>
            <a:r>
              <a:rPr sz="1800" b="0" i="0" dirty="0" err="1">
                <a:solidFill>
                  <a:srgbClr val="141414"/>
                </a:solidFill>
                <a:latin typeface="Arial"/>
              </a:rPr>
              <a:t>procesarlas</a:t>
            </a:r>
            <a:r>
              <a:rPr sz="1800" b="0" i="0" dirty="0">
                <a:solidFill>
                  <a:srgbClr val="141414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141414"/>
                </a:solidFill>
                <a:latin typeface="Arial"/>
              </a:rPr>
              <a:t>necesariamente</a:t>
            </a:r>
            <a:r>
              <a:rPr sz="1800" b="0" i="0" dirty="0">
                <a:solidFill>
                  <a:srgbClr val="141414"/>
                </a:solidFill>
                <a:latin typeface="Arial"/>
              </a:rPr>
              <a:t> de forma
</a:t>
            </a:r>
            <a:r>
              <a:rPr sz="1800" b="0" i="0" dirty="0" err="1">
                <a:solidFill>
                  <a:srgbClr val="141414"/>
                </a:solidFill>
                <a:latin typeface="Arial"/>
              </a:rPr>
              <a:t>secuencial</a:t>
            </a:r>
            <a:r>
              <a:rPr sz="1800" b="0" i="0" dirty="0">
                <a:solidFill>
                  <a:srgbClr val="141414"/>
                </a:solidFill>
                <a:latin typeface="Arial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768600"/>
            <a:ext cx="4064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141414"/>
                </a:solidFill>
                <a:latin typeface="Arial"/>
              </a:rPr>
              <a:t>¿</a:t>
            </a:r>
            <a:r>
              <a:rPr sz="1800" b="0" i="0" dirty="0" err="1">
                <a:solidFill>
                  <a:srgbClr val="141414"/>
                </a:solidFill>
                <a:latin typeface="Arial"/>
              </a:rPr>
              <a:t>Cómo</a:t>
            </a:r>
            <a:r>
              <a:rPr sz="1800" b="0" i="0" dirty="0">
                <a:solidFill>
                  <a:srgbClr val="141414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141414"/>
                </a:solidFill>
                <a:latin typeface="Arial"/>
              </a:rPr>
              <a:t>sabemos</a:t>
            </a:r>
            <a:r>
              <a:rPr sz="1800" b="0" i="0" dirty="0">
                <a:solidFill>
                  <a:srgbClr val="141414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141414"/>
                </a:solidFill>
                <a:latin typeface="Arial"/>
              </a:rPr>
              <a:t>automáticamente</a:t>
            </a:r>
            <a:r>
              <a:rPr sz="1800" b="0" i="0" dirty="0">
                <a:solidFill>
                  <a:srgbClr val="141414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141414"/>
                </a:solidFill>
                <a:latin typeface="Arial"/>
              </a:rPr>
              <a:t>si</a:t>
            </a:r>
            <a:r>
              <a:rPr sz="1800" b="0" i="0" dirty="0">
                <a:solidFill>
                  <a:srgbClr val="141414"/>
                </a:solidFill>
                <a:latin typeface="Arial"/>
              </a:rPr>
              <a:t> la
</a:t>
            </a:r>
            <a:r>
              <a:rPr sz="1800" b="0" i="0" dirty="0" err="1">
                <a:solidFill>
                  <a:srgbClr val="141414"/>
                </a:solidFill>
                <a:latin typeface="Arial"/>
              </a:rPr>
              <a:t>aplicación</a:t>
            </a:r>
            <a:r>
              <a:rPr sz="1800" b="0" i="0" dirty="0">
                <a:solidFill>
                  <a:srgbClr val="141414"/>
                </a:solidFill>
                <a:latin typeface="Arial"/>
              </a:rPr>
              <a:t> y sus </a:t>
            </a:r>
            <a:r>
              <a:rPr sz="1800" b="0" i="0" dirty="0" err="1">
                <a:solidFill>
                  <a:srgbClr val="141414"/>
                </a:solidFill>
                <a:latin typeface="Arial"/>
              </a:rPr>
              <a:t>dependencias</a:t>
            </a:r>
            <a:r>
              <a:rPr sz="1800" b="0" i="0" dirty="0">
                <a:solidFill>
                  <a:srgbClr val="141414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141414"/>
                </a:solidFill>
                <a:latin typeface="Arial"/>
              </a:rPr>
              <a:t>siguen</a:t>
            </a:r>
            <a:r>
              <a:rPr sz="1800" b="0" i="0" dirty="0">
                <a:solidFill>
                  <a:srgbClr val="141414"/>
                </a:solidFill>
                <a:latin typeface="Arial"/>
              </a:rPr>
              <a:t>
</a:t>
            </a:r>
            <a:r>
              <a:rPr sz="1800" b="0" i="0" dirty="0" err="1">
                <a:solidFill>
                  <a:srgbClr val="141414"/>
                </a:solidFill>
                <a:latin typeface="Arial"/>
              </a:rPr>
              <a:t>realmente</a:t>
            </a:r>
            <a:r>
              <a:rPr sz="1800" b="0" i="0" dirty="0">
                <a:solidFill>
                  <a:srgbClr val="141414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141414"/>
                </a:solidFill>
                <a:latin typeface="Arial"/>
              </a:rPr>
              <a:t>sanas</a:t>
            </a:r>
            <a:r>
              <a:rPr sz="1800" b="0" i="0" dirty="0">
                <a:solidFill>
                  <a:srgbClr val="141414"/>
                </a:solidFill>
                <a:latin typeface="Arial"/>
              </a:rP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81200" y="4927600"/>
            <a:ext cx="8318500" cy="711200"/>
          </a:xfrm>
          <a:prstGeom prst="roundRect">
            <a:avLst/>
          </a:prstGeom>
          <a:solidFill>
            <a:srgbClr val="FFF5E0"/>
          </a:solidFill>
          <a:ln w="12700">
            <a:solidFill>
              <a:srgbClr val="EEB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32000" y="5017929"/>
            <a:ext cx="820420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dirty="0">
                <a:solidFill>
                  <a:srgbClr val="141414"/>
                </a:solidFill>
                <a:latin typeface="Arial"/>
              </a:rPr>
              <a:t>Idea clave: Una </a:t>
            </a:r>
            <a:r>
              <a:rPr sz="1600" b="1" i="0" dirty="0" err="1">
                <a:solidFill>
                  <a:srgbClr val="141414"/>
                </a:solidFill>
                <a:latin typeface="Arial"/>
              </a:rPr>
              <a:t>petición</a:t>
            </a:r>
            <a:r>
              <a:rPr sz="1600" b="1" i="0" dirty="0">
                <a:solidFill>
                  <a:srgbClr val="141414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141414"/>
                </a:solidFill>
                <a:latin typeface="Arial"/>
              </a:rPr>
              <a:t>correcta</a:t>
            </a:r>
            <a:r>
              <a:rPr sz="1600" b="1" i="0" dirty="0">
                <a:solidFill>
                  <a:srgbClr val="141414"/>
                </a:solidFill>
                <a:latin typeface="Arial"/>
              </a:rPr>
              <a:t> no basta para </a:t>
            </a:r>
            <a:r>
              <a:rPr sz="1600" b="1" i="0" dirty="0" err="1">
                <a:solidFill>
                  <a:srgbClr val="141414"/>
                </a:solidFill>
                <a:latin typeface="Arial"/>
              </a:rPr>
              <a:t>describir</a:t>
            </a:r>
            <a:r>
              <a:rPr sz="1600" b="1" i="0" dirty="0">
                <a:solidFill>
                  <a:srgbClr val="141414"/>
                </a:solidFill>
                <a:latin typeface="Arial"/>
              </a:rPr>
              <a:t> el </a:t>
            </a:r>
            <a:r>
              <a:rPr sz="1600" b="1" i="0" dirty="0" err="1">
                <a:solidFill>
                  <a:srgbClr val="141414"/>
                </a:solidFill>
                <a:latin typeface="Arial"/>
              </a:rPr>
              <a:t>comportamiento</a:t>
            </a:r>
            <a:r>
              <a:rPr sz="1600" b="1" i="0" dirty="0">
                <a:solidFill>
                  <a:srgbClr val="141414"/>
                </a:solidFill>
                <a:latin typeface="Arial"/>
              </a:rPr>
              <a:t>
</a:t>
            </a:r>
            <a:r>
              <a:rPr sz="1600" b="1" i="0" dirty="0" err="1">
                <a:solidFill>
                  <a:srgbClr val="141414"/>
                </a:solidFill>
                <a:latin typeface="Arial"/>
              </a:rPr>
              <a:t>operativo</a:t>
            </a:r>
            <a:r>
              <a:rPr sz="1600" b="1" i="0" dirty="0">
                <a:solidFill>
                  <a:srgbClr val="141414"/>
                </a:solidFill>
                <a:latin typeface="Arial"/>
              </a:rPr>
              <a:t> del </a:t>
            </a:r>
            <a:r>
              <a:rPr sz="1600" b="1" i="0" dirty="0" err="1">
                <a:solidFill>
                  <a:srgbClr val="141414"/>
                </a:solidFill>
                <a:latin typeface="Arial"/>
              </a:rPr>
              <a:t>servicio</a:t>
            </a:r>
            <a:r>
              <a:rPr sz="1600" b="1" i="0" dirty="0">
                <a:solidFill>
                  <a:srgbClr val="141414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98500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8300" y="177800"/>
            <a:ext cx="1143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Concurrencia: varias peticiones a la vez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0" y="6438900"/>
            <a:ext cx="584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87878"/>
                </a:solidFill>
                <a:latin typeface="Arial"/>
              </a:rPr>
              <a:t>Programación de Servicios y Procesos — Tema 1: Comunicación simultánea y disponibilidad</a:t>
            </a:r>
          </a:p>
        </p:txBody>
      </p:sp>
      <p:pic>
        <p:nvPicPr>
          <p:cNvPr id="5" name="Picture 4" descr="cómo_tomcat_gestiona_peticiones_concurr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825500"/>
            <a:ext cx="7162800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98500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8300" y="177800"/>
            <a:ext cx="1143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Cómo lo vas a comprobar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0" y="6438900"/>
            <a:ext cx="584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87878"/>
                </a:solidFill>
                <a:latin typeface="Arial"/>
              </a:rPr>
              <a:t>Programación de Servicios y Procesos — Tema 1: Comunicación simultánea y disponibilidad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900" y="1041400"/>
            <a:ext cx="104140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41414"/>
                </a:solidFill>
                <a:latin typeface="Arial"/>
              </a:rPr>
              <a:t>Simularemos una operación lenta de 2 segundos y lanzaremos dos peticiones simultáneas.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6900" y="1816100"/>
            <a:ext cx="1676400" cy="34290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6600" y="1892300"/>
            <a:ext cx="142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1  Simular lentitud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64300" y="1816100"/>
            <a:ext cx="1676400" cy="34290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4000" y="1892300"/>
            <a:ext cx="142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2  Lanzar a la vez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900" y="2273300"/>
            <a:ext cx="5130800" cy="1016000"/>
          </a:xfrm>
          <a:prstGeom prst="rect">
            <a:avLst/>
          </a:prstGeom>
          <a:solidFill>
            <a:srgbClr val="F6F7F9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11300" y="2628900"/>
            <a:ext cx="3302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141414"/>
                </a:solidFill>
                <a:latin typeface="Consolas"/>
              </a:rPr>
              <a:t>Thread.sleep(2000);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4300" y="2273300"/>
            <a:ext cx="5118100" cy="1016000"/>
          </a:xfrm>
          <a:prstGeom prst="rect">
            <a:avLst/>
          </a:prstGeom>
          <a:solidFill>
            <a:srgbClr val="F6F7F9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30202" y="2493128"/>
            <a:ext cx="48895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141414"/>
                </a:solidFill>
                <a:latin typeface="Consolas"/>
              </a:rPr>
              <a:t>time (curl -s http://localhost:8080/api/v1/libros/top &amp; \
      curl -s http://localhost:8080/api/v1/libros/top &amp; \
      wait)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900" y="3746500"/>
            <a:ext cx="5130800" cy="927100"/>
          </a:xfrm>
          <a:prstGeom prst="roundRect">
            <a:avLst/>
          </a:prstGeom>
          <a:solidFill>
            <a:srgbClr val="FBE8EA"/>
          </a:solidFill>
          <a:ln w="15240">
            <a:solidFill>
              <a:srgbClr val="EB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78000" y="3873500"/>
            <a:ext cx="27940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BE3A3A"/>
                </a:solidFill>
                <a:latin typeface="Arial"/>
              </a:rPr>
              <a:t>Secuencial
≈ 4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4300" y="3746500"/>
            <a:ext cx="5118100" cy="927100"/>
          </a:xfrm>
          <a:prstGeom prst="roundRect">
            <a:avLst/>
          </a:prstGeom>
          <a:solidFill>
            <a:srgbClr val="E6F4E4"/>
          </a:solidFill>
          <a:ln w="15240">
            <a:solidFill>
              <a:srgbClr val="91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7000" y="3873500"/>
            <a:ext cx="26035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308736"/>
                </a:solidFill>
                <a:latin typeface="Arial"/>
              </a:rPr>
              <a:t>Concurrente
≈ 2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24000" y="5003800"/>
            <a:ext cx="9144000" cy="850900"/>
          </a:xfrm>
          <a:prstGeom prst="roundRect">
            <a:avLst/>
          </a:prstGeom>
          <a:solidFill>
            <a:srgbClr val="E0EFFB"/>
          </a:solidFill>
          <a:ln w="12700">
            <a:solidFill>
              <a:srgbClr val="7EB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78000" y="5130800"/>
            <a:ext cx="86360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141414"/>
                </a:solidFill>
                <a:latin typeface="Arial"/>
              </a:rPr>
              <a:t>Compruébalo en el log con Thread.currentThread().getName(): deberían aparecer hilos como
http-nio-8080-exec-1 y exec-2.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98500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8300" y="177800"/>
            <a:ext cx="1143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Disponibilidad: no basta con que el proceso exista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0" y="6438900"/>
            <a:ext cx="584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87878"/>
                </a:solidFill>
                <a:latin typeface="Arial"/>
              </a:rPr>
              <a:t>Programación de Servicios y Procesos — Tema 1: Comunicación simultánea y disponibilidad</a:t>
            </a:r>
          </a:p>
        </p:txBody>
      </p:sp>
      <p:pic>
        <p:nvPicPr>
          <p:cNvPr id="5" name="Picture 4" descr="infografía_sobre_disponibilidad_de_servic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987" y="825500"/>
            <a:ext cx="9545325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98500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8300" y="177800"/>
            <a:ext cx="1143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Spring Boot Actuator: añadir la comprobación de salud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0" y="6438900"/>
            <a:ext cx="584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87878"/>
                </a:solidFill>
                <a:latin typeface="Arial"/>
              </a:rPr>
              <a:t>Programación de Servicios y Procesos — Tema 1: Comunicación simultánea y disponibilidad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3100" y="1155700"/>
            <a:ext cx="5168900" cy="4406900"/>
          </a:xfrm>
          <a:prstGeom prst="roundRect">
            <a:avLst/>
          </a:prstGeom>
          <a:solidFill>
            <a:srgbClr val="FFF5E0"/>
          </a:solidFill>
          <a:ln w="16510">
            <a:solidFill>
              <a:srgbClr val="EEB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0000" y="1155700"/>
            <a:ext cx="5168900" cy="4406900"/>
          </a:xfrm>
          <a:prstGeom prst="roundRect">
            <a:avLst/>
          </a:prstGeom>
          <a:solidFill>
            <a:srgbClr val="E0EFFB"/>
          </a:solidFill>
          <a:ln w="16510">
            <a:solidFill>
              <a:srgbClr val="7EB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27100" y="1371600"/>
            <a:ext cx="1828800" cy="35560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2200" y="14605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Dependencia Maven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04000" y="1371600"/>
            <a:ext cx="1993900" cy="355600"/>
          </a:xfrm>
          <a:prstGeom prst="roundRect">
            <a:avLst/>
          </a:prstGeom>
          <a:solidFill>
            <a:srgbClr val="20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94500" y="1460500"/>
            <a:ext cx="16129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Detalles en desarrollo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2500" y="2044700"/>
            <a:ext cx="459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2209800"/>
            <a:ext cx="425450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141414"/>
                </a:solidFill>
                <a:latin typeface="Courier New"/>
              </a:rPr>
              <a:t>&lt;dependency&gt;
    &lt;</a:t>
            </a:r>
            <a:r>
              <a:rPr sz="1050" b="0" i="0" dirty="0" err="1">
                <a:solidFill>
                  <a:srgbClr val="141414"/>
                </a:solidFill>
                <a:latin typeface="Courier New"/>
              </a:rPr>
              <a:t>groupId</a:t>
            </a:r>
            <a:r>
              <a:rPr sz="1050" b="0" i="0" dirty="0">
                <a:solidFill>
                  <a:srgbClr val="141414"/>
                </a:solidFill>
                <a:latin typeface="Courier New"/>
              </a:rPr>
              <a:t>&gt;</a:t>
            </a:r>
            <a:r>
              <a:rPr sz="1050" b="0" i="0" dirty="0" err="1">
                <a:solidFill>
                  <a:srgbClr val="141414"/>
                </a:solidFill>
                <a:latin typeface="Courier New"/>
              </a:rPr>
              <a:t>org.springframework.boot</a:t>
            </a:r>
            <a:r>
              <a:rPr sz="1050" b="0" i="0" dirty="0">
                <a:solidFill>
                  <a:srgbClr val="141414"/>
                </a:solidFill>
                <a:latin typeface="Courier New"/>
              </a:rPr>
              <a:t>&lt;/</a:t>
            </a:r>
            <a:r>
              <a:rPr sz="1050" b="0" i="0" dirty="0" err="1">
                <a:solidFill>
                  <a:srgbClr val="141414"/>
                </a:solidFill>
                <a:latin typeface="Courier New"/>
              </a:rPr>
              <a:t>groupId</a:t>
            </a:r>
            <a:r>
              <a:rPr sz="1050" b="0" i="0" dirty="0">
                <a:solidFill>
                  <a:srgbClr val="141414"/>
                </a:solidFill>
                <a:latin typeface="Courier New"/>
              </a:rPr>
              <a:t>&gt;
    &lt;</a:t>
            </a:r>
            <a:r>
              <a:rPr sz="1050" b="0" i="0" dirty="0" err="1">
                <a:solidFill>
                  <a:srgbClr val="141414"/>
                </a:solidFill>
                <a:latin typeface="Courier New"/>
              </a:rPr>
              <a:t>artifactId</a:t>
            </a:r>
            <a:r>
              <a:rPr sz="1050" b="0" i="0" dirty="0">
                <a:solidFill>
                  <a:srgbClr val="141414"/>
                </a:solidFill>
                <a:latin typeface="Courier New"/>
              </a:rPr>
              <a:t>&gt;spring-boot-starter-actuator&lt;/</a:t>
            </a:r>
            <a:r>
              <a:rPr sz="1050" b="0" i="0" dirty="0" err="1">
                <a:solidFill>
                  <a:srgbClr val="141414"/>
                </a:solidFill>
                <a:latin typeface="Courier New"/>
              </a:rPr>
              <a:t>artifactId</a:t>
            </a:r>
            <a:r>
              <a:rPr sz="1050" b="0" i="0" dirty="0">
                <a:solidFill>
                  <a:srgbClr val="141414"/>
                </a:solidFill>
                <a:latin typeface="Courier New"/>
              </a:rPr>
              <a:t>&gt;
&lt;/dependency&gt;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2044700"/>
            <a:ext cx="459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8800" y="2209800"/>
            <a:ext cx="3937000" cy="88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41414"/>
                </a:solidFill>
                <a:latin typeface="Courier New"/>
              </a:rPr>
              <a:t>management:
  endpoint:
    health:
      show-details: always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517900"/>
            <a:ext cx="41656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141414"/>
                </a:solidFill>
                <a:latin typeface="Arial"/>
              </a:rPr>
              <a:t>Con solo esta dependencia, Spring Boot expone
automáticamente: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2000" y="4279900"/>
            <a:ext cx="2387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141414"/>
                </a:solidFill>
                <a:latin typeface="Arial"/>
              </a:rPr>
              <a:t>/actuator/health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8800" y="3543300"/>
            <a:ext cx="40259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141414"/>
                </a:solidFill>
                <a:latin typeface="Arial"/>
              </a:rPr>
              <a:t>⚠  show-details: always expone información
interna.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4500" y="4254500"/>
            <a:ext cx="42418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141414"/>
                </a:solidFill>
                <a:latin typeface="Arial"/>
              </a:rPr>
              <a:t>Úsalo en local; en producción suele ocultarse o
restringirse.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98500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8300" y="177800"/>
            <a:ext cx="1143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Cómo /actuator/health agrega el estado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0" y="6438900"/>
            <a:ext cx="584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87878"/>
                </a:solidFill>
                <a:latin typeface="Arial"/>
              </a:rPr>
              <a:t>Programación de Servicios y Procesos — Tema 1: Comunicación simultánea y disponibilidad</a:t>
            </a:r>
          </a:p>
        </p:txBody>
      </p:sp>
      <p:pic>
        <p:nvPicPr>
          <p:cNvPr id="5" name="Picture 4" descr="infografía_del_chequeo_de_salud_con_actu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421" y="812800"/>
            <a:ext cx="9590456" cy="539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98500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8300" y="177800"/>
            <a:ext cx="1143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Leer la respuesta de /actuator/health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0" y="6438900"/>
            <a:ext cx="584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87878"/>
                </a:solidFill>
                <a:latin typeface="Arial"/>
              </a:rPr>
              <a:t>Programación de Servicios y Procesos — Tema 1: Comunicación simultánea y disponibilidad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5207000" cy="3937000"/>
          </a:xfrm>
          <a:prstGeom prst="rect">
            <a:avLst/>
          </a:prstGeom>
          <a:solidFill>
            <a:srgbClr val="27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5500" y="2095500"/>
            <a:ext cx="4826000" cy="20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DCDCDC"/>
                </a:solidFill>
                <a:latin typeface="Courier New"/>
              </a:rPr>
              <a:t>{
  "status": "UP",
  "components": {
    "db": { "status": "UP" },
    "mongo": { "status": "UP" }
  }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0000" y="1219200"/>
            <a:ext cx="5016500" cy="1346200"/>
          </a:xfrm>
          <a:prstGeom prst="roundRect">
            <a:avLst/>
          </a:prstGeom>
          <a:solidFill>
            <a:srgbClr val="E6F4E4"/>
          </a:solidFill>
          <a:ln w="15240">
            <a:solidFill>
              <a:srgbClr val="91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7500" y="1422400"/>
            <a:ext cx="4381500" cy="952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308736"/>
                </a:solidFill>
                <a:latin typeface="Arial"/>
              </a:rPr>
              <a:t>UP
Aplicación y componentes comprobados
disponibles.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0000" y="2844800"/>
            <a:ext cx="5016500" cy="1346200"/>
          </a:xfrm>
          <a:prstGeom prst="roundRect">
            <a:avLst/>
          </a:prstGeom>
          <a:solidFill>
            <a:srgbClr val="FBE8EA"/>
          </a:solidFill>
          <a:ln w="15240">
            <a:solidFill>
              <a:srgbClr val="EB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67500" y="3048000"/>
            <a:ext cx="4381500" cy="952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BE3A3A"/>
                </a:solidFill>
                <a:latin typeface="Arial"/>
              </a:rPr>
              <a:t>DOWN
Una dependencia puede hacer caer el
estado agregado.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0000" y="4470400"/>
            <a:ext cx="5016500" cy="1168400"/>
          </a:xfrm>
          <a:prstGeom prst="roundRect">
            <a:avLst/>
          </a:prstGeom>
          <a:solidFill>
            <a:srgbClr val="FFF5E0"/>
          </a:solidFill>
          <a:ln w="15240">
            <a:solidFill>
              <a:srgbClr val="EEB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67500" y="4597400"/>
            <a:ext cx="43815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41414"/>
                </a:solidFill>
                <a:latin typeface="Arial"/>
              </a:rPr>
              <a:t>Responder un endpoint concreto
≠
estar completamente sano.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98500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8300" y="177800"/>
            <a:ext cx="1143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Quién consulta /actuator/health y para qué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0" y="6438900"/>
            <a:ext cx="584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87878"/>
                </a:solidFill>
                <a:latin typeface="Arial"/>
              </a:rPr>
              <a:t>Programación de Servicios y Procesos — Tema 1: Comunicación simultánea y disponibilidad</a:t>
            </a:r>
          </a:p>
        </p:txBody>
      </p:sp>
      <p:pic>
        <p:nvPicPr>
          <p:cNvPr id="5" name="Picture 4" descr="infografía_sobre_actuator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121" y="812800"/>
            <a:ext cx="9590456" cy="539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98500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8300" y="177800"/>
            <a:ext cx="1143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Actuator: información operativa, no recursos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0" y="6438900"/>
            <a:ext cx="584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87878"/>
                </a:solidFill>
                <a:latin typeface="Arial"/>
              </a:rPr>
              <a:t>Programación de Servicios y Procesos — Tema 1: Comunicación simultánea y disponibilidad</a:t>
            </a:r>
          </a:p>
        </p:txBody>
      </p:sp>
      <p:pic>
        <p:nvPicPr>
          <p:cNvPr id="5" name="Picture 4" descr="infografía_de_endpoints_actuator_en_spring_b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337" y="825500"/>
            <a:ext cx="9545325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98500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8300" y="177800"/>
            <a:ext cx="1143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Actividad 1.4: comprobar concurrencia y disponibilidad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0" y="6438900"/>
            <a:ext cx="584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87878"/>
                </a:solidFill>
                <a:latin typeface="Arial"/>
              </a:rPr>
              <a:t>Programación de Servicios y Procesos — Tema 1: Comunicación simultánea y disponibilidad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98700" y="939800"/>
            <a:ext cx="7556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41414"/>
                </a:solidFill>
                <a:latin typeface="Arial"/>
              </a:rPr>
              <a:t>Dos pequeñas pruebas sobre el mismo servicio ya construido.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65300"/>
            <a:ext cx="4889500" cy="1384300"/>
          </a:xfrm>
          <a:prstGeom prst="roundRect">
            <a:avLst/>
          </a:prstGeom>
          <a:solidFill>
            <a:srgbClr val="E0EFFB"/>
          </a:solidFill>
          <a:ln w="15240">
            <a:solidFill>
              <a:srgbClr val="2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981200"/>
            <a:ext cx="355600" cy="355600"/>
          </a:xfrm>
          <a:prstGeom prst="roundRect">
            <a:avLst/>
          </a:prstGeom>
          <a:solidFill>
            <a:srgbClr val="20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32000"/>
            <a:ext cx="3556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1300" y="1968500"/>
            <a:ext cx="38481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  <a:latin typeface="Arial"/>
              </a:rPr>
              <a:t>Forzar una operación lenta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1300" y="2387600"/>
            <a:ext cx="38354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141414"/>
                </a:solidFill>
                <a:latin typeface="Arial"/>
              </a:rPr>
              <a:t>Añadir temporalmente Thread.sleep(2000) en el
método indicado.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400" y="1765300"/>
            <a:ext cx="4889500" cy="1384300"/>
          </a:xfrm>
          <a:prstGeom prst="roundRect">
            <a:avLst/>
          </a:prstGeom>
          <a:solidFill>
            <a:srgbClr val="E0EFFB"/>
          </a:solidFill>
          <a:ln w="15240">
            <a:solidFill>
              <a:srgbClr val="2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77000" y="1981200"/>
            <a:ext cx="355600" cy="355600"/>
          </a:xfrm>
          <a:prstGeom prst="roundRect">
            <a:avLst/>
          </a:prstGeom>
          <a:solidFill>
            <a:srgbClr val="20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7000" y="2032000"/>
            <a:ext cx="3556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3900" y="1968500"/>
            <a:ext cx="38481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  <a:latin typeface="Arial"/>
              </a:rPr>
              <a:t>Lanzar dos peticiones simultáneas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3900" y="2387600"/>
            <a:ext cx="38354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141414"/>
                </a:solidFill>
                <a:latin typeface="Arial"/>
              </a:rPr>
              <a:t>Medir el tiempo conjunto y contrastar ≈ 4 s frente a ≈ 2 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94100"/>
            <a:ext cx="4889500" cy="1384300"/>
          </a:xfrm>
          <a:prstGeom prst="roundRect">
            <a:avLst/>
          </a:prstGeom>
          <a:solidFill>
            <a:srgbClr val="E6F4E4"/>
          </a:solidFill>
          <a:ln w="15240">
            <a:solidFill>
              <a:srgbClr val="308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" y="3810000"/>
            <a:ext cx="355600" cy="355600"/>
          </a:xfrm>
          <a:prstGeom prst="roundRect">
            <a:avLst/>
          </a:prstGeom>
          <a:solidFill>
            <a:srgbClr val="308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860800"/>
            <a:ext cx="3556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1300" y="3797300"/>
            <a:ext cx="38481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  <a:latin typeface="Arial"/>
              </a:rPr>
              <a:t>Añadir Actuator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1300" y="4216400"/>
            <a:ext cx="38354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141414"/>
                </a:solidFill>
                <a:latin typeface="Arial"/>
              </a:rPr>
              <a:t>Incorporar la dependencia y activar los detalles de
health en desarrollo.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400" y="3594100"/>
            <a:ext cx="4889500" cy="1384300"/>
          </a:xfrm>
          <a:prstGeom prst="roundRect">
            <a:avLst/>
          </a:prstGeom>
          <a:solidFill>
            <a:srgbClr val="E6F4E4"/>
          </a:solidFill>
          <a:ln w="15240">
            <a:solidFill>
              <a:srgbClr val="308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77000" y="3810000"/>
            <a:ext cx="355600" cy="355600"/>
          </a:xfrm>
          <a:prstGeom prst="roundRect">
            <a:avLst/>
          </a:prstGeom>
          <a:solidFill>
            <a:srgbClr val="308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7000" y="3860800"/>
            <a:ext cx="3556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3900" y="3797300"/>
            <a:ext cx="38481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  <a:latin typeface="Arial"/>
              </a:rPr>
              <a:t>Provocar una dependencia 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3900" y="4216400"/>
            <a:ext cx="38354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141414"/>
                </a:solidFill>
                <a:latin typeface="Arial"/>
              </a:rPr>
              <a:t>Observar cómo cambia /actuator/health y localizar el
componente responsable.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027" y="5486400"/>
            <a:ext cx="9908273" cy="558800"/>
          </a:xfrm>
          <a:prstGeom prst="roundRect">
            <a:avLst/>
          </a:prstGeom>
          <a:solidFill>
            <a:srgbClr val="FFF5E0"/>
          </a:solidFill>
          <a:ln w="12700">
            <a:solidFill>
              <a:srgbClr val="EEB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11299" y="5638800"/>
            <a:ext cx="889360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dirty="0" err="1">
                <a:solidFill>
                  <a:srgbClr val="141414"/>
                </a:solidFill>
                <a:latin typeface="Arial"/>
              </a:rPr>
              <a:t>Evidencias</a:t>
            </a:r>
            <a:r>
              <a:rPr sz="1400" b="1" i="0" dirty="0">
                <a:solidFill>
                  <a:srgbClr val="141414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141414"/>
                </a:solidFill>
                <a:latin typeface="Arial"/>
              </a:rPr>
              <a:t>útiles</a:t>
            </a:r>
            <a:r>
              <a:rPr sz="1400" b="1" i="0" dirty="0">
                <a:solidFill>
                  <a:srgbClr val="141414"/>
                </a:solidFill>
                <a:latin typeface="Arial"/>
              </a:rPr>
              <a:t>: </a:t>
            </a:r>
            <a:r>
              <a:rPr sz="1400" b="1" i="0" dirty="0" err="1">
                <a:solidFill>
                  <a:srgbClr val="141414"/>
                </a:solidFill>
                <a:latin typeface="Arial"/>
              </a:rPr>
              <a:t>tiempo</a:t>
            </a:r>
            <a:r>
              <a:rPr sz="1400" b="1" i="0" dirty="0">
                <a:solidFill>
                  <a:srgbClr val="141414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141414"/>
                </a:solidFill>
                <a:latin typeface="Arial"/>
              </a:rPr>
              <a:t>medido</a:t>
            </a:r>
            <a:r>
              <a:rPr sz="1400" b="1" i="0" dirty="0">
                <a:solidFill>
                  <a:srgbClr val="141414"/>
                </a:solidFill>
                <a:latin typeface="Arial"/>
              </a:rPr>
              <a:t> + log de </a:t>
            </a:r>
            <a:r>
              <a:rPr sz="1400" b="1" i="0" dirty="0" err="1">
                <a:solidFill>
                  <a:srgbClr val="141414"/>
                </a:solidFill>
                <a:latin typeface="Arial"/>
              </a:rPr>
              <a:t>hilos</a:t>
            </a:r>
            <a:r>
              <a:rPr sz="1400" b="1" i="0" dirty="0">
                <a:solidFill>
                  <a:srgbClr val="141414"/>
                </a:solidFill>
                <a:latin typeface="Arial"/>
              </a:rPr>
              <a:t> + </a:t>
            </a:r>
            <a:r>
              <a:rPr sz="1400" b="1" i="0" dirty="0" err="1">
                <a:solidFill>
                  <a:srgbClr val="141414"/>
                </a:solidFill>
                <a:latin typeface="Arial"/>
              </a:rPr>
              <a:t>respuesta</a:t>
            </a:r>
            <a:r>
              <a:rPr sz="1400" b="1" i="0" dirty="0">
                <a:solidFill>
                  <a:srgbClr val="141414"/>
                </a:solidFill>
                <a:latin typeface="Arial"/>
              </a:rPr>
              <a:t> de /actuator/health antes/</a:t>
            </a:r>
            <a:r>
              <a:rPr sz="1400" b="1" i="0" dirty="0" err="1">
                <a:solidFill>
                  <a:srgbClr val="141414"/>
                </a:solidFill>
                <a:latin typeface="Arial"/>
              </a:rPr>
              <a:t>después</a:t>
            </a:r>
            <a:r>
              <a:rPr sz="1400" b="1" i="0" dirty="0">
                <a:solidFill>
                  <a:srgbClr val="141414"/>
                </a:solidFill>
                <a:latin typeface="Arial"/>
              </a:rPr>
              <a:t> del </a:t>
            </a:r>
            <a:r>
              <a:rPr sz="1400" b="1" i="0" dirty="0" err="1">
                <a:solidFill>
                  <a:srgbClr val="141414"/>
                </a:solidFill>
                <a:latin typeface="Arial"/>
              </a:rPr>
              <a:t>fallo</a:t>
            </a:r>
            <a:r>
              <a:rPr sz="1400" b="1" i="0" dirty="0">
                <a:solidFill>
                  <a:srgbClr val="141414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98500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8300" y="177800"/>
            <a:ext cx="1143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Cierre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0" y="6438900"/>
            <a:ext cx="584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87878"/>
                </a:solidFill>
                <a:latin typeface="Arial"/>
              </a:rPr>
              <a:t>Programación de Servicios y Procesos — Tema 1: Comunicación simultánea y disponibilidad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35400" y="927100"/>
            <a:ext cx="44831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41414"/>
                </a:solidFill>
                <a:latin typeface="Arial"/>
              </a:rPr>
              <a:t>Lo mínimo que debe quedar claro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1574800"/>
            <a:ext cx="9779000" cy="273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FA000"/>
                </a:solidFill>
                <a:latin typeface="Arial"/>
              </a:rPr>
              <a:t>•  </a:t>
            </a:r>
            <a:r>
              <a:rPr sz="1800">
                <a:solidFill>
                  <a:srgbClr val="141414"/>
                </a:solidFill>
                <a:latin typeface="Arial"/>
              </a:rPr>
              <a:t>Tomcat utiliza un pool de hilos: varias peticiones pueden avanzar concurrentemente.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FA000"/>
                </a:solidFill>
                <a:latin typeface="Arial"/>
              </a:rPr>
              <a:t>•  </a:t>
            </a:r>
            <a:r>
              <a:rPr sz="1800">
                <a:solidFill>
                  <a:srgbClr val="141414"/>
                </a:solidFill>
                <a:latin typeface="Arial"/>
              </a:rPr>
              <a:t>Proceso vivo, responder peticiones y tener dependencias sanas son niveles distintos.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FA000"/>
                </a:solidFill>
                <a:latin typeface="Arial"/>
              </a:rPr>
              <a:t>•  </a:t>
            </a:r>
            <a:r>
              <a:rPr sz="1800">
                <a:solidFill>
                  <a:srgbClr val="141414"/>
                </a:solidFill>
                <a:latin typeface="Arial"/>
              </a:rPr>
              <a:t>Un health check está pensado para ser consultado automáticamente por otras máquinas.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FA000"/>
                </a:solidFill>
                <a:latin typeface="Arial"/>
              </a:rPr>
              <a:t>•  </a:t>
            </a:r>
            <a:r>
              <a:rPr sz="1800">
                <a:solidFill>
                  <a:srgbClr val="141414"/>
                </a:solidFill>
                <a:latin typeface="Arial"/>
              </a:rPr>
              <a:t>Actuator expone /actuator/health y puede agregar el estado de dependencias reales.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FA000"/>
                </a:solidFill>
                <a:latin typeface="Arial"/>
              </a:rPr>
              <a:t>•  </a:t>
            </a:r>
            <a:r>
              <a:rPr sz="1800">
                <a:solidFill>
                  <a:srgbClr val="141414"/>
                </a:solidFill>
                <a:latin typeface="Arial"/>
              </a:rPr>
              <a:t>show-details: always ayuda en desarrollo, pero revela información interna.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FA000"/>
                </a:solidFill>
                <a:latin typeface="Arial"/>
              </a:rPr>
              <a:t>•  </a:t>
            </a:r>
            <a:r>
              <a:rPr sz="1800">
                <a:solidFill>
                  <a:srgbClr val="141414"/>
                </a:solidFill>
                <a:latin typeface="Arial"/>
              </a:rPr>
              <a:t>/actuator/info y /actuator/metrics amplían la observabilidad operativa del servicio.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74800" y="5562600"/>
            <a:ext cx="9055100" cy="558800"/>
          </a:xfrm>
          <a:prstGeom prst="roundRect">
            <a:avLst/>
          </a:prstGeom>
          <a:solidFill>
            <a:srgbClr val="FFF5E0"/>
          </a:solidFill>
          <a:ln w="12700">
            <a:solidFill>
              <a:srgbClr val="EEB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14500" y="5715000"/>
            <a:ext cx="8763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dirty="0">
                <a:solidFill>
                  <a:srgbClr val="141414"/>
                </a:solidFill>
                <a:latin typeface="Arial"/>
              </a:rPr>
              <a:t>Cierre del Tema 1: de </a:t>
            </a:r>
            <a:r>
              <a:rPr sz="1400" b="1" i="0" dirty="0" err="1">
                <a:solidFill>
                  <a:srgbClr val="141414"/>
                </a:solidFill>
                <a:latin typeface="Arial"/>
              </a:rPr>
              <a:t>construir</a:t>
            </a:r>
            <a:r>
              <a:rPr sz="1400" b="1" i="0" dirty="0">
                <a:solidFill>
                  <a:srgbClr val="141414"/>
                </a:solidFill>
                <a:latin typeface="Arial"/>
              </a:rPr>
              <a:t> la API a </a:t>
            </a:r>
            <a:r>
              <a:rPr sz="1400" b="1" i="0" dirty="0" err="1">
                <a:solidFill>
                  <a:srgbClr val="141414"/>
                </a:solidFill>
                <a:latin typeface="Arial"/>
              </a:rPr>
              <a:t>comprobar</a:t>
            </a:r>
            <a:r>
              <a:rPr sz="1400" b="1" i="0" dirty="0">
                <a:solidFill>
                  <a:srgbClr val="141414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141414"/>
                </a:solidFill>
                <a:latin typeface="Arial"/>
              </a:rPr>
              <a:t>que</a:t>
            </a:r>
            <a:r>
              <a:rPr sz="1400" b="1" i="0" dirty="0">
                <a:solidFill>
                  <a:srgbClr val="141414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141414"/>
                </a:solidFill>
                <a:latin typeface="Arial"/>
              </a:rPr>
              <a:t>responde</a:t>
            </a:r>
            <a:r>
              <a:rPr sz="1400" b="1" i="0" dirty="0">
                <a:solidFill>
                  <a:srgbClr val="141414"/>
                </a:solidFill>
                <a:latin typeface="Arial"/>
              </a:rPr>
              <a:t>, </a:t>
            </a:r>
            <a:r>
              <a:rPr sz="1400" b="1" i="0" dirty="0" err="1">
                <a:solidFill>
                  <a:srgbClr val="141414"/>
                </a:solidFill>
                <a:latin typeface="Arial"/>
              </a:rPr>
              <a:t>resiste</a:t>
            </a:r>
            <a:r>
              <a:rPr sz="1400" b="1" i="0" dirty="0">
                <a:solidFill>
                  <a:srgbClr val="141414"/>
                </a:solidFill>
                <a:latin typeface="Arial"/>
              </a:rPr>
              <a:t> y </a:t>
            </a:r>
            <a:r>
              <a:rPr sz="1400" b="1" i="0" dirty="0" err="1">
                <a:solidFill>
                  <a:srgbClr val="141414"/>
                </a:solidFill>
                <a:latin typeface="Arial"/>
              </a:rPr>
              <a:t>puede</a:t>
            </a:r>
            <a:r>
              <a:rPr sz="1400" b="1" i="0" dirty="0">
                <a:solidFill>
                  <a:srgbClr val="141414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141414"/>
                </a:solidFill>
                <a:latin typeface="Arial"/>
              </a:rPr>
              <a:t>observarse</a:t>
            </a:r>
            <a:r>
              <a:rPr sz="1400" b="1" i="0" dirty="0">
                <a:solidFill>
                  <a:srgbClr val="141414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800</Words>
  <Application>Microsoft Office PowerPoint</Application>
  <PresentationFormat>Panorámica</PresentationFormat>
  <Paragraphs>75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ROIG AGUILAR, ALEJANDRO</cp:lastModifiedBy>
  <cp:revision>2</cp:revision>
  <dcterms:created xsi:type="dcterms:W3CDTF">2013-01-27T09:14:16Z</dcterms:created>
  <dcterms:modified xsi:type="dcterms:W3CDTF">2026-10-21T14:27:15Z</dcterms:modified>
  <cp:category/>
</cp:coreProperties>
</file>