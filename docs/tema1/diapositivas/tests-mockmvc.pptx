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4848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342E"/>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BCAAA4"/>
                </a:solidFill>
                <a:latin typeface="Arial" pitchFamily="34" charset="0"/>
                <a:ea typeface="Arial" pitchFamily="34" charset="-122"/>
                <a:cs typeface="Arial" pitchFamily="34" charset="-120"/>
              </a:rPr>
              <a:t>PROGRAMACIÓN DE SERVICIOS Y PROCESOS  —  TEMA 1: GENERACIÓN DE SERVICIOS EN RED</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000" b="1" dirty="0">
                <a:solidFill>
                  <a:srgbClr val="FFFFFF"/>
                </a:solidFill>
                <a:latin typeface="Arial" pitchFamily="34" charset="0"/>
                <a:ea typeface="Arial" pitchFamily="34" charset="-122"/>
                <a:cs typeface="Arial" pitchFamily="34" charset="-120"/>
              </a:rPr>
              <a:t>Probar servicios</a:t>
            </a:r>
            <a:endParaRPr lang="en-US" sz="4000" dirty="0"/>
          </a:p>
          <a:p>
            <a:pPr marL="0" indent="0" algn="l">
              <a:buNone/>
            </a:pPr>
            <a:r>
              <a:rPr lang="en-US" sz="4000" b="1" dirty="0">
                <a:solidFill>
                  <a:srgbClr val="FFFFFF"/>
                </a:solidFill>
                <a:latin typeface="Arial" pitchFamily="34" charset="0"/>
                <a:ea typeface="Arial" pitchFamily="34" charset="-122"/>
                <a:cs typeface="Arial" pitchFamily="34" charset="-120"/>
              </a:rPr>
              <a:t>con MockMvc</a:t>
            </a:r>
            <a:endParaRPr lang="en-US" sz="4000" dirty="0"/>
          </a:p>
        </p:txBody>
      </p:sp>
      <p:sp>
        <p:nvSpPr>
          <p:cNvPr id="4" name="Shape 2"/>
          <p:cNvSpPr/>
          <p:nvPr/>
        </p:nvSpPr>
        <p:spPr>
          <a:xfrm>
            <a:off x="0" y="5120640"/>
            <a:ext cx="12188952" cy="914400"/>
          </a:xfrm>
          <a:prstGeom prst="rect">
            <a:avLst/>
          </a:prstGeom>
          <a:solidFill>
            <a:srgbClr val="FFA000"/>
          </a:solidFill>
          <a:ln w="12700">
            <a:solidFill>
              <a:srgbClr val="FFA000"/>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3. Probar servicios con MockMvc</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Probar servicios con MockMvc</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246888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Hasta ahora has probado la API a mano: con curl (Actividad 1.1) y con Swagger UI (Actividad 1.2). Los dos funcionan, pero comparten un problema — tienes que repetir los mismos clics o comandos cada vez que quieres comprobar que todo sigue funcionando. Hoy conoces un tercer cliente, uno que se ejecuta solo: un test automatizado.</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es un test automatizado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371600"/>
            <a:ext cx="11091672" cy="105156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Imagina que LibroService ya funciona bien, y hoy cambias algo en update() para arreglar un fallo. ¿Cómo sabes que ese cambio no ha roto create()? La forma manual es volver a probar cada endpoint a mano cada vez que cambias una línea.</a:t>
            </a:r>
            <a:endParaRPr lang="en-US" sz="1800" dirty="0"/>
          </a:p>
        </p:txBody>
      </p:sp>
      <p:sp>
        <p:nvSpPr>
          <p:cNvPr id="6" name="Shape 4"/>
          <p:cNvSpPr/>
          <p:nvPr/>
        </p:nvSpPr>
        <p:spPr>
          <a:xfrm>
            <a:off x="548640" y="2697480"/>
            <a:ext cx="11091672" cy="1234440"/>
          </a:xfrm>
          <a:prstGeom prst="roundRect">
            <a:avLst/>
          </a:prstGeom>
          <a:solidFill>
            <a:srgbClr val="FFF3E0"/>
          </a:solidFill>
          <a:ln w="19050">
            <a:solidFill>
              <a:srgbClr val="FFA000"/>
            </a:solidFill>
            <a:prstDash val="solid"/>
          </a:ln>
        </p:spPr>
        <p:txBody>
          <a:bodyPr/>
          <a:lstStyle/>
          <a:p>
            <a:endParaRPr lang="es-ES"/>
          </a:p>
        </p:txBody>
      </p:sp>
      <p:sp>
        <p:nvSpPr>
          <p:cNvPr id="7" name="Text 5"/>
          <p:cNvSpPr/>
          <p:nvPr/>
        </p:nvSpPr>
        <p:spPr>
          <a:xfrm>
            <a:off x="822960" y="2788920"/>
            <a:ext cx="10543032" cy="10515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Un test automatizado es código que hace esa comprobación por ti: lo escribes una vez, y lo repites en segundos cada vez que lo necesites, sin abrir el navegador ni recordar qué había que probar.</a:t>
            </a:r>
            <a:endParaRPr lang="en-US" sz="1900" dirty="0"/>
          </a:p>
        </p:txBody>
      </p:sp>
      <p:sp>
        <p:nvSpPr>
          <p:cNvPr id="8" name="Text 6"/>
          <p:cNvSpPr/>
          <p:nvPr/>
        </p:nvSpPr>
        <p:spPr>
          <a:xfrm>
            <a:off x="548640" y="4206240"/>
            <a:ext cx="11091672" cy="91440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JUnit es la librería estándar para escribir y ejecutar tests en Java: escribes métodos que comprueban un comportamiento concreto, y JUnit los ejecuta todos y dice cuáles han pasado y cuáles no.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Preparar - actuar - afirmar (Arrange-Act-Assert)</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1689770"/>
            <a:ext cx="11091672" cy="2434357"/>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689771"/>
            <a:ext cx="73152" cy="2148840"/>
          </a:xfrm>
          <a:prstGeom prst="rect">
            <a:avLst/>
          </a:prstGeom>
          <a:solidFill>
            <a:srgbClr val="FFA000"/>
          </a:solidFill>
          <a:ln w="12700">
            <a:solidFill>
              <a:srgbClr val="FFA000"/>
            </a:solidFill>
            <a:prstDash val="solid"/>
          </a:ln>
        </p:spPr>
        <p:txBody>
          <a:bodyPr/>
          <a:lstStyle/>
          <a:p>
            <a:endParaRPr lang="es-ES"/>
          </a:p>
        </p:txBody>
      </p:sp>
      <p:sp>
        <p:nvSpPr>
          <p:cNvPr id="7" name="Text 5"/>
          <p:cNvSpPr/>
          <p:nvPr/>
        </p:nvSpPr>
        <p:spPr>
          <a:xfrm>
            <a:off x="822960" y="1799499"/>
            <a:ext cx="10588752" cy="1929384"/>
          </a:xfrm>
          <a:prstGeom prst="rect">
            <a:avLst/>
          </a:prstGeom>
          <a:noFill/>
          <a:ln/>
        </p:spPr>
        <p:txBody>
          <a:bodyPr wrap="square" rtlCol="0" anchor="t"/>
          <a:lstStyle/>
          <a:p>
            <a:pPr marL="0" indent="0">
              <a:buNone/>
            </a:pPr>
            <a:r>
              <a:rPr lang="en-US" sz="1750" dirty="0">
                <a:solidFill>
                  <a:srgbClr val="263238"/>
                </a:solidFill>
                <a:latin typeface="Courier New" pitchFamily="34" charset="0"/>
                <a:ea typeface="Courier New" pitchFamily="34" charset="-122"/>
                <a:cs typeface="Courier New" pitchFamily="34" charset="-120"/>
              </a:rPr>
              <a:t>@Test</a:t>
            </a:r>
            <a:endParaRPr lang="en-US" sz="1750" dirty="0"/>
          </a:p>
          <a:p>
            <a:pPr marL="0" indent="0">
              <a:buNone/>
            </a:pPr>
            <a:r>
              <a:rPr lang="en-US" sz="1750" dirty="0">
                <a:solidFill>
                  <a:srgbClr val="263238"/>
                </a:solidFill>
                <a:latin typeface="Courier New" pitchFamily="34" charset="0"/>
                <a:ea typeface="Courier New" pitchFamily="34" charset="-122"/>
                <a:cs typeface="Courier New" pitchFamily="34" charset="-120"/>
              </a:rPr>
              <a:t>void sumar_DebeDevolverLaSumaCorrecta() {</a:t>
            </a:r>
            <a:endParaRPr lang="en-US" sz="1750" dirty="0"/>
          </a:p>
          <a:p>
            <a:pPr marL="0" indent="0">
              <a:buNone/>
            </a:pPr>
            <a:r>
              <a:rPr lang="en-US" sz="1750" dirty="0">
                <a:solidFill>
                  <a:srgbClr val="263238"/>
                </a:solidFill>
                <a:latin typeface="Courier New" pitchFamily="34" charset="0"/>
                <a:ea typeface="Courier New" pitchFamily="34" charset="-122"/>
                <a:cs typeface="Courier New" pitchFamily="34" charset="-120"/>
              </a:rPr>
              <a:t>    Calculadora calc = new Calculadora();      // preparar</a:t>
            </a:r>
            <a:endParaRPr lang="en-US" sz="1750" dirty="0"/>
          </a:p>
          <a:p>
            <a:pPr marL="0" indent="0">
              <a:buNone/>
            </a:pPr>
            <a:endParaRPr lang="en-US" sz="1750" dirty="0"/>
          </a:p>
          <a:p>
            <a:pPr marL="0" indent="0">
              <a:buNone/>
            </a:pPr>
            <a:r>
              <a:rPr lang="en-US" sz="1750" dirty="0">
                <a:solidFill>
                  <a:srgbClr val="263238"/>
                </a:solidFill>
                <a:latin typeface="Courier New" pitchFamily="34" charset="0"/>
                <a:ea typeface="Courier New" pitchFamily="34" charset="-122"/>
                <a:cs typeface="Courier New" pitchFamily="34" charset="-120"/>
              </a:rPr>
              <a:t>    int resultado = calc.sumar(2, 3);          // actuar</a:t>
            </a:r>
            <a:endParaRPr lang="en-US" sz="1750" dirty="0"/>
          </a:p>
          <a:p>
            <a:pPr marL="0" indent="0">
              <a:buNone/>
            </a:pPr>
            <a:endParaRPr lang="en-US" sz="1750" dirty="0"/>
          </a:p>
          <a:p>
            <a:pPr marL="0" indent="0">
              <a:buNone/>
            </a:pPr>
            <a:r>
              <a:rPr lang="en-US" sz="1750" dirty="0">
                <a:solidFill>
                  <a:srgbClr val="263238"/>
                </a:solidFill>
                <a:latin typeface="Courier New" pitchFamily="34" charset="0"/>
                <a:ea typeface="Courier New" pitchFamily="34" charset="-122"/>
                <a:cs typeface="Courier New" pitchFamily="34" charset="-120"/>
              </a:rPr>
              <a:t>    assertEquals(5, resultado);                // afirmar</a:t>
            </a:r>
            <a:endParaRPr lang="en-US" sz="1750" dirty="0"/>
          </a:p>
          <a:p>
            <a:pPr marL="0" indent="0">
              <a:buNone/>
            </a:pPr>
            <a:r>
              <a:rPr lang="en-US" sz="1750" dirty="0">
                <a:solidFill>
                  <a:srgbClr val="263238"/>
                </a:solidFill>
                <a:latin typeface="Courier New" pitchFamily="34" charset="0"/>
                <a:ea typeface="Courier New" pitchFamily="34" charset="-122"/>
                <a:cs typeface="Courier New" pitchFamily="34" charset="-120"/>
              </a:rPr>
              <a:t>}</a:t>
            </a:r>
            <a:endParaRPr lang="en-US" sz="1750" dirty="0"/>
          </a:p>
        </p:txBody>
      </p:sp>
      <p:sp>
        <p:nvSpPr>
          <p:cNvPr id="8" name="Text 6"/>
          <p:cNvSpPr/>
          <p:nvPr/>
        </p:nvSpPr>
        <p:spPr>
          <a:xfrm>
            <a:off x="548640" y="4297680"/>
            <a:ext cx="11091672" cy="1371600"/>
          </a:xfrm>
          <a:prstGeom prst="rect">
            <a:avLst/>
          </a:prstGeom>
          <a:noFill/>
          <a:ln/>
        </p:spPr>
        <p:txBody>
          <a:bodyPr wrap="square" rtlCol="0" anchor="t"/>
          <a:lstStyle/>
          <a:p>
            <a:pPr marL="0" indent="0">
              <a:buNone/>
            </a:pPr>
            <a:r>
              <a:rPr lang="en-US" sz="1850" dirty="0">
                <a:solidFill>
                  <a:srgbClr val="212121"/>
                </a:solidFill>
                <a:latin typeface="Arial" pitchFamily="34" charset="0"/>
                <a:ea typeface="Arial" pitchFamily="34" charset="-122"/>
                <a:cs typeface="Arial" pitchFamily="34" charset="-120"/>
              </a:rPr>
              <a:t>@Test marca el método como un test que JUnit debe ejecutar. Primero preparas lo que necesitas, luego actúas (llamas al método que quieres probar), y por último afirmas con assertEquals(esperado, actual) — el primer parámetro es siempre el valor que tú esperas, el segundo el que de verdad ha devuelto tu código.</a:t>
            </a:r>
            <a:endParaRPr lang="en-US" sz="1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Por qué importa el orden de assertEquals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280160"/>
            <a:ext cx="11091672" cy="10058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Si inviertes esperado y actual el test sigue funcionando igual, pero el mensaje de error, cuando falle, sale con los dos valores cambiados — confunde al leerlo. Cambia el 5 de arriba por un 6 (una afirmación incorrecta) y ejecuta el test otra vez:</a:t>
            </a:r>
            <a:endParaRPr lang="en-US" sz="1800" dirty="0"/>
          </a:p>
        </p:txBody>
      </p:sp>
      <p:sp>
        <p:nvSpPr>
          <p:cNvPr id="6" name="Shape 4"/>
          <p:cNvSpPr/>
          <p:nvPr/>
        </p:nvSpPr>
        <p:spPr>
          <a:xfrm>
            <a:off x="548640" y="2560320"/>
            <a:ext cx="11091672" cy="118872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560320"/>
            <a:ext cx="73152" cy="118872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670048"/>
            <a:ext cx="10588752" cy="96926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org.opentest4j.AssertionFailedError:</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Expected :6</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Actual   :5</a:t>
            </a:r>
            <a:endParaRPr lang="en-US" sz="1700" dirty="0"/>
          </a:p>
        </p:txBody>
      </p:sp>
      <p:sp>
        <p:nvSpPr>
          <p:cNvPr id="9" name="Shape 7"/>
          <p:cNvSpPr/>
          <p:nvPr/>
        </p:nvSpPr>
        <p:spPr>
          <a:xfrm>
            <a:off x="548640" y="4023360"/>
            <a:ext cx="11091672" cy="914400"/>
          </a:xfrm>
          <a:prstGeom prst="roundRect">
            <a:avLst/>
          </a:prstGeom>
          <a:solidFill>
            <a:srgbClr val="FFF3E0"/>
          </a:solidFill>
          <a:ln w="19050">
            <a:solidFill>
              <a:srgbClr val="FFA000"/>
            </a:solidFill>
            <a:prstDash val="solid"/>
          </a:ln>
        </p:spPr>
        <p:txBody>
          <a:bodyPr/>
          <a:lstStyle/>
          <a:p>
            <a:endParaRPr lang="es-ES"/>
          </a:p>
        </p:txBody>
      </p:sp>
      <p:sp>
        <p:nvSpPr>
          <p:cNvPr id="10" name="Text 8"/>
          <p:cNvSpPr/>
          <p:nvPr/>
        </p:nvSpPr>
        <p:spPr>
          <a:xfrm>
            <a:off x="822960" y="4114800"/>
            <a:ext cx="10543032" cy="731520"/>
          </a:xfrm>
          <a:prstGeom prst="rect">
            <a:avLst/>
          </a:prstGeom>
          <a:noFill/>
          <a:ln/>
        </p:spPr>
        <p:txBody>
          <a:bodyPr wrap="square" rtlCol="0" anchor="ctr"/>
          <a:lstStyle/>
          <a:p>
            <a:pPr marL="0" indent="0">
              <a:buNone/>
            </a:pPr>
            <a:r>
              <a:rPr lang="en-US" sz="1700" dirty="0">
                <a:solidFill>
                  <a:srgbClr val="212121"/>
                </a:solidFill>
                <a:latin typeface="Arial" pitchFamily="34" charset="0"/>
                <a:ea typeface="Arial" pitchFamily="34" charset="-122"/>
                <a:cs typeface="Arial" pitchFamily="34" charset="-120"/>
              </a:rPr>
              <a:t>Esa es la razón de ser de un test: no solo avisa de que algo va mal, dice exactamente qué esperabas y qué ha pasado en realidad, sin imprimir valores por consola para averiguarlo tú mismo.</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es un mock</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2103120"/>
            <a:ext cx="11091672" cy="1188720"/>
          </a:xfrm>
          <a:prstGeom prst="rect">
            <a:avLst/>
          </a:prstGeom>
          <a:noFill/>
          <a:ln/>
        </p:spPr>
        <p:txBody>
          <a:bodyPr wrap="square" rtlCol="0" anchor="t"/>
          <a:lstStyle/>
          <a:p>
            <a:pPr marL="0" indent="0">
              <a:buNone/>
            </a:pPr>
            <a:r>
              <a:rPr lang="en-US" sz="2000" dirty="0">
                <a:solidFill>
                  <a:srgbClr val="212121"/>
                </a:solidFill>
                <a:latin typeface="Arial" pitchFamily="34" charset="0"/>
                <a:ea typeface="Arial" pitchFamily="34" charset="-122"/>
                <a:cs typeface="Arial" pitchFamily="34" charset="-120"/>
              </a:rPr>
              <a:t>Piensa en una entrevista de trabajo simulada, antes de la real: alguien hace de entrevistador, siguiendo un guion decidido de antemano ("cuando te pregunte esto, responde aquello"), y tú practicas cómo reaccionar, sin que haya un puesto real en juego todavía.</a:t>
            </a:r>
            <a:endParaRPr lang="en-US" sz="2000" dirty="0"/>
          </a:p>
        </p:txBody>
      </p:sp>
      <p:sp>
        <p:nvSpPr>
          <p:cNvPr id="6" name="Shape 4"/>
          <p:cNvSpPr/>
          <p:nvPr/>
        </p:nvSpPr>
        <p:spPr>
          <a:xfrm>
            <a:off x="548640" y="3657600"/>
            <a:ext cx="11091672" cy="1371600"/>
          </a:xfrm>
          <a:prstGeom prst="roundRect">
            <a:avLst/>
          </a:prstGeom>
          <a:solidFill>
            <a:srgbClr val="FFF3E0"/>
          </a:solidFill>
          <a:ln w="19050">
            <a:solidFill>
              <a:srgbClr val="FFA000"/>
            </a:solidFill>
            <a:prstDash val="solid"/>
          </a:ln>
        </p:spPr>
        <p:txBody>
          <a:bodyPr/>
          <a:lstStyle/>
          <a:p>
            <a:endParaRPr lang="es-ES"/>
          </a:p>
        </p:txBody>
      </p:sp>
      <p:sp>
        <p:nvSpPr>
          <p:cNvPr id="7" name="Text 5"/>
          <p:cNvSpPr/>
          <p:nvPr/>
        </p:nvSpPr>
        <p:spPr>
          <a:xfrm>
            <a:off x="822960" y="3749040"/>
            <a:ext cx="10543032" cy="118872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Un mock es exactamente eso, para código: un objeto falso que sustituye a una dependencia real, programado por ti para responder exactamente lo que decidas cuando lo llamen de una forma concreta.</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Un mock con Mockito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1737360"/>
            <a:ext cx="11091672" cy="118872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737360"/>
            <a:ext cx="73152" cy="1188720"/>
          </a:xfrm>
          <a:prstGeom prst="rect">
            <a:avLst/>
          </a:prstGeom>
          <a:solidFill>
            <a:srgbClr val="FFA000"/>
          </a:solidFill>
          <a:ln w="12700">
            <a:solidFill>
              <a:srgbClr val="FFA000"/>
            </a:solidFill>
            <a:prstDash val="solid"/>
          </a:ln>
        </p:spPr>
        <p:txBody>
          <a:bodyPr/>
          <a:lstStyle/>
          <a:p>
            <a:endParaRPr lang="es-ES"/>
          </a:p>
        </p:txBody>
      </p:sp>
      <p:sp>
        <p:nvSpPr>
          <p:cNvPr id="7" name="Text 5"/>
          <p:cNvSpPr/>
          <p:nvPr/>
        </p:nvSpPr>
        <p:spPr>
          <a:xfrm>
            <a:off x="822960" y="1847088"/>
            <a:ext cx="10588752" cy="969264"/>
          </a:xfrm>
          <a:prstGeom prst="rect">
            <a:avLst/>
          </a:prstGeom>
          <a:noFill/>
          <a:ln/>
        </p:spPr>
        <p:txBody>
          <a:bodyPr wrap="square" rtlCol="0" anchor="t"/>
          <a:lstStyle/>
          <a:p>
            <a:pPr marL="0" indent="0">
              <a:buNone/>
            </a:pPr>
            <a:r>
              <a:rPr lang="en-US" sz="1800" dirty="0">
                <a:solidFill>
                  <a:srgbClr val="263238"/>
                </a:solidFill>
                <a:latin typeface="Courier New" pitchFamily="34" charset="0"/>
                <a:ea typeface="Courier New" pitchFamily="34" charset="-122"/>
                <a:cs typeface="Courier New" pitchFamily="34" charset="-120"/>
              </a:rPr>
              <a:t>LibroService mockService = mock(LibroService.class);</a:t>
            </a:r>
            <a:endParaRPr lang="en-US" sz="1800" dirty="0"/>
          </a:p>
          <a:p>
            <a:pPr marL="0" indent="0">
              <a:buNone/>
            </a:pPr>
            <a:r>
              <a:rPr lang="en-US" sz="1800" dirty="0">
                <a:solidFill>
                  <a:srgbClr val="263238"/>
                </a:solidFill>
                <a:latin typeface="Courier New" pitchFamily="34" charset="0"/>
                <a:ea typeface="Courier New" pitchFamily="34" charset="-122"/>
                <a:cs typeface="Courier New" pitchFamily="34" charset="-120"/>
              </a:rPr>
              <a:t>when(mockService.findAll()).thenReturn(List.of());</a:t>
            </a:r>
            <a:endParaRPr lang="en-US" sz="1800" dirty="0"/>
          </a:p>
        </p:txBody>
      </p:sp>
      <p:sp>
        <p:nvSpPr>
          <p:cNvPr id="8" name="Text 6"/>
          <p:cNvSpPr/>
          <p:nvPr/>
        </p:nvSpPr>
        <p:spPr>
          <a:xfrm>
            <a:off x="548640" y="3291840"/>
            <a:ext cx="11091672" cy="96012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mock(LibroService.class) crea el objeto falso — por defecto, no sabe hacer nada por sí solo. when(...).thenReturn(...) es el "guion": le dices qué debe devolver cuando lo llamen de una forma concreta.</a:t>
            </a:r>
            <a:endParaRPr lang="en-US" sz="1900" dirty="0"/>
          </a:p>
        </p:txBody>
      </p:sp>
      <p:sp>
        <p:nvSpPr>
          <p:cNvPr id="9" name="Text 7"/>
          <p:cNvSpPr/>
          <p:nvPr/>
        </p:nvSpPr>
        <p:spPr>
          <a:xfrm>
            <a:off x="548640" y="4572000"/>
            <a:ext cx="11091672" cy="86868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Dentro de un test de Spring, en vez de crear el mock a mano con mock(...), se usa la anotación @MockitoBean sobre el campo — Spring lo crea e inyecta él solo, pero por debajo es el mismo mecanismo.</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Por qué usar un objeto falso en vez del real</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246888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56032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Porque aísla lo que quieres probar. Si tu test dependiera del LibroService real, dependería de una base de datos real conectada, con datos reales dentro — y el resultado del test cambiaría según qué datos hubiera en ese momento, algo que no controlas ni te interesa cuando lo único que quieres saber es "¿mi controller responde bien a lo que le da el service?".</a:t>
            </a:r>
            <a:endParaRPr lang="en-US" sz="1900" dirty="0"/>
          </a:p>
        </p:txBody>
      </p:sp>
      <p:sp>
        <p:nvSpPr>
          <p:cNvPr id="7" name="Text 5"/>
          <p:cNvSpPr/>
          <p:nvPr/>
        </p:nvSpPr>
        <p:spPr>
          <a:xfrm>
            <a:off x="548640" y="4572000"/>
            <a:ext cx="11091672" cy="64008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Con un mock, el service siempre se comporta exactamente como tú has decidido, esté la base de datos levantada o no, sea la hora que sea.</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Test aislado vs. test de integración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280160"/>
            <a:ext cx="11091672" cy="45720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Según las piezas que quieras incluir, puedes plantear el test de dos formas:</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1672" cy="3291840"/>
        </p:xfrm>
        <a:graphic>
          <a:graphicData uri="http://schemas.openxmlformats.org/drawingml/2006/table">
            <a:tbl>
              <a:tblPr/>
              <a:tblGrid>
                <a:gridCol w="2218334">
                  <a:extLst>
                    <a:ext uri="{9D8B030D-6E8A-4147-A177-3AD203B41FA5}">
                      <a16:colId xmlns:a16="http://schemas.microsoft.com/office/drawing/2014/main" val="20000"/>
                    </a:ext>
                  </a:extLst>
                </a:gridCol>
                <a:gridCol w="4436669">
                  <a:extLst>
                    <a:ext uri="{9D8B030D-6E8A-4147-A177-3AD203B41FA5}">
                      <a16:colId xmlns:a16="http://schemas.microsoft.com/office/drawing/2014/main" val="20001"/>
                    </a:ext>
                  </a:extLst>
                </a:gridCol>
                <a:gridCol w="4436669">
                  <a:extLst>
                    <a:ext uri="{9D8B030D-6E8A-4147-A177-3AD203B41FA5}">
                      <a16:colId xmlns:a16="http://schemas.microsoft.com/office/drawing/2014/main" val="20002"/>
                    </a:ext>
                  </a:extLst>
                </a:gridCol>
              </a:tblGrid>
              <a:tr h="658368">
                <a:tc>
                  <a:txBody>
                    <a:bodyPr/>
                    <a:lstStyle/>
                    <a:p>
                      <a:pPr marL="0" indent="0" algn="ctr">
                        <a:buNone/>
                      </a:pP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Test aislado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Test de integración</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658368">
                <a:tc>
                  <a:txBody>
                    <a:bodyPr/>
                    <a:lstStyle/>
                    <a:p>
                      <a:pPr marL="0" indent="0">
                        <a:buNone/>
                      </a:pPr>
                      <a:r>
                        <a:rPr lang="en-US" sz="1550" b="1" dirty="0">
                          <a:solidFill>
                            <a:srgbClr val="212121"/>
                          </a:solidFill>
                          <a:latin typeface="Arial" pitchFamily="34" charset="0"/>
                          <a:ea typeface="Arial" pitchFamily="34" charset="-122"/>
                          <a:cs typeface="Arial" pitchFamily="34" charset="-120"/>
                        </a:rPr>
                        <a:t>Qué prueba</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Una parte concreta de la aplicación</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Varias partes reales trabajando juntas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550" b="1" dirty="0">
                          <a:solidFill>
                            <a:srgbClr val="212121"/>
                          </a:solidFill>
                          <a:latin typeface="Arial" pitchFamily="34" charset="0"/>
                          <a:ea typeface="Arial" pitchFamily="34" charset="-122"/>
                          <a:cs typeface="Arial" pitchFamily="34" charset="-120"/>
                        </a:rPr>
                        <a:t>Dependencias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Se sustituyen mediante mocks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Se utilizan las dependencias reales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658368">
                <a:tc>
                  <a:txBody>
                    <a:bodyPr/>
                    <a:lstStyle/>
                    <a:p>
                      <a:pPr marL="0" indent="0">
                        <a:buNone/>
                      </a:pPr>
                      <a:r>
                        <a:rPr lang="en-US" sz="1550" b="1" dirty="0">
                          <a:solidFill>
                            <a:srgbClr val="212121"/>
                          </a:solidFill>
                          <a:latin typeface="Arial" pitchFamily="34" charset="0"/>
                          <a:ea typeface="Arial" pitchFamily="34" charset="-122"/>
                          <a:cs typeface="Arial" pitchFamily="34" charset="-120"/>
                        </a:rPr>
                        <a:t>Base de datos</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No es necesaria</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Puede utilizarse una base de datos de prueba</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550" b="1" dirty="0">
                          <a:solidFill>
                            <a:srgbClr val="212121"/>
                          </a:solidFill>
                          <a:latin typeface="Arial" pitchFamily="34" charset="0"/>
                          <a:ea typeface="Arial" pitchFamily="34" charset="-122"/>
                          <a:cs typeface="Arial" pitchFamily="34" charset="-120"/>
                        </a:rPr>
                        <a:t>Velocidad</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Muy rápido</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50" dirty="0">
                          <a:solidFill>
                            <a:srgbClr val="212121"/>
                          </a:solidFill>
                          <a:latin typeface="Arial" pitchFamily="34" charset="0"/>
                          <a:ea typeface="Arial" pitchFamily="34" charset="-122"/>
                          <a:cs typeface="Arial" pitchFamily="34" charset="-120"/>
                        </a:rPr>
                        <a:t>Más lento</a:t>
                      </a:r>
                      <a:endParaRPr lang="en-US" sz="155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Hasta dónde llega el test dentro de la aplicación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1600200"/>
            <a:ext cx="11091672" cy="502920"/>
          </a:xfrm>
          <a:prstGeom prst="rect">
            <a:avLst/>
          </a:prstGeom>
          <a:solidFill>
            <a:srgbClr val="6D4C41"/>
          </a:solidFill>
          <a:ln w="12700">
            <a:solidFill>
              <a:srgbClr val="6D4C41"/>
            </a:solidFill>
            <a:prstDash val="solid"/>
          </a:ln>
        </p:spPr>
        <p:txBody>
          <a:bodyPr/>
          <a:lstStyle/>
          <a:p>
            <a:endParaRPr lang="es-ES"/>
          </a:p>
        </p:txBody>
      </p:sp>
      <p:sp>
        <p:nvSpPr>
          <p:cNvPr id="6" name="Text 4"/>
          <p:cNvSpPr/>
          <p:nvPr/>
        </p:nvSpPr>
        <p:spPr>
          <a:xfrm>
            <a:off x="731520" y="160020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 Test aislado — @WebMvcTest</a:t>
            </a:r>
            <a:endParaRPr lang="en-US" sz="1900" dirty="0"/>
          </a:p>
        </p:txBody>
      </p:sp>
      <p:pic>
        <p:nvPicPr>
          <p:cNvPr id="7" name="Image 0" descr="C:/Users/Aitor/docxgen/img/mockmvc-test-aislado.png"/>
          <p:cNvPicPr>
            <a:picLocks noChangeAspect="1"/>
          </p:cNvPicPr>
          <p:nvPr/>
        </p:nvPicPr>
        <p:blipFill>
          <a:blip r:embed="rId3"/>
          <a:stretch>
            <a:fillRect/>
          </a:stretch>
        </p:blipFill>
        <p:spPr>
          <a:xfrm>
            <a:off x="3323844" y="2468880"/>
            <a:ext cx="5541264" cy="960120"/>
          </a:xfrm>
          <a:prstGeom prst="rect">
            <a:avLst/>
          </a:prstGeom>
        </p:spPr>
      </p:pic>
      <p:sp>
        <p:nvSpPr>
          <p:cNvPr id="8" name="Shape 5"/>
          <p:cNvSpPr/>
          <p:nvPr/>
        </p:nvSpPr>
        <p:spPr>
          <a:xfrm>
            <a:off x="548640" y="4023360"/>
            <a:ext cx="11091672" cy="502920"/>
          </a:xfrm>
          <a:prstGeom prst="rect">
            <a:avLst/>
          </a:prstGeom>
          <a:solidFill>
            <a:srgbClr val="6D4C41"/>
          </a:solidFill>
          <a:ln w="12700">
            <a:solidFill>
              <a:srgbClr val="6D4C41"/>
            </a:solidFill>
            <a:prstDash val="solid"/>
          </a:ln>
        </p:spPr>
        <p:txBody>
          <a:bodyPr/>
          <a:lstStyle/>
          <a:p>
            <a:endParaRPr lang="es-ES"/>
          </a:p>
        </p:txBody>
      </p:sp>
      <p:sp>
        <p:nvSpPr>
          <p:cNvPr id="9" name="Text 6"/>
          <p:cNvSpPr/>
          <p:nvPr/>
        </p:nvSpPr>
        <p:spPr>
          <a:xfrm>
            <a:off x="731520" y="4023360"/>
            <a:ext cx="10725912" cy="502920"/>
          </a:xfrm>
          <a:prstGeom prst="rect">
            <a:avLst/>
          </a:prstGeom>
          <a:noFill/>
          <a:ln/>
        </p:spPr>
        <p:txBody>
          <a:bodyPr wrap="square" rtlCol="0" anchor="ctr"/>
          <a:lstStyle/>
          <a:p>
            <a:pPr marL="0" indent="0">
              <a:buNone/>
            </a:pPr>
            <a:r>
              <a:rPr lang="en-US" sz="1900" b="1" dirty="0">
                <a:solidFill>
                  <a:srgbClr val="FFFFFF"/>
                </a:solidFill>
                <a:latin typeface="Arial" pitchFamily="34" charset="0"/>
                <a:ea typeface="Arial" pitchFamily="34" charset="-122"/>
                <a:cs typeface="Arial" pitchFamily="34" charset="-120"/>
              </a:rPr>
              <a:t>🔗 Test de integración — @Testcontainers</a:t>
            </a:r>
            <a:endParaRPr lang="en-US" sz="1900" dirty="0"/>
          </a:p>
        </p:txBody>
      </p:sp>
      <p:pic>
        <p:nvPicPr>
          <p:cNvPr id="10" name="Image 1" descr="C:/Users/Aitor/docxgen/img/mockmvc-test-integracion.png"/>
          <p:cNvPicPr>
            <a:picLocks noChangeAspect="1"/>
          </p:cNvPicPr>
          <p:nvPr/>
        </p:nvPicPr>
        <p:blipFill>
          <a:blip r:embed="rId4"/>
          <a:stretch>
            <a:fillRect/>
          </a:stretch>
        </p:blipFill>
        <p:spPr>
          <a:xfrm>
            <a:off x="2409843" y="4892040"/>
            <a:ext cx="7369266" cy="10515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cambia entre los dos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463040"/>
            <a:ext cx="11091672" cy="10058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En el test aislado, el controller es real, pero el service se sustituye por un mock. De esta manera puedes comprobar cómo responde el controller sin depender de la lógica de negocio ni de una base de datos.</a:t>
            </a:r>
            <a:endParaRPr lang="en-US" sz="1800" dirty="0"/>
          </a:p>
        </p:txBody>
      </p:sp>
      <p:sp>
        <p:nvSpPr>
          <p:cNvPr id="6" name="Text 4"/>
          <p:cNvSpPr/>
          <p:nvPr/>
        </p:nvSpPr>
        <p:spPr>
          <a:xfrm>
            <a:off x="548640" y="2743200"/>
            <a:ext cx="11091672" cy="10058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En el test de integración, la petición recorre varias piezas reales de la aplicación. Esto permite comprobar que funcionan correctamente en conjunto, aunque el test tarda más en ejecutarse.</a:t>
            </a:r>
            <a:endParaRPr lang="en-US" sz="1800" dirty="0"/>
          </a:p>
        </p:txBody>
      </p:sp>
      <p:sp>
        <p:nvSpPr>
          <p:cNvPr id="7" name="Shape 5"/>
          <p:cNvSpPr/>
          <p:nvPr/>
        </p:nvSpPr>
        <p:spPr>
          <a:xfrm>
            <a:off x="548640" y="4023360"/>
            <a:ext cx="11091672" cy="868680"/>
          </a:xfrm>
          <a:prstGeom prst="roundRect">
            <a:avLst/>
          </a:prstGeom>
          <a:solidFill>
            <a:srgbClr val="FFF3E0"/>
          </a:solidFill>
          <a:ln w="19050">
            <a:solidFill>
              <a:srgbClr val="FFA000"/>
            </a:solidFill>
            <a:prstDash val="solid"/>
          </a:ln>
        </p:spPr>
        <p:txBody>
          <a:bodyPr/>
          <a:lstStyle/>
          <a:p>
            <a:endParaRPr lang="es-ES"/>
          </a:p>
        </p:txBody>
      </p:sp>
      <p:sp>
        <p:nvSpPr>
          <p:cNvPr id="8" name="Text 6"/>
          <p:cNvSpPr/>
          <p:nvPr/>
        </p:nvSpPr>
        <p:spPr>
          <a:xfrm>
            <a:off x="822960" y="4114800"/>
            <a:ext cx="10543032" cy="685800"/>
          </a:xfrm>
          <a:prstGeom prst="rect">
            <a:avLst/>
          </a:prstGeom>
          <a:noFill/>
          <a:ln/>
        </p:spPr>
        <p:txBody>
          <a:bodyPr wrap="square" rtlCol="0" anchor="ctr"/>
          <a:lstStyle/>
          <a:p>
            <a:pPr marL="0" indent="0">
              <a:buNone/>
            </a:pPr>
            <a:r>
              <a:rPr lang="en-US" sz="1700" dirty="0">
                <a:solidFill>
                  <a:srgbClr val="212121"/>
                </a:solidFill>
                <a:latin typeface="Arial" pitchFamily="34" charset="0"/>
                <a:ea typeface="Arial" pitchFamily="34" charset="-122"/>
                <a:cs typeface="Arial" pitchFamily="34" charset="-120"/>
              </a:rPr>
              <a:t>Los tests unitarios que ya conoces son un tipo de test aislado. En este apartado aplicarás esa misma idea de aislamiento a un controller mediante @WebMvcTest.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MockMvc: un cliente HTTP programable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1463040"/>
            <a:ext cx="11091672" cy="155448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1554480"/>
            <a:ext cx="10543032" cy="137160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MockMvc es la herramienta de Spring para probar controllers REST sin necesitar un servidor HTTP real arrancado: simula peticiones HTTP contra tus controladores, dentro del propio test, y permite comprobar el código de estado y el cuerpo de la respuesta con código Java.</a:t>
            </a:r>
            <a:endParaRPr lang="en-US" sz="1900" dirty="0"/>
          </a:p>
        </p:txBody>
      </p:sp>
      <p:sp>
        <p:nvSpPr>
          <p:cNvPr id="7" name="Text 5"/>
          <p:cNvSpPr/>
          <p:nvPr/>
        </p:nvSpPr>
        <p:spPr>
          <a:xfrm>
            <a:off x="548640" y="3337560"/>
            <a:ext cx="11091672" cy="1051560"/>
          </a:xfrm>
          <a:prstGeom prst="rect">
            <a:avLst/>
          </a:prstGeom>
          <a:noFill/>
          <a:ln/>
        </p:spPr>
        <p:txBody>
          <a:bodyPr wrap="square" rtlCol="0" anchor="t"/>
          <a:lstStyle/>
          <a:p>
            <a:pPr marL="0" indent="0">
              <a:buNone/>
            </a:pPr>
            <a:r>
              <a:rPr lang="en-US" sz="1750" dirty="0">
                <a:solidFill>
                  <a:srgbClr val="757575"/>
                </a:solidFill>
                <a:latin typeface="Arial" pitchFamily="34" charset="0"/>
                <a:ea typeface="Arial" pitchFamily="34" charset="-122"/>
                <a:cs typeface="Arial" pitchFamily="34" charset="-120"/>
              </a:rPr>
              <a:t>Es, en esencia, un tercer cliente — como curl o Swagger UI — pero con una diferencia clave: es repetible y se puede ejecutar automáticamente (en tu máquina o en un pipeline de CI) cada vez que cambias algo, sin que nadie abra el navegador.</a:t>
            </a:r>
            <a:endParaRPr lang="en-US" sz="1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El viaje completo de una petición MockMvc</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280160"/>
            <a:ext cx="11091672" cy="457200"/>
          </a:xfrm>
          <a:prstGeom prst="rect">
            <a:avLst/>
          </a:prstGeom>
          <a:noFill/>
          <a:ln/>
        </p:spPr>
        <p:txBody>
          <a:bodyPr wrap="square" rtlCol="0" anchor="t"/>
          <a:lstStyle/>
          <a:p>
            <a:pPr marL="0" indent="0">
              <a:buNone/>
            </a:pPr>
            <a:r>
              <a:rPr lang="en-US" sz="1700" dirty="0">
                <a:solidFill>
                  <a:srgbClr val="212121"/>
                </a:solidFill>
                <a:latin typeface="Arial" pitchFamily="34" charset="0"/>
                <a:ea typeface="Arial" pitchFamily="34" charset="-122"/>
                <a:cs typeface="Arial" pitchFamily="34" charset="-120"/>
              </a:rPr>
              <a:t>Fíjate en que nunca sale del propio proceso Java, no hay ningún puerto 8080 real de por medio:</a:t>
            </a:r>
            <a:endParaRPr lang="en-US" sz="1700" dirty="0"/>
          </a:p>
        </p:txBody>
      </p:sp>
      <p:pic>
        <p:nvPicPr>
          <p:cNvPr id="6" name="Image 0" descr="C:/Users/Aitor/docxgen/img/mockmvc-sequence.png"/>
          <p:cNvPicPr>
            <a:picLocks noChangeAspect="1"/>
          </p:cNvPicPr>
          <p:nvPr/>
        </p:nvPicPr>
        <p:blipFill>
          <a:blip r:embed="rId3"/>
          <a:stretch>
            <a:fillRect/>
          </a:stretch>
        </p:blipFill>
        <p:spPr>
          <a:xfrm>
            <a:off x="359733" y="1853991"/>
            <a:ext cx="10884752" cy="396830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simula cada pieza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265176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743200"/>
            <a:ext cx="10543032" cy="16459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MockMvc simula la parte de Tomcat (recibir la petición, encaminarla al método correcto) sin arrancar ningún servidor de verdad; LibroController es exactamente el mismo código que corre en producción, sin cambiar una línea; y LibroService, al estar mockeado, responde con el valor que tú has preparado en el test — no con nada calculado de verdad.</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Primer ejemplo: un test que sí necesita el mock</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1188719"/>
            <a:ext cx="11091672" cy="4680235"/>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188720"/>
            <a:ext cx="73152" cy="4251960"/>
          </a:xfrm>
          <a:prstGeom prst="rect">
            <a:avLst/>
          </a:prstGeom>
          <a:solidFill>
            <a:srgbClr val="FFA000"/>
          </a:solidFill>
          <a:ln w="12700">
            <a:solidFill>
              <a:srgbClr val="FFA000"/>
            </a:solidFill>
            <a:prstDash val="solid"/>
          </a:ln>
        </p:spPr>
        <p:txBody>
          <a:bodyPr/>
          <a:lstStyle/>
          <a:p>
            <a:endParaRPr lang="es-ES"/>
          </a:p>
        </p:txBody>
      </p:sp>
      <p:sp>
        <p:nvSpPr>
          <p:cNvPr id="7" name="Text 5"/>
          <p:cNvSpPr/>
          <p:nvPr/>
        </p:nvSpPr>
        <p:spPr>
          <a:xfrm>
            <a:off x="822960" y="1298448"/>
            <a:ext cx="10588752" cy="4032504"/>
          </a:xfrm>
          <a:prstGeom prst="rect">
            <a:avLst/>
          </a:prstGeom>
          <a:noFill/>
          <a:ln/>
        </p:spPr>
        <p:txBody>
          <a:bodyPr wrap="square" rtlCol="0" anchor="t"/>
          <a:lstStyle/>
          <a:p>
            <a:pPr marL="0" indent="0">
              <a:buNone/>
            </a:pPr>
            <a:r>
              <a:rPr lang="en-US" sz="1350" dirty="0">
                <a:solidFill>
                  <a:srgbClr val="263238"/>
                </a:solidFill>
                <a:latin typeface="Courier New" pitchFamily="34" charset="0"/>
                <a:ea typeface="Courier New" pitchFamily="34" charset="-122"/>
                <a:cs typeface="Courier New" pitchFamily="34" charset="-120"/>
              </a:rPr>
              <a:t>@WebMvcTest(LibroController.class)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@AutoConfigureMockMvc(addFilters = false)</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class LibroControllerTest {</a:t>
            </a:r>
            <a:endParaRPr lang="en-US" sz="1350" dirty="0"/>
          </a:p>
          <a:p>
            <a:pPr marL="0" indent="0">
              <a:buNone/>
            </a:pP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@Autowired</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private MockMvc mockMvc;</a:t>
            </a:r>
            <a:endParaRPr lang="en-US" sz="1350" dirty="0"/>
          </a:p>
          <a:p>
            <a:pPr marL="0" indent="0">
              <a:buNone/>
            </a:pP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@MockitoBean</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private LibroService libroService;</a:t>
            </a:r>
            <a:endParaRPr lang="en-US" sz="1350" dirty="0"/>
          </a:p>
          <a:p>
            <a:pPr marL="0" indent="0">
              <a:buNone/>
            </a:pP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@Test</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void getAll_DebeDevolverListaDeLibros() throws Exception {</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var dto = new LibroResponseDTO(1L, "El nombre del viento", ...);</a:t>
            </a:r>
            <a:endParaRPr lang="en-US" sz="1350" dirty="0"/>
          </a:p>
          <a:p>
            <a:pPr marL="0" indent="0">
              <a:buNone/>
            </a:pP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when(libroService.findAll()).thenReturn(List.of(dto));</a:t>
            </a:r>
            <a:endParaRPr lang="en-US" sz="1350" dirty="0"/>
          </a:p>
          <a:p>
            <a:pPr marL="0" indent="0">
              <a:buNone/>
            </a:pP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mockMvc.perform(get("/api/v1/libros"))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.andExpect(status().isOk())</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.andExpect(jsonPath("$[0].titulo").value("El nombre del viento"));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Pieza a pieza (1/2): preparar el entorno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920240"/>
            <a:ext cx="11091672" cy="3657600"/>
          </a:xfrm>
          <a:prstGeom prst="rect">
            <a:avLst/>
          </a:prstGeom>
          <a:noFill/>
          <a:ln/>
        </p:spPr>
        <p:txBody>
          <a:bodyPr wrap="square" rtlCol="0" anchor="t"/>
          <a:lstStyle/>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@WebMvcTest(LibroController.class): prepara un entorno reducido para probar el controller sin arrancar toda la aplicación ni conectarse a una base de datos real. Spring carga solo lo necesario para recibir la petición, dirigirla y construir la respuesta.</a:t>
            </a:r>
            <a:endParaRPr lang="en-US" sz="1950" dirty="0"/>
          </a:p>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@AutoConfigureMockMvc(addFilters = false): desactiva los filtros de servlet que se aplican a cada petición — en concreto, los que añadirá Spring Security a partir del Tema 2. Sin este flag, en cuanto el proyecto tenga seguridad, estos tests fallarían con un 401 en vez del código que de verdad quieres comprobar.</a:t>
            </a:r>
            <a:endParaRPr lang="en-US" sz="1950" dirty="0"/>
          </a:p>
          <a:p>
            <a:pPr marL="190500" indent="-190500">
              <a:buSzPct val="100000"/>
              <a:buChar char="•"/>
            </a:pPr>
            <a:r>
              <a:rPr lang="en-US" sz="1950" dirty="0">
                <a:solidFill>
                  <a:srgbClr val="212121"/>
                </a:solidFill>
                <a:latin typeface="Arial" pitchFamily="34" charset="0"/>
                <a:ea typeface="Arial" pitchFamily="34" charset="-122"/>
                <a:cs typeface="Arial" pitchFamily="34" charset="-120"/>
              </a:rPr>
              <a:t>@MockitoBean private LibroService libroService: sustituye el service real por un mock, para decidir qué devolverá y comprobar únicamente cómo reacciona el controller.</a:t>
            </a:r>
            <a:endParaRPr lang="en-US" sz="1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Pieza a pieza (2/2): preparar - actuar - afirmar</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2103120"/>
            <a:ext cx="11091672" cy="3291840"/>
          </a:xfrm>
          <a:prstGeom prst="rect">
            <a:avLst/>
          </a:prstGeom>
          <a:noFill/>
          <a:ln/>
        </p:spPr>
        <p:txBody>
          <a:bodyPr wrap="square" rtlCol="0" anchor="t"/>
          <a:lstStyle/>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when(libroService.findAll()).thenReturn(List.of(dto)): la parte de preparar. Le dices al mock, explícitamente, qué debe devolver cuando alguien lo llame con findAll() — no hay ninguna base de datos decidiéndolo, decides tú, a mano, exactamente qué datos ve el controller.</a:t>
            </a:r>
            <a:endParaRPr lang="en-US" sz="1950" dirty="0"/>
          </a:p>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mockMvc.perform(get(...)): construye y envía una petición simulada — el equivalente, en código, al curl que ya conoces.</a:t>
            </a:r>
            <a:endParaRPr lang="en-US" sz="1950" dirty="0"/>
          </a:p>
          <a:p>
            <a:pPr marL="190500" indent="-190500">
              <a:buSzPct val="100000"/>
              <a:buChar char="•"/>
            </a:pPr>
            <a:r>
              <a:rPr lang="en-US" sz="1950" dirty="0">
                <a:solidFill>
                  <a:srgbClr val="212121"/>
                </a:solidFill>
                <a:latin typeface="Arial" pitchFamily="34" charset="0"/>
                <a:ea typeface="Arial" pitchFamily="34" charset="-122"/>
                <a:cs typeface="Arial" pitchFamily="34" charset="-120"/>
              </a:rPr>
              <a:t>.andExpect(status().isOk()) / .andExpect(jsonPath(...)): la parte de afirmar. jsonPath navega el cuerpo JSON de la respuesta como un mini-selector — aquí, $[0].titulo es el campo titulo del primer elemento del array que devuelve getAll().</a:t>
            </a:r>
            <a:endParaRPr lang="en-US" sz="1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Segundo ejemplo: cuando el mock no hace falta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1188720"/>
            <a:ext cx="11091672" cy="283464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188720"/>
            <a:ext cx="73152" cy="2834640"/>
          </a:xfrm>
          <a:prstGeom prst="rect">
            <a:avLst/>
          </a:prstGeom>
          <a:solidFill>
            <a:srgbClr val="FFA000"/>
          </a:solidFill>
          <a:ln w="12700">
            <a:solidFill>
              <a:srgbClr val="FFA000"/>
            </a:solidFill>
            <a:prstDash val="solid"/>
          </a:ln>
        </p:spPr>
        <p:txBody>
          <a:bodyPr/>
          <a:lstStyle/>
          <a:p>
            <a:endParaRPr lang="es-ES"/>
          </a:p>
        </p:txBody>
      </p:sp>
      <p:sp>
        <p:nvSpPr>
          <p:cNvPr id="7" name="Text 5"/>
          <p:cNvSpPr/>
          <p:nvPr/>
        </p:nvSpPr>
        <p:spPr>
          <a:xfrm>
            <a:off x="822960" y="1298448"/>
            <a:ext cx="10588752" cy="2615184"/>
          </a:xfrm>
          <a:prstGeom prst="rect">
            <a:avLst/>
          </a:prstGeom>
          <a:noFill/>
          <a:ln/>
        </p:spPr>
        <p:txBody>
          <a:bodyPr wrap="square" rtlCol="0" anchor="t"/>
          <a:lstStyle/>
          <a:p>
            <a:pPr marL="0" indent="0">
              <a:buNone/>
            </a:pPr>
            <a:r>
              <a:rPr lang="en-US" sz="1500" dirty="0">
                <a:solidFill>
                  <a:srgbClr val="263238"/>
                </a:solidFill>
                <a:latin typeface="Courier New" pitchFamily="34" charset="0"/>
                <a:ea typeface="Courier New" pitchFamily="34" charset="-122"/>
                <a:cs typeface="Courier New" pitchFamily="34" charset="-120"/>
              </a:rPr>
              <a:t>@Test</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void create_DebeDevolver400_CuandoElDtoNoEsValido() throws Exception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String body =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 "titulo": "", "precio": -5,</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"fechaPublicacion": null, "editorialId": -1 }</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a:t>
            </a:r>
            <a:endParaRPr lang="en-US" sz="1500" dirty="0"/>
          </a:p>
          <a:p>
            <a:pPr marL="0" indent="0">
              <a:buNone/>
            </a:pP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mockMvc.perform(post("/api/v1/libros")</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.contentType(MediaType.APPLICATION_JSON)</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.content(body))</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            .andExpect(status().isBadRequest());</a:t>
            </a:r>
            <a:endParaRPr lang="en-US" sz="1500" dirty="0"/>
          </a:p>
          <a:p>
            <a:pPr marL="0" indent="0">
              <a:buNone/>
            </a:pPr>
            <a:r>
              <a:rPr lang="en-US" sz="1500" dirty="0">
                <a:solidFill>
                  <a:srgbClr val="263238"/>
                </a:solidFill>
                <a:latin typeface="Courier New" pitchFamily="34" charset="0"/>
                <a:ea typeface="Courier New" pitchFamily="34" charset="-122"/>
                <a:cs typeface="Courier New" pitchFamily="34" charset="-120"/>
              </a:rPr>
              <a:t>}</a:t>
            </a:r>
            <a:endParaRPr lang="en-US" sz="1500" dirty="0"/>
          </a:p>
        </p:txBody>
      </p:sp>
      <p:sp>
        <p:nvSpPr>
          <p:cNvPr id="8" name="Text 6"/>
          <p:cNvSpPr/>
          <p:nvPr/>
        </p:nvSpPr>
        <p:spPr>
          <a:xfrm>
            <a:off x="548640" y="4297680"/>
            <a:ext cx="11091672" cy="1097280"/>
          </a:xfrm>
          <a:prstGeom prst="rect">
            <a:avLst/>
          </a:prstGeom>
          <a:noFill/>
          <a:ln/>
        </p:spPr>
        <p:txBody>
          <a:bodyPr wrap="square" rtlCol="0" anchor="t"/>
          <a:lstStyle/>
          <a:p>
            <a:pPr marL="0" indent="0">
              <a:buNone/>
            </a:pPr>
            <a:r>
              <a:rPr lang="en-US" sz="1650" dirty="0">
                <a:solidFill>
                  <a:srgbClr val="212121"/>
                </a:solidFill>
                <a:latin typeface="Arial" pitchFamily="34" charset="0"/>
                <a:ea typeface="Arial" pitchFamily="34" charset="-122"/>
                <a:cs typeface="Arial" pitchFamily="34" charset="-120"/>
              </a:rPr>
              <a:t>Fíjate en que este test no utiliza when(...). La validación de @Valid se ejecuta antes de que el controller llame a libroService.create(...): como el cuerpo incumple varias restricciones del DTO, Spring detiene la petición y responde 400 sin que el service llegue a intervenir.</a:t>
            </a:r>
            <a:endParaRPr lang="en-US" sz="1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Instruyendo al mock para que falle: thenThrow</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188720"/>
            <a:ext cx="11091672" cy="45720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thenReturn prepara un valor de éxito. Para el caso "no encontrado", preparas una excepción en su lugar:</a:t>
            </a:r>
            <a:endParaRPr lang="en-US" sz="1800" dirty="0"/>
          </a:p>
        </p:txBody>
      </p:sp>
      <p:sp>
        <p:nvSpPr>
          <p:cNvPr id="6" name="Shape 4"/>
          <p:cNvSpPr/>
          <p:nvPr/>
        </p:nvSpPr>
        <p:spPr>
          <a:xfrm>
            <a:off x="548640" y="1874520"/>
            <a:ext cx="11091672" cy="237744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874520"/>
            <a:ext cx="73152" cy="237744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1984248"/>
            <a:ext cx="10588752" cy="2157984"/>
          </a:xfrm>
          <a:prstGeom prst="rect">
            <a:avLst/>
          </a:prstGeom>
          <a:noFill/>
          <a:ln/>
        </p:spPr>
        <p:txBody>
          <a:bodyPr wrap="square" rtlCol="0" anchor="t"/>
          <a:lstStyle/>
          <a:p>
            <a:pPr marL="0" indent="0">
              <a:buNone/>
            </a:pPr>
            <a:r>
              <a:rPr lang="en-US" sz="1550" dirty="0">
                <a:solidFill>
                  <a:srgbClr val="263238"/>
                </a:solidFill>
                <a:latin typeface="Courier New" pitchFamily="34" charset="0"/>
                <a:ea typeface="Courier New" pitchFamily="34" charset="-122"/>
                <a:cs typeface="Courier New" pitchFamily="34" charset="-120"/>
              </a:rPr>
              <a:t>@Test</a:t>
            </a:r>
            <a:endParaRPr lang="en-US" sz="1550" dirty="0"/>
          </a:p>
          <a:p>
            <a:pPr marL="0" indent="0">
              <a:buNone/>
            </a:pPr>
            <a:r>
              <a:rPr lang="en-US" sz="1550" dirty="0">
                <a:solidFill>
                  <a:srgbClr val="263238"/>
                </a:solidFill>
                <a:latin typeface="Courier New" pitchFamily="34" charset="0"/>
                <a:ea typeface="Courier New" pitchFamily="34" charset="-122"/>
                <a:cs typeface="Courier New" pitchFamily="34" charset="-120"/>
              </a:rPr>
              <a:t>void getById_DebeDevolver404_CuandoNoExiste() throws Exception {</a:t>
            </a:r>
            <a:endParaRPr lang="en-US" sz="1550" dirty="0"/>
          </a:p>
          <a:p>
            <a:pPr marL="0" indent="0">
              <a:buNone/>
            </a:pPr>
            <a:r>
              <a:rPr lang="en-US" sz="1550" dirty="0">
                <a:solidFill>
                  <a:srgbClr val="263238"/>
                </a:solidFill>
                <a:latin typeface="Courier New" pitchFamily="34" charset="0"/>
                <a:ea typeface="Courier New" pitchFamily="34" charset="-122"/>
                <a:cs typeface="Courier New" pitchFamily="34" charset="-120"/>
              </a:rPr>
              <a:t>    when(libroService.findById(999L))</a:t>
            </a:r>
            <a:endParaRPr lang="en-US" sz="1550" dirty="0"/>
          </a:p>
          <a:p>
            <a:pPr marL="0" indent="0">
              <a:buNone/>
            </a:pPr>
            <a:r>
              <a:rPr lang="en-US" sz="1550" dirty="0">
                <a:solidFill>
                  <a:srgbClr val="263238"/>
                </a:solidFill>
                <a:latin typeface="Courier New" pitchFamily="34" charset="0"/>
                <a:ea typeface="Courier New" pitchFamily="34" charset="-122"/>
                <a:cs typeface="Courier New" pitchFamily="34" charset="-120"/>
              </a:rPr>
              <a:t>            .thenThrow(new ResponseStatusException(</a:t>
            </a:r>
            <a:endParaRPr lang="en-US" sz="1550" dirty="0"/>
          </a:p>
          <a:p>
            <a:pPr marL="0" indent="0">
              <a:buNone/>
            </a:pPr>
            <a:r>
              <a:rPr lang="en-US" sz="1550" dirty="0">
                <a:solidFill>
                  <a:srgbClr val="263238"/>
                </a:solidFill>
                <a:latin typeface="Courier New" pitchFamily="34" charset="0"/>
                <a:ea typeface="Courier New" pitchFamily="34" charset="-122"/>
                <a:cs typeface="Courier New" pitchFamily="34" charset="-120"/>
              </a:rPr>
              <a:t>                    HttpStatus.NOT_FOUND, "Libro no encontrado"));</a:t>
            </a:r>
            <a:endParaRPr lang="en-US" sz="1550" dirty="0"/>
          </a:p>
          <a:p>
            <a:pPr marL="0" indent="0">
              <a:buNone/>
            </a:pPr>
            <a:endParaRPr lang="en-US" sz="1550" dirty="0"/>
          </a:p>
          <a:p>
            <a:pPr marL="0" indent="0">
              <a:buNone/>
            </a:pPr>
            <a:r>
              <a:rPr lang="en-US" sz="1550" dirty="0">
                <a:solidFill>
                  <a:srgbClr val="263238"/>
                </a:solidFill>
                <a:latin typeface="Courier New" pitchFamily="34" charset="0"/>
                <a:ea typeface="Courier New" pitchFamily="34" charset="-122"/>
                <a:cs typeface="Courier New" pitchFamily="34" charset="-120"/>
              </a:rPr>
              <a:t>    mockMvc.perform(get("/api/v1/libros/999"))</a:t>
            </a:r>
            <a:endParaRPr lang="en-US" sz="1550" dirty="0"/>
          </a:p>
          <a:p>
            <a:pPr marL="0" indent="0">
              <a:buNone/>
            </a:pPr>
            <a:r>
              <a:rPr lang="en-US" sz="1550" dirty="0">
                <a:solidFill>
                  <a:srgbClr val="263238"/>
                </a:solidFill>
                <a:latin typeface="Courier New" pitchFamily="34" charset="0"/>
                <a:ea typeface="Courier New" pitchFamily="34" charset="-122"/>
                <a:cs typeface="Courier New" pitchFamily="34" charset="-120"/>
              </a:rPr>
              <a:t>            .andExpect(status().isNotFound());</a:t>
            </a:r>
            <a:endParaRPr lang="en-US" sz="1550" dirty="0"/>
          </a:p>
          <a:p>
            <a:pPr marL="0" indent="0">
              <a:buNone/>
            </a:pPr>
            <a:r>
              <a:rPr lang="en-US" sz="1550" dirty="0">
                <a:solidFill>
                  <a:srgbClr val="263238"/>
                </a:solidFill>
                <a:latin typeface="Courier New" pitchFamily="34" charset="0"/>
                <a:ea typeface="Courier New" pitchFamily="34" charset="-122"/>
                <a:cs typeface="Courier New" pitchFamily="34" charset="-120"/>
              </a:rPr>
              <a:t>}</a:t>
            </a:r>
            <a:endParaRPr lang="en-US" sz="1550" dirty="0"/>
          </a:p>
        </p:txBody>
      </p:sp>
      <p:sp>
        <p:nvSpPr>
          <p:cNvPr id="9" name="Text 7"/>
          <p:cNvSpPr/>
          <p:nvPr/>
        </p:nvSpPr>
        <p:spPr>
          <a:xfrm>
            <a:off x="548640" y="4526280"/>
            <a:ext cx="11091672" cy="77724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.thenThrow(...) en vez de .thenReturn(...): en vez de decirle al mock qué devolver, le dices qué excepción lanzar. Reproduce, sin tocar la base de datos, el mismo camino que ya conoces del orElseThrow(...) real de LibroService.</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¿Y el test de integración completo?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265176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743200"/>
            <a:ext cx="10543032" cy="164592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Existe otro tipo de test, con @Testcontainers, que levanta bases de datos reales en contenedores Docker solo para la duración del test — no mockea nada. Lo trabajarás a fondo en Acceso a Datos; aquí basta con que sitúes los dos niveles: @WebMvcTest prueba una capa aislada y rápida, un test de integración prueba varias piezas reales trabajando juntas y es más lento pero da más confianza sobre el sistema completo.</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Lo que viene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Shape 3"/>
          <p:cNvSpPr/>
          <p:nvPr/>
        </p:nvSpPr>
        <p:spPr>
          <a:xfrm>
            <a:off x="548640" y="256032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651760"/>
            <a:ext cx="10543032" cy="15544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Tu propio proyecto ya tiene el CRUD completo de Videojuego y de Estudio, documentado además con @ApiResponses (Actividad 1.2) — en la Actividad 1.3 no construyes ningún endpoint nuevo, escribes los tests MockMvc que comprueban con código que esos mismos códigos que has documentado (200, 201, 400, 404...) son, de verdad, los que tu API devuelve. La Actividad 1.4 cierra el tema con dos piezas más: cuánto tarda tu API en atender varias peticiones a la vez, y Actuator.</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Ideas clave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2011680"/>
            <a:ext cx="11091672" cy="3383280"/>
          </a:xfrm>
          <a:prstGeom prst="rect">
            <a:avLst/>
          </a:prstGeom>
          <a:noFill/>
          <a:ln/>
        </p:spPr>
        <p:txBody>
          <a:bodyPr wrap="square" rtlCol="0" anchor="t"/>
          <a:lstStyle/>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Un test automatizado comprueba comportamiento sin intervención humana, y se puede repetir en cada cambio; sigue el patrón preparar-actuar-afirmar. assertEquals(esperado, actual): el orden importa para que el mensaje de error, si falla, se lea bien.</a:t>
            </a:r>
            <a:endParaRPr lang="en-US" sz="1950" dirty="0"/>
          </a:p>
          <a:p>
            <a:pPr marL="190500" indent="-190500">
              <a:spcAft>
                <a:spcPts val="2200"/>
              </a:spcAft>
              <a:buSzPct val="100000"/>
              <a:buChar char="•"/>
            </a:pPr>
            <a:r>
              <a:rPr lang="en-US" sz="1950" dirty="0">
                <a:solidFill>
                  <a:srgbClr val="212121"/>
                </a:solidFill>
                <a:latin typeface="Arial" pitchFamily="34" charset="0"/>
                <a:ea typeface="Arial" pitchFamily="34" charset="-122"/>
                <a:cs typeface="Arial" pitchFamily="34" charset="-120"/>
              </a:rPr>
              <a:t>Un mock es un objeto falso que sustituye a una dependencia real, programado por ti (when(...).thenReturn(...)) para aislar lo que quieres probar de todo lo demás.</a:t>
            </a:r>
            <a:endParaRPr lang="en-US" sz="1950" dirty="0"/>
          </a:p>
          <a:p>
            <a:pPr marL="190500" indent="-190500">
              <a:buSzPct val="100000"/>
              <a:buChar char="•"/>
            </a:pPr>
            <a:r>
              <a:rPr lang="en-US" sz="1950" dirty="0">
                <a:solidFill>
                  <a:srgbClr val="212121"/>
                </a:solidFill>
                <a:latin typeface="Arial" pitchFamily="34" charset="0"/>
                <a:ea typeface="Arial" pitchFamily="34" charset="-122"/>
                <a:cs typeface="Arial" pitchFamily="34" charset="-120"/>
              </a:rPr>
              <a:t>Un test aislado se centra en una parte concreta de la aplicación y sustituye sus dependencias mediante mocks. Un test de integración prueba varias piezas reales funcionando juntas.</a:t>
            </a:r>
            <a:endParaRPr lang="en-US" sz="1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Ideas clave (cont.)</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Probar servicios con MockMvc</a:t>
            </a:r>
            <a:endParaRPr lang="en-US" sz="1100" dirty="0"/>
          </a:p>
        </p:txBody>
      </p:sp>
      <p:sp>
        <p:nvSpPr>
          <p:cNvPr id="5" name="Text 3"/>
          <p:cNvSpPr/>
          <p:nvPr/>
        </p:nvSpPr>
        <p:spPr>
          <a:xfrm>
            <a:off x="548640" y="1920240"/>
            <a:ext cx="11091672" cy="3566160"/>
          </a:xfrm>
          <a:prstGeom prst="rect">
            <a:avLst/>
          </a:prstGeom>
          <a:noFill/>
          <a:ln/>
        </p:spPr>
        <p:txBody>
          <a:bodyPr wrap="square" rtlCol="0" anchor="t"/>
          <a:lstStyle/>
          <a:p>
            <a:pPr marL="190500" indent="-190500">
              <a:spcAft>
                <a:spcPts val="2200"/>
              </a:spcAft>
              <a:buSzPct val="100000"/>
              <a:buChar char="•"/>
            </a:pPr>
            <a:r>
              <a:rPr lang="en-US" sz="1800" dirty="0">
                <a:solidFill>
                  <a:srgbClr val="212121"/>
                </a:solidFill>
                <a:latin typeface="Arial" pitchFamily="34" charset="0"/>
                <a:ea typeface="Arial" pitchFamily="34" charset="-122"/>
                <a:cs typeface="Arial" pitchFamily="34" charset="-120"/>
              </a:rPr>
              <a:t>MockMvc simula peticiones HTTP contra tus controladores sin arrancar un servidor real — un cliente HTTP programable y repetible.</a:t>
            </a:r>
            <a:endParaRPr lang="en-US" sz="1800" dirty="0"/>
          </a:p>
          <a:p>
            <a:pPr marL="190500" indent="-190500">
              <a:spcAft>
                <a:spcPts val="2200"/>
              </a:spcAft>
              <a:buSzPct val="100000"/>
              <a:buChar char="•"/>
            </a:pPr>
            <a:r>
              <a:rPr lang="en-US" sz="1800" dirty="0">
                <a:solidFill>
                  <a:srgbClr val="212121"/>
                </a:solidFill>
                <a:latin typeface="Arial" pitchFamily="34" charset="0"/>
                <a:ea typeface="Arial" pitchFamily="34" charset="-122"/>
                <a:cs typeface="Arial" pitchFamily="34" charset="-120"/>
              </a:rPr>
              <a:t>@WebMvcTest arranca solo la capa web; @AutoConfigureMockMvc(addFilters = false) desactiva los filtros de seguridad; @MockitoBean sustituye una dependencia por un mock; mockMvc.perform(...).andExpect(...) construye la petición y afirma el resultado; jsonPath navega el cuerpo JSON.</a:t>
            </a:r>
            <a:endParaRPr lang="en-US" sz="1800" dirty="0"/>
          </a:p>
          <a:p>
            <a:pPr marL="190500" indent="-190500">
              <a:buSzPct val="100000"/>
              <a:buChar char="•"/>
            </a:pPr>
            <a:r>
              <a:rPr lang="en-US" sz="1800" dirty="0">
                <a:solidFill>
                  <a:srgbClr val="212121"/>
                </a:solidFill>
                <a:latin typeface="Arial" pitchFamily="34" charset="0"/>
                <a:ea typeface="Arial" pitchFamily="34" charset="-122"/>
                <a:cs typeface="Arial" pitchFamily="34" charset="-120"/>
              </a:rPr>
              <a:t>when(mock.metodo(...)).thenReturn(valor) prepara un valor de éxito; .thenThrow(excepcion) prepara que el mock lance una excepción (el mismo camino que orElseThrow(...) en el service real). No todos los tests necesitan when(...): uno que verifica @Valid puede fallar antes de llegar al service.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2585</Words>
  <Application>Microsoft Office PowerPoint</Application>
  <PresentationFormat>Panorámica</PresentationFormat>
  <Paragraphs>180</Paragraphs>
  <Slides>23</Slides>
  <Notes>23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23</vt:i4>
      </vt:variant>
    </vt:vector>
  </HeadingPairs>
  <TitlesOfParts>
    <vt:vector size="26"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Probar servicios con MockMvc</dc:title>
  <dc:subject>PptxGenJS Presentation</dc:subject>
  <dc:creator>Programación de Servicios y Procesos</dc:creator>
  <cp:lastModifiedBy>VENTURA EDO, AITOR</cp:lastModifiedBy>
  <cp:revision>2</cp:revision>
  <dcterms:created xsi:type="dcterms:W3CDTF">2026-08-06T15:34:51Z</dcterms:created>
  <dcterms:modified xsi:type="dcterms:W3CDTF">2026-08-07T13:59:36Z</dcterms:modified>
</cp:coreProperties>
</file>