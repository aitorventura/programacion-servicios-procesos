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12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848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1: GENERACIÓN DE SERVICIOS EN RED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servicios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MockMvc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Probar servicios con MockMvc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3074560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/>
              </a:rPr>
              <a:t>Objetivo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de la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sesión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757575"/>
                </a:solidFill>
                <a:latin typeface="Arial"/>
              </a:rPr>
              <a:t>Programación de Servicios y Procesos — Tema 1: Probar servicios con MockMvc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8356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4E342E"/>
                </a:solidFill>
                <a:latin typeface="Arial"/>
              </a:rPr>
              <a:t>Pasar de “lo pruebo a mano” a “lo compruebo automáticamente”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983480" cy="5486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2200" b="1">
                <a:solidFill>
                  <a:srgbClr val="4E342E"/>
                </a:solidFill>
                <a:latin typeface="Arial"/>
              </a:rPr>
              <a:t>Prueba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4617720" cy="1211614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 err="1"/>
              <a:t>Abrir</a:t>
            </a:r>
            <a:r>
              <a:rPr dirty="0"/>
              <a:t> Swagger UI o </a:t>
            </a:r>
            <a:r>
              <a:rPr dirty="0" err="1"/>
              <a:t>escribir</a:t>
            </a:r>
            <a:r>
              <a:rPr dirty="0"/>
              <a:t> curl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 err="1"/>
              <a:t>Repetir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mismos</a:t>
            </a:r>
            <a:r>
              <a:rPr dirty="0"/>
              <a:t> pasos </a:t>
            </a:r>
            <a:r>
              <a:rPr dirty="0" err="1"/>
              <a:t>tras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cambio</a:t>
            </a:r>
            <a:endParaRPr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 err="1"/>
              <a:t>Depender</a:t>
            </a:r>
            <a:r>
              <a:rPr dirty="0"/>
              <a:t> de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alguien</a:t>
            </a:r>
            <a:r>
              <a:rPr dirty="0"/>
              <a:t> </a:t>
            </a:r>
            <a:r>
              <a:rPr dirty="0" err="1"/>
              <a:t>recuerde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comprobar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428232" y="1828800"/>
            <a:ext cx="4983480" cy="548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2200" b="1">
                <a:solidFill>
                  <a:srgbClr val="2E7D32"/>
                </a:solidFill>
                <a:latin typeface="Arial"/>
              </a:rPr>
              <a:t>Test automatizado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8102" y="2606040"/>
            <a:ext cx="4417119" cy="1211614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comprobación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escrita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código</a:t>
            </a:r>
            <a:endParaRPr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/>
              <a:t>Se </a:t>
            </a:r>
            <a:r>
              <a:rPr dirty="0" err="1"/>
              <a:t>ejecuta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segundos</a:t>
            </a:r>
            <a:r>
              <a:rPr dirty="0"/>
              <a:t> y </a:t>
            </a:r>
            <a:r>
              <a:rPr dirty="0" err="1"/>
              <a:t>siempre</a:t>
            </a:r>
            <a:r>
              <a:rPr dirty="0"/>
              <a:t> </a:t>
            </a:r>
            <a:r>
              <a:rPr dirty="0" err="1"/>
              <a:t>igual</a:t>
            </a:r>
            <a:endParaRPr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lanzarse</a:t>
            </a:r>
            <a:r>
              <a:rPr dirty="0"/>
              <a:t> </a:t>
            </a:r>
            <a:r>
              <a:rPr dirty="0" err="1"/>
              <a:t>localmente</a:t>
            </a:r>
            <a:r>
              <a:rPr dirty="0"/>
              <a:t> o </a:t>
            </a:r>
            <a:r>
              <a:rPr dirty="0" err="1"/>
              <a:t>desde</a:t>
            </a:r>
            <a:r>
              <a:rPr dirty="0"/>
              <a:t> CI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EEDF1F3E-6836-658B-DA6B-03A60285F1F9}"/>
              </a:ext>
            </a:extLst>
          </p:cNvPr>
          <p:cNvGrpSpPr/>
          <p:nvPr/>
        </p:nvGrpSpPr>
        <p:grpSpPr>
          <a:xfrm>
            <a:off x="2249424" y="4421124"/>
            <a:ext cx="7708392" cy="502920"/>
            <a:chOff x="1051560" y="4709160"/>
            <a:chExt cx="7708392" cy="502920"/>
          </a:xfrm>
        </p:grpSpPr>
        <p:sp>
          <p:nvSpPr>
            <p:cNvPr id="10" name="Rounded Rectangle 9"/>
            <p:cNvSpPr/>
            <p:nvPr/>
          </p:nvSpPr>
          <p:spPr>
            <a:xfrm>
              <a:off x="1051560" y="4709160"/>
              <a:ext cx="2011680" cy="502920"/>
            </a:xfrm>
            <a:prstGeom prst="roundRect">
              <a:avLst/>
            </a:prstGeom>
            <a:solidFill>
              <a:srgbClr val="FFF3E0"/>
            </a:solidFill>
            <a:ln w="12700">
              <a:solidFill>
                <a:srgbClr val="FFA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sz="1600" b="1" dirty="0">
                  <a:solidFill>
                    <a:srgbClr val="4E342E"/>
                  </a:solidFill>
                  <a:latin typeface="Arial"/>
                </a:rPr>
                <a:t>curl / Swagger UI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82112" y="4709160"/>
              <a:ext cx="502920" cy="502920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ctr"/>
              <a:r>
                <a:rPr sz="2600" b="1">
                  <a:solidFill>
                    <a:srgbClr val="FFA000"/>
                  </a:solidFill>
                  <a:latin typeface="Arial"/>
                </a:rPr>
                <a:t>→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767328" y="4709160"/>
              <a:ext cx="2103120" cy="502920"/>
            </a:xfrm>
            <a:prstGeom prst="roundRect">
              <a:avLst/>
            </a:prstGeom>
            <a:solidFill>
              <a:srgbClr val="E3F2FD"/>
            </a:solidFill>
            <a:ln w="12700">
              <a:solidFill>
                <a:srgbClr val="1565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sz="1600" b="1" dirty="0">
                  <a:solidFill>
                    <a:srgbClr val="1565C0"/>
                  </a:solidFill>
                  <a:latin typeface="Arial"/>
                </a:rPr>
                <a:t>JUnit + </a:t>
              </a:r>
              <a:r>
                <a:rPr sz="1600" b="1" dirty="0" err="1">
                  <a:solidFill>
                    <a:srgbClr val="1565C0"/>
                  </a:solidFill>
                  <a:latin typeface="Arial"/>
                </a:rPr>
                <a:t>MockMvc</a:t>
              </a:r>
              <a:endParaRPr sz="1600" b="1" dirty="0">
                <a:solidFill>
                  <a:srgbClr val="1565C0"/>
                </a:solidFill>
                <a:latin typeface="Arial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89320" y="4709160"/>
              <a:ext cx="502920" cy="502920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ctr"/>
              <a:r>
                <a:rPr sz="2600" b="1">
                  <a:solidFill>
                    <a:srgbClr val="FFA000"/>
                  </a:solidFill>
                  <a:latin typeface="Arial"/>
                </a:rPr>
                <a:t>→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565392" y="4709160"/>
              <a:ext cx="2194560" cy="502920"/>
            </a:xfrm>
            <a:prstGeom prst="roundRect">
              <a:avLst/>
            </a:prstGeom>
            <a:solidFill>
              <a:srgbClr val="E8F5E9"/>
            </a:solidFill>
            <a:ln w="1270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sz="1600" b="1" dirty="0" err="1">
                  <a:solidFill>
                    <a:srgbClr val="2E7D32"/>
                  </a:solidFill>
                  <a:latin typeface="Arial"/>
                </a:rPr>
                <a:t>regresión</a:t>
              </a:r>
              <a:r>
                <a:rPr sz="1600" b="1" dirty="0">
                  <a:solidFill>
                    <a:srgbClr val="2E7D32"/>
                  </a:solidFill>
                  <a:latin typeface="Arial"/>
                </a:rPr>
                <a:t> </a:t>
              </a:r>
              <a:r>
                <a:rPr sz="1600" b="1" dirty="0" err="1">
                  <a:solidFill>
                    <a:srgbClr val="2E7D32"/>
                  </a:solidFill>
                  <a:latin typeface="Arial"/>
                </a:rPr>
                <a:t>repetible</a:t>
              </a:r>
              <a:endParaRPr sz="1600" b="1" dirty="0">
                <a:solidFill>
                  <a:srgbClr val="2E7D32"/>
                </a:solidFill>
                <a:latin typeface="Arial"/>
              </a:endParaRP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1143000" y="5486400"/>
            <a:ext cx="9921240" cy="502920"/>
          </a:xfrm>
          <a:prstGeom prst="roundRect">
            <a:avLst/>
          </a:prstGeom>
          <a:solidFill>
            <a:srgbClr val="4E342E"/>
          </a:solidFill>
          <a:ln w="12700"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rial"/>
              </a:rPr>
              <a:t>Idea clave: el test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convierte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una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expectativa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en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una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comprobación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ejecutable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5007781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/>
              </a:rPr>
              <a:t>Anatomía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de un test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automatizado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dirty="0" err="1">
                <a:solidFill>
                  <a:srgbClr val="757575"/>
                </a:solidFill>
                <a:latin typeface="Arial"/>
              </a:rPr>
              <a:t>Programación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y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Procesos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— Tema 1: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Probar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con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MockMvc</a:t>
            </a:r>
            <a:endParaRPr sz="1100" b="0" dirty="0">
              <a:solidFill>
                <a:srgbClr val="757575"/>
              </a:solidFill>
              <a:latin typeface="Arial"/>
            </a:endParaRPr>
          </a:p>
        </p:txBody>
      </p:sp>
      <p:pic>
        <p:nvPicPr>
          <p:cNvPr id="6" name="Picture 5" descr="anatomía_visual_de_un_test_automatiz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532" y="850392"/>
            <a:ext cx="9943385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3951403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/>
              </a:rPr>
              <a:t>Dependencia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real vs. mock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dirty="0" err="1">
                <a:solidFill>
                  <a:srgbClr val="757575"/>
                </a:solidFill>
                <a:latin typeface="Arial"/>
              </a:rPr>
              <a:t>Programación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y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Procesos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— Tema 1: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Probar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con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MockMvc</a:t>
            </a:r>
            <a:endParaRPr sz="1100" b="0" dirty="0">
              <a:solidFill>
                <a:srgbClr val="757575"/>
              </a:solidFill>
              <a:latin typeface="Arial"/>
            </a:endParaRPr>
          </a:p>
        </p:txBody>
      </p:sp>
      <p:pic>
        <p:nvPicPr>
          <p:cNvPr id="6" name="Picture 5" descr="dependencia_real_vs_mock_en_ja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950" y="836444"/>
            <a:ext cx="7480099" cy="5610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508754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Arial"/>
              </a:rPr>
              <a:t>Test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aislado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vs. test de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integración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dirty="0" err="1">
                <a:solidFill>
                  <a:srgbClr val="757575"/>
                </a:solidFill>
                <a:latin typeface="Arial"/>
              </a:rPr>
              <a:t>Programación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y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Procesos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— Tema 1: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Probar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con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MockMvc</a:t>
            </a:r>
            <a:endParaRPr sz="1100" b="0" dirty="0">
              <a:solidFill>
                <a:srgbClr val="757575"/>
              </a:solidFill>
              <a:latin typeface="Arial"/>
            </a:endParaRPr>
          </a:p>
        </p:txBody>
      </p:sp>
      <p:pic>
        <p:nvPicPr>
          <p:cNvPr id="6" name="Picture 5" descr="a_wide_colorful_educational_infographic_in_span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482" y="812868"/>
            <a:ext cx="8397035" cy="55980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5840573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/>
              </a:rPr>
              <a:t>MockMvc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: un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cliente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HTTP programable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dirty="0" err="1">
                <a:solidFill>
                  <a:srgbClr val="757575"/>
                </a:solidFill>
                <a:latin typeface="Arial"/>
              </a:rPr>
              <a:t>Programación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y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Procesos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— Tema 1: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Probar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con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MockMvc</a:t>
            </a:r>
            <a:endParaRPr sz="1100" b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5276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4E342E"/>
                </a:solidFill>
                <a:latin typeface="Arial"/>
              </a:rPr>
              <a:t>Tres formas de enviar una petición a la misma API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CA025034-E847-030B-4C49-D4DB9C7DB7CA}"/>
              </a:ext>
            </a:extLst>
          </p:cNvPr>
          <p:cNvGrpSpPr/>
          <p:nvPr/>
        </p:nvGrpSpPr>
        <p:grpSpPr>
          <a:xfrm>
            <a:off x="1112520" y="1874519"/>
            <a:ext cx="10140070" cy="4014217"/>
            <a:chOff x="731520" y="1874519"/>
            <a:chExt cx="10140070" cy="4014217"/>
          </a:xfrm>
        </p:grpSpPr>
        <p:sp>
          <p:nvSpPr>
            <p:cNvPr id="6" name="Rounded Rectangle 5"/>
            <p:cNvSpPr/>
            <p:nvPr/>
          </p:nvSpPr>
          <p:spPr>
            <a:xfrm>
              <a:off x="731520" y="1874519"/>
              <a:ext cx="2743200" cy="594360"/>
            </a:xfrm>
            <a:prstGeom prst="roundRect">
              <a:avLst/>
            </a:prstGeom>
            <a:solidFill>
              <a:srgbClr val="FFF3E0"/>
            </a:solidFill>
            <a:ln w="12700">
              <a:solidFill>
                <a:srgbClr val="FFA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sz="2400" b="1" dirty="0">
                  <a:solidFill>
                    <a:srgbClr val="FFA000"/>
                  </a:solidFill>
                  <a:latin typeface="Arial"/>
                </a:rPr>
                <a:t>curl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2578608"/>
              <a:ext cx="2743200" cy="411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212121"/>
                  </a:solidFill>
                  <a:latin typeface="Arial"/>
                </a:rPr>
                <a:t>Manual · terminal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069080" y="1874519"/>
              <a:ext cx="2743200" cy="594360"/>
            </a:xfrm>
            <a:prstGeom prst="roundRect">
              <a:avLst/>
            </a:prstGeom>
            <a:solidFill>
              <a:srgbClr val="E3F2FD"/>
            </a:solidFill>
            <a:ln w="12700">
              <a:solidFill>
                <a:srgbClr val="1565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sz="2400" b="1">
                  <a:solidFill>
                    <a:srgbClr val="1565C0"/>
                  </a:solidFill>
                  <a:latin typeface="Arial"/>
                </a:rPr>
                <a:t>Swagger UI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69080" y="2578608"/>
              <a:ext cx="2743200" cy="411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212121"/>
                  </a:solidFill>
                  <a:latin typeface="Arial"/>
                </a:rPr>
                <a:t>Manual · navegador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06640" y="1874519"/>
              <a:ext cx="2743200" cy="594360"/>
            </a:xfrm>
            <a:prstGeom prst="roundRect">
              <a:avLst/>
            </a:prstGeom>
            <a:solidFill>
              <a:srgbClr val="E8F5E9"/>
            </a:solidFill>
            <a:ln w="1270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sz="2400" b="1">
                  <a:solidFill>
                    <a:srgbClr val="2E7D32"/>
                  </a:solidFill>
                  <a:latin typeface="Arial"/>
                </a:rPr>
                <a:t>MockMvc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06640" y="2578608"/>
              <a:ext cx="2743200" cy="411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212121"/>
                  </a:solidFill>
                  <a:latin typeface="Arial"/>
                </a:rPr>
                <a:t>Automático · Java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22960" y="3337560"/>
              <a:ext cx="3017520" cy="50292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4E342E"/>
                  </a:solidFill>
                  <a:latin typeface="Arial"/>
                </a:rPr>
                <a:t>¿Qué aporta MockMvc?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3913632"/>
              <a:ext cx="4800600" cy="1691640"/>
            </a:xfrm>
            <a:prstGeom prst="rect">
              <a:avLst/>
            </a:prstGeom>
            <a:noFill/>
          </p:spPr>
          <p:txBody>
            <a:bodyPr wrap="square" lIns="36576" tIns="18288" rIns="18288" bIns="18288">
              <a:spAutoFit/>
            </a:bodyPr>
            <a:lstStyle/>
            <a:p>
              <a:pPr>
                <a:spcAft>
                  <a:spcPts val="500"/>
                </a:spcAft>
                <a:defRPr sz="1700">
                  <a:solidFill>
                    <a:srgbClr val="212121"/>
                  </a:solidFill>
                  <a:latin typeface="Arial"/>
                </a:defRPr>
              </a:pPr>
              <a:r>
                <a:t>•  No necesita un servidor HTTP real</a:t>
              </a:r>
            </a:p>
            <a:p>
              <a:pPr>
                <a:spcAft>
                  <a:spcPts val="500"/>
                </a:spcAft>
                <a:defRPr sz="1700">
                  <a:solidFill>
                    <a:srgbClr val="212121"/>
                  </a:solidFill>
                  <a:latin typeface="Arial"/>
                </a:defRPr>
              </a:pPr>
              <a:r>
                <a:t>•  Permite expresar la petición con código</a:t>
              </a:r>
            </a:p>
            <a:p>
              <a:pPr>
                <a:spcAft>
                  <a:spcPts val="500"/>
                </a:spcAft>
                <a:defRPr sz="1700">
                  <a:solidFill>
                    <a:srgbClr val="212121"/>
                  </a:solidFill>
                  <a:latin typeface="Arial"/>
                </a:defRPr>
              </a:pPr>
              <a:r>
                <a:t>•  Comprueba estado, cabeceras y JSON</a:t>
              </a:r>
            </a:p>
            <a:p>
              <a:pPr>
                <a:spcAft>
                  <a:spcPts val="500"/>
                </a:spcAft>
                <a:defRPr sz="1700">
                  <a:solidFill>
                    <a:srgbClr val="212121"/>
                  </a:solidFill>
                  <a:latin typeface="Arial"/>
                </a:defRPr>
              </a:pPr>
              <a:r>
                <a:t>•  Es rápido, repetible y automatizable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400800" y="3657600"/>
              <a:ext cx="4297680" cy="594360"/>
            </a:xfrm>
            <a:prstGeom prst="roundRect">
              <a:avLst/>
            </a:prstGeom>
            <a:solidFill>
              <a:srgbClr val="FFEBEE"/>
            </a:solidFill>
            <a:ln w="12700">
              <a:solidFill>
                <a:srgbClr val="C6282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sz="2000" b="1" dirty="0">
                  <a:solidFill>
                    <a:srgbClr val="C62828"/>
                  </a:solidFill>
                  <a:latin typeface="Arial"/>
                </a:rPr>
                <a:t>No hay </a:t>
              </a:r>
              <a:r>
                <a:rPr sz="2000" b="1" dirty="0" err="1">
                  <a:solidFill>
                    <a:srgbClr val="C62828"/>
                  </a:solidFill>
                  <a:latin typeface="Arial"/>
                </a:rPr>
                <a:t>puerto</a:t>
              </a:r>
              <a:r>
                <a:rPr sz="2000" b="1" dirty="0">
                  <a:solidFill>
                    <a:srgbClr val="C62828"/>
                  </a:solidFill>
                  <a:latin typeface="Arial"/>
                </a:rPr>
                <a:t> 8080 real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27690" y="4480560"/>
              <a:ext cx="4643900" cy="26161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700" b="0" dirty="0">
                  <a:solidFill>
                    <a:srgbClr val="212121"/>
                  </a:solidFill>
                  <a:latin typeface="Arial"/>
                </a:rPr>
                <a:t>La </a:t>
              </a:r>
              <a:r>
                <a:rPr sz="1700" b="0" dirty="0" err="1">
                  <a:solidFill>
                    <a:srgbClr val="212121"/>
                  </a:solidFill>
                  <a:latin typeface="Arial"/>
                </a:rPr>
                <a:t>petición</a:t>
              </a:r>
              <a:r>
                <a:rPr sz="1700" b="0" dirty="0">
                  <a:solidFill>
                    <a:srgbClr val="212121"/>
                  </a:solidFill>
                  <a:latin typeface="Arial"/>
                </a:rPr>
                <a:t> se </a:t>
              </a:r>
              <a:r>
                <a:rPr sz="1700" b="0" dirty="0" err="1">
                  <a:solidFill>
                    <a:srgbClr val="212121"/>
                  </a:solidFill>
                  <a:latin typeface="Arial"/>
                </a:rPr>
                <a:t>procesa</a:t>
              </a:r>
              <a:r>
                <a:rPr sz="1700" b="0" dirty="0">
                  <a:solidFill>
                    <a:srgbClr val="212121"/>
                  </a:solidFill>
                  <a:latin typeface="Arial"/>
                </a:rPr>
                <a:t> </a:t>
              </a:r>
              <a:r>
                <a:rPr sz="1700" b="0" dirty="0" err="1">
                  <a:solidFill>
                    <a:srgbClr val="212121"/>
                  </a:solidFill>
                  <a:latin typeface="Arial"/>
                </a:rPr>
                <a:t>dentro</a:t>
              </a:r>
              <a:r>
                <a:rPr sz="1700" b="0" dirty="0">
                  <a:solidFill>
                    <a:srgbClr val="212121"/>
                  </a:solidFill>
                  <a:latin typeface="Arial"/>
                </a:rPr>
                <a:t> del </a:t>
              </a:r>
              <a:r>
                <a:rPr sz="1700" b="0" dirty="0" err="1">
                  <a:solidFill>
                    <a:srgbClr val="212121"/>
                  </a:solidFill>
                  <a:latin typeface="Arial"/>
                </a:rPr>
                <a:t>proceso</a:t>
              </a:r>
              <a:r>
                <a:rPr sz="1700" b="0" dirty="0">
                  <a:solidFill>
                    <a:srgbClr val="212121"/>
                  </a:solidFill>
                  <a:latin typeface="Arial"/>
                </a:rPr>
                <a:t> Java.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92240" y="5230368"/>
              <a:ext cx="4114800" cy="658368"/>
            </a:xfrm>
            <a:prstGeom prst="roundRect">
              <a:avLst/>
            </a:prstGeom>
            <a:solidFill>
              <a:srgbClr val="4E342E"/>
            </a:solidFill>
            <a:ln w="12700">
              <a:solidFill>
                <a:srgbClr val="4E342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sz="1600" b="1" dirty="0" err="1">
                  <a:solidFill>
                    <a:srgbClr val="FFFFFF"/>
                  </a:solidFill>
                  <a:latin typeface="Arial"/>
                </a:rPr>
                <a:t>MockMvc</a:t>
              </a:r>
              <a:r>
                <a:rPr sz="1600" b="1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1600" b="1" dirty="0" err="1">
                  <a:solidFill>
                    <a:srgbClr val="FFFFFF"/>
                  </a:solidFill>
                  <a:latin typeface="Arial"/>
                </a:rPr>
                <a:t>prueba</a:t>
              </a:r>
              <a:r>
                <a:rPr sz="1600" b="1" dirty="0">
                  <a:solidFill>
                    <a:srgbClr val="FFFFFF"/>
                  </a:solidFill>
                  <a:latin typeface="Arial"/>
                </a:rPr>
                <a:t> la </a:t>
              </a:r>
              <a:r>
                <a:rPr sz="1600" b="1" dirty="0" err="1">
                  <a:solidFill>
                    <a:srgbClr val="FFFFFF"/>
                  </a:solidFill>
                  <a:latin typeface="Arial"/>
                </a:rPr>
                <a:t>capa</a:t>
              </a:r>
              <a:r>
                <a:rPr sz="1600" b="1" dirty="0">
                  <a:solidFill>
                    <a:srgbClr val="FFFFFF"/>
                  </a:solidFill>
                  <a:latin typeface="Arial"/>
                </a:rPr>
                <a:t> web sin </a:t>
              </a:r>
              <a:r>
                <a:rPr sz="1600" b="1" dirty="0" err="1">
                  <a:solidFill>
                    <a:srgbClr val="FFFFFF"/>
                  </a:solidFill>
                  <a:latin typeface="Arial"/>
                </a:rPr>
                <a:t>depender</a:t>
              </a:r>
              <a:r>
                <a:rPr sz="1600" b="1" dirty="0">
                  <a:solidFill>
                    <a:srgbClr val="FFFFFF"/>
                  </a:solidFill>
                  <a:latin typeface="Arial"/>
                </a:rPr>
                <a:t> de red externa.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5451813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/>
              </a:rPr>
              <a:t>Cómo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viaja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una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petición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en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MockMvc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757575"/>
                </a:solidFill>
                <a:latin typeface="Arial"/>
              </a:rPr>
              <a:t>Programación de Servicios y Procesos — Tema 1: Probar servicios con MockMvc</a:t>
            </a:r>
          </a:p>
        </p:txBody>
      </p:sp>
      <p:pic>
        <p:nvPicPr>
          <p:cNvPr id="6" name="Picture 5" descr="flujo_visual_de_mockmvc_paso_a_pa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302" y="840258"/>
            <a:ext cx="7437395" cy="5578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">
            <a:extLst>
              <a:ext uri="{FF2B5EF4-FFF2-40B4-BE49-F238E27FC236}">
                <a16:creationId xmlns:a16="http://schemas.microsoft.com/office/drawing/2014/main" id="{C4B99253-1D01-31EE-CA30-435C1FD05946}"/>
              </a:ext>
            </a:extLst>
          </p:cNvPr>
          <p:cNvSpPr/>
          <p:nvPr/>
        </p:nvSpPr>
        <p:spPr>
          <a:xfrm>
            <a:off x="594360" y="1051560"/>
            <a:ext cx="7503435" cy="4681975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5112425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Arial"/>
              </a:rPr>
              <a:t>Primer test real con @WebMvcTest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dirty="0" err="1">
                <a:solidFill>
                  <a:srgbClr val="757575"/>
                </a:solidFill>
                <a:latin typeface="Arial"/>
              </a:rPr>
              <a:t>Programación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y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Procesos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— Tema 1: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Probar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con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MockMvc</a:t>
            </a:r>
            <a:endParaRPr sz="1100" b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051560"/>
            <a:ext cx="51075" cy="4228894"/>
          </a:xfrm>
          <a:prstGeom prst="rect">
            <a:avLst/>
          </a:prstGeom>
          <a:solidFill>
            <a:srgbClr val="FFA00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88719"/>
            <a:ext cx="69494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dirty="0">
                <a:solidFill>
                  <a:srgbClr val="263238"/>
                </a:solidFill>
                <a:latin typeface="Courier New"/>
              </a:rPr>
              <a:t>@WebMvcTest(LibroController.class)</a:t>
            </a: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@AutoConfigureMockMvc(addFilters = false)</a:t>
            </a: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class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LibroControllerTest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 {</a:t>
            </a:r>
          </a:p>
          <a:p>
            <a:endParaRPr sz="1280" dirty="0">
              <a:solidFill>
                <a:srgbClr val="263238"/>
              </a:solidFill>
              <a:latin typeface="Courier New"/>
            </a:endParaRP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@Autowired</a:t>
            </a: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private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MockMvc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mockMvc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;</a:t>
            </a:r>
          </a:p>
          <a:p>
            <a:endParaRPr sz="1280" dirty="0">
              <a:solidFill>
                <a:srgbClr val="263238"/>
              </a:solidFill>
              <a:latin typeface="Courier New"/>
            </a:endParaRP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@MockitoBean</a:t>
            </a: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private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LibroService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libroService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;</a:t>
            </a:r>
          </a:p>
          <a:p>
            <a:endParaRPr sz="1280" dirty="0">
              <a:solidFill>
                <a:srgbClr val="263238"/>
              </a:solidFill>
              <a:latin typeface="Courier New"/>
            </a:endParaRP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@Test</a:t>
            </a: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void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getAll_DebeDevolverListaDeLibros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() throws Exception {</a:t>
            </a: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    var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dto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 = new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LibroResponseDTO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(1L, "El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nombre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 del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viento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", ...);</a:t>
            </a:r>
          </a:p>
          <a:p>
            <a:endParaRPr sz="1280" dirty="0">
              <a:solidFill>
                <a:srgbClr val="263238"/>
              </a:solidFill>
              <a:latin typeface="Courier New"/>
            </a:endParaRP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    when(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libroService.findAll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()).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thenReturn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(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List.of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(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dto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));</a:t>
            </a:r>
          </a:p>
          <a:p>
            <a:endParaRPr sz="1280" dirty="0">
              <a:solidFill>
                <a:srgbClr val="263238"/>
              </a:solidFill>
              <a:latin typeface="Courier New"/>
            </a:endParaRP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   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mockMvc.perform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(get("/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api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/v1/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libros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"))</a:t>
            </a: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            .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andExpect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(status().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isOk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())</a:t>
            </a: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            .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andExpect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(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jsonPath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("$[0].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titulo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")</a:t>
            </a: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                    .value("El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nombre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 del </a:t>
            </a:r>
            <a:r>
              <a:rPr sz="1280" dirty="0" err="1">
                <a:solidFill>
                  <a:srgbClr val="263238"/>
                </a:solidFill>
                <a:latin typeface="Courier New"/>
              </a:rPr>
              <a:t>viento</a:t>
            </a:r>
            <a:r>
              <a:rPr sz="1280" dirty="0">
                <a:solidFill>
                  <a:srgbClr val="263238"/>
                </a:solidFill>
                <a:latin typeface="Courier New"/>
              </a:rPr>
              <a:t>"));</a:t>
            </a: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    }</a:t>
            </a:r>
          </a:p>
          <a:p>
            <a:r>
              <a:rPr sz="1280" dirty="0">
                <a:solidFill>
                  <a:srgbClr val="263238"/>
                </a:solidFill>
                <a:latin typeface="Courier New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234440"/>
            <a:ext cx="2971800" cy="530352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1900" b="1">
                <a:solidFill>
                  <a:srgbClr val="4E342E"/>
                </a:solidFill>
                <a:latin typeface="Arial"/>
              </a:rPr>
              <a:t>Qué debes localizar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2788920" cy="1770741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/>
              <a:t>@WebMvcTest: </a:t>
            </a:r>
            <a:r>
              <a:rPr dirty="0" err="1"/>
              <a:t>capa</a:t>
            </a:r>
            <a:r>
              <a:rPr dirty="0"/>
              <a:t> web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/>
              <a:t>@MockitoBean: </a:t>
            </a:r>
            <a:r>
              <a:rPr dirty="0" err="1"/>
              <a:t>dependencia</a:t>
            </a:r>
            <a:r>
              <a:rPr dirty="0"/>
              <a:t> falsa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/>
              <a:t>when(...): </a:t>
            </a:r>
            <a:r>
              <a:rPr dirty="0" err="1"/>
              <a:t>preparar</a:t>
            </a:r>
            <a:endParaRPr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/>
              <a:t>perform(...): </a:t>
            </a:r>
            <a:r>
              <a:rPr dirty="0" err="1"/>
              <a:t>actuar</a:t>
            </a:r>
            <a:endParaRPr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 err="1"/>
              <a:t>andExpect</a:t>
            </a:r>
            <a:r>
              <a:rPr dirty="0"/>
              <a:t>(...): </a:t>
            </a:r>
            <a:r>
              <a:rPr dirty="0" err="1"/>
              <a:t>afirmar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8275320" y="4769708"/>
            <a:ext cx="2834640" cy="899572"/>
          </a:xfrm>
          <a:prstGeom prst="roundRect">
            <a:avLst/>
          </a:prstGeom>
          <a:solidFill>
            <a:srgbClr val="4E342E"/>
          </a:solidFill>
          <a:ln w="12700"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El test </a:t>
            </a:r>
            <a:r>
              <a:rPr sz="1600" b="1" dirty="0" err="1">
                <a:solidFill>
                  <a:srgbClr val="FFFFFF"/>
                </a:solidFill>
                <a:latin typeface="Arial"/>
              </a:rPr>
              <a:t>conserva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 el controller real y </a:t>
            </a:r>
            <a:r>
              <a:rPr sz="1600" b="1" dirty="0" err="1">
                <a:solidFill>
                  <a:srgbClr val="FFFFFF"/>
                </a:solidFill>
                <a:latin typeface="Arial"/>
              </a:rPr>
              <a:t>controla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 el 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5809732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/>
              </a:rPr>
              <a:t>Anatomía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de un test con @WebMvcTest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757575"/>
                </a:solidFill>
                <a:latin typeface="Arial"/>
              </a:rPr>
              <a:t>Programación de Servicios y Procesos — Tema 1: Probar servicios con MockMvc</a:t>
            </a:r>
          </a:p>
        </p:txBody>
      </p:sp>
      <p:pic>
        <p:nvPicPr>
          <p:cNvPr id="6" name="Picture 5" descr="a_clean_infographic_style_educational_poster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560" y="821587"/>
            <a:ext cx="8370879" cy="55805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642547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Arial"/>
              </a:rPr>
              <a:t>Tres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situaciones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habituales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en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un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dirty="0" err="1">
                <a:solidFill>
                  <a:srgbClr val="757575"/>
                </a:solidFill>
                <a:latin typeface="Arial"/>
              </a:rPr>
              <a:t>Programación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y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Procesos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— Tema 1: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Probar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con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MockMvc</a:t>
            </a:r>
            <a:endParaRPr sz="1100" b="0" dirty="0">
              <a:solidFill>
                <a:srgbClr val="757575"/>
              </a:solidFill>
              <a:latin typeface="Arial"/>
            </a:endParaRPr>
          </a:p>
        </p:txBody>
      </p:sp>
      <p:pic>
        <p:nvPicPr>
          <p:cNvPr id="6" name="Picture 5" descr="a_wide_infographic_poster_with_a_clean_digital_f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161" y="854070"/>
            <a:ext cx="8273429" cy="55156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7827464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/>
              </a:rPr>
              <a:t>Actividad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1.3: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comprobar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lo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ya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has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documentado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dirty="0" err="1">
                <a:solidFill>
                  <a:srgbClr val="757575"/>
                </a:solidFill>
                <a:latin typeface="Arial"/>
              </a:rPr>
              <a:t>Programación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y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Procesos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— Tema 1: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Probar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con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MockMvc</a:t>
            </a:r>
            <a:endParaRPr sz="1100" b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7031" y="1097280"/>
            <a:ext cx="1038745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dirty="0">
                <a:solidFill>
                  <a:srgbClr val="4E342E"/>
                </a:solidFill>
                <a:latin typeface="Arial"/>
              </a:rPr>
              <a:t>No </a:t>
            </a:r>
            <a:r>
              <a:rPr b="1" dirty="0" err="1">
                <a:solidFill>
                  <a:srgbClr val="4E342E"/>
                </a:solidFill>
                <a:latin typeface="Arial"/>
              </a:rPr>
              <a:t>construyes</a:t>
            </a:r>
            <a:r>
              <a:rPr b="1" dirty="0">
                <a:solidFill>
                  <a:srgbClr val="4E342E"/>
                </a:solidFill>
                <a:latin typeface="Arial"/>
              </a:rPr>
              <a:t> endpoints </a:t>
            </a:r>
            <a:r>
              <a:rPr b="1" dirty="0" err="1">
                <a:solidFill>
                  <a:srgbClr val="4E342E"/>
                </a:solidFill>
                <a:latin typeface="Arial"/>
              </a:rPr>
              <a:t>nuevos</a:t>
            </a:r>
            <a:r>
              <a:rPr b="1" dirty="0">
                <a:solidFill>
                  <a:srgbClr val="4E342E"/>
                </a:solidFill>
                <a:latin typeface="Arial"/>
              </a:rPr>
              <a:t>: escribes </a:t>
            </a:r>
            <a:r>
              <a:rPr b="1" dirty="0" err="1">
                <a:solidFill>
                  <a:srgbClr val="4E342E"/>
                </a:solidFill>
                <a:latin typeface="Arial"/>
              </a:rPr>
              <a:t>comprobaciones</a:t>
            </a:r>
            <a:r>
              <a:rPr b="1" dirty="0">
                <a:solidFill>
                  <a:srgbClr val="4E342E"/>
                </a:solidFill>
                <a:latin typeface="Arial"/>
              </a:rPr>
              <a:t> </a:t>
            </a:r>
            <a:r>
              <a:rPr b="1" dirty="0" err="1">
                <a:solidFill>
                  <a:srgbClr val="4E342E"/>
                </a:solidFill>
                <a:latin typeface="Arial"/>
              </a:rPr>
              <a:t>automáticas</a:t>
            </a:r>
            <a:r>
              <a:rPr b="1" dirty="0">
                <a:solidFill>
                  <a:srgbClr val="4E342E"/>
                </a:solidFill>
                <a:latin typeface="Arial"/>
              </a:rPr>
              <a:t> </a:t>
            </a:r>
            <a:r>
              <a:rPr b="1" dirty="0" err="1">
                <a:solidFill>
                  <a:srgbClr val="4E342E"/>
                </a:solidFill>
                <a:latin typeface="Arial"/>
              </a:rPr>
              <a:t>sobre</a:t>
            </a:r>
            <a:r>
              <a:rPr b="1" dirty="0">
                <a:solidFill>
                  <a:srgbClr val="4E342E"/>
                </a:solidFill>
                <a:latin typeface="Arial"/>
              </a:rPr>
              <a:t> </a:t>
            </a:r>
            <a:r>
              <a:rPr b="1" dirty="0" err="1">
                <a:solidFill>
                  <a:srgbClr val="4E342E"/>
                </a:solidFill>
                <a:latin typeface="Arial"/>
              </a:rPr>
              <a:t>los</a:t>
            </a:r>
            <a:r>
              <a:rPr b="1" dirty="0">
                <a:solidFill>
                  <a:srgbClr val="4E342E"/>
                </a:solidFill>
                <a:latin typeface="Arial"/>
              </a:rPr>
              <a:t> </a:t>
            </a:r>
            <a:r>
              <a:rPr b="1" dirty="0" err="1">
                <a:solidFill>
                  <a:srgbClr val="4E342E"/>
                </a:solidFill>
                <a:latin typeface="Arial"/>
              </a:rPr>
              <a:t>existentes</a:t>
            </a:r>
            <a:r>
              <a:rPr b="1" dirty="0">
                <a:solidFill>
                  <a:srgbClr val="4E342E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64541"/>
            <a:ext cx="4389120" cy="5486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2100" b="1" dirty="0" err="1">
                <a:solidFill>
                  <a:srgbClr val="1565C0"/>
                </a:solidFill>
                <a:latin typeface="Arial"/>
              </a:rPr>
              <a:t>VideojuegoController</a:t>
            </a:r>
            <a:endParaRPr sz="2100" b="1" dirty="0">
              <a:solidFill>
                <a:srgbClr val="1565C0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903720" y="1764541"/>
            <a:ext cx="4389120" cy="5486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2100" b="1">
                <a:solidFill>
                  <a:srgbClr val="6A1B9A"/>
                </a:solidFill>
                <a:latin typeface="Arial"/>
              </a:rPr>
              <a:t>EstudioController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96061"/>
            <a:ext cx="3977639" cy="1275734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 err="1"/>
              <a:t>casos</a:t>
            </a:r>
            <a:r>
              <a:rPr dirty="0"/>
              <a:t> 200 / 201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 err="1"/>
              <a:t>validación</a:t>
            </a:r>
            <a:r>
              <a:rPr dirty="0"/>
              <a:t> 400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 err="1"/>
              <a:t>recurso</a:t>
            </a:r>
            <a:r>
              <a:rPr dirty="0"/>
              <a:t> </a:t>
            </a:r>
            <a:r>
              <a:rPr dirty="0" err="1"/>
              <a:t>inexistente</a:t>
            </a:r>
            <a:r>
              <a:rPr dirty="0"/>
              <a:t> 404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/>
              <a:t>JSON </a:t>
            </a:r>
            <a:r>
              <a:rPr dirty="0" err="1"/>
              <a:t>esperado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132320" y="2496061"/>
            <a:ext cx="3977639" cy="1275734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 err="1"/>
              <a:t>casos</a:t>
            </a:r>
            <a:r>
              <a:rPr dirty="0"/>
              <a:t> 200 / 201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 err="1"/>
              <a:t>validación</a:t>
            </a:r>
            <a:r>
              <a:rPr dirty="0"/>
              <a:t> 400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 err="1"/>
              <a:t>recurso</a:t>
            </a:r>
            <a:r>
              <a:rPr dirty="0"/>
              <a:t> </a:t>
            </a:r>
            <a:r>
              <a:rPr dirty="0" err="1"/>
              <a:t>inexistente</a:t>
            </a:r>
            <a:r>
              <a:rPr dirty="0"/>
              <a:t> 404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12121"/>
                </a:solidFill>
                <a:latin typeface="Arial"/>
              </a:defRPr>
            </a:pPr>
            <a:r>
              <a:rPr dirty="0"/>
              <a:t>JSON </a:t>
            </a:r>
            <a:r>
              <a:rPr dirty="0" err="1"/>
              <a:t>esperado</a:t>
            </a:r>
            <a:endParaRPr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4D0F9C0-01D6-4257-C802-2986EFA1D85D}"/>
              </a:ext>
            </a:extLst>
          </p:cNvPr>
          <p:cNvGrpSpPr/>
          <p:nvPr/>
        </p:nvGrpSpPr>
        <p:grpSpPr>
          <a:xfrm>
            <a:off x="1348740" y="4265964"/>
            <a:ext cx="9464040" cy="502920"/>
            <a:chOff x="914400" y="4265964"/>
            <a:chExt cx="9464040" cy="502920"/>
          </a:xfrm>
        </p:grpSpPr>
        <p:sp>
          <p:nvSpPr>
            <p:cNvPr id="10" name="Rounded Rectangle 9"/>
            <p:cNvSpPr/>
            <p:nvPr/>
          </p:nvSpPr>
          <p:spPr>
            <a:xfrm>
              <a:off x="914400" y="4265964"/>
              <a:ext cx="2926080" cy="502920"/>
            </a:xfrm>
            <a:prstGeom prst="roundRect">
              <a:avLst/>
            </a:prstGeom>
            <a:solidFill>
              <a:srgbClr val="FFF3E0"/>
            </a:solidFill>
            <a:ln w="12700">
              <a:solidFill>
                <a:srgbClr val="FFA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sz="1600" b="1">
                  <a:solidFill>
                    <a:srgbClr val="4E342E"/>
                  </a:solidFill>
                  <a:latin typeface="Arial"/>
                </a:rPr>
                <a:t>Documentación OpenAPI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77639" y="4265964"/>
              <a:ext cx="502920" cy="502920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ctr"/>
              <a:r>
                <a:rPr sz="2600" b="1">
                  <a:solidFill>
                    <a:srgbClr val="FFA000"/>
                  </a:solidFill>
                  <a:latin typeface="Arial"/>
                </a:rPr>
                <a:t>→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72000" y="4265964"/>
              <a:ext cx="2148840" cy="502920"/>
            </a:xfrm>
            <a:prstGeom prst="roundRect">
              <a:avLst/>
            </a:prstGeom>
            <a:solidFill>
              <a:srgbClr val="E3F2FD"/>
            </a:solidFill>
            <a:ln w="12700">
              <a:solidFill>
                <a:srgbClr val="1565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sz="1600" b="1">
                  <a:solidFill>
                    <a:srgbClr val="1565C0"/>
                  </a:solidFill>
                  <a:latin typeface="Arial"/>
                </a:rPr>
                <a:t>Tests MockMvc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39712" y="4265964"/>
              <a:ext cx="502920" cy="502920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ctr"/>
              <a:r>
                <a:rPr sz="2600" b="1">
                  <a:solidFill>
                    <a:srgbClr val="FFA000"/>
                  </a:solidFill>
                  <a:latin typeface="Arial"/>
                </a:rPr>
                <a:t>→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452360" y="4265964"/>
              <a:ext cx="2926080" cy="502920"/>
            </a:xfrm>
            <a:prstGeom prst="roundRect">
              <a:avLst/>
            </a:prstGeom>
            <a:solidFill>
              <a:srgbClr val="E8F5E9"/>
            </a:solidFill>
            <a:ln w="1270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sz="1600" b="1">
                  <a:solidFill>
                    <a:srgbClr val="2E7D32"/>
                  </a:solidFill>
                  <a:latin typeface="Arial"/>
                </a:rPr>
                <a:t>evidencia ejecutable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1143000" y="5346357"/>
            <a:ext cx="9921240" cy="688683"/>
          </a:xfrm>
          <a:prstGeom prst="roundRect">
            <a:avLst/>
          </a:prstGeom>
          <a:solidFill>
            <a:srgbClr val="4E342E"/>
          </a:solidFill>
          <a:ln w="12700"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b="1" dirty="0">
                <a:solidFill>
                  <a:srgbClr val="FFFFFF"/>
                </a:solidFill>
                <a:latin typeface="Arial"/>
              </a:rPr>
              <a:t>La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prueba</a:t>
            </a:r>
            <a:r>
              <a:rPr b="1" dirty="0">
                <a:solidFill>
                  <a:srgbClr val="FFFFFF"/>
                </a:solidFill>
                <a:latin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debe</a:t>
            </a:r>
            <a:r>
              <a:rPr b="1" dirty="0">
                <a:solidFill>
                  <a:srgbClr val="FFFFFF"/>
                </a:solidFill>
                <a:latin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demostrar</a:t>
            </a:r>
            <a:r>
              <a:rPr b="1" dirty="0">
                <a:solidFill>
                  <a:srgbClr val="FFFFFF"/>
                </a:solidFill>
                <a:latin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b="1" dirty="0">
                <a:solidFill>
                  <a:srgbClr val="FFFFFF"/>
                </a:solidFill>
                <a:latin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los</a:t>
            </a:r>
            <a:r>
              <a:rPr b="1" dirty="0">
                <a:solidFill>
                  <a:srgbClr val="FFFFFF"/>
                </a:solidFill>
                <a:latin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códigos</a:t>
            </a:r>
            <a:r>
              <a:rPr b="1" dirty="0">
                <a:solidFill>
                  <a:srgbClr val="FFFFFF"/>
                </a:solidFill>
                <a:latin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b="1" dirty="0">
                <a:solidFill>
                  <a:srgbClr val="FFFFFF"/>
                </a:solidFill>
                <a:latin typeface="Arial"/>
              </a:rPr>
              <a:t> has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documentado</a:t>
            </a:r>
            <a:r>
              <a:rPr b="1" dirty="0">
                <a:solidFill>
                  <a:srgbClr val="FFFFFF"/>
                </a:solidFill>
                <a:latin typeface="Arial"/>
              </a:rPr>
              <a:t> son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realmente</a:t>
            </a:r>
            <a:r>
              <a:rPr b="1" dirty="0">
                <a:solidFill>
                  <a:srgbClr val="FFFFFF"/>
                </a:solidFill>
                <a:latin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los</a:t>
            </a:r>
            <a:r>
              <a:rPr b="1" dirty="0">
                <a:solidFill>
                  <a:srgbClr val="FFFFFF"/>
                </a:solidFill>
                <a:latin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b="1" dirty="0">
                <a:solidFill>
                  <a:srgbClr val="FFFFFF"/>
                </a:solidFill>
                <a:latin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</a:rPr>
              <a:t>devuelve</a:t>
            </a:r>
            <a:r>
              <a:rPr b="1" dirty="0">
                <a:solidFill>
                  <a:srgbClr val="FFFFFF"/>
                </a:solidFill>
                <a:latin typeface="Arial"/>
              </a:rPr>
              <a:t> la API.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6038513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/>
              </a:rPr>
              <a:t>Después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de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MockMvc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ampliar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el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alcance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757575"/>
                </a:solidFill>
                <a:latin typeface="Arial"/>
              </a:rPr>
              <a:t>Programación de Servicios y Procesos — Tema 1: Probar servicios con MockMvc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60704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00" b="1" dirty="0">
                <a:solidFill>
                  <a:srgbClr val="4E342E"/>
                </a:solidFill>
                <a:latin typeface="Arial"/>
              </a:rPr>
              <a:t>Cada </a:t>
            </a:r>
            <a:r>
              <a:rPr sz="2200" b="1" dirty="0" err="1">
                <a:solidFill>
                  <a:srgbClr val="4E342E"/>
                </a:solidFill>
                <a:latin typeface="Arial"/>
              </a:rPr>
              <a:t>tipo</a:t>
            </a:r>
            <a:r>
              <a:rPr sz="2200" b="1" dirty="0">
                <a:solidFill>
                  <a:srgbClr val="4E342E"/>
                </a:solidFill>
                <a:latin typeface="Arial"/>
              </a:rPr>
              <a:t> de </a:t>
            </a:r>
            <a:r>
              <a:rPr sz="2200" b="1" dirty="0" err="1">
                <a:solidFill>
                  <a:srgbClr val="4E342E"/>
                </a:solidFill>
                <a:latin typeface="Arial"/>
              </a:rPr>
              <a:t>prueba</a:t>
            </a:r>
            <a:r>
              <a:rPr sz="2200" b="1" dirty="0">
                <a:solidFill>
                  <a:srgbClr val="4E342E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E342E"/>
                </a:solidFill>
                <a:latin typeface="Arial"/>
              </a:rPr>
              <a:t>responde</a:t>
            </a:r>
            <a:r>
              <a:rPr sz="2200" b="1" dirty="0">
                <a:solidFill>
                  <a:srgbClr val="4E342E"/>
                </a:solidFill>
                <a:latin typeface="Arial"/>
              </a:rPr>
              <a:t> a </a:t>
            </a:r>
            <a:r>
              <a:rPr sz="2200" b="1" dirty="0" err="1">
                <a:solidFill>
                  <a:srgbClr val="4E342E"/>
                </a:solidFill>
                <a:latin typeface="Arial"/>
              </a:rPr>
              <a:t>una</a:t>
            </a:r>
            <a:r>
              <a:rPr sz="2200" b="1" dirty="0">
                <a:solidFill>
                  <a:srgbClr val="4E342E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E342E"/>
                </a:solidFill>
                <a:latin typeface="Arial"/>
              </a:rPr>
              <a:t>pregunta</a:t>
            </a:r>
            <a:r>
              <a:rPr sz="2200" b="1" dirty="0">
                <a:solidFill>
                  <a:srgbClr val="4E342E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E342E"/>
                </a:solidFill>
                <a:latin typeface="Arial"/>
              </a:rPr>
              <a:t>diferente</a:t>
            </a:r>
            <a:endParaRPr sz="2200" b="1" dirty="0">
              <a:solidFill>
                <a:srgbClr val="4E342E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154680" cy="5486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2200" b="1">
                <a:solidFill>
                  <a:srgbClr val="1565C0"/>
                </a:solidFill>
                <a:latin typeface="Arial"/>
              </a:rPr>
              <a:t>@WebMvcTest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743200" cy="1150058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/>
              <a:t>¿</a:t>
            </a:r>
            <a:r>
              <a:rPr dirty="0" err="1"/>
              <a:t>Responde</a:t>
            </a:r>
            <a:r>
              <a:rPr dirty="0"/>
              <a:t> bien el controller?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 err="1"/>
              <a:t>Dependencias</a:t>
            </a:r>
            <a:r>
              <a:rPr dirty="0"/>
              <a:t> </a:t>
            </a:r>
            <a:r>
              <a:rPr dirty="0" err="1"/>
              <a:t>mockeadas</a:t>
            </a:r>
            <a:endParaRPr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/>
              <a:t>Feedback </a:t>
            </a:r>
            <a:r>
              <a:rPr dirty="0" err="1"/>
              <a:t>rápido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154680" cy="5486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2200" b="1">
                <a:solidFill>
                  <a:srgbClr val="FFA000"/>
                </a:solidFill>
                <a:latin typeface="Arial"/>
              </a:rPr>
              <a:t>Test de integración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560320"/>
            <a:ext cx="2743200" cy="1396280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/>
              <a:t>¿</a:t>
            </a:r>
            <a:r>
              <a:rPr dirty="0" err="1"/>
              <a:t>Funcionan</a:t>
            </a:r>
            <a:r>
              <a:rPr dirty="0"/>
              <a:t> juntas </a:t>
            </a:r>
            <a:r>
              <a:rPr dirty="0" err="1"/>
              <a:t>varias</a:t>
            </a:r>
            <a:r>
              <a:rPr dirty="0"/>
              <a:t> </a:t>
            </a:r>
            <a:r>
              <a:rPr dirty="0" err="1"/>
              <a:t>capas</a:t>
            </a:r>
            <a:r>
              <a:rPr dirty="0"/>
              <a:t>?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 err="1"/>
              <a:t>Dependencias</a:t>
            </a:r>
            <a:r>
              <a:rPr dirty="0"/>
              <a:t> reales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/>
              <a:t>BD de </a:t>
            </a:r>
            <a:r>
              <a:rPr dirty="0" err="1"/>
              <a:t>prueba</a:t>
            </a:r>
            <a:r>
              <a:rPr dirty="0"/>
              <a:t> / </a:t>
            </a:r>
            <a:r>
              <a:rPr dirty="0" err="1"/>
              <a:t>Testcontainers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8183879" y="1828800"/>
            <a:ext cx="3154680" cy="548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2200" b="1">
                <a:solidFill>
                  <a:srgbClr val="2E7D32"/>
                </a:solidFill>
                <a:latin typeface="Arial"/>
              </a:rPr>
              <a:t>Actividad 1.4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560320"/>
            <a:ext cx="2743200" cy="903837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 err="1"/>
              <a:t>Concurrencia</a:t>
            </a:r>
            <a:r>
              <a:rPr dirty="0"/>
              <a:t> y </a:t>
            </a:r>
            <a:r>
              <a:rPr dirty="0" err="1"/>
              <a:t>tiempos</a:t>
            </a:r>
            <a:endParaRPr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 err="1"/>
              <a:t>Observabilidad</a:t>
            </a:r>
            <a:endParaRPr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  <a:latin typeface="Arial"/>
              </a:defRPr>
            </a:pPr>
            <a:r>
              <a:rPr dirty="0"/>
              <a:t>Actuator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351104"/>
            <a:ext cx="10241280" cy="729656"/>
          </a:xfrm>
          <a:prstGeom prst="roundRect">
            <a:avLst/>
          </a:prstGeom>
          <a:solidFill>
            <a:srgbClr val="4E342E"/>
          </a:solidFill>
          <a:ln w="12700"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rial"/>
              </a:rPr>
              <a:t>No hay un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único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“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mejor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”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tipo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de test: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elige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el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alcance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responda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a la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pregunta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quieres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comprobar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70D854C6-8C35-8CBF-D581-754CBA7C7B51}"/>
              </a:ext>
            </a:extLst>
          </p:cNvPr>
          <p:cNvSpPr/>
          <p:nvPr/>
        </p:nvSpPr>
        <p:spPr>
          <a:xfrm>
            <a:off x="914400" y="4333812"/>
            <a:ext cx="1024128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s-ES" sz="1800" dirty="0">
                <a:solidFill>
                  <a:schemeClr val="tx1"/>
                </a:solidFill>
                <a:latin typeface="Arial"/>
              </a:rPr>
              <a:t>A más aislamiento, más velocidad y control. A más integración, más realismo y más coste.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3662"/>
            <a:ext cx="273632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Arial"/>
              </a:rPr>
              <a:t>Cierre de la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sesión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5876" y="6446520"/>
            <a:ext cx="51055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dirty="0" err="1">
                <a:solidFill>
                  <a:srgbClr val="757575"/>
                </a:solidFill>
                <a:latin typeface="Arial"/>
              </a:rPr>
              <a:t>Programación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y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Procesos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— Tema 1: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Probar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servicios</a:t>
            </a:r>
            <a:r>
              <a:rPr sz="1100" b="0" dirty="0">
                <a:solidFill>
                  <a:srgbClr val="757575"/>
                </a:solidFill>
                <a:latin typeface="Arial"/>
              </a:rPr>
              <a:t> con </a:t>
            </a:r>
            <a:r>
              <a:rPr sz="1100" b="0" dirty="0" err="1">
                <a:solidFill>
                  <a:srgbClr val="757575"/>
                </a:solidFill>
                <a:latin typeface="Arial"/>
              </a:rPr>
              <a:t>MockMvc</a:t>
            </a:r>
            <a:endParaRPr sz="1100" b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65276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4E342E"/>
                </a:solidFill>
                <a:latin typeface="Arial"/>
              </a:rPr>
              <a:t>Lo mínimo que debe quedar claro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64792"/>
            <a:ext cx="97383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  <a:latin typeface="Arial"/>
              </a:rPr>
              <a:t>Un test automatizado convierte una expectativa en una comprobación repetible.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423160"/>
            <a:ext cx="97383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  <a:latin typeface="Arial"/>
              </a:rPr>
              <a:t>Arrange → Act → Assert organiza qué preparas, qué ejecutas y qué afirmas.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99815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81527"/>
            <a:ext cx="97383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  <a:latin typeface="Arial"/>
              </a:rPr>
              <a:t>Un mock sustituye dependencias para aislar la parte que quieres probar.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58184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39896"/>
            <a:ext cx="97383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  <a:latin typeface="Arial"/>
              </a:rPr>
              <a:t>MockMvc prueba controllers sin arrancar un servidor HTTP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16552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98264"/>
            <a:ext cx="97383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  <a:latin typeface="Arial"/>
              </a:rPr>
              <a:t>@WebMvcTest + @MockitoBean + perform/andExpect forman el patrón básico de esta sesión.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056632"/>
            <a:ext cx="97383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  <a:latin typeface="Arial"/>
              </a:rPr>
              <a:t>thenReturn, validación previa y thenThrow cubren escenarios distintos.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806440"/>
            <a:ext cx="10241280" cy="438912"/>
          </a:xfrm>
          <a:prstGeom prst="roundRect">
            <a:avLst/>
          </a:prstGeom>
          <a:solidFill>
            <a:srgbClr val="4E342E"/>
          </a:solidFill>
          <a:ln w="12700"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Próxima parada: medir comportamiento bajo carga y observar la aplicación con Actuator.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816</Words>
  <Application>Microsoft Office PowerPoint</Application>
  <PresentationFormat>Panorámica</PresentationFormat>
  <Paragraphs>134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Probar servicios con MockMvc</dc:title>
  <dc:subject>PptxGenJS Presentation</dc:subject>
  <dc:creator>Programación de Servicios y Procesos</dc:creator>
  <cp:lastModifiedBy>ROIG AGUILAR, ALEJANDRO</cp:lastModifiedBy>
  <cp:revision>5</cp:revision>
  <dcterms:created xsi:type="dcterms:W3CDTF">2026-08-06T15:34:51Z</dcterms:created>
  <dcterms:modified xsi:type="dcterms:W3CDTF">2026-09-26T19:05:26Z</dcterms:modified>
</cp:coreProperties>
</file>