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88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BCAAA4"/>
                </a:solidFill>
                <a:latin typeface="Arial"/>
              </a:rPr>
              <a:t>PROGRAMACIÓN DE SERVICIOS Y PROCESOS  —  TEMA 1: GENERACIÓN DE SERVICIOS EN 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332720" cy="1828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Escritura en la API
y documentación
con OpenAPI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999" cy="914400"/>
          </a:xfrm>
          <a:prstGeom prst="rect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321808"/>
            <a:ext cx="103327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Arial"/>
              </a:rPr>
              <a:t>2. Escritura en la API y documentación con OpenAPI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Objetivo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 i="0">
                <a:solidFill>
                  <a:srgbClr val="4E342E"/>
                </a:solidFill>
                <a:latin typeface="Arial"/>
              </a:rPr>
              <a:t>Pasar de “sé construir un CRUD” a “sé describir y probar su contrato”.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846320" cy="246888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4E342E"/>
                </a:solidFill>
                <a:latin typeface="Arial"/>
              </a:defRPr>
            </a:pPr>
            <a:r>
              <a:t>Ya sabes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DTOs de entrada y salida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Bean Validation y @Valid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GET, POST, PUT y DELETE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ResponseEntity y códigos HTTP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4846320" cy="2468880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4E342E"/>
                </a:solidFill>
                <a:latin typeface="Arial"/>
              </a:defRPr>
            </a:pPr>
            <a:r>
              <a:t>Ahora añades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Contrato OpenAPI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Documentación generada con springdoc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Swagger UI como cliente HTTP</a:t>
            </a:r>
          </a:p>
          <a:p>
            <a:pPr>
              <a:spcAft>
                <a:spcPts val="300"/>
              </a:spcAft>
              <a:defRPr sz="1700" b="0">
                <a:solidFill>
                  <a:srgbClr val="212121"/>
                </a:solidFill>
                <a:latin typeface="Arial"/>
              </a:defRPr>
            </a:pPr>
            <a:r>
              <a:t>• @Operation y @ApiResponses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50992" y="2761488"/>
            <a:ext cx="82296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FFA000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3466" y="5371837"/>
            <a:ext cx="10174588" cy="850476"/>
          </a:xfrm>
          <a:prstGeom prst="roundRect">
            <a:avLst/>
          </a:prstGeom>
          <a:solidFill>
            <a:srgbClr val="FFF3E0"/>
          </a:solidFill>
          <a:ln w="1397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5412" y="5504688"/>
            <a:ext cx="9633498" cy="58477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0" i="0" dirty="0">
                <a:solidFill>
                  <a:srgbClr val="212121"/>
                </a:solidFill>
                <a:latin typeface="Arial"/>
              </a:rPr>
              <a:t>El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objetivo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no es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aprender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otro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CRUD: es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entender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cómo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ese CRUD se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convierte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un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contrato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utilizable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por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 personas y </a:t>
            </a:r>
            <a:r>
              <a:rPr sz="1600" b="0" i="0" dirty="0" err="1">
                <a:solidFill>
                  <a:srgbClr val="212121"/>
                </a:solidFill>
                <a:latin typeface="Arial"/>
              </a:rPr>
              <a:t>herramientas</a:t>
            </a:r>
            <a:r>
              <a:rPr sz="16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4769D6C3-F3CA-A857-1DFA-9FC20CC81398}"/>
              </a:ext>
            </a:extLst>
          </p:cNvPr>
          <p:cNvSpPr/>
          <p:nvPr/>
        </p:nvSpPr>
        <p:spPr>
          <a:xfrm>
            <a:off x="548640" y="1593202"/>
            <a:ext cx="11091672" cy="3671596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FDEA2C37-F213-E1DB-60C0-A5D360D1BFED}"/>
              </a:ext>
            </a:extLst>
          </p:cNvPr>
          <p:cNvSpPr/>
          <p:nvPr/>
        </p:nvSpPr>
        <p:spPr>
          <a:xfrm>
            <a:off x="548640" y="1593202"/>
            <a:ext cx="73152" cy="306324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El LibroController completo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Arial"/>
              </a:rPr>
              <a:t>Primero, los dos endpoints de lectura que ya conoces: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10680192" cy="4050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10" dirty="0">
                <a:solidFill>
                  <a:srgbClr val="263238"/>
                </a:solidFill>
                <a:latin typeface="Courier New"/>
              </a:rPr>
              <a:t>@RestController
@RequestMapping("/api/v1/libros")
@RequiredArgsConstructor
public class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LibroController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 {
    private final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LibroService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libroService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;
    @GetMapping
    public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ResponseEntity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&lt;List&lt;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LibroResponseDTO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&gt;&gt;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getAll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() {
        return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ResponseEntity.ok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libroService.findAll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());
    }
    @GetMapping("/{id}")
    public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ResponseEntity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&lt;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LibroResponseDTO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&gt;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getById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(@PathVariable Long id) {
        return 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ResponseEntity.ok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410" dirty="0" err="1">
                <a:solidFill>
                  <a:srgbClr val="263238"/>
                </a:solidFill>
                <a:latin typeface="Courier New"/>
              </a:rPr>
              <a:t>libroService.findById</a:t>
            </a:r>
            <a:r>
              <a:rPr sz="1410" dirty="0">
                <a:solidFill>
                  <a:srgbClr val="263238"/>
                </a:solidFill>
                <a:latin typeface="Courier New"/>
              </a:rPr>
              <a:t>(id));
   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>
            <a:extLst>
              <a:ext uri="{FF2B5EF4-FFF2-40B4-BE49-F238E27FC236}">
                <a16:creationId xmlns:a16="http://schemas.microsoft.com/office/drawing/2014/main" id="{BD7E4E1C-6104-933D-8AFB-7844508A81D6}"/>
              </a:ext>
            </a:extLst>
          </p:cNvPr>
          <p:cNvSpPr/>
          <p:nvPr/>
        </p:nvSpPr>
        <p:spPr>
          <a:xfrm>
            <a:off x="548640" y="1573773"/>
            <a:ext cx="11091672" cy="3944983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EA84A5F7-085B-AD2F-0E06-BCF44FB9D29B}"/>
              </a:ext>
            </a:extLst>
          </p:cNvPr>
          <p:cNvSpPr/>
          <p:nvPr/>
        </p:nvSpPr>
        <p:spPr>
          <a:xfrm>
            <a:off x="548640" y="1573774"/>
            <a:ext cx="73152" cy="36576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El LibroController completo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Arial"/>
              </a:rPr>
              <a:t>Los tres endpoints de escritura reutilizan las mismas ideas de HTTP, DTOs y validación: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5078" y="1719072"/>
            <a:ext cx="10680192" cy="4169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40" dirty="0">
                <a:solidFill>
                  <a:srgbClr val="263238"/>
                </a:solidFill>
                <a:latin typeface="Courier New"/>
              </a:rPr>
              <a:t>@PostMapping
public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ResponseEntity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&lt;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LibroResponseDTO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&gt; create(@Valid @RequestBody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LibroCreateDTO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) {
    return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ResponseEntity.status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HttpStatus.CREATED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).body(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libroService.create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));
}
@PutMapping("/{id}")
public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ResponseEntity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&lt;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LibroResponseDTO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&gt; update(@PathVariable Long id,
        @Valid @RequestBody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LibroCreateDTO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) {
    return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ResponseEntity.ok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(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libroService.update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(id,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dto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));
}
@DeleteMapping("/{id}")
public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ResponseEntity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&lt;Void&gt; delete(@PathVariable Long id) {
   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libroService.delete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(id);
    return </a:t>
            </a:r>
            <a:r>
              <a:rPr sz="1340" dirty="0" err="1">
                <a:solidFill>
                  <a:srgbClr val="263238"/>
                </a:solidFill>
                <a:latin typeface="Courier New"/>
              </a:rPr>
              <a:t>ResponseEntity.noContent</a:t>
            </a:r>
            <a:r>
              <a:rPr sz="1340" dirty="0">
                <a:solidFill>
                  <a:srgbClr val="263238"/>
                </a:solidFill>
                <a:latin typeface="Courier New"/>
              </a:rPr>
              <a:t>().build();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POST, PUT y DELETE: mismo patrón, distinto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24128"/>
            <a:ext cx="108813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0" i="0">
                <a:solidFill>
                  <a:srgbClr val="212121"/>
                </a:solidFill>
                <a:latin typeface="Arial"/>
              </a:rPr>
              <a:t>Cada operación utiliza el código de éxito que mejor describe lo que ha ocurrido.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3246120" cy="32461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28346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2E7D32"/>
                </a:solidFill>
                <a:latin typeface="Arial"/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28346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212121"/>
                </a:solidFill>
                <a:latin typeface="Arial"/>
              </a:rPr>
              <a:t>201 Created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7432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50" b="0" i="0">
                <a:solidFill>
                  <a:srgbClr val="212121"/>
                </a:solidFill>
                <a:latin typeface="Arial"/>
              </a:rPr>
              <a:t>Crea un recurso nuevo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7432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0" i="1">
                <a:solidFill>
                  <a:srgbClr val="757575"/>
                </a:solidFill>
                <a:latin typeface="Arial"/>
              </a:rPr>
              <a:t>JSON → LibroCreateDTO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45920"/>
            <a:ext cx="3246120" cy="32461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847088"/>
            <a:ext cx="28346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EF6C00"/>
                </a:solidFill>
                <a:latin typeface="Arial"/>
              </a:rPr>
              <a:t>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77440"/>
            <a:ext cx="28346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212121"/>
                </a:solidFill>
                <a:latin typeface="Arial"/>
              </a:rPr>
              <a:t>200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7755" y="2926080"/>
            <a:ext cx="2225929" cy="60016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50" b="0" i="0" dirty="0" err="1">
                <a:solidFill>
                  <a:srgbClr val="212121"/>
                </a:solidFill>
                <a:latin typeface="Arial"/>
              </a:rPr>
              <a:t>Reemplaza</a:t>
            </a:r>
            <a:r>
              <a:rPr sz="1650" b="0" i="0" dirty="0">
                <a:solidFill>
                  <a:srgbClr val="212121"/>
                </a:solidFill>
                <a:latin typeface="Arial"/>
              </a:rPr>
              <a:t> y </a:t>
            </a:r>
            <a:r>
              <a:rPr sz="1650" b="0" i="0" dirty="0" err="1">
                <a:solidFill>
                  <a:srgbClr val="212121"/>
                </a:solidFill>
                <a:latin typeface="Arial"/>
              </a:rPr>
              <a:t>devuelve</a:t>
            </a:r>
            <a:endParaRPr lang="es-ES" sz="1650" b="0" i="0" dirty="0">
              <a:solidFill>
                <a:srgbClr val="212121"/>
              </a:solidFill>
              <a:latin typeface="Arial"/>
            </a:endParaRPr>
          </a:p>
          <a:p>
            <a:pPr algn="ctr"/>
            <a:r>
              <a:rPr sz="165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650" b="0" i="0" dirty="0" err="1">
                <a:solidFill>
                  <a:srgbClr val="212121"/>
                </a:solidFill>
                <a:latin typeface="Arial"/>
              </a:rPr>
              <a:t>estado</a:t>
            </a:r>
            <a:r>
              <a:rPr sz="165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650" b="0" i="0" dirty="0" err="1">
                <a:solidFill>
                  <a:srgbClr val="212121"/>
                </a:solidFill>
                <a:latin typeface="Arial"/>
              </a:rPr>
              <a:t>actualizado</a:t>
            </a:r>
            <a:endParaRPr sz="1650" b="0" i="0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89120" y="3840480"/>
            <a:ext cx="27432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0" i="1">
                <a:solidFill>
                  <a:srgbClr val="757575"/>
                </a:solidFill>
                <a:latin typeface="Arial"/>
              </a:rPr>
              <a:t>id + JSON → LibroCreateDTO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645920"/>
            <a:ext cx="3246120" cy="324612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91271" y="1847088"/>
            <a:ext cx="28346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 i="0">
                <a:solidFill>
                  <a:srgbClr val="C62828"/>
                </a:solidFill>
                <a:latin typeface="Arial"/>
              </a:rPr>
              <a:t>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59" y="2377440"/>
            <a:ext cx="28346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212121"/>
                </a:solidFill>
                <a:latin typeface="Arial"/>
              </a:rPr>
              <a:t>204 No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926080"/>
            <a:ext cx="27432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50" b="0" i="0">
                <a:solidFill>
                  <a:srgbClr val="212121"/>
                </a:solidFill>
                <a:latin typeface="Arial"/>
              </a:rPr>
              <a:t>Elimina y no devuelve cuerpo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840480"/>
            <a:ext cx="27432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50" b="0" i="1">
                <a:solidFill>
                  <a:srgbClr val="757575"/>
                </a:solidFill>
                <a:latin typeface="Arial"/>
              </a:rPr>
              <a:t>id en la ruta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0927080" cy="658368"/>
          </a:xfrm>
          <a:prstGeom prst="roundRect">
            <a:avLst/>
          </a:prstGeom>
          <a:solidFill>
            <a:srgbClr val="FFF3E0"/>
          </a:solidFill>
          <a:ln w="1397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2603" y="5745441"/>
            <a:ext cx="10527754" cy="3231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0" i="0" dirty="0">
                <a:solidFill>
                  <a:srgbClr val="212121"/>
                </a:solidFill>
                <a:latin typeface="Arial"/>
              </a:rPr>
              <a:t>@RequestBody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convierte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el JSON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en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un DTO · @Valid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valida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antes de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ejecutar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·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ResponseEntity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decide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estado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y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cuerpo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El contrato de una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 i="0">
                <a:solidFill>
                  <a:srgbClr val="4E342E"/>
                </a:solidFill>
                <a:latin typeface="Arial"/>
              </a:rPr>
              <a:t>El consumidor necesita conocer la API sin leer tu código.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108960" cy="2651760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1565C0"/>
                </a:solidFill>
                <a:latin typeface="Arial"/>
              </a:defRPr>
            </a:pPr>
            <a:r>
              <a:rPr dirty="0"/>
              <a:t>Código Java</a:t>
            </a:r>
            <a:endParaRPr lang="es-ES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Courier New"/>
              </a:defRPr>
            </a:pPr>
            <a:r>
              <a:rPr dirty="0"/>
              <a:t>@RestController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Courier New"/>
              </a:defRPr>
            </a:pPr>
            <a:r>
              <a:rPr dirty="0"/>
              <a:t>@GetMapping / @PostMapping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/>
              <a:t>DTOs y </a:t>
            </a:r>
            <a:r>
              <a:rPr dirty="0" err="1"/>
              <a:t>validación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26280" y="1874519"/>
            <a:ext cx="3154680" cy="274320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200" b="1">
                <a:solidFill>
                  <a:srgbClr val="4E342E"/>
                </a:solidFill>
                <a:latin typeface="Arial"/>
              </a:defRPr>
            </a:pPr>
            <a:r>
              <a:rPr dirty="0" err="1"/>
              <a:t>Contrato</a:t>
            </a:r>
            <a:r>
              <a:rPr dirty="0"/>
              <a:t> </a:t>
            </a:r>
            <a:r>
              <a:rPr dirty="0" err="1"/>
              <a:t>OpenAPI</a:t>
            </a:r>
            <a:endParaRPr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rutas</a:t>
            </a:r>
            <a:r>
              <a:rPr dirty="0"/>
              <a:t> y </a:t>
            </a:r>
            <a:r>
              <a:rPr dirty="0" err="1"/>
              <a:t>verbos</a:t>
            </a:r>
            <a:endParaRPr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parámetros</a:t>
            </a:r>
            <a:r>
              <a:rPr dirty="0"/>
              <a:t> y </a:t>
            </a:r>
            <a:r>
              <a:rPr dirty="0" err="1"/>
              <a:t>cuerpos</a:t>
            </a:r>
            <a:endParaRPr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esquemas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códigos</a:t>
            </a:r>
            <a:r>
              <a:rPr dirty="0"/>
              <a:t> de </a:t>
            </a:r>
            <a:r>
              <a:rPr dirty="0" err="1"/>
              <a:t>respuesta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229600" y="1920240"/>
            <a:ext cx="3108960" cy="2651760"/>
          </a:xfrm>
          <a:prstGeom prst="roundRect">
            <a:avLst/>
          </a:prstGeom>
          <a:solidFill>
            <a:srgbClr val="F3E5F5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000" b="1">
                <a:solidFill>
                  <a:srgbClr val="6A1B9A"/>
                </a:solidFill>
                <a:latin typeface="Arial"/>
              </a:defRPr>
            </a:pPr>
            <a:r>
              <a:rPr dirty="0" err="1"/>
              <a:t>Consumidores</a:t>
            </a:r>
            <a:endParaRPr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/>
              <a:t>Swagger UI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/>
              <a:t>curl / </a:t>
            </a:r>
            <a:r>
              <a:rPr dirty="0" err="1"/>
              <a:t>HTTPie</a:t>
            </a:r>
            <a:endParaRPr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/>
              <a:t>frontend / </a:t>
            </a:r>
            <a:r>
              <a:rPr dirty="0" err="1"/>
              <a:t>móvil</a:t>
            </a:r>
            <a:endParaRPr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60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servicios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977640" y="2880360"/>
            <a:ext cx="5029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200" b="1" i="0" dirty="0">
                <a:solidFill>
                  <a:srgbClr val="FFA000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880360"/>
            <a:ext cx="5029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200" b="1" i="0">
                <a:solidFill>
                  <a:srgbClr val="FFA000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577840"/>
            <a:ext cx="10927080" cy="658368"/>
          </a:xfrm>
          <a:prstGeom prst="roundRect">
            <a:avLst/>
          </a:prstGeom>
          <a:solidFill>
            <a:srgbClr val="FFF3E0"/>
          </a:solidFill>
          <a:ln w="1397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903" y="5745441"/>
            <a:ext cx="10715434" cy="32316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00" b="0" i="0" dirty="0" err="1">
                <a:solidFill>
                  <a:srgbClr val="212121"/>
                </a:solidFill>
                <a:latin typeface="Arial"/>
              </a:rPr>
              <a:t>OpenAPI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es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descripción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formal y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estándar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de ese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contrato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;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springdoc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puede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generar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gran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parte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de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ella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desde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500" b="0" i="0" dirty="0" err="1">
                <a:solidFill>
                  <a:srgbClr val="212121"/>
                </a:solidFill>
                <a:latin typeface="Arial"/>
              </a:rPr>
              <a:t>código</a:t>
            </a:r>
            <a:r>
              <a:rPr sz="1500" b="0" i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l_código_java_a_swagger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284" y="960120"/>
            <a:ext cx="7557431" cy="566807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Del código Java a OpenAPI y Swagger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Swagger UI ejecuta peticiones HTTP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pic>
        <p:nvPicPr>
          <p:cNvPr id="5" name="Picture 4" descr="de_swagger_ui_a_http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824" y="932688"/>
            <a:ext cx="7388352" cy="5541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>
            <a:extLst>
              <a:ext uri="{FF2B5EF4-FFF2-40B4-BE49-F238E27FC236}">
                <a16:creationId xmlns:a16="http://schemas.microsoft.com/office/drawing/2014/main" id="{DE3BAD35-2D87-3CF6-DCF1-FE0CF6104FF9}"/>
              </a:ext>
            </a:extLst>
          </p:cNvPr>
          <p:cNvSpPr/>
          <p:nvPr/>
        </p:nvSpPr>
        <p:spPr>
          <a:xfrm>
            <a:off x="548640" y="1593202"/>
            <a:ext cx="7328622" cy="3618878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Configurar springdoc y sus rutas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109728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50" b="0" i="0">
                <a:solidFill>
                  <a:srgbClr val="212121"/>
                </a:solidFill>
                <a:latin typeface="Arial"/>
              </a:rPr>
              <a:t>Una configuración mínima añade metadatos generales; springdoc genera el contrato y Swagger UI lo representa.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3265415"/>
          </a:xfrm>
          <a:prstGeom prst="rect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239512" cy="34107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50">
                <a:solidFill>
                  <a:srgbClr val="263238"/>
                </a:solidFill>
                <a:latin typeface="Courier New"/>
              </a:rPr>
              <a:t>@Configuration
public class OpenApiConfig {
    @Bean
    public OpenAPI libreriaOpenAPI() {
        return new OpenAPI()
            .info(new Info()
                .title("Librería API")
                .version("v1")
                .description("API para gestionar el catálogo..."));
  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7930" y="1600200"/>
            <a:ext cx="3543510" cy="932688"/>
          </a:xfrm>
          <a:prstGeom prst="roundRect">
            <a:avLst/>
          </a:prstGeom>
          <a:solidFill>
            <a:srgbClr val="E3F2FD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1900" b="1">
                <a:solidFill>
                  <a:srgbClr val="1565C0"/>
                </a:solidFill>
                <a:latin typeface="Arial"/>
              </a:defRPr>
            </a:pPr>
            <a:r>
              <a:t>/v3/api-docs</a:t>
            </a:r>
          </a:p>
          <a:p>
            <a:pPr>
              <a:spcAft>
                <a:spcPts val="300"/>
              </a:spcAft>
              <a:defRPr sz="1450" b="0">
                <a:solidFill>
                  <a:srgbClr val="212121"/>
                </a:solidFill>
                <a:latin typeface="Arial"/>
              </a:defRPr>
            </a:pPr>
            <a:r>
              <a:t>Contrato OpenAPI en 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7930" y="2697480"/>
            <a:ext cx="3543510" cy="932688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1900" b="1">
                <a:solidFill>
                  <a:srgbClr val="2E7D32"/>
                </a:solidFill>
                <a:latin typeface="Arial"/>
              </a:defRPr>
            </a:pPr>
            <a:r>
              <a:t>/swagger-ui.html</a:t>
            </a:r>
          </a:p>
          <a:p>
            <a:pPr>
              <a:spcAft>
                <a:spcPts val="300"/>
              </a:spcAft>
              <a:defRPr sz="1450" b="0">
                <a:solidFill>
                  <a:srgbClr val="212121"/>
                </a:solidFill>
                <a:latin typeface="Arial"/>
              </a:defRPr>
            </a:pPr>
            <a:r>
              <a:t>Punto de entrada a la interfaz Swagger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7930" y="3794760"/>
            <a:ext cx="3543510" cy="932688"/>
          </a:xfrm>
          <a:prstGeom prst="roundRect">
            <a:avLst/>
          </a:prstGeom>
          <a:solidFill>
            <a:srgbClr val="F3E5F5"/>
          </a:solidFill>
          <a:ln w="1524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1900" b="1">
                <a:solidFill>
                  <a:srgbClr val="6A1B9A"/>
                </a:solidFill>
                <a:latin typeface="Arial"/>
              </a:defRPr>
            </a:pPr>
            <a:r>
              <a:t>/documentacion</a:t>
            </a:r>
          </a:p>
          <a:p>
            <a:pPr>
              <a:spcAft>
                <a:spcPts val="300"/>
              </a:spcAft>
              <a:defRPr sz="1450" b="0">
                <a:solidFill>
                  <a:srgbClr val="212121"/>
                </a:solidFill>
                <a:latin typeface="Arial"/>
              </a:defRPr>
            </a:pPr>
            <a:r>
              <a:t>Ruta opcional configurada con springdoc.swagger-ui.path.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">
            <a:extLst>
              <a:ext uri="{FF2B5EF4-FFF2-40B4-BE49-F238E27FC236}">
                <a16:creationId xmlns:a16="http://schemas.microsoft.com/office/drawing/2014/main" id="{A6C97C78-843A-3F76-AFE5-9506A38EB1DF}"/>
              </a:ext>
            </a:extLst>
          </p:cNvPr>
          <p:cNvSpPr/>
          <p:nvPr/>
        </p:nvSpPr>
        <p:spPr>
          <a:xfrm>
            <a:off x="548640" y="1371599"/>
            <a:ext cx="5835382" cy="3364993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Documentar respuestas con @Operation y @ApiResponses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3216266"/>
          </a:xfrm>
          <a:prstGeom prst="rect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6565392" cy="4325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60">
                <a:solidFill>
                  <a:srgbClr val="263238"/>
                </a:solidFill>
                <a:latin typeface="Courier New"/>
              </a:rPr>
              <a:t>@Operation(summary = "Crear un libro nuevo")
@ApiResponses({
    @ApiResponse(responseCode = "201",
        description = "Libro creado correctamente"),
    @ApiResponse(responseCode = "400",
        description = "Datos no válidos"),
    @ApiResponse(responseCode = "404",
        description = "Editorial no encontrada")
})
@PostMapping
public ResponseEntity&lt;LibroResponseDTO&gt; create(
        @Valid @RequestBody LibroCreateDTO dto) {
    return ResponseEntity.status(HttpStatus.CREATED)
            .body(libroService.create(dto));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566160" cy="10058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100" b="1">
                <a:solidFill>
                  <a:srgbClr val="2E7D32"/>
                </a:solidFill>
                <a:latin typeface="Arial"/>
              </a:defRPr>
            </a:pPr>
            <a:r>
              <a:rPr dirty="0"/>
              <a:t>201</a:t>
            </a:r>
          </a:p>
          <a:p>
            <a:pPr>
              <a:spcAft>
                <a:spcPts val="300"/>
              </a:spcAft>
              <a:defRPr sz="1550" b="0">
                <a:solidFill>
                  <a:srgbClr val="212121"/>
                </a:solidFill>
                <a:latin typeface="Arial"/>
              </a:defRPr>
            </a:pPr>
            <a:r>
              <a:rPr dirty="0"/>
              <a:t>Libro </a:t>
            </a:r>
            <a:r>
              <a:rPr dirty="0" err="1"/>
              <a:t>creado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909560" y="2697480"/>
            <a:ext cx="3566160" cy="100584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100" b="1">
                <a:solidFill>
                  <a:srgbClr val="C62828"/>
                </a:solidFill>
                <a:latin typeface="Arial"/>
              </a:defRPr>
            </a:pPr>
            <a:r>
              <a:rPr dirty="0"/>
              <a:t>400</a:t>
            </a:r>
          </a:p>
          <a:p>
            <a:pPr>
              <a:spcAft>
                <a:spcPts val="300"/>
              </a:spcAft>
              <a:defRPr sz="1550" b="0">
                <a:solidFill>
                  <a:srgbClr val="212121"/>
                </a:solidFill>
                <a:latin typeface="Arial"/>
              </a:defRPr>
            </a:pPr>
            <a:r>
              <a:rPr dirty="0"/>
              <a:t>Datos no </a:t>
            </a:r>
            <a:r>
              <a:rPr dirty="0" err="1"/>
              <a:t>válidos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909560" y="3886200"/>
            <a:ext cx="3566160" cy="100584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spcAft>
                <a:spcPts val="300"/>
              </a:spcAft>
              <a:defRPr sz="2100" b="1">
                <a:solidFill>
                  <a:srgbClr val="C62828"/>
                </a:solidFill>
                <a:latin typeface="Arial"/>
              </a:defRPr>
            </a:pPr>
            <a:r>
              <a:rPr dirty="0"/>
              <a:t>404</a:t>
            </a:r>
          </a:p>
          <a:p>
            <a:pPr>
              <a:spcAft>
                <a:spcPts val="300"/>
              </a:spcAft>
              <a:defRPr sz="1550" b="0">
                <a:solidFill>
                  <a:srgbClr val="212121"/>
                </a:solidFill>
                <a:latin typeface="Arial"/>
              </a:defRPr>
            </a:pPr>
            <a:r>
              <a:rPr dirty="0" err="1"/>
              <a:t>Recurso</a:t>
            </a:r>
            <a:r>
              <a:rPr dirty="0"/>
              <a:t> </a:t>
            </a:r>
            <a:r>
              <a:rPr dirty="0" err="1"/>
              <a:t>relacionado</a:t>
            </a:r>
            <a:r>
              <a:rPr dirty="0"/>
              <a:t> no </a:t>
            </a:r>
            <a:r>
              <a:rPr dirty="0" err="1"/>
              <a:t>encontrado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19610" y="5253228"/>
            <a:ext cx="10152780" cy="33855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1" i="0" dirty="0" err="1">
                <a:solidFill>
                  <a:srgbClr val="4E342E"/>
                </a:solidFill>
                <a:latin typeface="Arial"/>
              </a:rPr>
              <a:t>Estas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anotaciones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enriquecen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el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contrato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; no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ejecutan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la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lógica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ni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producen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por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sí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solas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esos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4E342E"/>
                </a:solidFill>
                <a:latin typeface="Arial"/>
              </a:rPr>
              <a:t>códigos</a:t>
            </a:r>
            <a:r>
              <a:rPr sz="1600" b="1" i="0" dirty="0">
                <a:solidFill>
                  <a:srgbClr val="4E342E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Código que ejecuta vs código que documenta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pic>
        <p:nvPicPr>
          <p:cNvPr id="5" name="Picture 4" descr="wide_infographic_illustration_with_clean_flat_de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022" y="960119"/>
            <a:ext cx="8273956" cy="55159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OpenAPI como contrato compartido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pic>
        <p:nvPicPr>
          <p:cNvPr id="5" name="Picture 4" descr="wide_infographic_poster_in_a_clean_flat_illustr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216" y="960119"/>
            <a:ext cx="8265567" cy="55103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77240"/>
          </a:xfrm>
          <a:prstGeom prst="rect">
            <a:avLst/>
          </a:prstGeom>
          <a:solidFill>
            <a:srgbClr val="4E342E"/>
          </a:solidFill>
          <a:ln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33856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Cierre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/>
            <a:r>
              <a:rPr sz="1050" b="0" i="0">
                <a:solidFill>
                  <a:srgbClr val="757575"/>
                </a:solidFill>
                <a:latin typeface="Arial"/>
              </a:rPr>
              <a:t>Programación de Servicios y Procesos — Tema 1: Escritura y OpenAPI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4E342E"/>
                </a:solidFill>
                <a:latin typeface="Arial"/>
              </a:rPr>
              <a:t>Lo mínimo que debe quedar claro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47088"/>
            <a:ext cx="384048" cy="384048"/>
          </a:xfrm>
          <a:prstGeom prst="ellipse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69948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Arial"/>
              </a:rPr>
              <a:t>OpenAPI describe formalmente el contrato de una API.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60320"/>
            <a:ext cx="384048" cy="384048"/>
          </a:xfrm>
          <a:prstGeom prst="ellipse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42032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Arial"/>
              </a:rPr>
              <a:t>Springdoc genera automáticamente gran parte del contrato desde controllers y DTOs.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73552"/>
            <a:ext cx="384048" cy="384048"/>
          </a:xfrm>
          <a:prstGeom prst="ellipse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296412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55264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Arial"/>
              </a:rPr>
              <a:t>Swagger UI lee /v3/api-docs y puede ejecutar peticiones HTTP reales.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986784"/>
            <a:ext cx="384048" cy="384048"/>
          </a:xfrm>
          <a:prstGeom prst="ellipse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009644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68496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Arial"/>
              </a:rPr>
              <a:t>@Operation y @ApiResponses mejoran la documentación, no el comportamiento.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700016"/>
            <a:ext cx="384048" cy="384048"/>
          </a:xfrm>
          <a:prstGeom prst="ellipse">
            <a:avLst/>
          </a:prstGeom>
          <a:solidFill>
            <a:srgbClr val="FFA000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722876"/>
            <a:ext cx="38404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81728"/>
            <a:ext cx="9875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212121"/>
                </a:solidFill>
                <a:latin typeface="Arial"/>
              </a:rPr>
              <a:t>El mismo contrato puede ser utilizado por personas, herramientas y otras aplicaciones.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0927080" cy="658368"/>
          </a:xfrm>
          <a:prstGeom prst="roundRect">
            <a:avLst/>
          </a:prstGeom>
          <a:solidFill>
            <a:srgbClr val="FFF3E0"/>
          </a:solidFill>
          <a:ln w="1397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705855"/>
            <a:ext cx="13258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400" b="1" i="0">
                <a:solidFill>
                  <a:srgbClr val="4E342E"/>
                </a:solidFill>
                <a:latin typeface="Arial"/>
              </a:rPr>
              <a:t>Idea clave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669279"/>
            <a:ext cx="9144000" cy="38404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/>
            <a:r>
              <a:rPr sz="1550" b="0" i="0">
                <a:solidFill>
                  <a:srgbClr val="212121"/>
                </a:solidFill>
                <a:latin typeface="Arial"/>
              </a:rPr>
              <a:t>Próximo paso: utilizar el contrato y la documentación para probar y evolucionar la API con más seguridad.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1094</Words>
  <Application>Microsoft Office PowerPoint</Application>
  <PresentationFormat>Panorámica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keywords/>
  <dc:description>generated using python-pptx</dc:description>
  <cp:lastModifiedBy>ROIG AGUILAR, ALEJANDRO</cp:lastModifiedBy>
  <cp:revision>2</cp:revision>
  <dcterms:created xsi:type="dcterms:W3CDTF">2013-01-27T09:14:16Z</dcterms:created>
  <dcterms:modified xsi:type="dcterms:W3CDTF">2026-09-26T13:20:21Z</dcterms:modified>
  <cp:category/>
</cp:coreProperties>
</file>