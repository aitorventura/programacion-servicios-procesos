
<file path=[Content_Types].xml><?xml version="1.0" encoding="utf-8"?>
<Types xmlns="http://schemas.openxmlformats.org/package/2006/content-types">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notesMasters/notesMaster1.xml" ContentType="application/vnd.openxmlformats-officedocument.presentationml.notes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theme/theme2.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officeDocument/2006/relationships/extended-properties" Target="docProps/app.xml"/><Relationship Id="rId2" Type="http://schemas.openxmlformats.org/package/2006/relationships/metadata/core-properties" Target="docProps/core.xml"/><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notesMasterIdLst>
    <p:notesMasterId r:id="rId28"/>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horzBarState="maximized">
    <p:restoredLeft sz="15611"/>
    <p:restoredTop sz="94610"/>
  </p:normalViewPr>
  <p:slideViewPr>
    <p:cSldViewPr snapToGrid="0" snapToObjects="1">
      <p:cViewPr varScale="1">
        <p:scale>
          <a:sx n="82" d="100"/>
          <a:sy n="82" d="100"/>
        </p:scale>
        <p:origin x="691" y="7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8" Type="http://schemas.openxmlformats.org/officeDocument/2006/relationships/slide" Target="slides/slide7.xml"/><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3" Type="http://schemas.openxmlformats.org/officeDocument/2006/relationships/slide" Target="slides/slide2.xml"/><Relationship Id="rId21" Type="http://schemas.openxmlformats.org/officeDocument/2006/relationships/slide" Target="slides/slide20.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presProps" Target="presProps.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tableStyles" Target="tableStyles.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notesMaster" Target="notesMasters/notesMaster1.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theme" Target="theme/theme1.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viewProps" Target="viewProp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323687546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4.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5.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8.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9.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12.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14.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15.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17.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19.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21.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2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2" Type="http://schemas.openxmlformats.org/officeDocument/2006/relationships/theme" Target="../theme/theme1.xml"/><Relationship Id="rId1" Type="http://schemas.openxmlformats.org/officeDocument/2006/relationships/slideLayout" Target="../slideLayouts/slideLayout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2" Type="http://schemas.openxmlformats.org/officeDocument/2006/relationships/notesSlide" Target="../notesSlides/notesSlide1.xml"/><Relationship Id="rId1" Type="http://schemas.openxmlformats.org/officeDocument/2006/relationships/slideLayout" Target="../slideLayouts/slideLayout1.xml"/></Relationships>
</file>

<file path=ppt/slides/_rels/slide2.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1.xml"/></Relationships>
</file>

<file path=ppt/slides/_rels/slide3.xml.rels><?xml version="1.0" encoding="UTF-8" standalone="yes"?>
<Relationships xmlns="http://schemas.openxmlformats.org/package/2006/relationships"><Relationship Id="rId2" Type="http://schemas.openxmlformats.org/officeDocument/2006/relationships/notesSlide" Target="../notesSlides/notesSlide3.xml"/><Relationship Id="rId1" Type="http://schemas.openxmlformats.org/officeDocument/2006/relationships/slideLayout" Target="../slideLayouts/slideLayout1.xml"/></Relationships>
</file>

<file path=ppt/slides/_rels/slide4.xml.rels><?xml version="1.0" encoding="UTF-8" standalone="yes"?>
<Relationships xmlns="http://schemas.openxmlformats.org/package/2006/relationships"><Relationship Id="rId2" Type="http://schemas.openxmlformats.org/officeDocument/2006/relationships/notesSlide" Target="../notesSlides/notesSlide4.xml"/><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2" Type="http://schemas.openxmlformats.org/officeDocument/2006/relationships/notesSlide" Target="../notesSlides/notesSlide5.xml"/><Relationship Id="rId1" Type="http://schemas.openxmlformats.org/officeDocument/2006/relationships/slideLayout" Target="../slideLayouts/slideLayout1.xml"/></Relationships>
</file>

<file path=ppt/slides/_rels/slide6.xml.rels><?xml version="1.0" encoding="UTF-8" standalone="yes"?>
<Relationships xmlns="http://schemas.openxmlformats.org/package/2006/relationships"><Relationship Id="rId2" Type="http://schemas.openxmlformats.org/officeDocument/2006/relationships/notesSlide" Target="../notesSlides/notesSlide6.xml"/><Relationship Id="rId1" Type="http://schemas.openxmlformats.org/officeDocument/2006/relationships/slideLayout" Target="../slideLayouts/slideLayout1.xml"/></Relationships>
</file>

<file path=ppt/slides/_rels/slide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2" Type="http://schemas.openxmlformats.org/officeDocument/2006/relationships/notesSlide" Target="../notesSlides/notesSlide8.xml"/><Relationship Id="rId1" Type="http://schemas.openxmlformats.org/officeDocument/2006/relationships/slideLayout" Target="../slideLayouts/slideLayout1.xml"/></Relationships>
</file>

<file path=ppt/slides/_rels/slide9.xml.rels><?xml version="1.0" encoding="UTF-8" standalone="yes"?>
<Relationships xmlns="http://schemas.openxmlformats.org/package/2006/relationships"><Relationship Id="rId2" Type="http://schemas.openxmlformats.org/officeDocument/2006/relationships/notesSlide" Target="../notesSlides/notesSlide9.xml"/><Relationship Id="rId1" Type="http://schemas.openxmlformats.org/officeDocument/2006/relationships/slideLayout" Target="../slideLayouts/slideLayout1.xml"/></Relationships>
</file>

<file path=ppt/slides/_rels/slide10.xml.rels><?xml version="1.0" encoding="UTF-8" standalone="yes"?>
<Relationships xmlns="http://schemas.openxmlformats.org/package/2006/relationships"><Relationship Id="rId2" Type="http://schemas.openxmlformats.org/officeDocument/2006/relationships/notesSlide" Target="../notesSlides/notesSlide10.xml"/><Relationship Id="rId1" Type="http://schemas.openxmlformats.org/officeDocument/2006/relationships/slideLayout" Target="../slideLayouts/slideLayout1.xml"/></Relationships>
</file>

<file path=ppt/slides/_rels/slide11.xml.rels><?xml version="1.0" encoding="UTF-8" standalone="yes"?>
<Relationships xmlns="http://schemas.openxmlformats.org/package/2006/relationships"><Relationship Id="rId2" Type="http://schemas.openxmlformats.org/officeDocument/2006/relationships/notesSlide" Target="../notesSlides/notesSlide11.xml"/><Relationship Id="rId1" Type="http://schemas.openxmlformats.org/officeDocument/2006/relationships/slideLayout" Target="../slideLayouts/slideLayout1.xml"/></Relationships>
</file>

<file path=ppt/slides/_rels/slide12.xml.rels><?xml version="1.0" encoding="UTF-8" standalone="yes"?>
<Relationships xmlns="http://schemas.openxmlformats.org/package/2006/relationships"><Relationship Id="rId2" Type="http://schemas.openxmlformats.org/officeDocument/2006/relationships/notesSlide" Target="../notesSlides/notesSlide12.xml"/><Relationship Id="rId1" Type="http://schemas.openxmlformats.org/officeDocument/2006/relationships/slideLayout" Target="../slideLayouts/slideLayout1.xml"/></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13.xml"/><Relationship Id="rId1" Type="http://schemas.openxmlformats.org/officeDocument/2006/relationships/slideLayout" Target="../slideLayouts/slideLayout1.xml"/></Relationships>
</file>

<file path=ppt/slides/_rels/slide14.xml.rels><?xml version="1.0" encoding="UTF-8" standalone="yes"?>
<Relationships xmlns="http://schemas.openxmlformats.org/package/2006/relationships"><Relationship Id="rId2" Type="http://schemas.openxmlformats.org/officeDocument/2006/relationships/notesSlide" Target="../notesSlides/notesSlide14.xml"/><Relationship Id="rId1" Type="http://schemas.openxmlformats.org/officeDocument/2006/relationships/slideLayout" Target="../slideLayouts/slideLayout1.xml"/></Relationships>
</file>

<file path=ppt/slides/_rels/slide15.xml.rels><?xml version="1.0" encoding="UTF-8" standalone="yes"?>
<Relationships xmlns="http://schemas.openxmlformats.org/package/2006/relationships"><Relationship Id="rId2" Type="http://schemas.openxmlformats.org/officeDocument/2006/relationships/notesSlide" Target="../notesSlides/notesSlide15.xml"/><Relationship Id="rId1" Type="http://schemas.openxmlformats.org/officeDocument/2006/relationships/slideLayout" Target="../slideLayouts/slideLayout1.xml"/></Relationships>
</file>

<file path=ppt/slides/_rels/slide16.xml.rels><?xml version="1.0" encoding="UTF-8" standalone="yes"?>
<Relationships xmlns="http://schemas.openxmlformats.org/package/2006/relationships"><Relationship Id="rId2" Type="http://schemas.openxmlformats.org/officeDocument/2006/relationships/notesSlide" Target="../notesSlides/notesSlide16.xml"/><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2" Type="http://schemas.openxmlformats.org/officeDocument/2006/relationships/notesSlide" Target="../notesSlides/notesSlide17.xml"/><Relationship Id="rId1" Type="http://schemas.openxmlformats.org/officeDocument/2006/relationships/slideLayout" Target="../slideLayouts/slideLayout1.xml"/></Relationships>
</file>

<file path=ppt/slides/_rels/slide18.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1.xml"/></Relationships>
</file>

<file path=ppt/slides/_rels/slide19.xml.rels><?xml version="1.0" encoding="UTF-8" standalone="yes"?>
<Relationships xmlns="http://schemas.openxmlformats.org/package/2006/relationships"><Relationship Id="rId2" Type="http://schemas.openxmlformats.org/officeDocument/2006/relationships/notesSlide" Target="../notesSlides/notesSlide19.xml"/><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2" Type="http://schemas.openxmlformats.org/officeDocument/2006/relationships/notesSlide" Target="../notesSlides/notesSlide20.xml"/><Relationship Id="rId1" Type="http://schemas.openxmlformats.org/officeDocument/2006/relationships/slideLayout" Target="../slideLayouts/slideLayout1.xml"/></Relationships>
</file>

<file path=ppt/slides/_rels/slide21.xml.rels><?xml version="1.0" encoding="UTF-8" standalone="yes"?>
<Relationships xmlns="http://schemas.openxmlformats.org/package/2006/relationships"><Relationship Id="rId2" Type="http://schemas.openxmlformats.org/officeDocument/2006/relationships/notesSlide" Target="../notesSlides/notesSlide21.xml"/><Relationship Id="rId1" Type="http://schemas.openxmlformats.org/officeDocument/2006/relationships/slideLayout" Target="../slideLayouts/slideLayout1.xml"/></Relationships>
</file>

<file path=ppt/slides/_rels/slide22.xml.rels><?xml version="1.0" encoding="UTF-8" standalone="yes"?>
<Relationships xmlns="http://schemas.openxmlformats.org/package/2006/relationships"><Relationship Id="rId2" Type="http://schemas.openxmlformats.org/officeDocument/2006/relationships/notesSlide" Target="../notesSlides/notesSlide22.xml"/><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2" Type="http://schemas.openxmlformats.org/officeDocument/2006/relationships/notesSlide" Target="../notesSlides/notesSlide23.xml"/><Relationship Id="rId1" Type="http://schemas.openxmlformats.org/officeDocument/2006/relationships/slideLayout" Target="../slideLayouts/slideLayout1.xml"/></Relationships>
</file>

<file path=ppt/slides/_rels/slide24.xml.rels><?xml version="1.0" encoding="UTF-8" standalone="yes"?>
<Relationships xmlns="http://schemas.openxmlformats.org/package/2006/relationships"><Relationship Id="rId2" Type="http://schemas.openxmlformats.org/officeDocument/2006/relationships/notesSlide" Target="../notesSlides/notesSlide24.xml"/><Relationship Id="rId1" Type="http://schemas.openxmlformats.org/officeDocument/2006/relationships/slideLayout" Target="../slideLayouts/slideLayout1.xml"/></Relationships>
</file>

<file path=ppt/slides/_rels/slide25.xml.rels><?xml version="1.0" encoding="UTF-8" standalone="yes"?>
<Relationships xmlns="http://schemas.openxmlformats.org/package/2006/relationships"><Relationship Id="rId2" Type="http://schemas.openxmlformats.org/officeDocument/2006/relationships/notesSlide" Target="../notesSlides/notesSlide25.xml"/><Relationship Id="rId1" Type="http://schemas.openxmlformats.org/officeDocument/2006/relationships/slideLayout" Target="../slideLayouts/slideLayout1.xml"/></Relationships>
</file>

<file path=ppt/slides/_rels/slide26.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1.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4E342E"/>
        </a:solidFill>
        <a:effectLst/>
      </p:bgPr>
    </p:bg>
    <p:spTree>
      <p:nvGrpSpPr>
        <p:cNvPr id="1" name=""/>
        <p:cNvGrpSpPr/>
        <p:nvPr/>
      </p:nvGrpSpPr>
      <p:grpSpPr>
        <a:xfrm>
          <a:off x="0" y="0"/>
          <a:ext cx="0" cy="0"/>
          <a:chOff x="0" y="0"/>
          <a:chExt cx="0" cy="0"/>
        </a:xfrm>
      </p:grpSpPr>
      <p:sp>
        <p:nvSpPr>
          <p:cNvPr id="2" name="Text 0"/>
          <p:cNvSpPr/>
          <p:nvPr/>
        </p:nvSpPr>
        <p:spPr>
          <a:xfrm>
            <a:off x="548640" y="502920"/>
            <a:ext cx="11091672" cy="411480"/>
          </a:xfrm>
          <a:prstGeom prst="rect">
            <a:avLst/>
          </a:prstGeom>
          <a:noFill/>
          <a:ln/>
        </p:spPr>
        <p:txBody>
          <a:bodyPr wrap="square" rtlCol="0" anchor="ctr"/>
          <a:lstStyle/>
          <a:p>
            <a:pPr marL="0" indent="0">
              <a:buNone/>
            </a:pPr>
            <a:r>
              <a:rPr lang="en-US" sz="1400" dirty="0">
                <a:solidFill>
                  <a:srgbClr val="BCAAA4"/>
                </a:solidFill>
                <a:latin typeface="Arial" pitchFamily="34" charset="0"/>
                <a:ea typeface="Arial" pitchFamily="34" charset="-122"/>
                <a:cs typeface="Arial" pitchFamily="34" charset="-120"/>
              </a:rPr>
              <a:t>PROGRAMACIÓN DE SERVICIOS Y PROCESOS  —  TEMA 1: GENERACIÓN DE SERVICIOS EN RED</a:t>
            </a:r>
            <a:endParaRPr lang="en-US" sz="1400" dirty="0"/>
          </a:p>
        </p:txBody>
      </p:sp>
      <p:sp>
        <p:nvSpPr>
          <p:cNvPr id="3" name="Text 1"/>
          <p:cNvSpPr/>
          <p:nvPr/>
        </p:nvSpPr>
        <p:spPr>
          <a:xfrm>
            <a:off x="548640" y="1554480"/>
            <a:ext cx="11091672" cy="2377440"/>
          </a:xfrm>
          <a:prstGeom prst="rect">
            <a:avLst/>
          </a:prstGeom>
          <a:noFill/>
          <a:ln/>
        </p:spPr>
        <p:txBody>
          <a:bodyPr wrap="square" rtlCol="0" anchor="ctr"/>
          <a:lstStyle/>
          <a:p>
            <a:pPr marL="0" indent="0" algn="l">
              <a:buNone/>
            </a:pPr>
            <a:r>
              <a:rPr lang="en-US" sz="3600" b="1" dirty="0">
                <a:solidFill>
                  <a:srgbClr val="FFFFFF"/>
                </a:solidFill>
                <a:latin typeface="Arial" pitchFamily="34" charset="0"/>
                <a:ea typeface="Arial" pitchFamily="34" charset="-122"/>
                <a:cs typeface="Arial" pitchFamily="34" charset="-120"/>
              </a:rPr>
              <a:t>Escritura en la API</a:t>
            </a:r>
            <a:endParaRPr lang="en-US" sz="3600" dirty="0"/>
          </a:p>
          <a:p>
            <a:pPr marL="0" indent="0" algn="l">
              <a:buNone/>
            </a:pPr>
            <a:r>
              <a:rPr lang="en-US" sz="3600" b="1" dirty="0">
                <a:solidFill>
                  <a:srgbClr val="FFFFFF"/>
                </a:solidFill>
                <a:latin typeface="Arial" pitchFamily="34" charset="0"/>
                <a:ea typeface="Arial" pitchFamily="34" charset="-122"/>
                <a:cs typeface="Arial" pitchFamily="34" charset="-120"/>
              </a:rPr>
              <a:t>y documentación</a:t>
            </a:r>
            <a:endParaRPr lang="en-US" sz="3600" dirty="0"/>
          </a:p>
          <a:p>
            <a:pPr marL="0" indent="0" algn="l">
              <a:buNone/>
            </a:pPr>
            <a:r>
              <a:rPr lang="en-US" sz="3600" b="1" dirty="0">
                <a:solidFill>
                  <a:srgbClr val="FFFFFF"/>
                </a:solidFill>
                <a:latin typeface="Arial" pitchFamily="34" charset="0"/>
                <a:ea typeface="Arial" pitchFamily="34" charset="-122"/>
                <a:cs typeface="Arial" pitchFamily="34" charset="-120"/>
              </a:rPr>
              <a:t>con OpenAPI</a:t>
            </a:r>
            <a:endParaRPr lang="en-US" sz="3600" dirty="0"/>
          </a:p>
        </p:txBody>
      </p:sp>
      <p:sp>
        <p:nvSpPr>
          <p:cNvPr id="4" name="Shape 2"/>
          <p:cNvSpPr/>
          <p:nvPr/>
        </p:nvSpPr>
        <p:spPr>
          <a:xfrm>
            <a:off x="0" y="5120640"/>
            <a:ext cx="12188952" cy="914400"/>
          </a:xfrm>
          <a:prstGeom prst="rect">
            <a:avLst/>
          </a:prstGeom>
          <a:solidFill>
            <a:srgbClr val="FFA000"/>
          </a:solidFill>
          <a:ln w="12700">
            <a:solidFill>
              <a:srgbClr val="FFA000"/>
            </a:solidFill>
            <a:prstDash val="solid"/>
          </a:ln>
        </p:spPr>
        <p:txBody>
          <a:bodyPr/>
          <a:lstStyle/>
          <a:p>
            <a:endParaRPr lang="es-ES"/>
          </a:p>
        </p:txBody>
      </p:sp>
      <p:sp>
        <p:nvSpPr>
          <p:cNvPr id="5" name="Text 3"/>
          <p:cNvSpPr/>
          <p:nvPr/>
        </p:nvSpPr>
        <p:spPr>
          <a:xfrm>
            <a:off x="548640" y="5120640"/>
            <a:ext cx="11091672" cy="914400"/>
          </a:xfrm>
          <a:prstGeom prst="rect">
            <a:avLst/>
          </a:prstGeom>
          <a:noFill/>
          <a:ln/>
        </p:spPr>
        <p:txBody>
          <a:bodyPr wrap="square" rtlCol="0" anchor="ctr"/>
          <a:lstStyle/>
          <a:p>
            <a:pPr marL="0" indent="0">
              <a:buNone/>
            </a:pPr>
            <a:r>
              <a:rPr lang="en-US" sz="2000" i="1" dirty="0">
                <a:solidFill>
                  <a:srgbClr val="FFFFFF"/>
                </a:solidFill>
                <a:latin typeface="Arial" pitchFamily="34" charset="0"/>
                <a:ea typeface="Arial" pitchFamily="34" charset="-122"/>
                <a:cs typeface="Arial" pitchFamily="34" charset="-120"/>
              </a:rPr>
              <a:t>2. Escritura en la API y documentación con OpenAPI</a:t>
            </a:r>
            <a:endParaRPr lang="en-US" sz="20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Escritura en la API y documentación con OpenAPI</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2880360"/>
            <a:ext cx="11091672" cy="146304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Ya conoces los DTOs de entrada y de salida, las anotaciones de Bean Validation, @Valid y @Transactional. Aquí no repites nada de eso: ves esos mismos endpoints de escritura completos, con su código real, y añades algo que todavía no tenías — documentación automática de tu API con OpenAPI.</a:t>
            </a:r>
            <a:endParaRPr lang="en-US" sz="1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El LibroController completo (1/2)</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Text 3"/>
          <p:cNvSpPr/>
          <p:nvPr/>
        </p:nvSpPr>
        <p:spPr>
          <a:xfrm>
            <a:off x="548640" y="1645920"/>
            <a:ext cx="11091672" cy="64008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Aquí está de nuevo el controller ya explicado, esta vez completo, con los cinco métodos juntos — empezando por los GET que ya conoces:</a:t>
            </a:r>
            <a:endParaRPr lang="en-US" sz="1800" dirty="0"/>
          </a:p>
        </p:txBody>
      </p:sp>
      <p:sp>
        <p:nvSpPr>
          <p:cNvPr id="6" name="Shape 4"/>
          <p:cNvSpPr/>
          <p:nvPr/>
        </p:nvSpPr>
        <p:spPr>
          <a:xfrm>
            <a:off x="548640" y="2514600"/>
            <a:ext cx="11091672" cy="3671596"/>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514600"/>
            <a:ext cx="73152" cy="306324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2624328"/>
            <a:ext cx="10588752" cy="2843784"/>
          </a:xfrm>
          <a:prstGeom prst="rect">
            <a:avLst/>
          </a:prstGeom>
          <a:noFill/>
          <a:ln/>
        </p:spPr>
        <p:txBody>
          <a:bodyPr wrap="square" rtlCol="0" anchor="t"/>
          <a:lstStyle/>
          <a:p>
            <a:pPr marL="0" indent="0">
              <a:buNone/>
            </a:pPr>
            <a:r>
              <a:rPr lang="en-US" sz="1450" dirty="0">
                <a:solidFill>
                  <a:srgbClr val="263238"/>
                </a:solidFill>
                <a:latin typeface="Courier New" pitchFamily="34" charset="0"/>
                <a:ea typeface="Courier New" pitchFamily="34" charset="-122"/>
                <a:cs typeface="Courier New" pitchFamily="34" charset="-120"/>
              </a:rPr>
              <a:t>@RestController</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@RequestMapping("/api/v1/libros")</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@RequiredArgsConstructor</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public class LibroController {</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private final LibroService libroService;</a:t>
            </a:r>
            <a:endParaRPr lang="en-US" sz="1450" dirty="0"/>
          </a:p>
          <a:p>
            <a:pPr marL="0" indent="0">
              <a:buNone/>
            </a:pP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@GetMapping</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public ResponseEntity&lt;List&lt;LibroResponseDTO&gt;&gt; getAll() {</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return ResponseEntity.ok(libroService.findAll());</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a:t>
            </a:r>
            <a:endParaRPr lang="en-US" sz="1450" dirty="0"/>
          </a:p>
          <a:p>
            <a:pPr marL="0" indent="0">
              <a:buNone/>
            </a:pP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@GetMapping("/{id}")</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public ResponseEntity&lt;LibroResponseDTO&gt; getById(@PathVariable Long id) {</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return ResponseEntity.ok(libroService.findById(id));</a:t>
            </a:r>
            <a:endParaRPr lang="en-US" sz="1450" dirty="0"/>
          </a:p>
          <a:p>
            <a:pPr marL="0" indent="0">
              <a:buNone/>
            </a:pPr>
            <a:r>
              <a:rPr lang="en-US" sz="1450" dirty="0">
                <a:solidFill>
                  <a:srgbClr val="263238"/>
                </a:solidFill>
                <a:latin typeface="Courier New" pitchFamily="34" charset="0"/>
                <a:ea typeface="Courier New" pitchFamily="34" charset="-122"/>
                <a:cs typeface="Courier New" pitchFamily="34" charset="-120"/>
              </a:rPr>
              <a:t>    }</a:t>
            </a:r>
            <a:endParaRPr lang="en-US" sz="14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El LibroController completo (2/2)</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Text 3"/>
          <p:cNvSpPr/>
          <p:nvPr/>
        </p:nvSpPr>
        <p:spPr>
          <a:xfrm>
            <a:off x="548640" y="1554480"/>
            <a:ext cx="11091672" cy="45720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Y los tres métodos de escritura, nuevos en este apartado:</a:t>
            </a:r>
            <a:endParaRPr lang="en-US" sz="1800" dirty="0"/>
          </a:p>
        </p:txBody>
      </p:sp>
      <p:sp>
        <p:nvSpPr>
          <p:cNvPr id="6" name="Shape 4"/>
          <p:cNvSpPr/>
          <p:nvPr/>
        </p:nvSpPr>
        <p:spPr>
          <a:xfrm>
            <a:off x="548640" y="2194559"/>
            <a:ext cx="11091672" cy="3944983"/>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194560"/>
            <a:ext cx="73152" cy="365760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2304288"/>
            <a:ext cx="10588752" cy="3438144"/>
          </a:xfrm>
          <a:prstGeom prst="rect">
            <a:avLst/>
          </a:prstGeom>
          <a:noFill/>
          <a:ln/>
        </p:spPr>
        <p:txBody>
          <a:bodyPr wrap="square" rtlCol="0" anchor="t"/>
          <a:lstStyle/>
          <a:p>
            <a:pPr marL="0" indent="0">
              <a:buNone/>
            </a:pPr>
            <a:r>
              <a:rPr lang="en-US" sz="1400" dirty="0">
                <a:solidFill>
                  <a:srgbClr val="263238"/>
                </a:solidFill>
                <a:latin typeface="Courier New" pitchFamily="34" charset="0"/>
                <a:ea typeface="Courier New" pitchFamily="34" charset="-122"/>
                <a:cs typeface="Courier New" pitchFamily="34" charset="-120"/>
              </a:rPr>
              <a:t>    @PostMapping</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ResponseEntity&lt;LibroResponseDTO&gt; create(@Valid @RequestBody LibroCreateDTO dto)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return ResponseEntity.status(HttpStatus.CREATED).body(libroService.create(dto));</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a:t>
            </a:r>
            <a:endParaRPr lang="en-US" sz="1400" dirty="0"/>
          </a:p>
          <a:p>
            <a:pPr marL="0" indent="0">
              <a:buNone/>
            </a:pP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@PutMapping("/{id}")</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ResponseEntity&lt;LibroResponseDTO&gt; update(@PathVariable Long id, @Valid @RequestBody LibroCreateDTO dto)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return ResponseEntity.ok(libroService.update(id, dto));</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a:t>
            </a:r>
            <a:endParaRPr lang="en-US" sz="1400" dirty="0"/>
          </a:p>
          <a:p>
            <a:pPr marL="0" indent="0">
              <a:buNone/>
            </a:pP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@DeleteMapping("/{id}")</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ResponseEntity&lt;Void&gt; delete(@PathVariable Long id)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libroService.delete(id);</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return ResponseEntity.noContent().build();</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a:t>
            </a:r>
            <a:endParaRPr lang="en-US" sz="14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Un código distinto según el resultado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Text 3"/>
          <p:cNvSpPr/>
          <p:nvPr/>
        </p:nvSpPr>
        <p:spPr>
          <a:xfrm>
            <a:off x="548640" y="1554480"/>
            <a:ext cx="11091672" cy="8229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getAll y getById responden con 200 OK. Los tres endpoints de escritura utilizan un código distinto según el resultado que producen:</a:t>
            </a:r>
            <a:endParaRPr lang="en-US" sz="1900" dirty="0"/>
          </a:p>
        </p:txBody>
      </p:sp>
      <p:graphicFrame>
        <p:nvGraphicFramePr>
          <p:cNvPr id="6" name="Table 0"/>
          <p:cNvGraphicFramePr>
            <a:graphicFrameLocks noGrp="1"/>
          </p:cNvGraphicFramePr>
          <p:nvPr>
            <p:extLst>
              <p:ext uri="{D42A27DB-BD31-4B8C-83A1-F6EECF244321}">
                <p14:modId xmlns:p14="http://schemas.microsoft.com/office/powerpoint/2010/main" val="1579011935"/>
              </p:ext>
            </p:extLst>
          </p:nvPr>
        </p:nvGraphicFramePr>
        <p:xfrm>
          <a:off x="548640" y="2651760"/>
          <a:ext cx="11091672" cy="3108960"/>
        </p:xfrm>
        <a:graphic>
          <a:graphicData uri="http://schemas.openxmlformats.org/drawingml/2006/table">
            <a:tbl>
              <a:tblPr/>
              <a:tblGrid>
                <a:gridCol w="1663751">
                  <a:extLst>
                    <a:ext uri="{9D8B030D-6E8A-4147-A177-3AD203B41FA5}">
                      <a16:colId xmlns:a16="http://schemas.microsoft.com/office/drawing/2014/main" val="20000"/>
                    </a:ext>
                  </a:extLst>
                </a:gridCol>
                <a:gridCol w="3105668">
                  <a:extLst>
                    <a:ext uri="{9D8B030D-6E8A-4147-A177-3AD203B41FA5}">
                      <a16:colId xmlns:a16="http://schemas.microsoft.com/office/drawing/2014/main" val="20001"/>
                    </a:ext>
                  </a:extLst>
                </a:gridCol>
                <a:gridCol w="6322253">
                  <a:extLst>
                    <a:ext uri="{9D8B030D-6E8A-4147-A177-3AD203B41FA5}">
                      <a16:colId xmlns:a16="http://schemas.microsoft.com/office/drawing/2014/main" val="20002"/>
                    </a:ext>
                  </a:extLst>
                </a:gridCol>
              </a:tblGrid>
              <a:tr h="777240">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Verbo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Código habitual de éxito</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700" b="1" dirty="0">
                          <a:solidFill>
                            <a:srgbClr val="FFFFFF"/>
                          </a:solidFill>
                          <a:latin typeface="Arial" pitchFamily="34" charset="0"/>
                          <a:ea typeface="Arial" pitchFamily="34" charset="-122"/>
                          <a:cs typeface="Arial" pitchFamily="34" charset="-120"/>
                        </a:rPr>
                        <a:t>Qué indica</a:t>
                      </a:r>
                      <a:endParaRPr lang="en-US" sz="17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extLst>
                  <a:ext uri="{0D108BD9-81ED-4DB2-BD59-A6C34878D82A}">
                    <a16:rowId xmlns:a16="http://schemas.microsoft.com/office/drawing/2014/main" val="10000"/>
                  </a:ext>
                </a:extLst>
              </a:tr>
              <a:tr h="7772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POST</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201 Created</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Se ha creado un recurso nuevo.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PUT</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200 OK</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El recurso se ha reemplazado y se devuelve su estado actualizado.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777240">
                <a:tc>
                  <a:txBody>
                    <a:bodyPr/>
                    <a:lstStyle/>
                    <a:p>
                      <a:pPr marL="0" indent="0">
                        <a:buNone/>
                      </a:pPr>
                      <a:r>
                        <a:rPr lang="en-US" sz="1500" b="1" dirty="0">
                          <a:solidFill>
                            <a:srgbClr val="212121"/>
                          </a:solidFill>
                          <a:latin typeface="Arial" pitchFamily="34" charset="0"/>
                          <a:ea typeface="Arial" pitchFamily="34" charset="-122"/>
                          <a:cs typeface="Arial" pitchFamily="34" charset="-120"/>
                        </a:rPr>
                        <a:t>DELETE</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204 No Content</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500" dirty="0">
                          <a:solidFill>
                            <a:srgbClr val="212121"/>
                          </a:solidFill>
                          <a:latin typeface="Arial" pitchFamily="34" charset="0"/>
                          <a:ea typeface="Arial" pitchFamily="34" charset="-122"/>
                          <a:cs typeface="Arial" pitchFamily="34" charset="-120"/>
                        </a:rPr>
                        <a:t>El recurso se ha eliminado y no hay ningún cuerpo que devolver.</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bl>
          </a:graphicData>
        </a:graphic>
      </p:graphicFrame>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Elemento a elemento, lo que hace cada pieza</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graphicFrame>
        <p:nvGraphicFramePr>
          <p:cNvPr id="7" name="Table 0"/>
          <p:cNvGraphicFramePr>
            <a:graphicFrameLocks noGrp="1"/>
          </p:cNvGraphicFramePr>
          <p:nvPr>
            <p:extLst>
              <p:ext uri="{D42A27DB-BD31-4B8C-83A1-F6EECF244321}">
                <p14:modId xmlns:p14="http://schemas.microsoft.com/office/powerpoint/2010/main" val="1579011935"/>
              </p:ext>
            </p:extLst>
          </p:nvPr>
        </p:nvGraphicFramePr>
        <p:xfrm>
          <a:off x="548640" y="1188720"/>
          <a:ext cx="11091672" cy="4663440"/>
        </p:xfrm>
        <a:graphic>
          <a:graphicData uri="http://schemas.openxmlformats.org/drawingml/2006/table">
            <a:tbl>
              <a:tblPr/>
              <a:tblGrid>
                <a:gridCol w="4214835">
                  <a:extLst>
                    <a:ext uri="{9D8B030D-6E8A-4147-A177-3AD203B41FA5}">
                      <a16:colId xmlns:a16="http://schemas.microsoft.com/office/drawing/2014/main" val="20000"/>
                    </a:ext>
                  </a:extLst>
                </a:gridCol>
                <a:gridCol w="6876837">
                  <a:extLst>
                    <a:ext uri="{9D8B030D-6E8A-4147-A177-3AD203B41FA5}">
                      <a16:colId xmlns:a16="http://schemas.microsoft.com/office/drawing/2014/main" val="20001"/>
                    </a:ext>
                  </a:extLst>
                </a:gridCol>
              </a:tblGrid>
              <a:tr h="777240">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Elemento</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tc>
                  <a:txBody>
                    <a:bodyPr/>
                    <a:lstStyle/>
                    <a:p>
                      <a:pPr marL="0" indent="0" algn="ctr">
                        <a:buNone/>
                      </a:pPr>
                      <a:r>
                        <a:rPr lang="en-US" sz="1500" b="1" dirty="0">
                          <a:solidFill>
                            <a:srgbClr val="FFFFFF"/>
                          </a:solidFill>
                          <a:latin typeface="Arial" pitchFamily="34" charset="0"/>
                          <a:ea typeface="Arial" pitchFamily="34" charset="-122"/>
                          <a:cs typeface="Arial" pitchFamily="34" charset="-120"/>
                        </a:rPr>
                        <a:t>Qué representa</a:t>
                      </a:r>
                      <a:endParaRPr lang="en-US" sz="15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6D4C41"/>
                    </a:solidFill>
                  </a:tcPr>
                </a:tc>
                <a:extLst>
                  <a:ext uri="{0D108BD9-81ED-4DB2-BD59-A6C34878D82A}">
                    <a16:rowId xmlns:a16="http://schemas.microsoft.com/office/drawing/2014/main" val="10000"/>
                  </a:ext>
                </a:extLst>
              </a:tr>
              <a:tr h="777240">
                <a:tc>
                  <a:txBody>
                    <a:bodyPr/>
                    <a:lstStyle/>
                    <a:p>
                      <a:pPr marL="0" indent="0">
                        <a:buNone/>
                      </a:pPr>
                      <a:r>
                        <a:rPr lang="en-US" sz="1300" b="1" dirty="0">
                          <a:solidFill>
                            <a:srgbClr val="212121"/>
                          </a:solidFill>
                          <a:latin typeface="Arial" pitchFamily="34" charset="0"/>
                          <a:ea typeface="Arial" pitchFamily="34" charset="-122"/>
                          <a:cs typeface="Arial" pitchFamily="34" charset="-120"/>
                        </a:rPr>
                        <a:t>ResponseEntity.status(HttpStatus.CREATED).body(...)</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00" dirty="0">
                          <a:solidFill>
                            <a:srgbClr val="212121"/>
                          </a:solidFill>
                          <a:latin typeface="Arial" pitchFamily="34" charset="0"/>
                          <a:ea typeface="Arial" pitchFamily="34" charset="-122"/>
                          <a:cs typeface="Arial" pitchFamily="34" charset="-120"/>
                        </a:rPr>
                        <a:t>201, con el recurso creado en el cuerpo — la respuesta natural de un POST.</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1"/>
                  </a:ext>
                </a:extLst>
              </a:tr>
              <a:tr h="777240">
                <a:tc>
                  <a:txBody>
                    <a:bodyPr/>
                    <a:lstStyle/>
                    <a:p>
                      <a:pPr marL="0" indent="0">
                        <a:buNone/>
                      </a:pPr>
                      <a:r>
                        <a:rPr lang="en-US" sz="1300" b="1" dirty="0">
                          <a:solidFill>
                            <a:srgbClr val="212121"/>
                          </a:solidFill>
                          <a:latin typeface="Arial" pitchFamily="34" charset="0"/>
                          <a:ea typeface="Arial" pitchFamily="34" charset="-122"/>
                          <a:cs typeface="Arial" pitchFamily="34" charset="-120"/>
                        </a:rPr>
                        <a:t>ResponseEntity.ok(...) en el PUT</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300" dirty="0">
                          <a:solidFill>
                            <a:srgbClr val="212121"/>
                          </a:solidFill>
                          <a:latin typeface="Arial" pitchFamily="34" charset="0"/>
                          <a:ea typeface="Arial" pitchFamily="34" charset="-122"/>
                          <a:cs typeface="Arial" pitchFamily="34" charset="-120"/>
                        </a:rPr>
                        <a:t>200, con el recurso ya actualizado en el cuerpo.</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2"/>
                  </a:ext>
                </a:extLst>
              </a:tr>
              <a:tr h="777240">
                <a:tc>
                  <a:txBody>
                    <a:bodyPr/>
                    <a:lstStyle/>
                    <a:p>
                      <a:pPr marL="0" indent="0">
                        <a:buNone/>
                      </a:pPr>
                      <a:r>
                        <a:rPr lang="en-US" sz="1300" b="1" dirty="0">
                          <a:solidFill>
                            <a:srgbClr val="212121"/>
                          </a:solidFill>
                          <a:latin typeface="Arial" pitchFamily="34" charset="0"/>
                          <a:ea typeface="Arial" pitchFamily="34" charset="-122"/>
                          <a:cs typeface="Arial" pitchFamily="34" charset="-120"/>
                        </a:rPr>
                        <a:t>ResponseEntity.noContent().build()</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00" dirty="0">
                          <a:solidFill>
                            <a:srgbClr val="212121"/>
                          </a:solidFill>
                          <a:latin typeface="Arial" pitchFamily="34" charset="0"/>
                          <a:ea typeface="Arial" pitchFamily="34" charset="-122"/>
                          <a:cs typeface="Arial" pitchFamily="34" charset="-120"/>
                        </a:rPr>
                        <a:t>204, sin cuerpo — la respuesta natural de un DELETE.</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3"/>
                  </a:ext>
                </a:extLst>
              </a:tr>
              <a:tr h="777240">
                <a:tc>
                  <a:txBody>
                    <a:bodyPr/>
                    <a:lstStyle/>
                    <a:p>
                      <a:pPr marL="0" indent="0">
                        <a:buNone/>
                      </a:pPr>
                      <a:r>
                        <a:rPr lang="en-US" sz="1300" b="1" dirty="0">
                          <a:solidFill>
                            <a:srgbClr val="212121"/>
                          </a:solidFill>
                          <a:latin typeface="Arial" pitchFamily="34" charset="0"/>
                          <a:ea typeface="Arial" pitchFamily="34" charset="-122"/>
                          <a:cs typeface="Arial" pitchFamily="34" charset="-120"/>
                        </a:rPr>
                        <a:t>@RequestBody LibroCreateDTO dto</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tc>
                  <a:txBody>
                    <a:bodyPr/>
                    <a:lstStyle/>
                    <a:p>
                      <a:pPr marL="0" indent="0">
                        <a:buNone/>
                      </a:pPr>
                      <a:r>
                        <a:rPr lang="en-US" sz="1300" dirty="0">
                          <a:solidFill>
                            <a:srgbClr val="212121"/>
                          </a:solidFill>
                          <a:latin typeface="Arial" pitchFamily="34" charset="0"/>
                          <a:ea typeface="Arial" pitchFamily="34" charset="-122"/>
                          <a:cs typeface="Arial" pitchFamily="34" charset="-120"/>
                        </a:rPr>
                        <a:t>El cuerpo JSON de la petición, convertido automáticamente en un objeto Java.</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5F5F5"/>
                    </a:solidFill>
                  </a:tcPr>
                </a:tc>
                <a:extLst>
                  <a:ext uri="{0D108BD9-81ED-4DB2-BD59-A6C34878D82A}">
                    <a16:rowId xmlns:a16="http://schemas.microsoft.com/office/drawing/2014/main" val="10004"/>
                  </a:ext>
                </a:extLst>
              </a:tr>
              <a:tr h="777240">
                <a:tc>
                  <a:txBody>
                    <a:bodyPr/>
                    <a:lstStyle/>
                    <a:p>
                      <a:pPr marL="0" indent="0">
                        <a:buNone/>
                      </a:pPr>
                      <a:r>
                        <a:rPr lang="en-US" sz="1300" b="1" dirty="0">
                          <a:solidFill>
                            <a:srgbClr val="212121"/>
                          </a:solidFill>
                          <a:latin typeface="Arial" pitchFamily="34" charset="0"/>
                          <a:ea typeface="Arial" pitchFamily="34" charset="-122"/>
                          <a:cs typeface="Arial" pitchFamily="34" charset="-120"/>
                        </a:rPr>
                        <a:t>@Valid</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tc>
                  <a:txBody>
                    <a:bodyPr/>
                    <a:lstStyle/>
                    <a:p>
                      <a:pPr marL="0" indent="0">
                        <a:buNone/>
                      </a:pPr>
                      <a:r>
                        <a:rPr lang="en-US" sz="1300" dirty="0">
                          <a:solidFill>
                            <a:srgbClr val="212121"/>
                          </a:solidFill>
                          <a:latin typeface="Arial" pitchFamily="34" charset="0"/>
                          <a:ea typeface="Arial" pitchFamily="34" charset="-122"/>
                          <a:cs typeface="Arial" pitchFamily="34" charset="-120"/>
                        </a:rPr>
                        <a:t>La misma validación que ya conoces: si el DTO incumple alguna restricción, la petición nunca llega a ejecutar el método.</a:t>
                      </a:r>
                      <a:endParaRPr lang="en-US" sz="1300" dirty="0">
                        <a:latin typeface="Arial" charset="0"/>
                        <a:ea typeface="Arial" charset="0"/>
                        <a:cs typeface="Arial" charset="0"/>
                      </a:endParaRPr>
                    </a:p>
                  </a:txBody>
                  <a:tcPr anchor="ctr">
                    <a:lnL w="12700" cap="flat" cmpd="sng" algn="ctr">
                      <a:solidFill>
                        <a:srgbClr val="EEEEEE"/>
                      </a:solidFill>
                      <a:prstDash val="solid"/>
                      <a:round/>
                      <a:headEnd type="none" w="med" len="med"/>
                      <a:tailEnd type="none" w="med" len="med"/>
                    </a:lnL>
                    <a:lnR w="12700" cap="flat" cmpd="sng" algn="ctr">
                      <a:solidFill>
                        <a:srgbClr val="EEEEEE"/>
                      </a:solidFill>
                      <a:prstDash val="solid"/>
                      <a:round/>
                      <a:headEnd type="none" w="med" len="med"/>
                      <a:tailEnd type="none" w="med" len="med"/>
                    </a:lnR>
                    <a:lnT w="12700" cap="flat" cmpd="sng" algn="ctr">
                      <a:solidFill>
                        <a:srgbClr val="EEEEEE"/>
                      </a:solidFill>
                      <a:prstDash val="solid"/>
                      <a:round/>
                      <a:headEnd type="none" w="med" len="med"/>
                      <a:tailEnd type="none" w="med" len="med"/>
                    </a:lnT>
                    <a:lnB w="12700" cap="flat" cmpd="sng" algn="ctr">
                      <a:solidFill>
                        <a:srgbClr val="EEEEEE"/>
                      </a:solidFill>
                      <a:prstDash val="solid"/>
                      <a:round/>
                      <a:headEnd type="none" w="med" len="med"/>
                      <a:tailEnd type="none" w="med" len="med"/>
                    </a:lnB>
                    <a:solidFill>
                      <a:srgbClr val="FFFFFF"/>
                    </a:solidFill>
                  </a:tcPr>
                </a:tc>
                <a:extLst>
                  <a:ext uri="{0D108BD9-81ED-4DB2-BD59-A6C34878D82A}">
                    <a16:rowId xmlns:a16="http://schemas.microsoft.com/office/drawing/2014/main" val="10005"/>
                  </a:ext>
                </a:extLst>
              </a:tr>
            </a:tbl>
          </a:graphicData>
        </a:graphic>
      </p:graphicFrame>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Nada de este código menciona OpenAPI</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2880360"/>
            <a:ext cx="11091672" cy="146304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Fíjate en algo: nada de este código menciona OpenAPI ni Swagger. Eso es justo lo que viene ahora — cómo este mismo controller, sin tocarle una línea, termina documentado y ejecutable desde el navegador.</a:t>
            </a:r>
            <a:endParaRPr lang="en-US" sz="20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El contrato de una API</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Text 3"/>
          <p:cNvSpPr/>
          <p:nvPr/>
        </p:nvSpPr>
        <p:spPr>
          <a:xfrm>
            <a:off x="548640" y="1554480"/>
            <a:ext cx="11091672" cy="1051560"/>
          </a:xfrm>
          <a:prstGeom prst="rect">
            <a:avLst/>
          </a:prstGeom>
          <a:noFill/>
          <a:ln/>
        </p:spPr>
        <p:txBody>
          <a:bodyPr wrap="square" rtlCol="0" anchor="t"/>
          <a:lstStyle/>
          <a:p>
            <a:pPr marL="0" indent="0">
              <a:buNone/>
            </a:pPr>
            <a:r>
              <a:rPr lang="en-US" sz="1900" dirty="0">
                <a:solidFill>
                  <a:srgbClr val="212121"/>
                </a:solidFill>
                <a:latin typeface="Arial" pitchFamily="34" charset="0"/>
                <a:ea typeface="Arial" pitchFamily="34" charset="-122"/>
                <a:cs typeface="Arial" pitchFamily="34" charset="-120"/>
              </a:rPr>
              <a:t>Toda esa semántica —qué verbo usar, qué código esperar, si es seguro reintentar— la conoces tú. Pero cuando el consumidor de tu API es otro programa, o un compañero que no ha leído tu código, necesita saber lo mismo sin adivinar.</a:t>
            </a:r>
            <a:endParaRPr lang="en-US" sz="1900" dirty="0"/>
          </a:p>
        </p:txBody>
      </p:sp>
      <p:sp>
        <p:nvSpPr>
          <p:cNvPr id="6" name="Shape 4"/>
          <p:cNvSpPr/>
          <p:nvPr/>
        </p:nvSpPr>
        <p:spPr>
          <a:xfrm>
            <a:off x="548640" y="2926080"/>
            <a:ext cx="11091672" cy="1051560"/>
          </a:xfrm>
          <a:prstGeom prst="roundRect">
            <a:avLst/>
          </a:prstGeom>
          <a:solidFill>
            <a:srgbClr val="FFF3E0"/>
          </a:solidFill>
          <a:ln w="19050">
            <a:solidFill>
              <a:srgbClr val="FFA000"/>
            </a:solidFill>
            <a:prstDash val="solid"/>
          </a:ln>
        </p:spPr>
        <p:txBody>
          <a:bodyPr/>
          <a:lstStyle/>
          <a:p>
            <a:endParaRPr lang="es-ES"/>
          </a:p>
        </p:txBody>
      </p:sp>
      <p:sp>
        <p:nvSpPr>
          <p:cNvPr id="7" name="Text 5"/>
          <p:cNvSpPr/>
          <p:nvPr/>
        </p:nvSpPr>
        <p:spPr>
          <a:xfrm>
            <a:off x="822960" y="3017520"/>
            <a:ext cx="10543032" cy="8686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A esa descripción formal —qué rutas existen, qué verbo usa cada una, qué reciben y qué devuelven— se la llama el contrato de la API.</a:t>
            </a:r>
            <a:endParaRPr lang="en-US" sz="1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OpenAPI y Swagger UI</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2468880"/>
            <a:ext cx="11091672" cy="173736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OpenAPI es el formato estándar más usado para escribir ese contrato (un documento, normalmente en YAML o JSON, que describe rutas, verbos, parámetros y esquemas de datos). Swagger UI es un visor interactivo que lee ese documento y genera, automáticamente, una página web donde se puede explorar la API — y también ejecutarla de verdad.</a:t>
            </a:r>
            <a:endParaRPr lang="en-US" sz="180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De la anotación a la página interactiva</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2926080"/>
            <a:ext cx="3026664" cy="1554480"/>
          </a:xfrm>
          <a:prstGeom prst="roundRect">
            <a:avLst/>
          </a:prstGeom>
          <a:solidFill>
            <a:srgbClr val="EFEBE9"/>
          </a:solidFill>
          <a:ln w="15875">
            <a:solidFill>
              <a:srgbClr val="6D4C41"/>
            </a:solidFill>
            <a:prstDash val="solid"/>
          </a:ln>
        </p:spPr>
        <p:txBody>
          <a:bodyPr/>
          <a:lstStyle/>
          <a:p>
            <a:endParaRPr lang="es-ES"/>
          </a:p>
        </p:txBody>
      </p:sp>
      <p:sp>
        <p:nvSpPr>
          <p:cNvPr id="6" name="Text 4"/>
          <p:cNvSpPr/>
          <p:nvPr/>
        </p:nvSpPr>
        <p:spPr>
          <a:xfrm>
            <a:off x="594360" y="2971800"/>
            <a:ext cx="2935224" cy="1463040"/>
          </a:xfrm>
          <a:prstGeom prst="rect">
            <a:avLst/>
          </a:prstGeom>
          <a:noFill/>
          <a:ln/>
        </p:spPr>
        <p:txBody>
          <a:bodyPr wrap="square" rtlCol="0" anchor="ctr"/>
          <a:lstStyle/>
          <a:p>
            <a:pPr marL="0" indent="0" algn="ctr">
              <a:buNone/>
            </a:pPr>
            <a:r>
              <a:rPr lang="en-US" sz="1500" dirty="0">
                <a:solidFill>
                  <a:srgbClr val="212121"/>
                </a:solidFill>
                <a:latin typeface="Arial" pitchFamily="34" charset="0"/>
                <a:ea typeface="Arial" pitchFamily="34" charset="-122"/>
                <a:cs typeface="Arial" pitchFamily="34" charset="-120"/>
              </a:rPr>
              <a:t>📝 Anotaciones en</a:t>
            </a:r>
            <a:endParaRPr lang="en-US" sz="1500" dirty="0"/>
          </a:p>
          <a:p>
            <a:pPr marL="0" indent="0" algn="ctr">
              <a:buNone/>
            </a:pPr>
            <a:r>
              <a:rPr lang="en-US" sz="1500" dirty="0">
                <a:solidFill>
                  <a:srgbClr val="212121"/>
                </a:solidFill>
                <a:latin typeface="Arial" pitchFamily="34" charset="0"/>
                <a:ea typeface="Arial" pitchFamily="34" charset="-122"/>
                <a:cs typeface="Arial" pitchFamily="34" charset="-120"/>
              </a:rPr>
              <a:t>tu código</a:t>
            </a:r>
            <a:endParaRPr lang="en-US" sz="1500" dirty="0"/>
          </a:p>
          <a:p>
            <a:pPr marL="0" indent="0" algn="ctr">
              <a:buNone/>
            </a:pPr>
            <a:r>
              <a:rPr lang="en-US" sz="1500" dirty="0">
                <a:solidFill>
                  <a:srgbClr val="212121"/>
                </a:solidFill>
                <a:latin typeface="Arial" pitchFamily="34" charset="0"/>
                <a:ea typeface="Arial" pitchFamily="34" charset="-122"/>
                <a:cs typeface="Arial" pitchFamily="34" charset="-120"/>
              </a:rPr>
              <a:t>(@RestController,</a:t>
            </a:r>
            <a:endParaRPr lang="en-US" sz="1500" dirty="0"/>
          </a:p>
          <a:p>
            <a:pPr marL="0" indent="0" algn="ctr">
              <a:buNone/>
            </a:pPr>
            <a:r>
              <a:rPr lang="en-US" sz="1500" dirty="0">
                <a:solidFill>
                  <a:srgbClr val="212121"/>
                </a:solidFill>
                <a:latin typeface="Arial" pitchFamily="34" charset="0"/>
                <a:ea typeface="Arial" pitchFamily="34" charset="-122"/>
                <a:cs typeface="Arial" pitchFamily="34" charset="-120"/>
              </a:rPr>
              <a:t>@GetMapping...)</a:t>
            </a:r>
            <a:endParaRPr lang="en-US" sz="1500" dirty="0"/>
          </a:p>
        </p:txBody>
      </p:sp>
      <p:sp>
        <p:nvSpPr>
          <p:cNvPr id="7" name="Text 5"/>
          <p:cNvSpPr/>
          <p:nvPr/>
        </p:nvSpPr>
        <p:spPr>
          <a:xfrm>
            <a:off x="3529584" y="2926080"/>
            <a:ext cx="1097280" cy="1554480"/>
          </a:xfrm>
          <a:prstGeom prst="rect">
            <a:avLst/>
          </a:prstGeom>
          <a:noFill/>
          <a:ln/>
        </p:spPr>
        <p:txBody>
          <a:bodyPr wrap="square" rtlCol="0" anchor="ctr"/>
          <a:lstStyle/>
          <a:p>
            <a:pPr marL="0" indent="0" algn="ctr">
              <a:buNone/>
            </a:pPr>
            <a:r>
              <a:rPr lang="en-US" sz="1300" b="1" i="1" dirty="0">
                <a:solidFill>
                  <a:srgbClr val="6D4C41"/>
                </a:solidFill>
                <a:latin typeface="Arial" pitchFamily="34" charset="0"/>
                <a:ea typeface="Arial" pitchFamily="34" charset="-122"/>
                <a:cs typeface="Arial" pitchFamily="34" charset="-120"/>
              </a:rPr>
              <a:t>genera  →</a:t>
            </a:r>
            <a:endParaRPr lang="en-US" sz="1300" dirty="0"/>
          </a:p>
        </p:txBody>
      </p:sp>
      <p:sp>
        <p:nvSpPr>
          <p:cNvPr id="8" name="Shape 6"/>
          <p:cNvSpPr/>
          <p:nvPr/>
        </p:nvSpPr>
        <p:spPr>
          <a:xfrm>
            <a:off x="4581144" y="2926080"/>
            <a:ext cx="3026664" cy="1554480"/>
          </a:xfrm>
          <a:prstGeom prst="roundRect">
            <a:avLst/>
          </a:prstGeom>
          <a:solidFill>
            <a:srgbClr val="EFEBE9"/>
          </a:solidFill>
          <a:ln w="15875">
            <a:solidFill>
              <a:srgbClr val="6D4C41"/>
            </a:solidFill>
            <a:prstDash val="solid"/>
          </a:ln>
        </p:spPr>
        <p:txBody>
          <a:bodyPr/>
          <a:lstStyle/>
          <a:p>
            <a:endParaRPr lang="es-ES"/>
          </a:p>
        </p:txBody>
      </p:sp>
      <p:sp>
        <p:nvSpPr>
          <p:cNvPr id="9" name="Text 7"/>
          <p:cNvSpPr/>
          <p:nvPr/>
        </p:nvSpPr>
        <p:spPr>
          <a:xfrm>
            <a:off x="4626864" y="2971800"/>
            <a:ext cx="2935224" cy="1463040"/>
          </a:xfrm>
          <a:prstGeom prst="rect">
            <a:avLst/>
          </a:prstGeom>
          <a:noFill/>
          <a:ln/>
        </p:spPr>
        <p:txBody>
          <a:bodyPr wrap="square" rtlCol="0" anchor="ctr"/>
          <a:lstStyle/>
          <a:p>
            <a:pPr marL="0" indent="0" algn="ctr">
              <a:buNone/>
            </a:pPr>
            <a:r>
              <a:rPr lang="en-US" sz="1500" dirty="0">
                <a:solidFill>
                  <a:srgbClr val="212121"/>
                </a:solidFill>
                <a:latin typeface="Arial" pitchFamily="34" charset="0"/>
                <a:ea typeface="Arial" pitchFamily="34" charset="-122"/>
                <a:cs typeface="Arial" pitchFamily="34" charset="-120"/>
              </a:rPr>
              <a:t>📄 Contrato</a:t>
            </a:r>
            <a:endParaRPr lang="en-US" sz="1500" dirty="0"/>
          </a:p>
          <a:p>
            <a:pPr marL="0" indent="0" algn="ctr">
              <a:buNone/>
            </a:pPr>
            <a:r>
              <a:rPr lang="en-US" sz="1500" dirty="0">
                <a:solidFill>
                  <a:srgbClr val="212121"/>
                </a:solidFill>
                <a:latin typeface="Arial" pitchFamily="34" charset="0"/>
                <a:ea typeface="Arial" pitchFamily="34" charset="-122"/>
                <a:cs typeface="Arial" pitchFamily="34" charset="-120"/>
              </a:rPr>
              <a:t>OpenAPI</a:t>
            </a:r>
            <a:endParaRPr lang="en-US" sz="1500" dirty="0"/>
          </a:p>
          <a:p>
            <a:pPr marL="0" indent="0" algn="ctr">
              <a:buNone/>
            </a:pPr>
            <a:r>
              <a:rPr lang="en-US" sz="1500" dirty="0">
                <a:solidFill>
                  <a:srgbClr val="212121"/>
                </a:solidFill>
                <a:latin typeface="Arial" pitchFamily="34" charset="0"/>
                <a:ea typeface="Arial" pitchFamily="34" charset="-122"/>
                <a:cs typeface="Arial" pitchFamily="34" charset="-120"/>
              </a:rPr>
              <a:t>(/v3/api-docs)</a:t>
            </a:r>
            <a:endParaRPr lang="en-US" sz="1500" dirty="0"/>
          </a:p>
        </p:txBody>
      </p:sp>
      <p:sp>
        <p:nvSpPr>
          <p:cNvPr id="10" name="Text 8"/>
          <p:cNvSpPr/>
          <p:nvPr/>
        </p:nvSpPr>
        <p:spPr>
          <a:xfrm>
            <a:off x="7562088" y="2926080"/>
            <a:ext cx="1097280" cy="1554480"/>
          </a:xfrm>
          <a:prstGeom prst="rect">
            <a:avLst/>
          </a:prstGeom>
          <a:noFill/>
          <a:ln/>
        </p:spPr>
        <p:txBody>
          <a:bodyPr wrap="square" rtlCol="0" anchor="ctr"/>
          <a:lstStyle/>
          <a:p>
            <a:pPr marL="0" indent="0" algn="ctr">
              <a:buNone/>
            </a:pPr>
            <a:r>
              <a:rPr lang="en-US" sz="1300" b="1" i="1" dirty="0">
                <a:solidFill>
                  <a:srgbClr val="6D4C41"/>
                </a:solidFill>
                <a:latin typeface="Arial" pitchFamily="34" charset="0"/>
                <a:ea typeface="Arial" pitchFamily="34" charset="-122"/>
                <a:cs typeface="Arial" pitchFamily="34" charset="-120"/>
              </a:rPr>
              <a:t>se ve en  →</a:t>
            </a:r>
            <a:endParaRPr lang="en-US" sz="1300" dirty="0"/>
          </a:p>
        </p:txBody>
      </p:sp>
      <p:sp>
        <p:nvSpPr>
          <p:cNvPr id="11" name="Shape 9"/>
          <p:cNvSpPr/>
          <p:nvPr/>
        </p:nvSpPr>
        <p:spPr>
          <a:xfrm>
            <a:off x="8613648" y="2926080"/>
            <a:ext cx="3026664" cy="1554480"/>
          </a:xfrm>
          <a:prstGeom prst="roundRect">
            <a:avLst/>
          </a:prstGeom>
          <a:solidFill>
            <a:srgbClr val="EFEBE9"/>
          </a:solidFill>
          <a:ln w="15875">
            <a:solidFill>
              <a:srgbClr val="6D4C41"/>
            </a:solidFill>
            <a:prstDash val="solid"/>
          </a:ln>
        </p:spPr>
        <p:txBody>
          <a:bodyPr/>
          <a:lstStyle/>
          <a:p>
            <a:endParaRPr lang="es-ES"/>
          </a:p>
        </p:txBody>
      </p:sp>
      <p:sp>
        <p:nvSpPr>
          <p:cNvPr id="12" name="Text 10"/>
          <p:cNvSpPr/>
          <p:nvPr/>
        </p:nvSpPr>
        <p:spPr>
          <a:xfrm>
            <a:off x="8659368" y="2971800"/>
            <a:ext cx="2935224" cy="1463040"/>
          </a:xfrm>
          <a:prstGeom prst="rect">
            <a:avLst/>
          </a:prstGeom>
          <a:noFill/>
          <a:ln/>
        </p:spPr>
        <p:txBody>
          <a:bodyPr wrap="square" rtlCol="0" anchor="ctr"/>
          <a:lstStyle/>
          <a:p>
            <a:pPr marL="0" indent="0" algn="ctr">
              <a:buNone/>
            </a:pPr>
            <a:r>
              <a:rPr lang="en-US" sz="1500" dirty="0">
                <a:solidFill>
                  <a:srgbClr val="212121"/>
                </a:solidFill>
                <a:latin typeface="Arial" pitchFamily="34" charset="0"/>
                <a:ea typeface="Arial" pitchFamily="34" charset="-122"/>
                <a:cs typeface="Arial" pitchFamily="34" charset="-120"/>
              </a:rPr>
              <a:t>🖥️ Swagger UI</a:t>
            </a:r>
            <a:endParaRPr lang="en-US" sz="1500" dirty="0"/>
          </a:p>
          <a:p>
            <a:pPr marL="0" indent="0" algn="ctr">
              <a:buNone/>
            </a:pPr>
            <a:r>
              <a:rPr lang="en-US" sz="1500" dirty="0">
                <a:solidFill>
                  <a:srgbClr val="212121"/>
                </a:solidFill>
                <a:latin typeface="Arial" pitchFamily="34" charset="0"/>
                <a:ea typeface="Arial" pitchFamily="34" charset="-122"/>
                <a:cs typeface="Arial" pitchFamily="34" charset="-120"/>
              </a:rPr>
              <a:t>(/swagger-ui.html)</a:t>
            </a:r>
            <a:endParaRPr lang="en-US" sz="15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Tú no escribes el documento OpenAPI a mano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1554480"/>
            <a:ext cx="11091672" cy="137160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1645920"/>
            <a:ext cx="10543032" cy="118872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Lo importante: una librería genera automáticamente gran parte del contrato leyendo las mismas anotaciones (@RestController, @GetMapping, los DTOs...) que ya utilizas para construir la API.</a:t>
            </a:r>
            <a:endParaRPr lang="en-US" sz="1900" dirty="0"/>
          </a:p>
        </p:txBody>
      </p:sp>
      <p:sp>
        <p:nvSpPr>
          <p:cNvPr id="7" name="Text 5"/>
          <p:cNvSpPr/>
          <p:nvPr/>
        </p:nvSpPr>
        <p:spPr>
          <a:xfrm>
            <a:off x="548640" y="3246120"/>
            <a:ext cx="11091672" cy="109728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Así, las rutas, los verbos y los esquemas básicos se mantienen vinculados al código. Más adelante añadirás algunas anotaciones de OpenAPI para completar información que springdoc no puede deducir por sí solo, como la descripción de cada operación.</a:t>
            </a:r>
            <a:endParaRPr lang="en-US" sz="18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Esto evita duplicar mucha información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2468880"/>
            <a:ext cx="11091672" cy="173736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2000" dirty="0">
                <a:solidFill>
                  <a:srgbClr val="212121"/>
                </a:solidFill>
                <a:latin typeface="Arial" pitchFamily="34" charset="0"/>
                <a:ea typeface="Arial" pitchFamily="34" charset="-122"/>
                <a:cs typeface="Arial" pitchFamily="34" charset="-120"/>
              </a:rPr>
              <a:t>Si añades un nuevo endpoint o cambias los campos de un DTO, la documentación generada refleja esos cambios automáticamente. Algunos detalles, como las descripciones o los códigos de respuesta posibles, sí tendrás que indicarlos mediante anotaciones específicas.</a:t>
            </a:r>
            <a:endParaRPr lang="en-US" sz="20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Así se ve Swagger UI, paso a paso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Text 3"/>
          <p:cNvSpPr/>
          <p:nvPr/>
        </p:nvSpPr>
        <p:spPr>
          <a:xfrm>
            <a:off x="548640" y="1463040"/>
            <a:ext cx="11091672" cy="4206240"/>
          </a:xfrm>
          <a:prstGeom prst="rect">
            <a:avLst/>
          </a:prstGeom>
          <a:noFill/>
          <a:ln/>
        </p:spPr>
        <p:txBody>
          <a:bodyPr wrap="square" rtlCol="0" anchor="t"/>
          <a:lstStyle/>
          <a:p>
            <a:pPr marL="342900" indent="-342900">
              <a:spcAft>
                <a:spcPts val="1200"/>
              </a:spcAft>
              <a:buSzPct val="100000"/>
              <a:buChar char="•"/>
            </a:pPr>
            <a:r>
              <a:rPr lang="en-US" sz="1800" dirty="0">
                <a:solidFill>
                  <a:srgbClr val="212121"/>
                </a:solidFill>
                <a:latin typeface="Arial" pitchFamily="34" charset="0"/>
                <a:ea typeface="Arial" pitchFamily="34" charset="-122"/>
                <a:cs typeface="Arial" pitchFamily="34" charset="-120"/>
              </a:rPr>
              <a:t>Abres /swagger-ui.html y ves los controllers de tu API agrupados por tag, cada uno desplegable.</a:t>
            </a:r>
            <a:endParaRPr lang="en-US" sz="1800" dirty="0"/>
          </a:p>
          <a:p>
            <a:pPr marL="342900" indent="-342900">
              <a:spcAft>
                <a:spcPts val="1200"/>
              </a:spcAft>
              <a:buSzPct val="100000"/>
              <a:buChar char="•"/>
            </a:pPr>
            <a:r>
              <a:rPr lang="en-US" sz="1800" dirty="0">
                <a:solidFill>
                  <a:srgbClr val="212121"/>
                </a:solidFill>
                <a:latin typeface="Arial" pitchFamily="34" charset="0"/>
                <a:ea typeface="Arial" pitchFamily="34" charset="-122"/>
                <a:cs typeface="Arial" pitchFamily="34" charset="-120"/>
              </a:rPr>
              <a:t>Despliegas, por ejemplo, POST /api/v1/libros — Swagger UI te muestra el esquema esperado del cuerpo y un ejemplo de JSON ya relleno.</a:t>
            </a:r>
            <a:endParaRPr lang="en-US" sz="1800" dirty="0"/>
          </a:p>
          <a:p>
            <a:pPr marL="342900" indent="-342900">
              <a:spcAft>
                <a:spcPts val="1200"/>
              </a:spcAft>
              <a:buSzPct val="100000"/>
              <a:buChar char="•"/>
            </a:pPr>
            <a:r>
              <a:rPr lang="en-US" sz="1800" dirty="0">
                <a:solidFill>
                  <a:srgbClr val="212121"/>
                </a:solidFill>
                <a:latin typeface="Arial" pitchFamily="34" charset="0"/>
                <a:ea typeface="Arial" pitchFamily="34" charset="-122"/>
                <a:cs typeface="Arial" pitchFamily="34" charset="-120"/>
              </a:rPr>
              <a:t>Pulsas Try it out: ese ejemplo se vuelve editable. Cambias los valores que quieras.</a:t>
            </a:r>
            <a:endParaRPr lang="en-US" sz="1800" dirty="0"/>
          </a:p>
          <a:p>
            <a:pPr marL="342900" indent="-342900">
              <a:spcAft>
                <a:spcPts val="1200"/>
              </a:spcAft>
              <a:buSzPct val="100000"/>
              <a:buChar char="•"/>
            </a:pPr>
            <a:r>
              <a:rPr lang="en-US" sz="1800" dirty="0">
                <a:solidFill>
                  <a:srgbClr val="212121"/>
                </a:solidFill>
                <a:latin typeface="Arial" pitchFamily="34" charset="0"/>
                <a:ea typeface="Arial" pitchFamily="34" charset="-122"/>
                <a:cs typeface="Arial" pitchFamily="34" charset="-120"/>
              </a:rPr>
              <a:t>Pulsas Execute.</a:t>
            </a:r>
            <a:endParaRPr lang="en-US" sz="18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Swagger UI no es solo documentación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1371600"/>
            <a:ext cx="11091672" cy="1791478"/>
          </a:xfrm>
          <a:prstGeom prst="roundRect">
            <a:avLst/>
          </a:prstGeom>
          <a:solidFill>
            <a:srgbClr val="FFF3E0"/>
          </a:solidFill>
          <a:ln w="28575">
            <a:solidFill>
              <a:srgbClr val="FFA000"/>
            </a:solidFill>
            <a:prstDash val="solid"/>
          </a:ln>
        </p:spPr>
        <p:txBody>
          <a:bodyPr/>
          <a:lstStyle/>
          <a:p>
            <a:endParaRPr lang="es-ES"/>
          </a:p>
        </p:txBody>
      </p:sp>
      <p:sp>
        <p:nvSpPr>
          <p:cNvPr id="6" name="Text 4"/>
          <p:cNvSpPr/>
          <p:nvPr/>
        </p:nvSpPr>
        <p:spPr>
          <a:xfrm>
            <a:off x="822960" y="1481328"/>
            <a:ext cx="10543032" cy="1426464"/>
          </a:xfrm>
          <a:prstGeom prst="rect">
            <a:avLst/>
          </a:prstGeom>
          <a:noFill/>
          <a:ln/>
        </p:spPr>
        <p:txBody>
          <a:bodyPr wrap="square" rtlCol="0" anchor="t"/>
          <a:lstStyle/>
          <a:p>
            <a:pPr marL="0" indent="0">
              <a:buNone/>
            </a:pPr>
            <a:r>
              <a:rPr lang="en-US" sz="2000" b="1" dirty="0">
                <a:solidFill>
                  <a:srgbClr val="4E342E"/>
                </a:solidFill>
                <a:latin typeface="Arial" pitchFamily="34" charset="0"/>
                <a:ea typeface="Arial" pitchFamily="34" charset="-122"/>
                <a:cs typeface="Arial" pitchFamily="34" charset="-120"/>
              </a:rPr>
              <a:t>Manda peticiones HTTP reales
</a:t>
            </a:r>
            <a:endParaRPr lang="en-US" sz="2000" dirty="0"/>
          </a:p>
          <a:p>
            <a:pPr marL="0" indent="0">
              <a:buNone/>
            </a:pPr>
            <a:r>
              <a:rPr lang="en-US" sz="1900" dirty="0">
                <a:solidFill>
                  <a:srgbClr val="212121"/>
                </a:solidFill>
                <a:latin typeface="Arial" pitchFamily="34" charset="0"/>
                <a:ea typeface="Arial" pitchFamily="34" charset="-122"/>
                <a:cs typeface="Arial" pitchFamily="34" charset="-120"/>
              </a:rPr>
              <a:t>Al pulsar Execute, Swagger UI construye y envía una petición HTTP real contra tu aplicación. Es equivalente a la que podrías enviar mediante curl o Postman: llega al mismo endpoint y ejecuta el mismo código del controller.</a:t>
            </a:r>
            <a:endParaRPr lang="en-US" sz="2000" dirty="0"/>
          </a:p>
        </p:txBody>
      </p:sp>
      <p:sp>
        <p:nvSpPr>
          <p:cNvPr id="7" name="Text 5"/>
          <p:cNvSpPr/>
          <p:nvPr/>
        </p:nvSpPr>
        <p:spPr>
          <a:xfrm>
            <a:off x="548640" y="3337560"/>
            <a:ext cx="11091672" cy="960120"/>
          </a:xfrm>
          <a:prstGeom prst="rect">
            <a:avLst/>
          </a:prstGeom>
          <a:noFill/>
          <a:ln/>
        </p:spPr>
        <p:txBody>
          <a:bodyPr wrap="square" rtlCol="0" anchor="t"/>
          <a:lstStyle/>
          <a:p>
            <a:pPr marL="0" indent="0">
              <a:buNone/>
            </a:pPr>
            <a:r>
              <a:rPr lang="en-US" sz="1800" dirty="0">
                <a:solidFill>
                  <a:srgbClr val="757575"/>
                </a:solidFill>
                <a:latin typeface="Arial" pitchFamily="34" charset="0"/>
                <a:ea typeface="Arial" pitchFamily="34" charset="-122"/>
                <a:cs typeface="Arial" pitchFamily="34" charset="-120"/>
              </a:rPr>
              <a:t>La respuesta que aparece debajo —código de estado, cabeceras y cuerpo— es la respuesta real del servidor. Si ejecutas un POST y se crea un libro, quedará guardado en la base de datos.</a:t>
            </a:r>
            <a:endParaRPr lang="en-US" sz="18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Documentando con OpenAPI</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Text 3"/>
          <p:cNvSpPr/>
          <p:nvPr/>
        </p:nvSpPr>
        <p:spPr>
          <a:xfrm>
            <a:off x="548640" y="1463040"/>
            <a:ext cx="11091672" cy="54864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La documentación se genera con la dependencia springdoc-openapi-starter-webmvc-ui y una clase de configuración mínima:</a:t>
            </a:r>
            <a:endParaRPr lang="en-US" sz="1800" dirty="0"/>
          </a:p>
        </p:txBody>
      </p:sp>
      <p:sp>
        <p:nvSpPr>
          <p:cNvPr id="6" name="Shape 4"/>
          <p:cNvSpPr/>
          <p:nvPr/>
        </p:nvSpPr>
        <p:spPr>
          <a:xfrm>
            <a:off x="548640" y="2240280"/>
            <a:ext cx="11091672" cy="320040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240280"/>
            <a:ext cx="73152" cy="320040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2350008"/>
            <a:ext cx="10588752" cy="2980944"/>
          </a:xfrm>
          <a:prstGeom prst="rect">
            <a:avLst/>
          </a:prstGeom>
          <a:noFill/>
          <a:ln/>
        </p:spPr>
        <p:txBody>
          <a:bodyPr wrap="square" rtlCol="0" anchor="t"/>
          <a:lstStyle/>
          <a:p>
            <a:pPr marL="0" indent="0">
              <a:buNone/>
            </a:pPr>
            <a:r>
              <a:rPr lang="en-US" sz="1400" dirty="0">
                <a:solidFill>
                  <a:srgbClr val="263238"/>
                </a:solidFill>
                <a:latin typeface="Courier New" pitchFamily="34" charset="0"/>
                <a:ea typeface="Courier New" pitchFamily="34" charset="-122"/>
                <a:cs typeface="Courier New" pitchFamily="34" charset="-120"/>
              </a:rPr>
              <a:t>@Configuration</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public class OpenApiConfig {</a:t>
            </a:r>
            <a:endParaRPr lang="en-US" sz="1400" dirty="0"/>
          </a:p>
          <a:p>
            <a:pPr marL="0" indent="0">
              <a:buNone/>
            </a:pP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@Bean</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public OpenAPI libreriaOpenAPI()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return new OpenAPI()</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.info(new Info()</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.title("Librería API")</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.version("v1")</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.description("API para gestionar el catálogo de libros, editoriales, reseñas..."));</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    }</a:t>
            </a:r>
            <a:endParaRPr lang="en-US" sz="1400" dirty="0"/>
          </a:p>
          <a:p>
            <a:pPr marL="0" indent="0">
              <a:buNone/>
            </a:pPr>
            <a:r>
              <a:rPr lang="en-US" sz="1400" dirty="0">
                <a:solidFill>
                  <a:srgbClr val="263238"/>
                </a:solidFill>
                <a:latin typeface="Courier New" pitchFamily="34" charset="0"/>
                <a:ea typeface="Courier New" pitchFamily="34" charset="-122"/>
                <a:cs typeface="Courier New" pitchFamily="34" charset="-120"/>
              </a:rPr>
              <a:t>}</a:t>
            </a:r>
            <a:endParaRPr lang="en-US" sz="14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Con solo eso, springdoc hace el resto</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2468880"/>
            <a:ext cx="11091672" cy="173736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560320"/>
            <a:ext cx="10543032" cy="155448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Con solo esa dependencia y esa clase, springdoc escanea todos los @RestController del proyecto y genera, sin más trabajo por tu parte, la especificación OpenAPI en /v3/api-docs y la interfaz visual en /swagger-ui.html — los mismos endpoints que el controller ya tenía quedan documentados, y puedes ejecutarlos de verdad con "Try it out".</a:t>
            </a:r>
            <a:endParaRPr lang="en-US" sz="18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/v3/api-docs es la especificación en sí</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2377440"/>
            <a:ext cx="11091672" cy="182880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468880"/>
            <a:ext cx="10543032" cy="164592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Es el JSON (el 3 es por OpenAPI 3) que describe tus rutas, generado automáticamente por springdoc. Swagger UI no es más que una página que lee ese JSON y lo pinta como interfaz interactiva — no tiene información propia. Por eso las dos rutas van siempre juntas: si Swagger UI no puede llegar a /v3/api-docs, la página carga pero se queda vacía.</a:t>
            </a:r>
            <a:endParaRPr lang="en-US" sz="18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Cambiar la ruta de Swagger UI</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Text 3"/>
          <p:cNvSpPr/>
          <p:nvPr/>
        </p:nvSpPr>
        <p:spPr>
          <a:xfrm>
            <a:off x="548640" y="1371600"/>
            <a:ext cx="11091672" cy="45720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En tu application-dev.yml puedes mover la documentación a otra ruta:</a:t>
            </a:r>
            <a:endParaRPr lang="en-US" sz="1800" dirty="0"/>
          </a:p>
        </p:txBody>
      </p:sp>
      <p:sp>
        <p:nvSpPr>
          <p:cNvPr id="6" name="Shape 4"/>
          <p:cNvSpPr/>
          <p:nvPr/>
        </p:nvSpPr>
        <p:spPr>
          <a:xfrm>
            <a:off x="548640" y="2011680"/>
            <a:ext cx="11091672" cy="960120"/>
          </a:xfrm>
          <a:prstGeom prst="rect">
            <a:avLst/>
          </a:prstGeom>
          <a:solidFill>
            <a:srgbClr val="ECEFF1"/>
          </a:solidFill>
          <a:ln w="12700">
            <a:solidFill>
              <a:srgbClr val="EEEEEE"/>
            </a:solidFill>
            <a:prstDash val="solid"/>
          </a:ln>
        </p:spPr>
        <p:txBody>
          <a:bodyPr/>
          <a:lstStyle/>
          <a:p>
            <a:endParaRPr lang="es-ES"/>
          </a:p>
        </p:txBody>
      </p:sp>
      <p:sp>
        <p:nvSpPr>
          <p:cNvPr id="7" name="Shape 5"/>
          <p:cNvSpPr/>
          <p:nvPr/>
        </p:nvSpPr>
        <p:spPr>
          <a:xfrm>
            <a:off x="548640" y="2011680"/>
            <a:ext cx="73152" cy="960120"/>
          </a:xfrm>
          <a:prstGeom prst="rect">
            <a:avLst/>
          </a:prstGeom>
          <a:solidFill>
            <a:srgbClr val="FFA000"/>
          </a:solidFill>
          <a:ln w="12700">
            <a:solidFill>
              <a:srgbClr val="FFA000"/>
            </a:solidFill>
            <a:prstDash val="solid"/>
          </a:ln>
        </p:spPr>
        <p:txBody>
          <a:bodyPr/>
          <a:lstStyle/>
          <a:p>
            <a:endParaRPr lang="es-ES"/>
          </a:p>
        </p:txBody>
      </p:sp>
      <p:sp>
        <p:nvSpPr>
          <p:cNvPr id="8" name="Text 6"/>
          <p:cNvSpPr/>
          <p:nvPr/>
        </p:nvSpPr>
        <p:spPr>
          <a:xfrm>
            <a:off x="822960" y="2121408"/>
            <a:ext cx="10588752" cy="740664"/>
          </a:xfrm>
          <a:prstGeom prst="rect">
            <a:avLst/>
          </a:prstGeom>
          <a:noFill/>
          <a:ln/>
        </p:spPr>
        <p:txBody>
          <a:bodyPr wrap="square" rtlCol="0" anchor="t"/>
          <a:lstStyle/>
          <a:p>
            <a:pPr marL="0" indent="0">
              <a:buNone/>
            </a:pPr>
            <a:r>
              <a:rPr lang="en-US" sz="1700" dirty="0">
                <a:solidFill>
                  <a:srgbClr val="263238"/>
                </a:solidFill>
                <a:latin typeface="Courier New" pitchFamily="34" charset="0"/>
                <a:ea typeface="Courier New" pitchFamily="34" charset="-122"/>
                <a:cs typeface="Courier New" pitchFamily="34" charset="-120"/>
              </a:rPr>
              <a:t>springdoc:</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swagger-ui:</a:t>
            </a:r>
            <a:endParaRPr lang="en-US" sz="1700" dirty="0"/>
          </a:p>
          <a:p>
            <a:pPr marL="0" indent="0">
              <a:buNone/>
            </a:pPr>
            <a:r>
              <a:rPr lang="en-US" sz="1700" dirty="0">
                <a:solidFill>
                  <a:srgbClr val="263238"/>
                </a:solidFill>
                <a:latin typeface="Courier New" pitchFamily="34" charset="0"/>
                <a:ea typeface="Courier New" pitchFamily="34" charset="-122"/>
                <a:cs typeface="Courier New" pitchFamily="34" charset="-120"/>
              </a:rPr>
              <a:t>    path: /documentacion</a:t>
            </a:r>
            <a:endParaRPr lang="en-US" sz="1700" dirty="0"/>
          </a:p>
        </p:txBody>
      </p:sp>
      <p:sp>
        <p:nvSpPr>
          <p:cNvPr id="9" name="Text 7"/>
          <p:cNvSpPr/>
          <p:nvPr/>
        </p:nvSpPr>
        <p:spPr>
          <a:xfrm>
            <a:off x="548640" y="3291840"/>
            <a:ext cx="11091672" cy="1234440"/>
          </a:xfrm>
          <a:prstGeom prst="rect">
            <a:avLst/>
          </a:prstGeom>
          <a:noFill/>
          <a:ln/>
        </p:spPr>
        <p:txBody>
          <a:bodyPr wrap="square" rtlCol="0" anchor="t"/>
          <a:lstStyle/>
          <a:p>
            <a:pPr marL="0" indent="0">
              <a:buNone/>
            </a:pPr>
            <a:r>
              <a:rPr lang="en-US" sz="1600" dirty="0">
                <a:solidFill>
                  <a:srgbClr val="757575"/>
                </a:solidFill>
                <a:latin typeface="Arial" pitchFamily="34" charset="0"/>
                <a:ea typeface="Arial" pitchFamily="34" charset="-122"/>
                <a:cs typeface="Arial" pitchFamily="34" charset="-120"/>
              </a:rPr>
              <a:t>El navegador acaba redirigido a /swagger-ui/index.html: esa es la página real. Si más adelante proteges tu API con Spring Security, tendrás que dejar pasar las tres rutas — /documentacion, /swagger-ui/** y /v3/api-docs/** — no solo la que tú has elegido.</a:t>
            </a:r>
            <a:endParaRPr lang="en-US" sz="16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operations-sorter: method no hace lo que parece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1645920"/>
            <a:ext cx="11091672" cy="2194560"/>
          </a:xfrm>
          <a:prstGeom prst="roundRect">
            <a:avLst/>
          </a:prstGeom>
          <a:solidFill>
            <a:srgbClr val="FFF3E0"/>
          </a:solidFill>
          <a:ln w="28575">
            <a:solidFill>
              <a:srgbClr val="FFA000"/>
            </a:solidFill>
            <a:prstDash val="solid"/>
          </a:ln>
        </p:spPr>
        <p:txBody>
          <a:bodyPr/>
          <a:lstStyle/>
          <a:p>
            <a:endParaRPr lang="es-ES"/>
          </a:p>
        </p:txBody>
      </p:sp>
      <p:sp>
        <p:nvSpPr>
          <p:cNvPr id="6" name="Text 4"/>
          <p:cNvSpPr/>
          <p:nvPr/>
        </p:nvSpPr>
        <p:spPr>
          <a:xfrm>
            <a:off x="822960" y="1755648"/>
            <a:ext cx="10543032" cy="1975104"/>
          </a:xfrm>
          <a:prstGeom prst="rect">
            <a:avLst/>
          </a:prstGeom>
          <a:noFill/>
          <a:ln/>
        </p:spPr>
        <p:txBody>
          <a:bodyPr wrap="square" rtlCol="0" anchor="t"/>
          <a:lstStyle/>
          <a:p>
            <a:pPr marL="0" indent="0">
              <a:buNone/>
            </a:pPr>
            <a:r>
              <a:rPr lang="en-US" sz="1900" b="1" dirty="0">
                <a:solidFill>
                  <a:srgbClr val="4E342E"/>
                </a:solidFill>
                <a:latin typeface="Arial" pitchFamily="34" charset="0"/>
                <a:ea typeface="Arial" pitchFamily="34" charset="-122"/>
                <a:cs typeface="Arial" pitchFamily="34" charset="-120"/>
              </a:rPr>
              <a:t>⚠ No ordena en orden CRUD
</a:t>
            </a:r>
            <a:endParaRPr lang="en-US" sz="1900" dirty="0"/>
          </a:p>
          <a:p>
            <a:pPr marL="0" indent="0">
              <a:buNone/>
            </a:pPr>
            <a:r>
              <a:rPr lang="en-US" sz="1800" dirty="0">
                <a:solidFill>
                  <a:srgbClr val="212121"/>
                </a:solidFill>
                <a:latin typeface="Arial" pitchFamily="34" charset="0"/>
                <a:ea typeface="Arial" pitchFamily="34" charset="-122"/>
                <a:cs typeface="Arial" pitchFamily="34" charset="-120"/>
              </a:rPr>
              <a:t>Cuidado con lo que promete: no ordena por un criterio "lógico" (GET → POST → PUT → DELETE) — ordena alfabéticamente por el nombre del verbo, así que el resultado real es DELETE, GET, PATCH, POST, PUT. No hay ninguna propiedad simple en springdoc para conseguir el orden CRUD habitual — hay que sobrescribir la función de ordenación de Swagger UI, fuera del alcance de este curso.</a:t>
            </a:r>
            <a:endParaRPr lang="en-US" sz="1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Documentando qué puede devolver cada endpoint</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2880360"/>
            <a:ext cx="11091672" cy="173736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971800"/>
            <a:ext cx="10543032" cy="155448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Hasta aquí, Swagger UI documenta un endpoint, pero no del todo bien: por defecto solo declara un 200 genérico ("successful operation"), aunque tú ya sabes que create() puede devolver un 201, un 400 o un 404. @ApiResponses deja eso explícito.</a:t>
            </a:r>
            <a:endParaRPr lang="en-US" sz="190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@ApiResponses en acción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1645920"/>
            <a:ext cx="11091672" cy="3108960"/>
          </a:xfrm>
          <a:prstGeom prst="rect">
            <a:avLst/>
          </a:prstGeom>
          <a:solidFill>
            <a:srgbClr val="ECEFF1"/>
          </a:solidFill>
          <a:ln w="12700">
            <a:solidFill>
              <a:srgbClr val="EEEEEE"/>
            </a:solidFill>
            <a:prstDash val="solid"/>
          </a:ln>
        </p:spPr>
        <p:txBody>
          <a:bodyPr/>
          <a:lstStyle/>
          <a:p>
            <a:endParaRPr lang="es-ES"/>
          </a:p>
        </p:txBody>
      </p:sp>
      <p:sp>
        <p:nvSpPr>
          <p:cNvPr id="6" name="Shape 4"/>
          <p:cNvSpPr/>
          <p:nvPr/>
        </p:nvSpPr>
        <p:spPr>
          <a:xfrm>
            <a:off x="548640" y="1645920"/>
            <a:ext cx="73152" cy="3108960"/>
          </a:xfrm>
          <a:prstGeom prst="rect">
            <a:avLst/>
          </a:prstGeom>
          <a:solidFill>
            <a:srgbClr val="FFA000"/>
          </a:solidFill>
          <a:ln w="12700">
            <a:solidFill>
              <a:srgbClr val="FFA000"/>
            </a:solidFill>
            <a:prstDash val="solid"/>
          </a:ln>
        </p:spPr>
        <p:txBody>
          <a:bodyPr/>
          <a:lstStyle/>
          <a:p>
            <a:endParaRPr lang="es-ES"/>
          </a:p>
        </p:txBody>
      </p:sp>
      <p:sp>
        <p:nvSpPr>
          <p:cNvPr id="7" name="Text 5"/>
          <p:cNvSpPr/>
          <p:nvPr/>
        </p:nvSpPr>
        <p:spPr>
          <a:xfrm>
            <a:off x="822960" y="1755648"/>
            <a:ext cx="10588752" cy="2889504"/>
          </a:xfrm>
          <a:prstGeom prst="rect">
            <a:avLst/>
          </a:prstGeom>
          <a:noFill/>
          <a:ln/>
        </p:spPr>
        <p:txBody>
          <a:bodyPr wrap="square" rtlCol="0" anchor="t"/>
          <a:lstStyle/>
          <a:p>
            <a:pPr marL="0" indent="0">
              <a:buNone/>
            </a:pPr>
            <a:r>
              <a:rPr lang="en-US" sz="1350" dirty="0">
                <a:solidFill>
                  <a:srgbClr val="263238"/>
                </a:solidFill>
                <a:latin typeface="Courier New" pitchFamily="34" charset="0"/>
                <a:ea typeface="Courier New" pitchFamily="34" charset="-122"/>
                <a:cs typeface="Courier New" pitchFamily="34" charset="-120"/>
              </a:rPr>
              <a:t>@Operation(summary = "Crear un libro nuevo")</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@ApiResponses({</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@ApiResponse(responseCode = "201", description = "Libro creado correctamente"),</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@ApiResponse(responseCode = "400", description = "El cuerpo de la petición no supera las validaciones"),</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@ApiResponse(responseCode = "404", description = "La editorial indicada no existe")</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@PostMapping</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public ResponseEntity&lt;LibroResponseDTO&gt; create(@Valid @RequestBody LibroCreateDTO dto) {</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    return ResponseEntity.status(HttpStatus.CREATED).body(libroService.create(dto));</a:t>
            </a:r>
            <a:endParaRPr lang="en-US" sz="1350" dirty="0"/>
          </a:p>
          <a:p>
            <a:pPr marL="0" indent="0">
              <a:buNone/>
            </a:pPr>
            <a:r>
              <a:rPr lang="en-US" sz="1350" dirty="0">
                <a:solidFill>
                  <a:srgbClr val="263238"/>
                </a:solidFill>
                <a:latin typeface="Courier New" pitchFamily="34" charset="0"/>
                <a:ea typeface="Courier New" pitchFamily="34" charset="-122"/>
                <a:cs typeface="Courier New" pitchFamily="34" charset="-120"/>
              </a:rPr>
              <a:t>}</a:t>
            </a:r>
            <a:endParaRPr lang="en-US" sz="13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Qué hace cada anotación</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2331720"/>
            <a:ext cx="11091672" cy="173736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423160"/>
            <a:ext cx="10543032" cy="1554480"/>
          </a:xfrm>
          <a:prstGeom prst="rect">
            <a:avLst/>
          </a:prstGeom>
          <a:noFill/>
          <a:ln/>
        </p:spPr>
        <p:txBody>
          <a:bodyPr wrap="square" rtlCol="0" anchor="ctr"/>
          <a:lstStyle/>
          <a:p>
            <a:pPr marL="0" indent="0">
              <a:buNone/>
            </a:pPr>
            <a:r>
              <a:rPr lang="en-US" sz="1800" dirty="0">
                <a:solidFill>
                  <a:srgbClr val="212121"/>
                </a:solidFill>
                <a:latin typeface="Arial" pitchFamily="34" charset="0"/>
                <a:ea typeface="Arial" pitchFamily="34" charset="-122"/>
                <a:cs typeface="Arial" pitchFamily="34" charset="-120"/>
              </a:rPr>
              <a:t>@Operation(summary = ...) pone un texto legible sobre el endpoint, en vez del nombre técnico del método Java. @ApiResponses agrupa uno o varios @ApiResponse(responseCode, description): cada uno añade, en la sección "Responses" de Swagger UI, una entrada más además del 200 por defecto.</a:t>
            </a:r>
            <a:endParaRPr lang="en-US" sz="1800" dirty="0"/>
          </a:p>
        </p:txBody>
      </p:sp>
      <p:sp>
        <p:nvSpPr>
          <p:cNvPr id="7" name="Text 5"/>
          <p:cNvSpPr/>
          <p:nvPr/>
        </p:nvSpPr>
        <p:spPr>
          <a:xfrm>
            <a:off x="548640" y="4389120"/>
            <a:ext cx="11091672" cy="777240"/>
          </a:xfrm>
          <a:prstGeom prst="rect">
            <a:avLst/>
          </a:prstGeom>
          <a:noFill/>
          <a:ln/>
        </p:spPr>
        <p:txBody>
          <a:bodyPr wrap="square" rtlCol="0" anchor="t"/>
          <a:lstStyle/>
          <a:p>
            <a:pPr marL="0" indent="0">
              <a:buNone/>
            </a:pPr>
            <a:r>
              <a:rPr lang="en-US" sz="1700" dirty="0">
                <a:solidFill>
                  <a:srgbClr val="757575"/>
                </a:solidFill>
                <a:latin typeface="Arial" pitchFamily="34" charset="0"/>
                <a:ea typeface="Arial" pitchFamily="34" charset="-122"/>
                <a:cs typeface="Arial" pitchFamily="34" charset="-120"/>
              </a:rPr>
              <a:t>Nada de esto cambia el comportamiento real del endpoint — solo hace que la documentación dependa de ti en vez de generarse a ciegas.</a:t>
            </a:r>
            <a:endParaRPr lang="en-US" sz="17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El mismo criterio, en los cinco métodos</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Shape 3"/>
          <p:cNvSpPr/>
          <p:nvPr/>
        </p:nvSpPr>
        <p:spPr>
          <a:xfrm>
            <a:off x="548640" y="2880360"/>
            <a:ext cx="11091672" cy="1463040"/>
          </a:xfrm>
          <a:prstGeom prst="roundRect">
            <a:avLst/>
          </a:prstGeom>
          <a:solidFill>
            <a:srgbClr val="FFF3E0"/>
          </a:solidFill>
          <a:ln w="19050">
            <a:solidFill>
              <a:srgbClr val="FFA000"/>
            </a:solidFill>
            <a:prstDash val="solid"/>
          </a:ln>
        </p:spPr>
        <p:txBody>
          <a:bodyPr/>
          <a:lstStyle/>
          <a:p>
            <a:endParaRPr lang="es-ES"/>
          </a:p>
        </p:txBody>
      </p:sp>
      <p:sp>
        <p:nvSpPr>
          <p:cNvPr id="6" name="Text 4"/>
          <p:cNvSpPr/>
          <p:nvPr/>
        </p:nvSpPr>
        <p:spPr>
          <a:xfrm>
            <a:off x="822960" y="2971800"/>
            <a:ext cx="10543032" cy="1280160"/>
          </a:xfrm>
          <a:prstGeom prst="rect">
            <a:avLst/>
          </a:prstGeom>
          <a:noFill/>
          <a:ln/>
        </p:spPr>
        <p:txBody>
          <a:bodyPr wrap="square" rtlCol="0" anchor="ctr"/>
          <a:lstStyle/>
          <a:p>
            <a:pPr marL="0" indent="0">
              <a:buNone/>
            </a:pPr>
            <a:r>
              <a:rPr lang="en-US" sz="1900" dirty="0">
                <a:solidFill>
                  <a:srgbClr val="212121"/>
                </a:solidFill>
                <a:latin typeface="Arial" pitchFamily="34" charset="0"/>
                <a:ea typeface="Arial" pitchFamily="34" charset="-122"/>
                <a:cs typeface="Arial" pitchFamily="34" charset="-120"/>
              </a:rPr>
              <a:t>Este mismo par de anotaciones se repite en getById (200/404), getAll (200), update (200/400/404) y delete (204/404) — no es algo exclusivo de create(), es el mismo criterio aplicado a los cinco métodos: qué códigos puede devolver de verdad cada uno.</a:t>
            </a:r>
            <a:endParaRPr lang="en-US" sz="1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Ventajas del protocolo estándar, con ejemplos concretos</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Text 3"/>
          <p:cNvSpPr/>
          <p:nvPr/>
        </p:nvSpPr>
        <p:spPr>
          <a:xfrm>
            <a:off x="548640" y="1463040"/>
            <a:ext cx="11091672" cy="914400"/>
          </a:xfrm>
          <a:prstGeom prst="rect">
            <a:avLst/>
          </a:prstGeom>
          <a:noFill/>
          <a:ln/>
        </p:spPr>
        <p:txBody>
          <a:bodyPr wrap="square" rtlCol="0" anchor="t"/>
          <a:lstStyle/>
          <a:p>
            <a:pPr marL="0" indent="0">
              <a:buNone/>
            </a:pPr>
            <a:r>
              <a:rPr lang="en-US" sz="1800" dirty="0">
                <a:solidFill>
                  <a:srgbClr val="212121"/>
                </a:solidFill>
                <a:latin typeface="Arial" pitchFamily="34" charset="0"/>
                <a:ea typeface="Arial" pitchFamily="34" charset="-122"/>
                <a:cs typeface="Arial" pitchFamily="34" charset="-120"/>
              </a:rPr>
              <a:t>Para el diagrama de antes —anotaciones, contrato OpenAPI, Swagger UI— existe una condición: tu API tiene que hablar un protocolo que herramientas de terceros ya entiendan de fábrica, sin que tú les enseñes nada.</a:t>
            </a:r>
            <a:endParaRPr lang="en-US" sz="1800" dirty="0"/>
          </a:p>
        </p:txBody>
      </p:sp>
      <p:sp>
        <p:nvSpPr>
          <p:cNvPr id="6" name="Text 4"/>
          <p:cNvSpPr/>
          <p:nvPr/>
        </p:nvSpPr>
        <p:spPr>
          <a:xfrm>
            <a:off x="548640" y="2651760"/>
            <a:ext cx="11091672" cy="2103120"/>
          </a:xfrm>
          <a:prstGeom prst="rect">
            <a:avLst/>
          </a:prstGeom>
          <a:noFill/>
          <a:ln/>
        </p:spPr>
        <p:txBody>
          <a:bodyPr wrap="square" rtlCol="0" anchor="t"/>
          <a:lstStyle/>
          <a:p>
            <a:pPr marL="190500" indent="-190500">
              <a:spcAft>
                <a:spcPts val="1600"/>
              </a:spcAft>
              <a:buSzPct val="100000"/>
              <a:buChar char="•"/>
            </a:pPr>
            <a:r>
              <a:rPr lang="en-US" sz="1700" dirty="0">
                <a:solidFill>
                  <a:srgbClr val="212121"/>
                </a:solidFill>
                <a:latin typeface="Arial" pitchFamily="34" charset="0"/>
                <a:ea typeface="Arial" pitchFamily="34" charset="-122"/>
                <a:cs typeface="Arial" pitchFamily="34" charset="-120"/>
              </a:rPr>
              <a:t>Los códigos de estado son universales: cualquier cliente sabe qué significa un 201 o un 404 sin leer tu documentación particular — es parte del estándar HTTP.</a:t>
            </a:r>
            <a:endParaRPr lang="en-US" sz="1700" dirty="0"/>
          </a:p>
          <a:p>
            <a:pPr marL="190500" indent="-190500">
              <a:spcAft>
                <a:spcPts val="1600"/>
              </a:spcAft>
              <a:buSzPct val="100000"/>
              <a:buChar char="•"/>
            </a:pPr>
            <a:r>
              <a:rPr lang="en-US" sz="1700" dirty="0">
                <a:solidFill>
                  <a:srgbClr val="212121"/>
                </a:solidFill>
                <a:latin typeface="Arial" pitchFamily="34" charset="0"/>
                <a:ea typeface="Arial" pitchFamily="34" charset="-122"/>
                <a:cs typeface="Arial" pitchFamily="34" charset="-120"/>
              </a:rPr>
              <a:t>Las herramientas funcionan sin configuración específica: Swagger UI, curl... todas saben "hablar HTTP" de fábrica.</a:t>
            </a:r>
            <a:endParaRPr lang="en-US" sz="17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Ideas clave</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Text 3"/>
          <p:cNvSpPr/>
          <p:nvPr/>
        </p:nvSpPr>
        <p:spPr>
          <a:xfrm>
            <a:off x="548640" y="1920240"/>
            <a:ext cx="11091672" cy="3291840"/>
          </a:xfrm>
          <a:prstGeom prst="rect">
            <a:avLst/>
          </a:prstGeom>
          <a:noFill/>
          <a:ln/>
        </p:spPr>
        <p:txBody>
          <a:bodyPr wrap="square" rtlCol="0" anchor="t"/>
          <a:lstStyle/>
          <a:p>
            <a:pPr marL="190500" indent="-190500">
              <a:spcAft>
                <a:spcPts val="2000"/>
              </a:spcAft>
              <a:buSzPct val="100000"/>
              <a:buChar char="•"/>
            </a:pPr>
            <a:r>
              <a:rPr lang="en-US" sz="1800" dirty="0">
                <a:solidFill>
                  <a:srgbClr val="212121"/>
                </a:solidFill>
                <a:latin typeface="Arial" pitchFamily="34" charset="0"/>
                <a:ea typeface="Arial" pitchFamily="34" charset="-122"/>
                <a:cs typeface="Arial" pitchFamily="34" charset="-120"/>
              </a:rPr>
              <a:t>El contrato de una API describe sus rutas, verbos y datos; OpenAPI es un formato estándar para representarlo. Springdoc genera automáticamente gran parte de ese contrato a partir de los controllers, los DTOs y sus anotaciones.</a:t>
            </a:r>
            <a:endParaRPr lang="en-US" sz="1800" dirty="0"/>
          </a:p>
          <a:p>
            <a:pPr marL="190500" indent="-190500">
              <a:spcAft>
                <a:spcPts val="2000"/>
              </a:spcAft>
              <a:buSzPct val="100000"/>
              <a:buChar char="•"/>
            </a:pPr>
            <a:r>
              <a:rPr lang="en-US" sz="1800" dirty="0">
                <a:solidFill>
                  <a:srgbClr val="212121"/>
                </a:solidFill>
                <a:latin typeface="Arial" pitchFamily="34" charset="0"/>
                <a:ea typeface="Arial" pitchFamily="34" charset="-122"/>
                <a:cs typeface="Arial" pitchFamily="34" charset="-120"/>
              </a:rPr>
              <a:t>Swagger UI agrupa tus endpoints por controller; al desplegar uno ves su esquema, y con "Try it out" + "Execute" mandas una petición HTTP real contra tu aplicación, sin escribir código.</a:t>
            </a:r>
            <a:endParaRPr lang="en-US" sz="1800" dirty="0"/>
          </a:p>
          <a:p>
            <a:pPr marL="190500" indent="-190500">
              <a:spcAft>
                <a:spcPts val="2000"/>
              </a:spcAft>
              <a:buSzPct val="100000"/>
              <a:buChar char="•"/>
            </a:pPr>
            <a:r>
              <a:rPr lang="en-US" sz="1800" dirty="0">
                <a:solidFill>
                  <a:srgbClr val="212121"/>
                </a:solidFill>
                <a:latin typeface="Arial" pitchFamily="34" charset="0"/>
                <a:ea typeface="Arial" pitchFamily="34" charset="-122"/>
                <a:cs typeface="Arial" pitchFamily="34" charset="-120"/>
              </a:rPr>
              <a:t>@RequestBody mapea el cuerpo JSON a un objeto Java; @Valid activa su validación.</a:t>
            </a:r>
            <a:endParaRPr lang="en-US" sz="18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Shape 0"/>
          <p:cNvSpPr/>
          <p:nvPr/>
        </p:nvSpPr>
        <p:spPr>
          <a:xfrm>
            <a:off x="0" y="0"/>
            <a:ext cx="12188952" cy="777240"/>
          </a:xfrm>
          <a:prstGeom prst="rect">
            <a:avLst/>
          </a:prstGeom>
          <a:solidFill>
            <a:srgbClr val="4E342E"/>
          </a:solidFill>
          <a:ln w="12700">
            <a:solidFill>
              <a:srgbClr val="4E342E"/>
            </a:solidFill>
            <a:prstDash val="solid"/>
          </a:ln>
        </p:spPr>
        <p:txBody>
          <a:bodyPr/>
          <a:lstStyle/>
          <a:p>
            <a:endParaRPr lang="es-ES"/>
          </a:p>
        </p:txBody>
      </p:sp>
      <p:sp>
        <p:nvSpPr>
          <p:cNvPr id="3" name="Text 1"/>
          <p:cNvSpPr/>
          <p:nvPr/>
        </p:nvSpPr>
        <p:spPr>
          <a:xfrm>
            <a:off x="365760" y="0"/>
            <a:ext cx="11457432" cy="777240"/>
          </a:xfrm>
          <a:prstGeom prst="rect">
            <a:avLst/>
          </a:prstGeom>
          <a:noFill/>
          <a:ln/>
        </p:spPr>
        <p:txBody>
          <a:bodyPr wrap="square" rtlCol="0" anchor="ctr"/>
          <a:lstStyle/>
          <a:p>
            <a:pPr marL="0" indent="0">
              <a:buNone/>
            </a:pPr>
            <a:r>
              <a:rPr lang="en-US" sz="2400" b="1" dirty="0">
                <a:solidFill>
                  <a:srgbClr val="FFFFFF"/>
                </a:solidFill>
                <a:latin typeface="Arial" pitchFamily="34" charset="0"/>
                <a:ea typeface="Arial" pitchFamily="34" charset="-122"/>
                <a:cs typeface="Arial" pitchFamily="34" charset="-120"/>
              </a:rPr>
              <a:t>Ideas clave (cont.)</a:t>
            </a:r>
            <a:endParaRPr lang="en-US" sz="2400" dirty="0"/>
          </a:p>
        </p:txBody>
      </p:sp>
      <p:sp>
        <p:nvSpPr>
          <p:cNvPr id="4" name="Text 2"/>
          <p:cNvSpPr/>
          <p:nvPr/>
        </p:nvSpPr>
        <p:spPr>
          <a:xfrm>
            <a:off x="548640" y="6473952"/>
            <a:ext cx="11091672" cy="292608"/>
          </a:xfrm>
          <a:prstGeom prst="rect">
            <a:avLst/>
          </a:prstGeom>
          <a:noFill/>
          <a:ln/>
        </p:spPr>
        <p:txBody>
          <a:bodyPr wrap="square" rtlCol="0" anchor="ctr"/>
          <a:lstStyle/>
          <a:p>
            <a:pPr marL="0" indent="0" algn="r">
              <a:buNone/>
            </a:pPr>
            <a:r>
              <a:rPr lang="en-US" sz="1100" dirty="0">
                <a:solidFill>
                  <a:srgbClr val="757575"/>
                </a:solidFill>
                <a:latin typeface="Arial" pitchFamily="34" charset="0"/>
                <a:ea typeface="Arial" pitchFamily="34" charset="-122"/>
                <a:cs typeface="Arial" pitchFamily="34" charset="-120"/>
              </a:rPr>
              <a:t>Programación de Servicios y Procesos — Tema 1: Escritura y OpenAPI</a:t>
            </a:r>
            <a:endParaRPr lang="en-US" sz="1100" dirty="0"/>
          </a:p>
        </p:txBody>
      </p:sp>
      <p:sp>
        <p:nvSpPr>
          <p:cNvPr id="5" name="Text 3"/>
          <p:cNvSpPr/>
          <p:nvPr/>
        </p:nvSpPr>
        <p:spPr>
          <a:xfrm>
            <a:off x="548640" y="2834640"/>
            <a:ext cx="11091672" cy="2377440"/>
          </a:xfrm>
          <a:prstGeom prst="rect">
            <a:avLst/>
          </a:prstGeom>
          <a:noFill/>
          <a:ln/>
        </p:spPr>
        <p:txBody>
          <a:bodyPr wrap="square" rtlCol="0" anchor="t"/>
          <a:lstStyle/>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@ApiResponses/@ApiResponse documentan explícitamente qué códigos puede devolver un endpoint; springdoc.swagger-ui.path mueve la ruta de entrada, aunque por debajo siempre redirige a /swagger-ui/index.html.</a:t>
            </a:r>
            <a:endParaRPr lang="en-US" sz="1900" dirty="0"/>
          </a:p>
          <a:p>
            <a:pPr marL="190500" indent="-190500">
              <a:spcAft>
                <a:spcPts val="2000"/>
              </a:spcAft>
              <a:buSzPct val="100000"/>
              <a:buChar char="•"/>
            </a:pPr>
            <a:r>
              <a:rPr lang="en-US" sz="1900" dirty="0">
                <a:solidFill>
                  <a:srgbClr val="212121"/>
                </a:solidFill>
                <a:latin typeface="Arial" pitchFamily="34" charset="0"/>
                <a:ea typeface="Arial" pitchFamily="34" charset="-122"/>
                <a:cs typeface="Arial" pitchFamily="34" charset="-120"/>
              </a:rPr>
              <a:t>Que Swagger UI y curl puedan hablar los dos con la misma API sin adaptar nada en el servidor es la demostración práctica de qué aporta un protocolo estándar.</a:t>
            </a:r>
            <a:endParaRPr lang="en-US" sz="1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e Offic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2406</Words>
  <Application>Microsoft Office PowerPoint</Application>
  <PresentationFormat>Panorámica</PresentationFormat>
  <Paragraphs>209</Paragraphs>
  <Slides>26</Slides>
  <Notes>26</Notes>
  <HiddenSlides>0</HiddenSlides>
  <MMClips>0</MMClips>
  <ScaleCrop>false</ScaleCrop>
  <HeadingPairs>
    <vt:vector size="6" baseType="variant">
      <vt:variant>
        <vt:lpstr>Fuentes usadas</vt:lpstr>
      </vt:variant>
      <vt:variant>
        <vt:i4>2</vt:i4>
      </vt:variant>
      <vt:variant>
        <vt:lpstr>Tema</vt:lpstr>
      </vt:variant>
      <vt:variant>
        <vt:i4>1</vt:i4>
      </vt:variant>
      <vt:variant>
        <vt:lpstr>Títulos de diapositiva</vt:lpstr>
      </vt:variant>
      <vt:variant>
        <vt:i4>26</vt:i4>
      </vt:variant>
    </vt:vector>
  </HeadingPairs>
  <TitlesOfParts>
    <vt:vector size="29" baseType="lpstr">
      <vt:lpstr>Arial</vt:lpstr>
      <vt:lpstr>Courier New</vt:lpstr>
      <vt:lpstr>Office Theme</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lpstr>Presentación de PowerPoint</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Escritura en la API y documentación con OpenAPI</dc:title>
  <dc:subject>PptxGenJS Presentation</dc:subject>
  <dc:creator>Programación de Servicios y Procesos</dc:creator>
  <cp:lastModifiedBy>VENTURA EDO, AITOR</cp:lastModifiedBy>
  <cp:revision>2</cp:revision>
  <dcterms:created xsi:type="dcterms:W3CDTF">2026-08-06T15:22:03Z</dcterms:created>
  <dcterms:modified xsi:type="dcterms:W3CDTF">2026-08-07T13:57:53Z</dcterms:modified>
</cp:coreProperties>
</file>