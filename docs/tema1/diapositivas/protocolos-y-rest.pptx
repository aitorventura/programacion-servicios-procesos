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274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34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CA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 —  TEMA 1: GENERACIÓN DE SERVICIOS EN RED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estándar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servicios REST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Protocolos estándar y servicios REST: leyendo el controlador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Protocolos estándar y servicios REST: leyendo el controlador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programas pueden hablarse por red usando una IP y un puerto, y para entenderse necesitan un protocolo: un conjunto de reglas fijas sobre cómo tiene que ser cada mensaje, que los dos lados conocen de antemano — como rellenar un formulario con casillas fijas en vez de escribir una carta libre: quien lo lee sabe exactamente dónde va a encontrar cada dato.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vas a leer un controlador REST ya hecho, del mismo tipo que vas a construir tú mismo la semana que viene.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URL, pieza a pieza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petición viaja hacia una dirección concreta, la URL, que en una API web añade una pieza nueva sobre el host y el puerto que ya conoces: la ruta del recurso.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73152" cy="13716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767328"/>
            <a:ext cx="10588752" cy="11521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http://localhost:8080/api/v1/libros/3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└─┬──┘ └────┬───────┘└──────┬──────────┘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protocolo  host:puerto      ruta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tres piezas de la URL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11091672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Protocolo (http): las reglas de comunicación que van a usar los dos — la que vas a mirar por dentro en este apartado.</a:t>
            </a:r>
            <a:endParaRPr lang="en-US" sz="18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y puerto (localhost:8080): dónde está el servidor y por qué puerta escucha.</a:t>
            </a:r>
            <a:endParaRPr lang="en-US" sz="18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Ruta (/api/v1/libros/3): qué recurso concreto se pide dentro de ese servidor — esta pieza es la que vas a usar para identificar cada libro, cada usuario o cada pedido de tu API: uno por URL, sin ambigüedad.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HTTP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(HyperText Transfer Protocol) es el protocolo de petición-respuesta que usa la web: el cliente manda una petición con un formato fijo, el servidor responde con una respuesta con otro formato fijo, y ahí termina esa conversación — la siguiente petición empieza de cero.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petición HTTP real es texto plano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debajo del navegador, o de una herramienta como curl —la que usarás en la Actividad 1.1 para mandar peticiones a mano, sin escribir código—, una petición HTTP tiene esta forma: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11091672" cy="12801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73152" cy="12801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904488"/>
            <a:ext cx="10588752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/api/v1/libros/3 HTTP/1.1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localhost:8080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application/json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la respuesta, también texto plano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6916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73152" cy="169164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990088"/>
            <a:ext cx="10588752" cy="1472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3, "titulo": "El nombre del viento", "precio": 19.95}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mismas tres partes, en los dos sentidos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1672" cy="2743200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5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la petición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la respuesta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Primera línea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+ ruta + versión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Versión + código de estado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Cabeceras (headers)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Metadatos: qué formato aceptas, quién eres...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Metadatos: qué formato devuelve, tamaño...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Cuerpo (body)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que envías (puede no haberlo)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que devuelve (puede no haberlo)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y Content-Type no son lo mismo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la manda el cliente: "esto es lo que quiero que me devuelvas". Content-Type la manda quien envía un cuerpo (aquí, el servidor en la respuesta): "esto es lo que de verdad te estoy mandando". Es como pedir un plato en un restaurante — le dices al camarero qué quieres (Accept), y cuando te lo trae, la etiqueta del plato confirma qué es realmente lo que tienes delante (Content-Type).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mismo servidor podría responder en JSON o en otro formato según lo que le pida cada cliente en su Accept; y Content-Type le dice a quien recibe el mensaje cómo tiene que leer ese cuerpo.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petición declara un verbo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1" cy="3730752"/>
        </p:xfrm>
        <a:graphic>
          <a:graphicData uri="http://schemas.openxmlformats.org/drawingml/2006/table">
            <a:tbl>
              <a:tblPr/>
              <a:tblGrid>
                <a:gridCol w="1441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585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912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expresa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¿Repetirla produce el mismo efecto?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Leer un recurso, sin modificarlo.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 — no cambia los datos del servidor.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un recurso nuevo.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— repetirla puede crear otro recurso.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Reemplazar por completo un recurso existente.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 — deja el mismo resultado final.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Modificar solo algunos campos.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 de cómo se defina la modificación.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 un recurso.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 — el recurso queda eliminado.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última columna tiene nombre: idempotencia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91672" cy="10515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4303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petición es idempotente cuando repetirla varias veces produce el mismo efecto final sobre los datos que ejecutarla una sola vez.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Piensa en el botón de llamada de un ascensor: pulsarlo una vez o pulsarlo nerviosamente diez veces no hace que lleguen diez ascensores. El efecto final es el mismo — el ascensor queda avisado de que tiene que ir a tu planta.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y DELETE son idempotentes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funciona así: reemplazar cinco veces un libro por los mismos datos deja el recurso exactamente igual que reemplazarlo una sola vez. DELETE también es idempotente: la primera petición elimina el libro y las siguientes lo dejan igualmente eliminado.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794760"/>
            <a:ext cx="11091672" cy="14630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no significa que todas las respuestas tengan que ser idénticas. El primer DELETE podría responder 204 No Content y el segundo 404 Not Found, porque el libro ya no existe. Las respuestas son distintas, pero el efecto final sobre los datos es el mismo: el recurso sigue eliminado.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POST, en cambio, normalmente no lo 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91672" cy="14630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310896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más parecido a pulsar varias veces el botón de compra de una máquina expendedora: cada pulsación puede crear un pedido nuevo, cobrarte otra vez o insertar otro recurso.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PATCH, depende de la modificación concreta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109167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«Pon el precio en 19,95 €» es idempotente: repetirlo deja siempre el mismo precio.</a:t>
            </a:r>
            <a:endParaRPr lang="en-US" sz="200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«Aumenta el precio en 5 €» no lo es: cada repetición vuelve a sumar otros 5 €.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novedad del estándar: el método QUERY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11091672" cy="16002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371600"/>
            <a:ext cx="10543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junio de 2026 se incorporó al estándar HTTP el método QUERY, pensado para búsquedas cuyos criterios son demasiado complejos o extensos para expresarlos cómodamente mediante parámetros en la URL. En esos casos, el cliente puede describir la consulta mediante un cuerpo, normalmente en formato JSON.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11091672" cy="1508760"/>
          </a:xfrm>
          <a:prstGeom prst="roundRect">
            <a:avLst/>
          </a:prstGeom>
          <a:solidFill>
            <a:srgbClr val="FFF3E0"/>
          </a:solidFill>
          <a:ln w="28575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3264408"/>
            <a:ext cx="10543032" cy="12893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4E34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Spring todavía no lo soporta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todavía no incorpora una anotación @QueryMapping ni permite seleccionar QUERY mediante RequestMethod.QUERY. Por ese motivo, en este curso conocerás para qué sirve, pero las consultas se implementarán mediante GET y parámetros en la URL, que Spring sí soporta directamente.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 responde con un código de estado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68880"/>
          <a:ext cx="11091672" cy="2560320"/>
        </p:xfrm>
        <a:graphic>
          <a:graphicData uri="http://schemas.openxmlformats.org/drawingml/2006/table">
            <a:tbl>
              <a:tblPr/>
              <a:tblGrid>
                <a:gridCol w="1663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49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85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Significa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Ejemplos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2xx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 ha ido bien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OK, 201 Created, 204 No Content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del cliente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 Bad Request, 401/403, 404 Not Found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5xx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Error del servidor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memorizar todos los códigos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11091672" cy="1828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estos 5-6 tienes cubierto casi todo lo que verás en el curso: 200 (lectura correcta), 201 (se ha creado algo), 204 (correcto, pero no hay nada que devolver — típico en un DELETE), 400 (petición mal formada), 401/403 (no autenticado / sin permiso — Tema 2), 404 (el recurso no existe).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como formato del cuerpo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formato en el que casi todas las APIs modernas envían y reciben datos: pares clave-valor, anidables, sin tipos estrictos declarados: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1091672" cy="210312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73152" cy="210312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350008"/>
            <a:ext cx="10588752" cy="18836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"titulo": "El nombre del viento",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"precio": 19.95,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"editorial": {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"nombre": "Plaza &amp; Janés"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461772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Volverás a JSON con más detalle al construir cuerpos de petición en la Actividad 1.1 — de momento basta con reconocer la forma.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una API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Piensa en el mando de una tele: tiene un botón para subir volumen, otro para cambiar de canal, otro para apagar. No necesitas saber nada de electrónica para usarlo — solo conoces los botones disponibles y qué hace cada uno.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1091672" cy="14630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API (Application Programming Interface) es exactamente eso, pero para programas: el conjunto de operaciones que una aplicación expone para que otros programas la usen, sin que necesiten conocer cómo está construida por dentro.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REST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es un estilo concreto de diseñar esos "botones" sobre HTTP: los datos se modelan como recursos (un libro, un usuario, un pedido), cada recurso tiene su propia URL — su propio "botón" — y las operaciones sobre ese recurso se expresan con los verbos HTTP (GET para leerlo, POST para crearlo...).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API de librería, como ejemplo de patrón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3566160"/>
        </p:xfrm>
        <a:graphic>
          <a:graphicData uri="http://schemas.openxmlformats.org/drawingml/2006/table">
            <a:tbl>
              <a:tblPr/>
              <a:tblGrid>
                <a:gridCol w="6100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912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Operación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Verbo + ruta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Listar todos los libros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/libros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 un libro concreto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 /libros/3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Añadir un libro nuevo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 /libros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Reemplazar un libro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/libros/3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Borrar un libro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 /libros/3</a:t>
                      </a:r>
                      <a:endParaRPr lang="en-US" sz="1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349240"/>
            <a:ext cx="1109167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ruta identifica qué recurso, y el verbo identifica qué operación — no hace falta una ruta distinta para cada acción (/libros/borrar/3 sería el estilo antiguo, no REST).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Leyendo un controlador REST completo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esa base, ya puedes leer un controlador REST real — de momento solo con los métodos GET (los de escritura llegan en el próximo apartado). Mira primero la forma general y luego ve bajando a la tabla, anotación por anotación.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controlador completo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1672" cy="48920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73152" cy="489204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1344168"/>
            <a:ext cx="10588752" cy="4672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@RestController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@RequestMapping("/api/v1/libros")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@RequiredArgsConstructor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LibroController {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final LibroService libroService;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@GetMapping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ResponseEntity&lt;List&lt;LibroResponseDTO&gt;&gt; getAll() {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ResponseEntity.ok(libroService.findAll());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@GetMapping("/{id}")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ResponseEntity&lt;LibroResponseDTO&gt; getById(@PathVariable Long id) {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ResponseEntity.ok(libroService.findById(id));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controller no consulta nada directamente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getAll y getById se limitan a llamar a libroService.findAll() y libroService.findById(id) y a envolver lo que les devuelve en una respuesta HTTP — es LibroService quien de verdad hace el trabajo. El controller no sabe nada de bases de datos: solo traduce entre HTTP y esa llamada Java.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Anotación a anotación, mirando solo la parte de HTTP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4773168"/>
        </p:xfrm>
        <a:graphic>
          <a:graphicData uri="http://schemas.openxmlformats.org/drawingml/2006/table">
            <a:tbl>
              <a:tblPr/>
              <a:tblGrid>
                <a:gridCol w="3549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23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55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Anotación / elemento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representa en HTTP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@RestController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 la clase como controlador cuyas respuestas se serializan a JSON directamente al cuerpo HTTP.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@RequestMapping("/api/v1/libros")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ruta base del recurso. El /v1 es el versionado: se puede publicar un /v2 sin romper a los clientes de la v1.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@GetMapping / @GetMapping("/{id}")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Verbo (GET) + ruta = una operación concreta. Spring elige uno de los dos según cómo termine la ruta.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@PathVariable Long id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Extrae el trozo variable de la URL y lo entrega como parámetro Java, ya convertido a Long.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55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ResponseEntity.ok(...)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Construye la respuesta con el código 200 explícito y el cuerpo indicado.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esto es magia añadida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Vuelve a GET /api/v1/libros/3 HTTP/1.1. Ese GET, esa ruta y ese 3 son exactamente lo que decide Spring para escoger getById y rellenar su parámetro id — es la traducción directa de esas tres piezas del texto plano a una llamada Java.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viaje completo, ida y vuelta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Fíjate en que la respuesta recorre exactamente el mismo camino que la petición, pero al revés:</a:t>
            </a:r>
            <a:endParaRPr lang="en-US" sz="1800" dirty="0"/>
          </a:p>
        </p:txBody>
      </p:sp>
      <p:pic>
        <p:nvPicPr>
          <p:cNvPr id="6" name="Image 0" descr="C:/Users/Aitor/docxgen/img/pr-viaje-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134" y="2057400"/>
            <a:ext cx="8360684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puerto 8080 y Tomcat no son magia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 Tomcat que escucha en el puerto 8080 lo trae la dependencia spring-boot-starter-webmvc del pom.xml — es la "librería que implementa el servicio en red" de la que habla el currículo. Tú no arrancas ningún servidor a mano: Spring Boot lo hace por ti al ejecutar la clase anotada con @SpringBootApplication.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si el libro no existe?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11091672" cy="146304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971800"/>
            <a:ext cx="105430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anterior supone que existe un libro con el id solicitado. Cuando no existe, el recorrido de la petición es casi el mismo.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viaje, pero sin libro al final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pic>
        <p:nvPicPr>
          <p:cNvPr id="5" name="Image 0" descr="C:/Users/Aitor/docxgen/img/pr-viaje-4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641" y="1185577"/>
            <a:ext cx="8954139" cy="448684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controller comprueba el resultado y lo traduce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esta primera versión, el service intenta localizar el libro y devuelve null cuando no lo encuentra: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11091672" cy="274320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73152" cy="27432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2578608"/>
            <a:ext cx="10588752" cy="2523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@GetMapping("/{id}")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ResponseEntity&lt;LibroResponseDTO&gt; getById(@PathVariable Long id)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LibroResponseDTO libro = libroService.findById(id);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(libro == null) {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ResponseEntity.notFound().build();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ResponseEntity.ok(libro);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respuesta distinta según el resultado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109167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existe el libro, devuelve 200 OK con el libro en el cuerpo.</a:t>
            </a:r>
            <a:endParaRPr lang="en-US" sz="200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existe, devuelve 404 Not Found sin cuerpo.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una línea, cada caso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1091672" cy="105156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105156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822960" y="2670048"/>
            <a:ext cx="10588752" cy="8321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 encontrado     → ResponseEntity.ok(libro)       → 200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 no encontrado  → ResponseEntity.notFound()      → 404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versión con if es solo el primer paso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91672" cy="17373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versión con if permite ver claramente cómo una situación de la aplicación se convierte en un código HTTP. Más adelante utilizarás una forma más limpia: el service lanzará directamente una excepción mediante orElseThrow(), y el controller no necesitará repetir esta comprobación.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un protocolo estándar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91672" cy="182880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A00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Podrías diseñar tu propio protocolo casero sobre sockets (Tema 4) en vez de usar HTTP/REST. La diferencia es que HTTP es un protocolo estándar: cualquier cliente que exista ya sabe hablarlo, sin que tengas que documentar ni acordar nada a medida. Con un protocolo propio, cada cliente nuevo tendría que aprender tus reglas particulares desde cero.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Estándar frente a protocolo a medida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3886200"/>
        </p:xfrm>
        <a:graphic>
          <a:graphicData uri="http://schemas.openxmlformats.org/drawingml/2006/table">
            <a:tbl>
              <a:tblPr/>
              <a:tblGrid>
                <a:gridCol w="2440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Protocolo estándar (HTTP)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Protocolo propio a medida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4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¿Quién ya sabe hablarlo?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Cualquier cliente existente: navegadores, curl, librerías de cualquier lenguaje.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el que tú mismo escribas para hablarlo.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Documentación necesaria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del propio recurso — el formato de mensaje ya está definido.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Tienes que documentar también el propio formato de mensaje.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Herramientas de por medio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Servidores, proxies, balanceadores, cachés — todos entienden HTTP.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Ninguna herramienta genérica te sirve; hay que escribirlas todas.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Coste de un cliente nuevo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Bajo: ya sabe HTTP, solo aprende tus rutas.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Alto: tiene que aprender tu protocolo entero desde cero.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comunicación HTTP es petición-respuesta entre un cliente y un servidor, con la URL como dirección (protocolo, host, puerto, ruta).</a:t>
            </a:r>
            <a:endParaRPr lang="en-US" sz="17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es texto con una primera línea, cabeceras y cuerpo opcional; Accept es lo que pide el cliente, Content-Type es lo que confirma el que envía el cuerpo.</a:t>
            </a:r>
            <a:endParaRPr lang="en-US" sz="17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verbos HTTP expresan la intención: GET lee, POST crea, PUT reemplaza, PATCH modifica parcialmente y DELETE borra.</a:t>
            </a:r>
            <a:endParaRPr lang="en-US" sz="17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códigos de estado (2xx/4xx/5xx) resumen el resultado sin tener que leer el cuerpo.</a:t>
            </a:r>
            <a:endParaRPr lang="en-US" sz="1700" dirty="0"/>
          </a:p>
          <a:p>
            <a:pPr marL="190500" indent="-1905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es el formato habitual del cuerpo de petición/respuesta en las APIs modernas.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4E342E"/>
          </a:solidFill>
          <a:ln w="12700">
            <a:solidFill>
              <a:srgbClr val="4E342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 (cont.)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Programación de Servicios y Procesos — Tema 1: Protocolos y REST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modela los datos como recursos con URL propia, y usa los verbos HTTP para operar sobre ellos — la ruta identifica qué, el verbo identifica qué operación.</a:t>
            </a:r>
            <a:endParaRPr lang="en-US" sz="180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@RestController + @RequestMapping + @GetMapping traducen "verbo + ruta" en un método Java concreto; ResponseEntity construye la respuesta con su código de estado.</a:t>
            </a:r>
            <a:endParaRPr lang="en-US" sz="180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código como 404 no aparece automáticamente: la aplicación detecta que el recurso no existe y lo traduce a una respuesta HTTP.</a:t>
            </a:r>
            <a:endParaRPr lang="en-US" sz="1800" dirty="0"/>
          </a:p>
          <a:p>
            <a:pPr marL="190500" indent="-1905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servidor embebido (Tomcat) lo trae spring-boot-starter-webmvc — no lo arrancas tú a mano.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3196</Words>
  <Application>Microsoft Office PowerPoint</Application>
  <PresentationFormat>Panorámica</PresentationFormat>
  <Paragraphs>288</Paragraphs>
  <Slides>38</Slides>
  <Notes>38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1" baseType="lpstr">
      <vt:lpstr>Arial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Protocolos estándar y servicios REST: leyendo el controlador</dc:title>
  <dc:subject>PptxGenJS Presentation</dc:subject>
  <dc:creator>Programación de Servicios y Procesos</dc:creator>
  <cp:lastModifiedBy>VENTURA EDO, AITOR</cp:lastModifiedBy>
  <cp:revision>2</cp:revision>
  <dcterms:created xsi:type="dcterms:W3CDTF">2026-08-06T10:01:49Z</dcterms:created>
  <dcterms:modified xsi:type="dcterms:W3CDTF">2026-08-07T13:58:41Z</dcterms:modified>
</cp:coreProperties>
</file>