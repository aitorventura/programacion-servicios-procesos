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65" r:id="rId7"/>
    <p:sldId id="294" r:id="rId8"/>
    <p:sldId id="271" r:id="rId9"/>
    <p:sldId id="273" r:id="rId10"/>
    <p:sldId id="274" r:id="rId11"/>
    <p:sldId id="275" r:id="rId12"/>
    <p:sldId id="278" r:id="rId13"/>
    <p:sldId id="280" r:id="rId14"/>
    <p:sldId id="282" r:id="rId15"/>
    <p:sldId id="283" r:id="rId16"/>
    <p:sldId id="285" r:id="rId17"/>
    <p:sldId id="288" r:id="rId18"/>
    <p:sldId id="295" r:id="rId19"/>
    <p:sldId id="291" r:id="rId20"/>
    <p:sldId id="29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32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27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FCF7B-45BD-7B5C-0AD5-092EE9ADD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F813A-E12F-131C-3598-1AD5C48AB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48A056-364F-19B9-5295-7E09D275E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3CAEA-2E3A-1630-F72B-71E707AC9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79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5159E-77B3-137F-BF24-D780BF231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A01DD-E1FD-66BE-BF2D-E188C5B08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461B3-5F50-B666-19B9-E761FAF58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5FC92-AECB-6AE8-DA3B-D55974C1A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303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3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C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 —  TEMA 1: GENERACIÓN DE SERVICIOS EN RED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estándar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servicios REST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Protocolos estándar y servicios REST: leyendo el controlador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7E0EA21C-6866-C223-ACC7-439F29983BE2}"/>
              </a:ext>
            </a:extLst>
          </p:cNvPr>
          <p:cNvSpPr/>
          <p:nvPr/>
        </p:nvSpPr>
        <p:spPr>
          <a:xfrm>
            <a:off x="685800" y="1143000"/>
            <a:ext cx="5212080" cy="1828800"/>
          </a:xfrm>
          <a:prstGeom prst="roundRect">
            <a:avLst/>
          </a:prstGeom>
          <a:solidFill>
            <a:srgbClr val="FFF3E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BE208E8E-B8E6-FA32-5BB0-578C77F68C1E}"/>
              </a:ext>
            </a:extLst>
          </p:cNvPr>
          <p:cNvSpPr txBox="1"/>
          <p:nvPr/>
        </p:nvSpPr>
        <p:spPr>
          <a:xfrm>
            <a:off x="813816" y="1234440"/>
            <a:ext cx="4956048" cy="379591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b="1" i="0" dirty="0">
                <a:solidFill>
                  <a:srgbClr val="4E342E"/>
                </a:solidFill>
                <a:latin typeface="Arial"/>
              </a:rPr>
              <a:t>Ya sabes...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1AD637E7-1961-0493-E446-D779C89292AD}"/>
              </a:ext>
            </a:extLst>
          </p:cNvPr>
          <p:cNvSpPr txBox="1"/>
          <p:nvPr/>
        </p:nvSpPr>
        <p:spPr>
          <a:xfrm>
            <a:off x="813816" y="1691640"/>
            <a:ext cx="4956048" cy="841256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600" b="0" i="0" dirty="0">
                <a:solidFill>
                  <a:srgbClr val="212121"/>
                </a:solidFill>
                <a:latin typeface="Arial"/>
              </a:rPr>
              <a:t>Dos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programas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pueden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comunicarse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usando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una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IP y un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puerto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. Para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entenderse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necesitan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reglas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compartidas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E35EF324-F7BB-CE02-9A95-0BE001DD73E9}"/>
              </a:ext>
            </a:extLst>
          </p:cNvPr>
          <p:cNvSpPr/>
          <p:nvPr/>
        </p:nvSpPr>
        <p:spPr>
          <a:xfrm>
            <a:off x="6263640" y="1143000"/>
            <a:ext cx="5212080" cy="1828800"/>
          </a:xfrm>
          <a:prstGeom prst="roundRect">
            <a:avLst/>
          </a:prstGeom>
          <a:solidFill>
            <a:srgbClr val="E3F2FD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BC06405D-20F9-D51E-D3A8-65B2CED007A1}"/>
              </a:ext>
            </a:extLst>
          </p:cNvPr>
          <p:cNvSpPr txBox="1"/>
          <p:nvPr/>
        </p:nvSpPr>
        <p:spPr>
          <a:xfrm>
            <a:off x="6391656" y="1234440"/>
            <a:ext cx="4956048" cy="379591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b="1" i="0" dirty="0">
                <a:solidFill>
                  <a:srgbClr val="1565C0"/>
                </a:solidFill>
                <a:latin typeface="Arial"/>
              </a:rPr>
              <a:t>Hoy </a:t>
            </a:r>
            <a:r>
              <a:rPr b="1" i="0" dirty="0" err="1">
                <a:solidFill>
                  <a:srgbClr val="1565C0"/>
                </a:solidFill>
                <a:latin typeface="Arial"/>
              </a:rPr>
              <a:t>añadimos</a:t>
            </a:r>
            <a:r>
              <a:rPr b="1" i="0" dirty="0">
                <a:solidFill>
                  <a:srgbClr val="1565C0"/>
                </a:solidFill>
                <a:latin typeface="Arial"/>
              </a:rPr>
              <a:t>...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40B7871F-2067-BD53-241C-563A6B91093B}"/>
              </a:ext>
            </a:extLst>
          </p:cNvPr>
          <p:cNvSpPr txBox="1"/>
          <p:nvPr/>
        </p:nvSpPr>
        <p:spPr>
          <a:xfrm>
            <a:off x="6391656" y="1691640"/>
            <a:ext cx="4956048" cy="841256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  <a:latin typeface="Arial"/>
              </a:rPr>
              <a:t>HTTP, URL, verbos, códigos de estado, JSON y la traducción de todo ello a un controlador REST en Spring.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915762CE-DC5B-5C4D-04DC-ED1F53FC9BB0}"/>
              </a:ext>
            </a:extLst>
          </p:cNvPr>
          <p:cNvSpPr txBox="1"/>
          <p:nvPr/>
        </p:nvSpPr>
        <p:spPr>
          <a:xfrm>
            <a:off x="1543050" y="3438136"/>
            <a:ext cx="9102852" cy="841256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2400" b="1" i="0" dirty="0">
                <a:solidFill>
                  <a:srgbClr val="4E342E"/>
                </a:solidFill>
                <a:latin typeface="Arial"/>
              </a:rPr>
              <a:t>No vas a </a:t>
            </a:r>
            <a:r>
              <a:rPr sz="2400" b="1" i="0" dirty="0" err="1">
                <a:solidFill>
                  <a:srgbClr val="4E342E"/>
                </a:solidFill>
                <a:latin typeface="Arial"/>
              </a:rPr>
              <a:t>programar</a:t>
            </a:r>
            <a:r>
              <a:rPr sz="2400" b="1" i="0" dirty="0">
                <a:solidFill>
                  <a:srgbClr val="4E342E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4E342E"/>
                </a:solidFill>
                <a:latin typeface="Arial"/>
              </a:rPr>
              <a:t>todavía</a:t>
            </a:r>
            <a:r>
              <a:rPr sz="2400" b="1" i="0" dirty="0">
                <a:solidFill>
                  <a:srgbClr val="4E342E"/>
                </a:solidFill>
                <a:latin typeface="Arial"/>
              </a:rPr>
              <a:t>: vas a </a:t>
            </a:r>
            <a:r>
              <a:rPr sz="2400" b="1" i="0" dirty="0" err="1">
                <a:solidFill>
                  <a:srgbClr val="4E342E"/>
                </a:solidFill>
                <a:latin typeface="Arial"/>
              </a:rPr>
              <a:t>aprender</a:t>
            </a:r>
            <a:r>
              <a:rPr sz="2400" b="1" i="0" dirty="0">
                <a:solidFill>
                  <a:srgbClr val="4E342E"/>
                </a:solidFill>
                <a:latin typeface="Arial"/>
              </a:rPr>
              <a:t> a leer un </a:t>
            </a:r>
            <a:r>
              <a:rPr sz="2400" b="1" i="0" dirty="0" err="1">
                <a:solidFill>
                  <a:srgbClr val="4E342E"/>
                </a:solidFill>
                <a:latin typeface="Arial"/>
              </a:rPr>
              <a:t>controlador</a:t>
            </a:r>
            <a:r>
              <a:rPr sz="2400" b="1" i="0" dirty="0">
                <a:solidFill>
                  <a:srgbClr val="4E342E"/>
                </a:solidFill>
                <a:latin typeface="Arial"/>
              </a:rPr>
              <a:t> REST </a:t>
            </a:r>
            <a:r>
              <a:rPr sz="2400" b="1" i="0" dirty="0" err="1">
                <a:solidFill>
                  <a:srgbClr val="4E342E"/>
                </a:solidFill>
                <a:latin typeface="Arial"/>
              </a:rPr>
              <a:t>ya</a:t>
            </a:r>
            <a:r>
              <a:rPr sz="2400" b="1" i="0" dirty="0">
                <a:solidFill>
                  <a:srgbClr val="4E342E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4E342E"/>
                </a:solidFill>
                <a:latin typeface="Arial"/>
              </a:rPr>
              <a:t>construido</a:t>
            </a:r>
            <a:r>
              <a:rPr sz="2400" b="1" i="0" dirty="0">
                <a:solidFill>
                  <a:srgbClr val="4E342E"/>
                </a:solidFill>
                <a:latin typeface="Arial"/>
              </a:rPr>
              <a:t>.</a:t>
            </a:r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E633499A-C42A-0157-6E13-F2A066B1F5A4}"/>
              </a:ext>
            </a:extLst>
          </p:cNvPr>
          <p:cNvSpPr/>
          <p:nvPr/>
        </p:nvSpPr>
        <p:spPr>
          <a:xfrm>
            <a:off x="731520" y="5440680"/>
            <a:ext cx="10744200" cy="640080"/>
          </a:xfrm>
          <a:prstGeom prst="roundRect">
            <a:avLst/>
          </a:prstGeom>
          <a:solidFill>
            <a:srgbClr val="FFF3E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A4956A71-D1CC-9B3C-1BB4-B2580790C431}"/>
              </a:ext>
            </a:extLst>
          </p:cNvPr>
          <p:cNvSpPr txBox="1"/>
          <p:nvPr/>
        </p:nvSpPr>
        <p:spPr>
          <a:xfrm>
            <a:off x="841248" y="5586313"/>
            <a:ext cx="10524744" cy="348813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1600" b="0" i="0" dirty="0" err="1">
                <a:solidFill>
                  <a:srgbClr val="212121"/>
                </a:solidFill>
                <a:latin typeface="Arial"/>
              </a:rPr>
              <a:t>Pregunta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guía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: ¿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cómo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acaba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GET /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api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/v1/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libros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/3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ejecutando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un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método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Java y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devolviendo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JSON?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URL, pieza a pieza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95237DB3-5962-B6C8-1505-69CD8EC7242C}"/>
              </a:ext>
            </a:extLst>
          </p:cNvPr>
          <p:cNvSpPr txBox="1"/>
          <p:nvPr/>
        </p:nvSpPr>
        <p:spPr>
          <a:xfrm>
            <a:off x="914400" y="1143000"/>
            <a:ext cx="10332720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900" b="0" i="0" dirty="0">
                <a:solidFill>
                  <a:srgbClr val="212121"/>
                </a:solidFill>
                <a:latin typeface="Arial"/>
              </a:rPr>
              <a:t>Una URL indica </a:t>
            </a:r>
            <a:r>
              <a:rPr sz="1900" b="0" i="0" dirty="0" err="1">
                <a:solidFill>
                  <a:srgbClr val="212121"/>
                </a:solidFill>
                <a:latin typeface="Arial"/>
              </a:rPr>
              <a:t>dónde</a:t>
            </a:r>
            <a:r>
              <a:rPr sz="19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12121"/>
                </a:solidFill>
                <a:latin typeface="Arial"/>
              </a:rPr>
              <a:t>está</a:t>
            </a:r>
            <a:r>
              <a:rPr sz="1900" b="0" i="0" dirty="0">
                <a:solidFill>
                  <a:srgbClr val="212121"/>
                </a:solidFill>
                <a:latin typeface="Arial"/>
              </a:rPr>
              <a:t> el </a:t>
            </a:r>
            <a:r>
              <a:rPr sz="1900" b="0" i="0" dirty="0" err="1">
                <a:solidFill>
                  <a:srgbClr val="212121"/>
                </a:solidFill>
                <a:latin typeface="Arial"/>
              </a:rPr>
              <a:t>servidor</a:t>
            </a:r>
            <a:r>
              <a:rPr sz="1900" b="0" i="0" dirty="0">
                <a:solidFill>
                  <a:srgbClr val="212121"/>
                </a:solidFill>
                <a:latin typeface="Arial"/>
              </a:rPr>
              <a:t> y </a:t>
            </a:r>
            <a:r>
              <a:rPr sz="1900" b="0" i="0" dirty="0" err="1">
                <a:solidFill>
                  <a:srgbClr val="212121"/>
                </a:solidFill>
                <a:latin typeface="Arial"/>
              </a:rPr>
              <a:t>qué</a:t>
            </a:r>
            <a:r>
              <a:rPr sz="19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12121"/>
                </a:solidFill>
                <a:latin typeface="Arial"/>
              </a:rPr>
              <a:t>recurso</a:t>
            </a:r>
            <a:r>
              <a:rPr sz="19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12121"/>
                </a:solidFill>
                <a:latin typeface="Arial"/>
              </a:rPr>
              <a:t>concreto</a:t>
            </a:r>
            <a:r>
              <a:rPr sz="19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12121"/>
                </a:solidFill>
                <a:latin typeface="Arial"/>
              </a:rPr>
              <a:t>queremos</a:t>
            </a:r>
            <a:r>
              <a:rPr sz="19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12121"/>
                </a:solidFill>
                <a:latin typeface="Arial"/>
              </a:rPr>
              <a:t>dentro</a:t>
            </a:r>
            <a:r>
              <a:rPr sz="1900" b="0" i="0" dirty="0">
                <a:solidFill>
                  <a:srgbClr val="212121"/>
                </a:solidFill>
                <a:latin typeface="Arial"/>
              </a:rPr>
              <a:t> de </a:t>
            </a:r>
            <a:r>
              <a:rPr sz="1900" b="0" i="0" dirty="0" err="1">
                <a:solidFill>
                  <a:srgbClr val="212121"/>
                </a:solidFill>
                <a:latin typeface="Arial"/>
              </a:rPr>
              <a:t>él</a:t>
            </a:r>
            <a:r>
              <a:rPr sz="1900" b="0" i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0C2108CD-3B3E-8651-D0DB-1199D5FE7F8F}"/>
              </a:ext>
            </a:extLst>
          </p:cNvPr>
          <p:cNvSpPr/>
          <p:nvPr/>
        </p:nvSpPr>
        <p:spPr>
          <a:xfrm>
            <a:off x="914400" y="2057400"/>
            <a:ext cx="1828800" cy="777240"/>
          </a:xfrm>
          <a:prstGeom prst="roundRect">
            <a:avLst/>
          </a:prstGeom>
          <a:solidFill>
            <a:srgbClr val="E3F2FD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57DFAAF6-79EC-7A48-B52F-61EBE3D8D5C1}"/>
              </a:ext>
            </a:extLst>
          </p:cNvPr>
          <p:cNvSpPr txBox="1"/>
          <p:nvPr/>
        </p:nvSpPr>
        <p:spPr>
          <a:xfrm>
            <a:off x="914400" y="2130552"/>
            <a:ext cx="1828800" cy="502920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2200" b="1" i="0">
                <a:solidFill>
                  <a:srgbClr val="1565C0"/>
                </a:solidFill>
                <a:latin typeface="Consolas"/>
              </a:rPr>
              <a:t>http://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583D98FA-EF57-E34E-79C9-31210B222967}"/>
              </a:ext>
            </a:extLst>
          </p:cNvPr>
          <p:cNvSpPr txBox="1"/>
          <p:nvPr/>
        </p:nvSpPr>
        <p:spPr>
          <a:xfrm>
            <a:off x="914400" y="3044952"/>
            <a:ext cx="1828800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800" b="1" i="0" dirty="0" err="1">
                <a:solidFill>
                  <a:srgbClr val="1565C0"/>
                </a:solidFill>
                <a:latin typeface="Arial"/>
              </a:rPr>
              <a:t>Protocolo</a:t>
            </a:r>
            <a:endParaRPr sz="1800" b="1" i="0" dirty="0">
              <a:solidFill>
                <a:srgbClr val="1565C0"/>
              </a:solidFill>
              <a:latin typeface="Arial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B1010854-EA7D-63E6-3690-B29C9DDF223A}"/>
              </a:ext>
            </a:extLst>
          </p:cNvPr>
          <p:cNvSpPr txBox="1"/>
          <p:nvPr/>
        </p:nvSpPr>
        <p:spPr>
          <a:xfrm>
            <a:off x="914400" y="3410712"/>
            <a:ext cx="1828800" cy="595035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600" b="0" i="0" dirty="0">
                <a:solidFill>
                  <a:srgbClr val="212121"/>
                </a:solidFill>
                <a:latin typeface="Arial"/>
              </a:rPr>
              <a:t>Reglas de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comunicación</a:t>
            </a:r>
            <a:endParaRPr sz="1600" b="0" i="0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C7563674-AB3C-5E99-0872-911AA6A6E232}"/>
              </a:ext>
            </a:extLst>
          </p:cNvPr>
          <p:cNvSpPr/>
          <p:nvPr/>
        </p:nvSpPr>
        <p:spPr>
          <a:xfrm>
            <a:off x="2834640" y="2057400"/>
            <a:ext cx="3383280" cy="77724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3E05B24D-8034-DACF-E007-700C3B70BB72}"/>
              </a:ext>
            </a:extLst>
          </p:cNvPr>
          <p:cNvSpPr txBox="1"/>
          <p:nvPr/>
        </p:nvSpPr>
        <p:spPr>
          <a:xfrm>
            <a:off x="2834640" y="2130552"/>
            <a:ext cx="3383280" cy="502920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onsolas"/>
              </a:rPr>
              <a:t>localhost:8080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ACD1C004-5B76-8056-0E90-973A9FC904A8}"/>
              </a:ext>
            </a:extLst>
          </p:cNvPr>
          <p:cNvSpPr txBox="1"/>
          <p:nvPr/>
        </p:nvSpPr>
        <p:spPr>
          <a:xfrm>
            <a:off x="2834640" y="3044952"/>
            <a:ext cx="3383280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Arial"/>
              </a:rPr>
              <a:t>Host + puerto</a:t>
            </a: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5DA245D2-003A-44EB-68C5-351694EF65AF}"/>
              </a:ext>
            </a:extLst>
          </p:cNvPr>
          <p:cNvSpPr txBox="1"/>
          <p:nvPr/>
        </p:nvSpPr>
        <p:spPr>
          <a:xfrm>
            <a:off x="2834640" y="3410712"/>
            <a:ext cx="3383280" cy="348813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600" b="0" i="0">
                <a:solidFill>
                  <a:srgbClr val="212121"/>
                </a:solidFill>
                <a:latin typeface="Arial"/>
              </a:rPr>
              <a:t>Servidor y puerta de entrada</a:t>
            </a:r>
          </a:p>
        </p:txBody>
      </p:sp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68A77EC4-216A-8907-DFD6-F4767A19E775}"/>
              </a:ext>
            </a:extLst>
          </p:cNvPr>
          <p:cNvSpPr/>
          <p:nvPr/>
        </p:nvSpPr>
        <p:spPr>
          <a:xfrm>
            <a:off x="6309360" y="2057400"/>
            <a:ext cx="4663440" cy="777240"/>
          </a:xfrm>
          <a:prstGeom prst="roundRect">
            <a:avLst/>
          </a:prstGeom>
          <a:solidFill>
            <a:srgbClr val="F3E5F5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8D5CE7AA-006E-299F-39A0-1754AB19E79C}"/>
              </a:ext>
            </a:extLst>
          </p:cNvPr>
          <p:cNvSpPr txBox="1"/>
          <p:nvPr/>
        </p:nvSpPr>
        <p:spPr>
          <a:xfrm>
            <a:off x="6309360" y="2130552"/>
            <a:ext cx="4663440" cy="502920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Consolas"/>
              </a:rPr>
              <a:t>/api/v1/libros/3</a:t>
            </a: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C5224B6E-E50A-9299-EC55-258D5A4764C2}"/>
              </a:ext>
            </a:extLst>
          </p:cNvPr>
          <p:cNvSpPr txBox="1"/>
          <p:nvPr/>
        </p:nvSpPr>
        <p:spPr>
          <a:xfrm>
            <a:off x="6309360" y="3044952"/>
            <a:ext cx="4663440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800" b="1" i="0">
                <a:solidFill>
                  <a:srgbClr val="6A1B9A"/>
                </a:solidFill>
                <a:latin typeface="Arial"/>
              </a:rPr>
              <a:t>Ruta</a:t>
            </a:r>
          </a:p>
        </p:txBody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CB240C84-EFDD-CDBF-4809-1F5AF91AE97A}"/>
              </a:ext>
            </a:extLst>
          </p:cNvPr>
          <p:cNvSpPr txBox="1"/>
          <p:nvPr/>
        </p:nvSpPr>
        <p:spPr>
          <a:xfrm>
            <a:off x="6309360" y="3410712"/>
            <a:ext cx="4663440" cy="348813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600" b="0" i="0">
                <a:solidFill>
                  <a:srgbClr val="212121"/>
                </a:solidFill>
                <a:latin typeface="Arial"/>
              </a:rPr>
              <a:t>Recurso solicitado</a:t>
            </a:r>
          </a:p>
        </p:txBody>
      </p:sp>
      <p:sp>
        <p:nvSpPr>
          <p:cNvPr id="36" name="Rounded Rectangle 17">
            <a:extLst>
              <a:ext uri="{FF2B5EF4-FFF2-40B4-BE49-F238E27FC236}">
                <a16:creationId xmlns:a16="http://schemas.microsoft.com/office/drawing/2014/main" id="{3B7D1EB5-564D-6BBE-A1F2-0FAC67D9296F}"/>
              </a:ext>
            </a:extLst>
          </p:cNvPr>
          <p:cNvSpPr/>
          <p:nvPr/>
        </p:nvSpPr>
        <p:spPr>
          <a:xfrm>
            <a:off x="731520" y="5440680"/>
            <a:ext cx="10744200" cy="640080"/>
          </a:xfrm>
          <a:prstGeom prst="roundRect">
            <a:avLst/>
          </a:prstGeom>
          <a:solidFill>
            <a:srgbClr val="FFF3E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8">
            <a:extLst>
              <a:ext uri="{FF2B5EF4-FFF2-40B4-BE49-F238E27FC236}">
                <a16:creationId xmlns:a16="http://schemas.microsoft.com/office/drawing/2014/main" id="{9A8182C0-4432-A655-928F-A6880A3A5BA5}"/>
              </a:ext>
            </a:extLst>
          </p:cNvPr>
          <p:cNvSpPr txBox="1"/>
          <p:nvPr/>
        </p:nvSpPr>
        <p:spPr>
          <a:xfrm>
            <a:off x="841248" y="5586313"/>
            <a:ext cx="10524744" cy="348813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1600" b="0" i="0" dirty="0">
                <a:solidFill>
                  <a:srgbClr val="212121"/>
                </a:solidFill>
                <a:latin typeface="Arial"/>
              </a:rPr>
              <a:t>En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una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API REST, la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ruta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identifica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qué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recurso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queremos</a:t>
            </a:r>
            <a:r>
              <a:rPr lang="es-ES" sz="1600" dirty="0">
                <a:solidFill>
                  <a:srgbClr val="212121"/>
                </a:solidFill>
                <a:latin typeface="Arial"/>
              </a:rPr>
              <a:t> y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el verbo HTTP </a:t>
            </a:r>
            <a:r>
              <a:rPr lang="es-ES" sz="1600" b="0" i="0" dirty="0">
                <a:solidFill>
                  <a:srgbClr val="212121"/>
                </a:solidFill>
                <a:latin typeface="Arial"/>
              </a:rPr>
              <a:t>la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operación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queremos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realizar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HTTP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pic>
        <p:nvPicPr>
          <p:cNvPr id="8" name="Picture 4" descr="anatomía_visual_de_http.png">
            <a:extLst>
              <a:ext uri="{FF2B5EF4-FFF2-40B4-BE49-F238E27FC236}">
                <a16:creationId xmlns:a16="http://schemas.microsoft.com/office/drawing/2014/main" id="{10554E1F-9A32-8071-F7C9-48B6653422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583"/>
          <a:stretch>
            <a:fillRect/>
          </a:stretch>
        </p:blipFill>
        <p:spPr>
          <a:xfrm>
            <a:off x="1646212" y="932687"/>
            <a:ext cx="8899576" cy="53675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dirty="0">
                <a:solidFill>
                  <a:srgbClr val="FFFFFF"/>
                </a:solidFill>
                <a:latin typeface="Arial"/>
              </a:rPr>
              <a:t>Una petición y una respuesta HTTP reales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7E811536-326C-1319-171D-9B88A8C4F703}"/>
              </a:ext>
            </a:extLst>
          </p:cNvPr>
          <p:cNvSpPr txBox="1"/>
          <p:nvPr/>
        </p:nvSpPr>
        <p:spPr>
          <a:xfrm>
            <a:off x="822960" y="1005840"/>
            <a:ext cx="4937760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800" b="1" i="0">
                <a:solidFill>
                  <a:srgbClr val="1565C0"/>
                </a:solidFill>
                <a:latin typeface="Arial"/>
              </a:rPr>
              <a:t>Petición del cliente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8075C2EF-2F95-E7CE-48BC-6318A04126DA}"/>
              </a:ext>
            </a:extLst>
          </p:cNvPr>
          <p:cNvSpPr txBox="1"/>
          <p:nvPr/>
        </p:nvSpPr>
        <p:spPr>
          <a:xfrm>
            <a:off x="6400800" y="1005840"/>
            <a:ext cx="4937760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Arial"/>
              </a:rPr>
              <a:t>Respuesta del servidor</a:t>
            </a: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5306E8CF-66E7-111A-4878-50752B25740D}"/>
              </a:ext>
            </a:extLst>
          </p:cNvPr>
          <p:cNvSpPr/>
          <p:nvPr/>
        </p:nvSpPr>
        <p:spPr>
          <a:xfrm>
            <a:off x="731520" y="1417319"/>
            <a:ext cx="5120640" cy="2450593"/>
          </a:xfrm>
          <a:prstGeom prst="roundRect">
            <a:avLst/>
          </a:prstGeom>
          <a:solidFill>
            <a:srgbClr val="E3F2FD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4051ED9-1E48-5A1B-4C4C-B2D7E36FC557}"/>
              </a:ext>
            </a:extLst>
          </p:cNvPr>
          <p:cNvSpPr txBox="1"/>
          <p:nvPr/>
        </p:nvSpPr>
        <p:spPr>
          <a:xfrm>
            <a:off x="804672" y="1655064"/>
            <a:ext cx="4974336" cy="78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 /</a:t>
            </a:r>
            <a:r>
              <a:rPr sz="17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sz="17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/v1/</a:t>
            </a:r>
            <a:r>
              <a:rPr sz="17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libros</a:t>
            </a:r>
            <a:r>
              <a:rPr sz="17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/3 HTTP/1.1
Host: localhost:8080
Accept: application/</a:t>
            </a:r>
            <a:r>
              <a:rPr sz="17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sz="1700" b="0" i="0" dirty="0">
              <a:solidFill>
                <a:srgbClr val="21212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77F35876-11C5-3A38-9EA1-9493CCACDB1F}"/>
              </a:ext>
            </a:extLst>
          </p:cNvPr>
          <p:cNvSpPr/>
          <p:nvPr/>
        </p:nvSpPr>
        <p:spPr>
          <a:xfrm>
            <a:off x="6309360" y="1417319"/>
            <a:ext cx="5120640" cy="2450593"/>
          </a:xfrm>
          <a:prstGeom prst="roundRect">
            <a:avLst/>
          </a:prstGeom>
          <a:solidFill>
            <a:srgbClr val="E8F5E9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9911B702-CCC7-4BA0-E58A-F3334DF7F19B}"/>
              </a:ext>
            </a:extLst>
          </p:cNvPr>
          <p:cNvSpPr txBox="1"/>
          <p:nvPr/>
        </p:nvSpPr>
        <p:spPr>
          <a:xfrm>
            <a:off x="6382512" y="1655064"/>
            <a:ext cx="4974336" cy="1969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HTTP/1.1 200 OK
Content-Type: application/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
{</a:t>
            </a:r>
            <a:endParaRPr lang="es-ES" sz="1600" b="0" i="0" dirty="0">
              <a:solidFill>
                <a:srgbClr val="21212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s-ES" sz="160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"id":3,</a:t>
            </a:r>
            <a:endParaRPr lang="es-ES" sz="1600" b="0" i="0" dirty="0">
              <a:solidFill>
                <a:srgbClr val="21212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s-ES" sz="160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"titulo":"El 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nombre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del 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viento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
</a:t>
            </a:r>
            <a:r>
              <a:rPr lang="es-ES"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"precio":19.95</a:t>
            </a:r>
            <a:endParaRPr lang="es-ES" sz="1600" b="0" i="0" dirty="0">
              <a:solidFill>
                <a:srgbClr val="21212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F093F384-B271-6142-52E3-40C710445765}"/>
              </a:ext>
            </a:extLst>
          </p:cNvPr>
          <p:cNvSpPr/>
          <p:nvPr/>
        </p:nvSpPr>
        <p:spPr>
          <a:xfrm>
            <a:off x="777240" y="4224528"/>
            <a:ext cx="3291841" cy="105156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3C5E81A4-6781-8398-799C-8D32888C7492}"/>
              </a:ext>
            </a:extLst>
          </p:cNvPr>
          <p:cNvSpPr txBox="1"/>
          <p:nvPr/>
        </p:nvSpPr>
        <p:spPr>
          <a:xfrm>
            <a:off x="905256" y="4315968"/>
            <a:ext cx="3046050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 dirty="0">
                <a:solidFill>
                  <a:srgbClr val="4E342E"/>
                </a:solidFill>
                <a:latin typeface="Arial"/>
              </a:rPr>
              <a:t>Primera </a:t>
            </a:r>
            <a:r>
              <a:rPr sz="1800" b="1" i="0" dirty="0" err="1">
                <a:solidFill>
                  <a:srgbClr val="4E342E"/>
                </a:solidFill>
                <a:latin typeface="Arial"/>
              </a:rPr>
              <a:t>línea</a:t>
            </a:r>
            <a:endParaRPr sz="1800" b="1" i="0" dirty="0">
              <a:solidFill>
                <a:srgbClr val="4E342E"/>
              </a:solidFill>
              <a:latin typeface="Arial"/>
            </a:endParaRP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AB132DA9-E325-DD24-95D3-827BF8927F3D}"/>
              </a:ext>
            </a:extLst>
          </p:cNvPr>
          <p:cNvSpPr txBox="1"/>
          <p:nvPr/>
        </p:nvSpPr>
        <p:spPr>
          <a:xfrm>
            <a:off x="905256" y="4773168"/>
            <a:ext cx="3102866" cy="348813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600" b="0" i="0" dirty="0" err="1">
                <a:solidFill>
                  <a:srgbClr val="212121"/>
                </a:solidFill>
                <a:latin typeface="Arial"/>
              </a:rPr>
              <a:t>método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+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ruta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/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código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de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estado</a:t>
            </a:r>
            <a:endParaRPr sz="1600" b="0" i="0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DB278189-F1AD-D8DA-89C9-6D68B9CAC43C}"/>
              </a:ext>
            </a:extLst>
          </p:cNvPr>
          <p:cNvSpPr/>
          <p:nvPr/>
        </p:nvSpPr>
        <p:spPr>
          <a:xfrm>
            <a:off x="4480559" y="4224528"/>
            <a:ext cx="3291841" cy="105156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8A25A3F1-18CA-0C0E-7E8C-B8B713ACB1FC}"/>
              </a:ext>
            </a:extLst>
          </p:cNvPr>
          <p:cNvSpPr txBox="1"/>
          <p:nvPr/>
        </p:nvSpPr>
        <p:spPr>
          <a:xfrm>
            <a:off x="4608575" y="4315968"/>
            <a:ext cx="3046050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>
                <a:solidFill>
                  <a:srgbClr val="4E342E"/>
                </a:solidFill>
                <a:latin typeface="Arial"/>
              </a:rPr>
              <a:t>Cabeceras</a:t>
            </a: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222E63C6-DF22-1601-92C0-5DC057EC38FB}"/>
              </a:ext>
            </a:extLst>
          </p:cNvPr>
          <p:cNvSpPr txBox="1"/>
          <p:nvPr/>
        </p:nvSpPr>
        <p:spPr>
          <a:xfrm>
            <a:off x="4608575" y="4773168"/>
            <a:ext cx="3046050" cy="348813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600" b="0" i="0" dirty="0" err="1">
                <a:solidFill>
                  <a:srgbClr val="212121"/>
                </a:solidFill>
                <a:latin typeface="Arial"/>
              </a:rPr>
              <a:t>metadatos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sobre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el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mensaje</a:t>
            </a:r>
            <a:endParaRPr sz="1600" b="0" i="0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34" name="Rounded Rectangle 16">
            <a:extLst>
              <a:ext uri="{FF2B5EF4-FFF2-40B4-BE49-F238E27FC236}">
                <a16:creationId xmlns:a16="http://schemas.microsoft.com/office/drawing/2014/main" id="{B966AA7F-7692-E725-2806-D32B965516B8}"/>
              </a:ext>
            </a:extLst>
          </p:cNvPr>
          <p:cNvSpPr/>
          <p:nvPr/>
        </p:nvSpPr>
        <p:spPr>
          <a:xfrm>
            <a:off x="8183879" y="4224528"/>
            <a:ext cx="3291841" cy="105156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17">
            <a:extLst>
              <a:ext uri="{FF2B5EF4-FFF2-40B4-BE49-F238E27FC236}">
                <a16:creationId xmlns:a16="http://schemas.microsoft.com/office/drawing/2014/main" id="{5237EC2C-7A82-3827-3FE6-19C03DD3651A}"/>
              </a:ext>
            </a:extLst>
          </p:cNvPr>
          <p:cNvSpPr txBox="1"/>
          <p:nvPr/>
        </p:nvSpPr>
        <p:spPr>
          <a:xfrm>
            <a:off x="8311895" y="4315968"/>
            <a:ext cx="3046050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>
                <a:solidFill>
                  <a:srgbClr val="4E342E"/>
                </a:solidFill>
                <a:latin typeface="Arial"/>
              </a:rPr>
              <a:t>Cuerpo</a:t>
            </a:r>
          </a:p>
        </p:txBody>
      </p:sp>
      <p:sp>
        <p:nvSpPr>
          <p:cNvPr id="38" name="TextBox 18">
            <a:extLst>
              <a:ext uri="{FF2B5EF4-FFF2-40B4-BE49-F238E27FC236}">
                <a16:creationId xmlns:a16="http://schemas.microsoft.com/office/drawing/2014/main" id="{4ABA8B0E-88DC-8FC9-2FE4-264BB19084E4}"/>
              </a:ext>
            </a:extLst>
          </p:cNvPr>
          <p:cNvSpPr txBox="1"/>
          <p:nvPr/>
        </p:nvSpPr>
        <p:spPr>
          <a:xfrm>
            <a:off x="8311895" y="4773168"/>
            <a:ext cx="3046050" cy="348813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600" b="0" i="0" dirty="0" err="1">
                <a:solidFill>
                  <a:srgbClr val="212121"/>
                </a:solidFill>
                <a:latin typeface="Arial"/>
              </a:rPr>
              <a:t>datos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enviados</a:t>
            </a:r>
            <a:r>
              <a:rPr lang="es-ES" sz="1600" dirty="0">
                <a:solidFill>
                  <a:srgbClr val="212121"/>
                </a:solidFill>
                <a:latin typeface="Arial"/>
              </a:rPr>
              <a:t>,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puede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no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existir</a:t>
            </a:r>
            <a:endParaRPr sz="1600" b="0" i="0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40" name="Rounded Rectangle 19">
            <a:extLst>
              <a:ext uri="{FF2B5EF4-FFF2-40B4-BE49-F238E27FC236}">
                <a16:creationId xmlns:a16="http://schemas.microsoft.com/office/drawing/2014/main" id="{AEEA5773-377B-67D0-EA8E-0F91752F816F}"/>
              </a:ext>
            </a:extLst>
          </p:cNvPr>
          <p:cNvSpPr/>
          <p:nvPr/>
        </p:nvSpPr>
        <p:spPr>
          <a:xfrm>
            <a:off x="731520" y="5632704"/>
            <a:ext cx="10744200" cy="640080"/>
          </a:xfrm>
          <a:prstGeom prst="roundRect">
            <a:avLst/>
          </a:prstGeom>
          <a:solidFill>
            <a:srgbClr val="FFF3E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4962D18C-DB0D-96AC-EE4D-2E59C76F9EBB}"/>
              </a:ext>
            </a:extLst>
          </p:cNvPr>
          <p:cNvSpPr txBox="1"/>
          <p:nvPr/>
        </p:nvSpPr>
        <p:spPr>
          <a:xfrm>
            <a:off x="841248" y="5678424"/>
            <a:ext cx="10524744" cy="548640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1600" b="0" i="0" dirty="0">
                <a:solidFill>
                  <a:srgbClr val="212121"/>
                </a:solidFill>
                <a:latin typeface="Arial"/>
              </a:rPr>
              <a:t>Accept =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formato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que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el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cliente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quiere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recibir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· Content-Type =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formato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real del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cuerpo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que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se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está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enviando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dirty="0">
                <a:solidFill>
                  <a:srgbClr val="FFFFFF"/>
                </a:solidFill>
                <a:latin typeface="Arial"/>
              </a:rPr>
              <a:t>Verbos HTTP e idempotencia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05DCCBF4-F58B-C916-721C-A6518C4CC6D6}"/>
              </a:ext>
            </a:extLst>
          </p:cNvPr>
          <p:cNvSpPr txBox="1"/>
          <p:nvPr/>
        </p:nvSpPr>
        <p:spPr>
          <a:xfrm>
            <a:off x="777240" y="987552"/>
            <a:ext cx="10698480" cy="347472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800" b="0" i="0" dirty="0">
                <a:solidFill>
                  <a:srgbClr val="212121"/>
                </a:solidFill>
                <a:latin typeface="Arial"/>
              </a:rPr>
              <a:t>El verbo </a:t>
            </a:r>
            <a:r>
              <a:rPr sz="1800" b="0" i="0" dirty="0" err="1">
                <a:solidFill>
                  <a:srgbClr val="212121"/>
                </a:solidFill>
                <a:latin typeface="Arial"/>
              </a:rPr>
              <a:t>expresa</a:t>
            </a:r>
            <a:r>
              <a:rPr sz="1800" b="0" i="0" dirty="0">
                <a:solidFill>
                  <a:srgbClr val="212121"/>
                </a:solidFill>
                <a:latin typeface="Arial"/>
              </a:rPr>
              <a:t> la </a:t>
            </a:r>
            <a:r>
              <a:rPr sz="1800" b="0" i="0" dirty="0" err="1">
                <a:solidFill>
                  <a:srgbClr val="212121"/>
                </a:solidFill>
                <a:latin typeface="Arial"/>
              </a:rPr>
              <a:t>intención</a:t>
            </a:r>
            <a:r>
              <a:rPr sz="1800" b="0" i="0" dirty="0">
                <a:solidFill>
                  <a:srgbClr val="212121"/>
                </a:solidFill>
                <a:latin typeface="Arial"/>
              </a:rPr>
              <a:t>. La </a:t>
            </a:r>
            <a:r>
              <a:rPr sz="1800" b="0" i="0" dirty="0" err="1">
                <a:solidFill>
                  <a:srgbClr val="212121"/>
                </a:solidFill>
                <a:latin typeface="Arial"/>
              </a:rPr>
              <a:t>idempotencia</a:t>
            </a:r>
            <a:r>
              <a:rPr sz="1800" b="0" i="0" dirty="0">
                <a:solidFill>
                  <a:srgbClr val="212121"/>
                </a:solidFill>
                <a:latin typeface="Arial"/>
              </a:rPr>
              <a:t> describe </a:t>
            </a:r>
            <a:r>
              <a:rPr sz="1800" b="0" i="0" dirty="0" err="1">
                <a:solidFill>
                  <a:srgbClr val="212121"/>
                </a:solidFill>
                <a:latin typeface="Arial"/>
              </a:rPr>
              <a:t>qué</a:t>
            </a:r>
            <a:r>
              <a:rPr sz="18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212121"/>
                </a:solidFill>
                <a:latin typeface="Arial"/>
              </a:rPr>
              <a:t>ocurre</a:t>
            </a:r>
            <a:r>
              <a:rPr sz="18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212121"/>
                </a:solidFill>
                <a:latin typeface="Arial"/>
              </a:rPr>
              <a:t>si</a:t>
            </a:r>
            <a:r>
              <a:rPr sz="18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212121"/>
                </a:solidFill>
                <a:latin typeface="Arial"/>
              </a:rPr>
              <a:t>repetimos</a:t>
            </a:r>
            <a:r>
              <a:rPr sz="1800" b="0" i="0" dirty="0">
                <a:solidFill>
                  <a:srgbClr val="212121"/>
                </a:solidFill>
                <a:latin typeface="Arial"/>
              </a:rPr>
              <a:t> la </a:t>
            </a:r>
            <a:r>
              <a:rPr sz="1800" b="0" i="0" dirty="0" err="1">
                <a:solidFill>
                  <a:srgbClr val="212121"/>
                </a:solidFill>
                <a:latin typeface="Arial"/>
              </a:rPr>
              <a:t>misma</a:t>
            </a:r>
            <a:r>
              <a:rPr sz="18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212121"/>
                </a:solidFill>
                <a:latin typeface="Arial"/>
              </a:rPr>
              <a:t>operación</a:t>
            </a:r>
            <a:r>
              <a:rPr sz="1800" b="0" i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808D8A05-60C9-C067-FFB0-7571B1FAB9DC}"/>
              </a:ext>
            </a:extLst>
          </p:cNvPr>
          <p:cNvSpPr/>
          <p:nvPr/>
        </p:nvSpPr>
        <p:spPr>
          <a:xfrm>
            <a:off x="365760" y="1645920"/>
            <a:ext cx="2084831" cy="2286000"/>
          </a:xfrm>
          <a:prstGeom prst="roundRect">
            <a:avLst/>
          </a:prstGeom>
          <a:solidFill>
            <a:srgbClr val="E3F2FD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91BC30E0-4A56-2A7B-4999-89A7CBA9FB9A}"/>
              </a:ext>
            </a:extLst>
          </p:cNvPr>
          <p:cNvSpPr txBox="1"/>
          <p:nvPr/>
        </p:nvSpPr>
        <p:spPr>
          <a:xfrm>
            <a:off x="457200" y="1828800"/>
            <a:ext cx="1901952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2300" b="1" i="0">
                <a:solidFill>
                  <a:srgbClr val="1565C0"/>
                </a:solidFill>
                <a:latin typeface="Arial"/>
              </a:rPr>
              <a:t>GET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76D6C4AA-7513-FBB9-6BE3-938403404D96}"/>
              </a:ext>
            </a:extLst>
          </p:cNvPr>
          <p:cNvSpPr txBox="1"/>
          <p:nvPr/>
        </p:nvSpPr>
        <p:spPr>
          <a:xfrm>
            <a:off x="457200" y="2331720"/>
            <a:ext cx="1901952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500" b="0" i="0" dirty="0">
                <a:solidFill>
                  <a:srgbClr val="212121"/>
                </a:solidFill>
                <a:latin typeface="Arial"/>
              </a:rPr>
              <a:t>Leer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EDE3CB8B-0056-AE37-1231-802D4650E174}"/>
              </a:ext>
            </a:extLst>
          </p:cNvPr>
          <p:cNvSpPr/>
          <p:nvPr/>
        </p:nvSpPr>
        <p:spPr>
          <a:xfrm>
            <a:off x="713232" y="2971800"/>
            <a:ext cx="1389888" cy="338328"/>
          </a:xfrm>
          <a:prstGeom prst="round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3B99428A-2677-FBE4-0CE0-2598484D85BE}"/>
              </a:ext>
            </a:extLst>
          </p:cNvPr>
          <p:cNvSpPr txBox="1"/>
          <p:nvPr/>
        </p:nvSpPr>
        <p:spPr>
          <a:xfrm>
            <a:off x="749808" y="2980944"/>
            <a:ext cx="131673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Idempotente: Sí</a:t>
            </a:r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30CB7130-1EEC-18F0-52E5-9D6E1F188CD9}"/>
              </a:ext>
            </a:extLst>
          </p:cNvPr>
          <p:cNvSpPr/>
          <p:nvPr/>
        </p:nvSpPr>
        <p:spPr>
          <a:xfrm>
            <a:off x="2697480" y="1645920"/>
            <a:ext cx="2084831" cy="228600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EF8542AA-C1F0-25D6-80A7-D008024557AE}"/>
              </a:ext>
            </a:extLst>
          </p:cNvPr>
          <p:cNvSpPr txBox="1"/>
          <p:nvPr/>
        </p:nvSpPr>
        <p:spPr>
          <a:xfrm>
            <a:off x="2788920" y="1828800"/>
            <a:ext cx="1901952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2300" b="1" i="0">
                <a:solidFill>
                  <a:srgbClr val="C62828"/>
                </a:solidFill>
                <a:latin typeface="Arial"/>
              </a:rPr>
              <a:t>POST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13EA3650-0543-2CA7-1349-F980EF394FD8}"/>
              </a:ext>
            </a:extLst>
          </p:cNvPr>
          <p:cNvSpPr txBox="1"/>
          <p:nvPr/>
        </p:nvSpPr>
        <p:spPr>
          <a:xfrm>
            <a:off x="2788920" y="2331720"/>
            <a:ext cx="1901952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500" b="0" i="0">
                <a:solidFill>
                  <a:srgbClr val="212121"/>
                </a:solidFill>
                <a:latin typeface="Arial"/>
              </a:rPr>
              <a:t>Crear</a:t>
            </a:r>
          </a:p>
        </p:txBody>
      </p:sp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1BECEAE2-4F42-3796-8C92-4FCD6DCA6843}"/>
              </a:ext>
            </a:extLst>
          </p:cNvPr>
          <p:cNvSpPr/>
          <p:nvPr/>
        </p:nvSpPr>
        <p:spPr>
          <a:xfrm>
            <a:off x="3044952" y="2971800"/>
            <a:ext cx="1389888" cy="338328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22FE8281-5147-0586-FFBA-22B77B98D792}"/>
              </a:ext>
            </a:extLst>
          </p:cNvPr>
          <p:cNvSpPr txBox="1"/>
          <p:nvPr/>
        </p:nvSpPr>
        <p:spPr>
          <a:xfrm>
            <a:off x="3081528" y="2980944"/>
            <a:ext cx="131673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Idempotente: No</a:t>
            </a:r>
          </a:p>
        </p:txBody>
      </p:sp>
      <p:sp>
        <p:nvSpPr>
          <p:cNvPr id="29" name="Rounded Rectangle 15">
            <a:extLst>
              <a:ext uri="{FF2B5EF4-FFF2-40B4-BE49-F238E27FC236}">
                <a16:creationId xmlns:a16="http://schemas.microsoft.com/office/drawing/2014/main" id="{2CB7AE73-23A5-622B-A3ED-651A54525775}"/>
              </a:ext>
            </a:extLst>
          </p:cNvPr>
          <p:cNvSpPr/>
          <p:nvPr/>
        </p:nvSpPr>
        <p:spPr>
          <a:xfrm>
            <a:off x="5029200" y="1645920"/>
            <a:ext cx="2084831" cy="22860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2463DA74-F2DD-C6AD-1CAD-1970E981B257}"/>
              </a:ext>
            </a:extLst>
          </p:cNvPr>
          <p:cNvSpPr txBox="1"/>
          <p:nvPr/>
        </p:nvSpPr>
        <p:spPr>
          <a:xfrm>
            <a:off x="5120640" y="1828800"/>
            <a:ext cx="1901952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2300" b="1" i="0">
                <a:solidFill>
                  <a:srgbClr val="2E7D32"/>
                </a:solidFill>
                <a:latin typeface="Arial"/>
              </a:rPr>
              <a:t>PUT</a:t>
            </a:r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14BC6665-426B-7735-CF96-61760045845C}"/>
              </a:ext>
            </a:extLst>
          </p:cNvPr>
          <p:cNvSpPr txBox="1"/>
          <p:nvPr/>
        </p:nvSpPr>
        <p:spPr>
          <a:xfrm>
            <a:off x="5120640" y="2331720"/>
            <a:ext cx="1901952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500" b="0" i="0">
                <a:solidFill>
                  <a:srgbClr val="212121"/>
                </a:solidFill>
                <a:latin typeface="Arial"/>
              </a:rPr>
              <a:t>Reemplazar</a:t>
            </a:r>
          </a:p>
        </p:txBody>
      </p:sp>
      <p:sp>
        <p:nvSpPr>
          <p:cNvPr id="35" name="Rounded Rectangle 18">
            <a:extLst>
              <a:ext uri="{FF2B5EF4-FFF2-40B4-BE49-F238E27FC236}">
                <a16:creationId xmlns:a16="http://schemas.microsoft.com/office/drawing/2014/main" id="{151669F3-4011-2F5D-8341-AECB1DF431D8}"/>
              </a:ext>
            </a:extLst>
          </p:cNvPr>
          <p:cNvSpPr/>
          <p:nvPr/>
        </p:nvSpPr>
        <p:spPr>
          <a:xfrm>
            <a:off x="5376672" y="2971800"/>
            <a:ext cx="1389888" cy="33832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9">
            <a:extLst>
              <a:ext uri="{FF2B5EF4-FFF2-40B4-BE49-F238E27FC236}">
                <a16:creationId xmlns:a16="http://schemas.microsoft.com/office/drawing/2014/main" id="{49FCEE87-38CB-F33F-FAB1-2E7380E8DF80}"/>
              </a:ext>
            </a:extLst>
          </p:cNvPr>
          <p:cNvSpPr txBox="1"/>
          <p:nvPr/>
        </p:nvSpPr>
        <p:spPr>
          <a:xfrm>
            <a:off x="5413248" y="2980944"/>
            <a:ext cx="131673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Idempotente: Sí</a:t>
            </a:r>
          </a:p>
        </p:txBody>
      </p:sp>
      <p:sp>
        <p:nvSpPr>
          <p:cNvPr id="39" name="Rounded Rectangle 20">
            <a:extLst>
              <a:ext uri="{FF2B5EF4-FFF2-40B4-BE49-F238E27FC236}">
                <a16:creationId xmlns:a16="http://schemas.microsoft.com/office/drawing/2014/main" id="{FF88D44C-49F2-4123-BCCE-660D6E1F8D94}"/>
              </a:ext>
            </a:extLst>
          </p:cNvPr>
          <p:cNvSpPr/>
          <p:nvPr/>
        </p:nvSpPr>
        <p:spPr>
          <a:xfrm>
            <a:off x="7360919" y="1645920"/>
            <a:ext cx="2084831" cy="2286000"/>
          </a:xfrm>
          <a:prstGeom prst="roundRect">
            <a:avLst/>
          </a:prstGeom>
          <a:solidFill>
            <a:srgbClr val="FFF8E1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683088A0-C892-F6B9-AE20-0C9E96827EB5}"/>
              </a:ext>
            </a:extLst>
          </p:cNvPr>
          <p:cNvSpPr txBox="1"/>
          <p:nvPr/>
        </p:nvSpPr>
        <p:spPr>
          <a:xfrm>
            <a:off x="7452359" y="1828800"/>
            <a:ext cx="1901952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2300" b="1" i="0">
                <a:solidFill>
                  <a:srgbClr val="EF6C00"/>
                </a:solidFill>
                <a:latin typeface="Arial"/>
              </a:rPr>
              <a:t>PATCH</a:t>
            </a: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23F52E13-C700-98EE-E4CB-7A0E1E615550}"/>
              </a:ext>
            </a:extLst>
          </p:cNvPr>
          <p:cNvSpPr txBox="1"/>
          <p:nvPr/>
        </p:nvSpPr>
        <p:spPr>
          <a:xfrm>
            <a:off x="7452359" y="2331720"/>
            <a:ext cx="1901952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500" b="0" i="0">
                <a:solidFill>
                  <a:srgbClr val="212121"/>
                </a:solidFill>
                <a:latin typeface="Arial"/>
              </a:rPr>
              <a:t>Modificar parcialmente</a:t>
            </a:r>
          </a:p>
        </p:txBody>
      </p:sp>
      <p:sp>
        <p:nvSpPr>
          <p:cNvPr id="45" name="Rounded Rectangle 23">
            <a:extLst>
              <a:ext uri="{FF2B5EF4-FFF2-40B4-BE49-F238E27FC236}">
                <a16:creationId xmlns:a16="http://schemas.microsoft.com/office/drawing/2014/main" id="{F253A2CE-93FF-A5A9-F19A-EB5CA739FBA9}"/>
              </a:ext>
            </a:extLst>
          </p:cNvPr>
          <p:cNvSpPr/>
          <p:nvPr/>
        </p:nvSpPr>
        <p:spPr>
          <a:xfrm>
            <a:off x="7708391" y="2971800"/>
            <a:ext cx="1389888" cy="338328"/>
          </a:xfrm>
          <a:prstGeom prst="round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24">
            <a:extLst>
              <a:ext uri="{FF2B5EF4-FFF2-40B4-BE49-F238E27FC236}">
                <a16:creationId xmlns:a16="http://schemas.microsoft.com/office/drawing/2014/main" id="{E50C5248-DB0F-B26B-04AD-6DA7D44241B3}"/>
              </a:ext>
            </a:extLst>
          </p:cNvPr>
          <p:cNvSpPr txBox="1"/>
          <p:nvPr/>
        </p:nvSpPr>
        <p:spPr>
          <a:xfrm>
            <a:off x="7744967" y="2980944"/>
            <a:ext cx="131673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Arial"/>
              </a:rPr>
              <a:t>Idempotente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: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Depende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Rounded Rectangle 25">
            <a:extLst>
              <a:ext uri="{FF2B5EF4-FFF2-40B4-BE49-F238E27FC236}">
                <a16:creationId xmlns:a16="http://schemas.microsoft.com/office/drawing/2014/main" id="{FD29D091-7962-7E23-7023-51BC02F3A4C9}"/>
              </a:ext>
            </a:extLst>
          </p:cNvPr>
          <p:cNvSpPr/>
          <p:nvPr/>
        </p:nvSpPr>
        <p:spPr>
          <a:xfrm>
            <a:off x="9692640" y="1645920"/>
            <a:ext cx="2084831" cy="2286000"/>
          </a:xfrm>
          <a:prstGeom prst="roundRect">
            <a:avLst/>
          </a:prstGeom>
          <a:solidFill>
            <a:srgbClr val="F3E5F5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B1065B93-78DA-C0A3-CD64-B27306643951}"/>
              </a:ext>
            </a:extLst>
          </p:cNvPr>
          <p:cNvSpPr txBox="1"/>
          <p:nvPr/>
        </p:nvSpPr>
        <p:spPr>
          <a:xfrm>
            <a:off x="9784080" y="1828800"/>
            <a:ext cx="1901952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2300" b="1" i="0">
                <a:solidFill>
                  <a:srgbClr val="6A1B9A"/>
                </a:solidFill>
                <a:latin typeface="Arial"/>
              </a:rPr>
              <a:t>DELETE</a:t>
            </a:r>
          </a:p>
        </p:txBody>
      </p:sp>
      <p:sp>
        <p:nvSpPr>
          <p:cNvPr id="53" name="TextBox 27">
            <a:extLst>
              <a:ext uri="{FF2B5EF4-FFF2-40B4-BE49-F238E27FC236}">
                <a16:creationId xmlns:a16="http://schemas.microsoft.com/office/drawing/2014/main" id="{522184CB-EC9A-67EC-FD2D-E34B3EA37C76}"/>
              </a:ext>
            </a:extLst>
          </p:cNvPr>
          <p:cNvSpPr txBox="1"/>
          <p:nvPr/>
        </p:nvSpPr>
        <p:spPr>
          <a:xfrm>
            <a:off x="9784080" y="2331720"/>
            <a:ext cx="1901952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500" b="0" i="0">
                <a:solidFill>
                  <a:srgbClr val="212121"/>
                </a:solidFill>
                <a:latin typeface="Arial"/>
              </a:rPr>
              <a:t>Eliminar</a:t>
            </a:r>
          </a:p>
        </p:txBody>
      </p:sp>
      <p:sp>
        <p:nvSpPr>
          <p:cNvPr id="55" name="Rounded Rectangle 28">
            <a:extLst>
              <a:ext uri="{FF2B5EF4-FFF2-40B4-BE49-F238E27FC236}">
                <a16:creationId xmlns:a16="http://schemas.microsoft.com/office/drawing/2014/main" id="{E90492A5-23E8-948D-25A1-2B3938CD9977}"/>
              </a:ext>
            </a:extLst>
          </p:cNvPr>
          <p:cNvSpPr/>
          <p:nvPr/>
        </p:nvSpPr>
        <p:spPr>
          <a:xfrm>
            <a:off x="10040112" y="2971800"/>
            <a:ext cx="1389888" cy="338328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29">
            <a:extLst>
              <a:ext uri="{FF2B5EF4-FFF2-40B4-BE49-F238E27FC236}">
                <a16:creationId xmlns:a16="http://schemas.microsoft.com/office/drawing/2014/main" id="{9CE8C645-9888-35E8-0023-EFFCF009BFEE}"/>
              </a:ext>
            </a:extLst>
          </p:cNvPr>
          <p:cNvSpPr txBox="1"/>
          <p:nvPr/>
        </p:nvSpPr>
        <p:spPr>
          <a:xfrm>
            <a:off x="10076688" y="2980944"/>
            <a:ext cx="131673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Idempotente: Sí</a:t>
            </a:r>
          </a:p>
        </p:txBody>
      </p:sp>
      <p:sp>
        <p:nvSpPr>
          <p:cNvPr id="59" name="TextBox 30">
            <a:extLst>
              <a:ext uri="{FF2B5EF4-FFF2-40B4-BE49-F238E27FC236}">
                <a16:creationId xmlns:a16="http://schemas.microsoft.com/office/drawing/2014/main" id="{72B4FF75-3B24-EE42-E659-2C5C788D424D}"/>
              </a:ext>
            </a:extLst>
          </p:cNvPr>
          <p:cNvSpPr txBox="1"/>
          <p:nvPr/>
        </p:nvSpPr>
        <p:spPr>
          <a:xfrm>
            <a:off x="960119" y="4297680"/>
            <a:ext cx="3913631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2000" b="1" i="0">
                <a:solidFill>
                  <a:srgbClr val="4E342E"/>
                </a:solidFill>
                <a:latin typeface="Arial"/>
              </a:rPr>
              <a:t>¿Qué significa idempotente?</a:t>
            </a:r>
          </a:p>
        </p:txBody>
      </p:sp>
      <p:sp>
        <p:nvSpPr>
          <p:cNvPr id="61" name="TextBox 31">
            <a:extLst>
              <a:ext uri="{FF2B5EF4-FFF2-40B4-BE49-F238E27FC236}">
                <a16:creationId xmlns:a16="http://schemas.microsoft.com/office/drawing/2014/main" id="{6E5FEE62-5455-53D1-F0C5-20AE4710737D}"/>
              </a:ext>
            </a:extLst>
          </p:cNvPr>
          <p:cNvSpPr txBox="1"/>
          <p:nvPr/>
        </p:nvSpPr>
        <p:spPr>
          <a:xfrm>
            <a:off x="960120" y="4800600"/>
            <a:ext cx="4507992" cy="595035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600" b="0" i="0" dirty="0" err="1">
                <a:solidFill>
                  <a:srgbClr val="212121"/>
                </a:solidFill>
                <a:latin typeface="Arial"/>
              </a:rPr>
              <a:t>Repetir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la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petición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produce el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mismo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efecto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final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sobre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los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datos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que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ejecutarla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una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sola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vez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  <p:sp>
        <p:nvSpPr>
          <p:cNvPr id="63" name="Rounded Rectangle 32">
            <a:extLst>
              <a:ext uri="{FF2B5EF4-FFF2-40B4-BE49-F238E27FC236}">
                <a16:creationId xmlns:a16="http://schemas.microsoft.com/office/drawing/2014/main" id="{25EB4947-4D8F-B64A-BCBD-3944B6F43670}"/>
              </a:ext>
            </a:extLst>
          </p:cNvPr>
          <p:cNvSpPr/>
          <p:nvPr/>
        </p:nvSpPr>
        <p:spPr>
          <a:xfrm>
            <a:off x="6019800" y="4242816"/>
            <a:ext cx="5212080" cy="1143000"/>
          </a:xfrm>
          <a:prstGeom prst="roundRect">
            <a:avLst/>
          </a:prstGeom>
          <a:solidFill>
            <a:srgbClr val="FFF3E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33">
            <a:extLst>
              <a:ext uri="{FF2B5EF4-FFF2-40B4-BE49-F238E27FC236}">
                <a16:creationId xmlns:a16="http://schemas.microsoft.com/office/drawing/2014/main" id="{464E3720-D5F4-600E-9F23-A42BC0ADA4C4}"/>
              </a:ext>
            </a:extLst>
          </p:cNvPr>
          <p:cNvSpPr txBox="1"/>
          <p:nvPr/>
        </p:nvSpPr>
        <p:spPr>
          <a:xfrm>
            <a:off x="6147816" y="4297680"/>
            <a:ext cx="4956048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 dirty="0" err="1">
                <a:solidFill>
                  <a:srgbClr val="4E342E"/>
                </a:solidFill>
                <a:latin typeface="Arial"/>
              </a:rPr>
              <a:t>Ejemplo</a:t>
            </a:r>
            <a:r>
              <a:rPr sz="1800" b="1" i="0" dirty="0">
                <a:solidFill>
                  <a:srgbClr val="4E342E"/>
                </a:solidFill>
                <a:latin typeface="Arial"/>
              </a:rPr>
              <a:t> con PATCH</a:t>
            </a:r>
          </a:p>
        </p:txBody>
      </p:sp>
      <p:sp>
        <p:nvSpPr>
          <p:cNvPr id="67" name="TextBox 34">
            <a:extLst>
              <a:ext uri="{FF2B5EF4-FFF2-40B4-BE49-F238E27FC236}">
                <a16:creationId xmlns:a16="http://schemas.microsoft.com/office/drawing/2014/main" id="{8A7AD348-BDD5-AF19-F622-BEF1158197A0}"/>
              </a:ext>
            </a:extLst>
          </p:cNvPr>
          <p:cNvSpPr txBox="1"/>
          <p:nvPr/>
        </p:nvSpPr>
        <p:spPr>
          <a:xfrm>
            <a:off x="6147816" y="4709160"/>
            <a:ext cx="4956048" cy="484632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400" b="0" i="0" dirty="0">
                <a:solidFill>
                  <a:srgbClr val="212121"/>
                </a:solidFill>
                <a:latin typeface="Arial"/>
              </a:rPr>
              <a:t>“Pon el </a:t>
            </a:r>
            <a:r>
              <a:rPr sz="1400" b="0" i="0" dirty="0" err="1">
                <a:solidFill>
                  <a:srgbClr val="212121"/>
                </a:solidFill>
                <a:latin typeface="Arial"/>
              </a:rPr>
              <a:t>precio</a:t>
            </a:r>
            <a:r>
              <a:rPr sz="14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212121"/>
                </a:solidFill>
                <a:latin typeface="Arial"/>
              </a:rPr>
              <a:t>en</a:t>
            </a:r>
            <a:r>
              <a:rPr sz="1400" b="0" i="0" dirty="0">
                <a:solidFill>
                  <a:srgbClr val="212121"/>
                </a:solidFill>
                <a:latin typeface="Arial"/>
              </a:rPr>
              <a:t> 19,95 €” </a:t>
            </a:r>
            <a:r>
              <a:rPr sz="1400" b="0" i="0" dirty="0" err="1">
                <a:solidFill>
                  <a:srgbClr val="212121"/>
                </a:solidFill>
                <a:latin typeface="Arial"/>
              </a:rPr>
              <a:t>puede</a:t>
            </a:r>
            <a:r>
              <a:rPr sz="1400" b="0" i="0" dirty="0">
                <a:solidFill>
                  <a:srgbClr val="212121"/>
                </a:solidFill>
                <a:latin typeface="Arial"/>
              </a:rPr>
              <a:t> ser </a:t>
            </a:r>
            <a:r>
              <a:rPr sz="1400" b="0" i="0" dirty="0" err="1">
                <a:solidFill>
                  <a:srgbClr val="212121"/>
                </a:solidFill>
                <a:latin typeface="Arial"/>
              </a:rPr>
              <a:t>idempotente</a:t>
            </a:r>
            <a:r>
              <a:rPr sz="1400" b="0" i="0" dirty="0">
                <a:solidFill>
                  <a:srgbClr val="212121"/>
                </a:solidFill>
                <a:latin typeface="Arial"/>
              </a:rPr>
              <a:t>. “</a:t>
            </a:r>
            <a:r>
              <a:rPr sz="1400" b="0" i="0" dirty="0" err="1">
                <a:solidFill>
                  <a:srgbClr val="212121"/>
                </a:solidFill>
                <a:latin typeface="Arial"/>
              </a:rPr>
              <a:t>Aumenta</a:t>
            </a:r>
            <a:r>
              <a:rPr sz="1400" b="0" i="0" dirty="0">
                <a:solidFill>
                  <a:srgbClr val="212121"/>
                </a:solidFill>
                <a:latin typeface="Arial"/>
              </a:rPr>
              <a:t> el </a:t>
            </a:r>
            <a:r>
              <a:rPr sz="1400" b="0" i="0" dirty="0" err="1">
                <a:solidFill>
                  <a:srgbClr val="212121"/>
                </a:solidFill>
                <a:latin typeface="Arial"/>
              </a:rPr>
              <a:t>precio</a:t>
            </a:r>
            <a:r>
              <a:rPr sz="14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212121"/>
                </a:solidFill>
                <a:latin typeface="Arial"/>
              </a:rPr>
              <a:t>en</a:t>
            </a:r>
            <a:r>
              <a:rPr sz="1400" b="0" i="0" dirty="0">
                <a:solidFill>
                  <a:srgbClr val="212121"/>
                </a:solidFill>
                <a:latin typeface="Arial"/>
              </a:rPr>
              <a:t> 5 €” no lo 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DDFB9-6FF2-A00B-1115-FDA3300BF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EB0A7D-74BA-2A16-6BEE-DA48A4887459}"/>
              </a:ext>
            </a:extLst>
          </p:cNvPr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204E40-3B7B-97EF-E761-ED9E93C8E64E}"/>
              </a:ext>
            </a:extLst>
          </p:cNvPr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dirty="0">
                <a:solidFill>
                  <a:srgbClr val="FFFFFF"/>
                </a:solidFill>
                <a:latin typeface="Arial"/>
              </a:rPr>
              <a:t>Una novedad del estándar: el método QUERY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CF8880-2941-68BF-A1F8-97C5646A5004}"/>
              </a:ext>
            </a:extLst>
          </p:cNvPr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BCFB29BE-5C21-8B89-C36B-A76C76910E8C}"/>
              </a:ext>
            </a:extLst>
          </p:cNvPr>
          <p:cNvSpPr/>
          <p:nvPr/>
        </p:nvSpPr>
        <p:spPr>
          <a:xfrm>
            <a:off x="777240" y="1234440"/>
            <a:ext cx="5074920" cy="2834640"/>
          </a:xfrm>
          <a:prstGeom prst="roundRect">
            <a:avLst/>
          </a:prstGeom>
          <a:solidFill>
            <a:srgbClr val="E3F2FD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7AE73465-4960-F672-D3C9-992F0C2792EF}"/>
              </a:ext>
            </a:extLst>
          </p:cNvPr>
          <p:cNvSpPr txBox="1"/>
          <p:nvPr/>
        </p:nvSpPr>
        <p:spPr>
          <a:xfrm>
            <a:off x="905256" y="1325880"/>
            <a:ext cx="4818888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>
                <a:solidFill>
                  <a:srgbClr val="1565C0"/>
                </a:solidFill>
                <a:latin typeface="Arial"/>
              </a:rPr>
              <a:t>¿Para qué sirve?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AE8C20B5-C7DA-39F7-412E-FA91473913C1}"/>
              </a:ext>
            </a:extLst>
          </p:cNvPr>
          <p:cNvSpPr txBox="1"/>
          <p:nvPr/>
        </p:nvSpPr>
        <p:spPr>
          <a:xfrm>
            <a:off x="905256" y="1783080"/>
            <a:ext cx="4818888" cy="1410643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rgbClr val="212121"/>
                </a:solidFill>
                <a:latin typeface="Arial"/>
              </a:rPr>
              <a:t>Pensado para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consultas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cuyos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criterios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son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demasiado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complejos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o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extensos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para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expresarlos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cómodamente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la URL. </a:t>
            </a:r>
            <a:endParaRPr lang="es-ES" sz="1600" b="0" i="0" dirty="0">
              <a:solidFill>
                <a:srgbClr val="212121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rgbClr val="212121"/>
                </a:solidFill>
                <a:latin typeface="Arial"/>
              </a:rPr>
              <a:t>El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cuerpo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puede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describir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la consulta,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por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ejemplo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JSON.</a:t>
            </a:r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70FDF85B-2760-CA42-7A5E-004344168F18}"/>
              </a:ext>
            </a:extLst>
          </p:cNvPr>
          <p:cNvSpPr/>
          <p:nvPr/>
        </p:nvSpPr>
        <p:spPr>
          <a:xfrm>
            <a:off x="6309360" y="1234440"/>
            <a:ext cx="5074920" cy="2834640"/>
          </a:xfrm>
          <a:prstGeom prst="roundRect">
            <a:avLst/>
          </a:prstGeom>
          <a:solidFill>
            <a:srgbClr val="FFF3E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A7B8B360-011E-7404-CCAA-E8C76F9E644E}"/>
              </a:ext>
            </a:extLst>
          </p:cNvPr>
          <p:cNvSpPr txBox="1"/>
          <p:nvPr/>
        </p:nvSpPr>
        <p:spPr>
          <a:xfrm>
            <a:off x="6437376" y="1325880"/>
            <a:ext cx="4818888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>
                <a:solidFill>
                  <a:srgbClr val="4E342E"/>
                </a:solidFill>
                <a:latin typeface="Arial"/>
              </a:rPr>
              <a:t>¿Lo usaremos aquí?</a:t>
            </a: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4AB4678F-D4C6-A066-4058-41F5FA111D03}"/>
              </a:ext>
            </a:extLst>
          </p:cNvPr>
          <p:cNvSpPr txBox="1"/>
          <p:nvPr/>
        </p:nvSpPr>
        <p:spPr>
          <a:xfrm>
            <a:off x="6437376" y="1783080"/>
            <a:ext cx="4818888" cy="2176272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600" b="0" i="0" dirty="0">
                <a:solidFill>
                  <a:srgbClr val="212121"/>
                </a:solidFill>
                <a:latin typeface="Arial"/>
              </a:rPr>
              <a:t>No. En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este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curso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las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consultas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se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implementarán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con GET y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parámetros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la URL,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porque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Spring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todavía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no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ofrece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soporte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directo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mediante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@QueryMapping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ni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RequestMethod.QUERY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  <p:sp>
        <p:nvSpPr>
          <p:cNvPr id="30" name="Rounded Rectangle 10">
            <a:extLst>
              <a:ext uri="{FF2B5EF4-FFF2-40B4-BE49-F238E27FC236}">
                <a16:creationId xmlns:a16="http://schemas.microsoft.com/office/drawing/2014/main" id="{3E929357-8C25-7686-C6AB-6C3CEFE477A0}"/>
              </a:ext>
            </a:extLst>
          </p:cNvPr>
          <p:cNvSpPr/>
          <p:nvPr/>
        </p:nvSpPr>
        <p:spPr>
          <a:xfrm>
            <a:off x="731520" y="5440680"/>
            <a:ext cx="10744200" cy="640080"/>
          </a:xfrm>
          <a:prstGeom prst="roundRect">
            <a:avLst/>
          </a:prstGeom>
          <a:solidFill>
            <a:srgbClr val="FFF3E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21151E83-F18C-A4CD-6894-E5548F801BD7}"/>
              </a:ext>
            </a:extLst>
          </p:cNvPr>
          <p:cNvSpPr txBox="1"/>
          <p:nvPr/>
        </p:nvSpPr>
        <p:spPr>
          <a:xfrm>
            <a:off x="841248" y="5486400"/>
            <a:ext cx="10524744" cy="548640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1600" b="0" i="0" dirty="0" err="1">
                <a:solidFill>
                  <a:srgbClr val="212121"/>
                </a:solidFill>
                <a:latin typeface="Arial"/>
              </a:rPr>
              <a:t>Conocer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que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existe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no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significa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tener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que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usarlo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: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nos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interesa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identificar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el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estándar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y, a la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vez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,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trabajar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con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herramientas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soportadas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por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el framework.</a:t>
            </a:r>
          </a:p>
        </p:txBody>
      </p:sp>
    </p:spTree>
    <p:extLst>
      <p:ext uri="{BB962C8B-B14F-4D97-AF65-F5344CB8AC3E}">
        <p14:creationId xmlns:p14="http://schemas.microsoft.com/office/powerpoint/2010/main" val="3325235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dirty="0">
                <a:solidFill>
                  <a:srgbClr val="FFFFFF"/>
                </a:solidFill>
                <a:latin typeface="Arial"/>
              </a:rPr>
              <a:t>Códigos de estado: la respuesta en tres cifras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33E240FC-C7E5-0E01-EAC6-0ADE09478CA3}"/>
              </a:ext>
            </a:extLst>
          </p:cNvPr>
          <p:cNvSpPr/>
          <p:nvPr/>
        </p:nvSpPr>
        <p:spPr>
          <a:xfrm>
            <a:off x="731520" y="1234440"/>
            <a:ext cx="3429000" cy="347472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98F5659B-8EBA-7641-2872-B0E21FD4FD76}"/>
              </a:ext>
            </a:extLst>
          </p:cNvPr>
          <p:cNvSpPr txBox="1"/>
          <p:nvPr/>
        </p:nvSpPr>
        <p:spPr>
          <a:xfrm>
            <a:off x="731520" y="1463040"/>
            <a:ext cx="3429000" cy="5486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3200" b="1" i="0">
                <a:solidFill>
                  <a:srgbClr val="2E7D32"/>
                </a:solidFill>
                <a:latin typeface="Arial"/>
              </a:rPr>
              <a:t>2xx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D1E20050-37C3-AB99-C486-741F5B9DE3B1}"/>
              </a:ext>
            </a:extLst>
          </p:cNvPr>
          <p:cNvSpPr txBox="1"/>
          <p:nvPr/>
        </p:nvSpPr>
        <p:spPr>
          <a:xfrm>
            <a:off x="868680" y="2148840"/>
            <a:ext cx="3154680" cy="4572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800" b="1" i="0">
                <a:solidFill>
                  <a:srgbClr val="212121"/>
                </a:solidFill>
                <a:latin typeface="Arial"/>
              </a:rPr>
              <a:t>Éxito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423E1E0B-5576-8A91-96B6-0BFA5AE7ED4F}"/>
              </a:ext>
            </a:extLst>
          </p:cNvPr>
          <p:cNvSpPr txBox="1"/>
          <p:nvPr/>
        </p:nvSpPr>
        <p:spPr>
          <a:xfrm>
            <a:off x="960120" y="2962205"/>
            <a:ext cx="2971800" cy="933589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18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 OK
201 Created
204 No Content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4DC79254-B179-270D-3B07-A94F99444DB4}"/>
              </a:ext>
            </a:extLst>
          </p:cNvPr>
          <p:cNvSpPr/>
          <p:nvPr/>
        </p:nvSpPr>
        <p:spPr>
          <a:xfrm>
            <a:off x="4526280" y="1234440"/>
            <a:ext cx="3429000" cy="3474720"/>
          </a:xfrm>
          <a:prstGeom prst="roundRect">
            <a:avLst/>
          </a:prstGeom>
          <a:solidFill>
            <a:srgbClr val="FFF8E1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73BC832C-95E2-1370-98AD-7CEF1626DCB4}"/>
              </a:ext>
            </a:extLst>
          </p:cNvPr>
          <p:cNvSpPr txBox="1"/>
          <p:nvPr/>
        </p:nvSpPr>
        <p:spPr>
          <a:xfrm>
            <a:off x="4526280" y="1463040"/>
            <a:ext cx="3429000" cy="5486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3200" b="1" i="0">
                <a:solidFill>
                  <a:srgbClr val="E65100"/>
                </a:solidFill>
                <a:latin typeface="Arial"/>
              </a:rPr>
              <a:t>4xx</a:t>
            </a: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A6A93EC2-EE6B-EB31-33A2-A0E3BB415247}"/>
              </a:ext>
            </a:extLst>
          </p:cNvPr>
          <p:cNvSpPr txBox="1"/>
          <p:nvPr/>
        </p:nvSpPr>
        <p:spPr>
          <a:xfrm>
            <a:off x="4663440" y="2148840"/>
            <a:ext cx="3154680" cy="4572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800" b="1" i="0">
                <a:solidFill>
                  <a:srgbClr val="212121"/>
                </a:solidFill>
                <a:latin typeface="Arial"/>
              </a:rPr>
              <a:t>Problema en la petición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A4F987A3-4E37-0325-F184-5A2927C67937}"/>
              </a:ext>
            </a:extLst>
          </p:cNvPr>
          <p:cNvSpPr txBox="1"/>
          <p:nvPr/>
        </p:nvSpPr>
        <p:spPr>
          <a:xfrm>
            <a:off x="4754880" y="2962205"/>
            <a:ext cx="2971800" cy="933589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18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400 Bad Request
401 / 403
404 Not Found</a:t>
            </a:r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36785A15-BBB6-2F30-19B8-35C0309EEFEF}"/>
              </a:ext>
            </a:extLst>
          </p:cNvPr>
          <p:cNvSpPr/>
          <p:nvPr/>
        </p:nvSpPr>
        <p:spPr>
          <a:xfrm>
            <a:off x="8321040" y="1234440"/>
            <a:ext cx="3429000" cy="347472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80FD2759-D4F9-AB4C-08C2-045FAF1D7CDC}"/>
              </a:ext>
            </a:extLst>
          </p:cNvPr>
          <p:cNvSpPr txBox="1"/>
          <p:nvPr/>
        </p:nvSpPr>
        <p:spPr>
          <a:xfrm>
            <a:off x="8321040" y="1463040"/>
            <a:ext cx="3429000" cy="5486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3200" b="1" i="0">
                <a:solidFill>
                  <a:srgbClr val="C62828"/>
                </a:solidFill>
                <a:latin typeface="Arial"/>
              </a:rPr>
              <a:t>5xx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7A68144D-85C4-3E5F-76BD-7DA12C82AB86}"/>
              </a:ext>
            </a:extLst>
          </p:cNvPr>
          <p:cNvSpPr txBox="1"/>
          <p:nvPr/>
        </p:nvSpPr>
        <p:spPr>
          <a:xfrm>
            <a:off x="8458200" y="2148840"/>
            <a:ext cx="3154680" cy="4572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800" b="1" i="0">
                <a:solidFill>
                  <a:srgbClr val="212121"/>
                </a:solidFill>
                <a:latin typeface="Arial"/>
              </a:rPr>
              <a:t>Problema en el servidor</a:t>
            </a: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97005F12-7B9F-AB3F-9D62-70505B80DBAD}"/>
              </a:ext>
            </a:extLst>
          </p:cNvPr>
          <p:cNvSpPr txBox="1"/>
          <p:nvPr/>
        </p:nvSpPr>
        <p:spPr>
          <a:xfrm>
            <a:off x="8549640" y="3100705"/>
            <a:ext cx="2971800" cy="656590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500 Internal Server Error</a:t>
            </a:r>
          </a:p>
        </p:txBody>
      </p:sp>
      <p:sp>
        <p:nvSpPr>
          <p:cNvPr id="31" name="Rounded Rectangle 16">
            <a:extLst>
              <a:ext uri="{FF2B5EF4-FFF2-40B4-BE49-F238E27FC236}">
                <a16:creationId xmlns:a16="http://schemas.microsoft.com/office/drawing/2014/main" id="{BE7C384D-4EF0-E222-2590-D9818CD98A21}"/>
              </a:ext>
            </a:extLst>
          </p:cNvPr>
          <p:cNvSpPr/>
          <p:nvPr/>
        </p:nvSpPr>
        <p:spPr>
          <a:xfrm>
            <a:off x="731520" y="5440680"/>
            <a:ext cx="10744200" cy="640080"/>
          </a:xfrm>
          <a:prstGeom prst="roundRect">
            <a:avLst/>
          </a:prstGeom>
          <a:solidFill>
            <a:srgbClr val="FFF3E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EFCA4DFD-FA21-245F-7D4B-71B8159A53A0}"/>
              </a:ext>
            </a:extLst>
          </p:cNvPr>
          <p:cNvSpPr txBox="1"/>
          <p:nvPr/>
        </p:nvSpPr>
        <p:spPr>
          <a:xfrm>
            <a:off x="841248" y="5586313"/>
            <a:ext cx="10524744" cy="348813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1600" b="0" i="0" dirty="0">
                <a:solidFill>
                  <a:srgbClr val="212121"/>
                </a:solidFill>
                <a:latin typeface="Arial"/>
              </a:rPr>
              <a:t>No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hace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falta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memorizar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todos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los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códigos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: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aprende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a leer la familia y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reconoce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los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lang="es-ES" sz="1600" b="0" i="0" dirty="0">
                <a:solidFill>
                  <a:srgbClr val="212121"/>
                </a:solidFill>
                <a:latin typeface="Arial"/>
              </a:rPr>
              <a:t>habituales.</a:t>
            </a:r>
            <a:endParaRPr sz="1600" b="0" i="0" dirty="0">
              <a:solidFill>
                <a:srgbClr val="21212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dirty="0">
                <a:solidFill>
                  <a:srgbClr val="FFFFFF"/>
                </a:solidFill>
                <a:latin typeface="Arial"/>
              </a:rPr>
              <a:t>JSON como formato del cuerpo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31686ECB-9FD2-A7AC-32DE-CF0ED2B14C44}"/>
              </a:ext>
            </a:extLst>
          </p:cNvPr>
          <p:cNvSpPr txBox="1"/>
          <p:nvPr/>
        </p:nvSpPr>
        <p:spPr>
          <a:xfrm>
            <a:off x="731520" y="1175004"/>
            <a:ext cx="4572000" cy="82296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2000" b="0" i="0" dirty="0">
                <a:solidFill>
                  <a:srgbClr val="212121"/>
                </a:solidFill>
                <a:latin typeface="Arial"/>
              </a:rPr>
              <a:t>En las APIs </a:t>
            </a:r>
            <a:r>
              <a:rPr sz="2000" b="0" i="0" dirty="0" err="1">
                <a:solidFill>
                  <a:srgbClr val="212121"/>
                </a:solidFill>
                <a:latin typeface="Arial"/>
              </a:rPr>
              <a:t>modernas</a:t>
            </a:r>
            <a:r>
              <a:rPr sz="2000" b="0" i="0" dirty="0">
                <a:solidFill>
                  <a:srgbClr val="212121"/>
                </a:solidFill>
                <a:latin typeface="Arial"/>
              </a:rPr>
              <a:t>, JSON es el </a:t>
            </a:r>
            <a:r>
              <a:rPr sz="2000" b="0" i="0" dirty="0" err="1">
                <a:solidFill>
                  <a:srgbClr val="212121"/>
                </a:solidFill>
                <a:latin typeface="Arial"/>
              </a:rPr>
              <a:t>formato</a:t>
            </a:r>
            <a:r>
              <a:rPr sz="2000" b="0" i="0" dirty="0">
                <a:solidFill>
                  <a:srgbClr val="212121"/>
                </a:solidFill>
                <a:latin typeface="Arial"/>
              </a:rPr>
              <a:t> habitual para </a:t>
            </a:r>
            <a:r>
              <a:rPr sz="2000" b="0" i="0" dirty="0" err="1">
                <a:solidFill>
                  <a:srgbClr val="212121"/>
                </a:solidFill>
                <a:latin typeface="Arial"/>
              </a:rPr>
              <a:t>representar</a:t>
            </a:r>
            <a:r>
              <a:rPr sz="20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12121"/>
                </a:solidFill>
                <a:latin typeface="Arial"/>
              </a:rPr>
              <a:t>datos</a:t>
            </a:r>
            <a:r>
              <a:rPr sz="20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12121"/>
                </a:solidFill>
                <a:latin typeface="Arial"/>
              </a:rPr>
              <a:t>dentro</a:t>
            </a:r>
            <a:r>
              <a:rPr sz="2000" b="0" i="0" dirty="0">
                <a:solidFill>
                  <a:srgbClr val="212121"/>
                </a:solidFill>
                <a:latin typeface="Arial"/>
              </a:rPr>
              <a:t> del </a:t>
            </a:r>
            <a:r>
              <a:rPr sz="2000" b="0" i="0" dirty="0" err="1">
                <a:solidFill>
                  <a:srgbClr val="212121"/>
                </a:solidFill>
                <a:latin typeface="Arial"/>
              </a:rPr>
              <a:t>cuerpo</a:t>
            </a:r>
            <a:r>
              <a:rPr sz="2000" b="0" i="0" dirty="0">
                <a:solidFill>
                  <a:srgbClr val="212121"/>
                </a:solidFill>
                <a:latin typeface="Arial"/>
              </a:rPr>
              <a:t> HTTP.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68B846B7-56F8-2FB1-284F-0A0CA34B0F44}"/>
              </a:ext>
            </a:extLst>
          </p:cNvPr>
          <p:cNvSpPr/>
          <p:nvPr/>
        </p:nvSpPr>
        <p:spPr>
          <a:xfrm>
            <a:off x="731520" y="2322575"/>
            <a:ext cx="5029200" cy="2537461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9C114BA2-593E-15B6-76BA-8B267C025C3B}"/>
              </a:ext>
            </a:extLst>
          </p:cNvPr>
          <p:cNvSpPr txBox="1"/>
          <p:nvPr/>
        </p:nvSpPr>
        <p:spPr>
          <a:xfrm>
            <a:off x="1027175" y="2701820"/>
            <a:ext cx="4815739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
  "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titulo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"El 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nombre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del 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viento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
  "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19.95,
  "editorial": {
    "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nombre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"Plaza &amp; 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Janés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
  }
}</a:t>
            </a:r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A3BECFB2-9F87-9298-FE1B-D9E4073DFDFE}"/>
              </a:ext>
            </a:extLst>
          </p:cNvPr>
          <p:cNvSpPr/>
          <p:nvPr/>
        </p:nvSpPr>
        <p:spPr>
          <a:xfrm>
            <a:off x="6263640" y="1417320"/>
            <a:ext cx="5029200" cy="1234440"/>
          </a:xfrm>
          <a:prstGeom prst="roundRect">
            <a:avLst/>
          </a:prstGeom>
          <a:solidFill>
            <a:srgbClr val="E3F2FD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BAD98674-CBAF-9540-34C8-030939B14941}"/>
              </a:ext>
            </a:extLst>
          </p:cNvPr>
          <p:cNvSpPr txBox="1"/>
          <p:nvPr/>
        </p:nvSpPr>
        <p:spPr>
          <a:xfrm>
            <a:off x="6391656" y="1508760"/>
            <a:ext cx="4773168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 dirty="0">
                <a:solidFill>
                  <a:srgbClr val="1565C0"/>
                </a:solidFill>
                <a:latin typeface="Arial"/>
              </a:rPr>
              <a:t>Pares clave-valor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E831C73F-1E9F-0250-D5B2-4B9DCD17E71B}"/>
              </a:ext>
            </a:extLst>
          </p:cNvPr>
          <p:cNvSpPr txBox="1"/>
          <p:nvPr/>
        </p:nvSpPr>
        <p:spPr>
          <a:xfrm>
            <a:off x="6391656" y="1965960"/>
            <a:ext cx="4773168" cy="348813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600" b="0" i="0" dirty="0">
                <a:solidFill>
                  <a:srgbClr val="212121"/>
                </a:solidFill>
                <a:latin typeface="Arial"/>
              </a:rPr>
              <a:t>Cada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dato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tiene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un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nombre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y un valor.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670B1DD8-49BB-26A7-AF23-A885150C8BAC}"/>
              </a:ext>
            </a:extLst>
          </p:cNvPr>
          <p:cNvSpPr/>
          <p:nvPr/>
        </p:nvSpPr>
        <p:spPr>
          <a:xfrm>
            <a:off x="6263640" y="2788920"/>
            <a:ext cx="5029200" cy="1234440"/>
          </a:xfrm>
          <a:prstGeom prst="roundRect">
            <a:avLst/>
          </a:prstGeom>
          <a:solidFill>
            <a:srgbClr val="E8F5E9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353D3554-3052-707A-86B1-1A0406229092}"/>
              </a:ext>
            </a:extLst>
          </p:cNvPr>
          <p:cNvSpPr txBox="1"/>
          <p:nvPr/>
        </p:nvSpPr>
        <p:spPr>
          <a:xfrm>
            <a:off x="6391656" y="2880360"/>
            <a:ext cx="4773168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Arial"/>
              </a:rPr>
              <a:t>Puede anidarse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22B0D2B2-B441-DEE0-0A46-B7CEA30035B3}"/>
              </a:ext>
            </a:extLst>
          </p:cNvPr>
          <p:cNvSpPr txBox="1"/>
          <p:nvPr/>
        </p:nvSpPr>
        <p:spPr>
          <a:xfrm>
            <a:off x="6391656" y="3337560"/>
            <a:ext cx="4773168" cy="348813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600" b="0" i="0" dirty="0">
                <a:solidFill>
                  <a:srgbClr val="212121"/>
                </a:solidFill>
                <a:latin typeface="Arial"/>
              </a:rPr>
              <a:t>Un valor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puede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ser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otro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objeto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,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como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editorial.</a:t>
            </a:r>
          </a:p>
        </p:txBody>
      </p:sp>
      <p:sp>
        <p:nvSpPr>
          <p:cNvPr id="29" name="Rounded Rectangle 13">
            <a:extLst>
              <a:ext uri="{FF2B5EF4-FFF2-40B4-BE49-F238E27FC236}">
                <a16:creationId xmlns:a16="http://schemas.microsoft.com/office/drawing/2014/main" id="{BE687EDC-CA02-45AE-9F9C-3FAAD902614D}"/>
              </a:ext>
            </a:extLst>
          </p:cNvPr>
          <p:cNvSpPr/>
          <p:nvPr/>
        </p:nvSpPr>
        <p:spPr>
          <a:xfrm>
            <a:off x="6263640" y="4160520"/>
            <a:ext cx="5029200" cy="1234440"/>
          </a:xfrm>
          <a:prstGeom prst="roundRect">
            <a:avLst/>
          </a:prstGeom>
          <a:solidFill>
            <a:srgbClr val="FFF3E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8323E478-D347-8ECB-1659-CA2B6EE4CC9F}"/>
              </a:ext>
            </a:extLst>
          </p:cNvPr>
          <p:cNvSpPr txBox="1"/>
          <p:nvPr/>
        </p:nvSpPr>
        <p:spPr>
          <a:xfrm>
            <a:off x="6391656" y="4251960"/>
            <a:ext cx="4773168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>
                <a:solidFill>
                  <a:srgbClr val="4E342E"/>
                </a:solidFill>
                <a:latin typeface="Arial"/>
              </a:rPr>
              <a:t>Aquí solo lo reconocerás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1703B633-CAB5-D84F-5A12-6D63C8657746}"/>
              </a:ext>
            </a:extLst>
          </p:cNvPr>
          <p:cNvSpPr txBox="1"/>
          <p:nvPr/>
        </p:nvSpPr>
        <p:spPr>
          <a:xfrm>
            <a:off x="6391656" y="4709160"/>
            <a:ext cx="4773168" cy="595035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  <a:latin typeface="Arial"/>
              </a:rPr>
              <a:t>Lo usarás de forma práctica al construir peticiones en la actividad.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dirty="0">
                <a:solidFill>
                  <a:srgbClr val="FFFFFF"/>
                </a:solidFill>
                <a:latin typeface="Arial"/>
              </a:rPr>
              <a:t>API + REST: recursos, rutas y verbos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B795D11C-1A23-B745-B6A3-3F5EDACAE213}"/>
              </a:ext>
            </a:extLst>
          </p:cNvPr>
          <p:cNvSpPr/>
          <p:nvPr/>
        </p:nvSpPr>
        <p:spPr>
          <a:xfrm>
            <a:off x="685800" y="1143000"/>
            <a:ext cx="5303520" cy="1536192"/>
          </a:xfrm>
          <a:prstGeom prst="roundRect">
            <a:avLst/>
          </a:prstGeom>
          <a:solidFill>
            <a:srgbClr val="E3F2FD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BF2C2E32-8D31-892B-3382-4926D7DC52BB}"/>
              </a:ext>
            </a:extLst>
          </p:cNvPr>
          <p:cNvSpPr txBox="1"/>
          <p:nvPr/>
        </p:nvSpPr>
        <p:spPr>
          <a:xfrm>
            <a:off x="813816" y="1234440"/>
            <a:ext cx="5047488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>
                <a:solidFill>
                  <a:srgbClr val="1565C0"/>
                </a:solidFill>
                <a:latin typeface="Arial"/>
              </a:rPr>
              <a:t>API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98BEF39F-FB6C-469E-E465-FC2590D8943D}"/>
              </a:ext>
            </a:extLst>
          </p:cNvPr>
          <p:cNvSpPr txBox="1"/>
          <p:nvPr/>
        </p:nvSpPr>
        <p:spPr>
          <a:xfrm>
            <a:off x="813816" y="1691640"/>
            <a:ext cx="5047488" cy="841256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600" b="0" i="0" dirty="0">
                <a:solidFill>
                  <a:srgbClr val="212121"/>
                </a:solidFill>
                <a:latin typeface="Arial"/>
              </a:rPr>
              <a:t>Conjunto de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operaciones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que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una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aplicación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expone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para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que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otros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programas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puedan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utilizarla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sin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conocer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su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implementación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interna.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31E93C22-EB90-6BF9-2836-4B0A9B634720}"/>
              </a:ext>
            </a:extLst>
          </p:cNvPr>
          <p:cNvSpPr/>
          <p:nvPr/>
        </p:nvSpPr>
        <p:spPr>
          <a:xfrm>
            <a:off x="6217920" y="1143000"/>
            <a:ext cx="5303520" cy="1536192"/>
          </a:xfrm>
          <a:prstGeom prst="roundRect">
            <a:avLst/>
          </a:prstGeom>
          <a:solidFill>
            <a:srgbClr val="E8F5E9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ADEE4360-4A03-C056-B090-3448DE500147}"/>
              </a:ext>
            </a:extLst>
          </p:cNvPr>
          <p:cNvSpPr txBox="1"/>
          <p:nvPr/>
        </p:nvSpPr>
        <p:spPr>
          <a:xfrm>
            <a:off x="6345936" y="1234440"/>
            <a:ext cx="5047488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Arial"/>
              </a:rPr>
              <a:t>REST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74A64E83-BE79-17B6-D6D6-B6EB72213B32}"/>
              </a:ext>
            </a:extLst>
          </p:cNvPr>
          <p:cNvSpPr txBox="1"/>
          <p:nvPr/>
        </p:nvSpPr>
        <p:spPr>
          <a:xfrm>
            <a:off x="6345936" y="1691640"/>
            <a:ext cx="5047488" cy="841256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600" b="0" i="0" dirty="0">
                <a:solidFill>
                  <a:srgbClr val="212121"/>
                </a:solidFill>
                <a:latin typeface="Arial"/>
              </a:rPr>
              <a:t>Estilo para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diseñar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APIs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sobre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HTTP: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modela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los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datos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como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recursos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identificados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por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URL y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usa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verbos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HTTP para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operar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sobre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ellos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F7F3C681-3D74-5D7E-C54E-26E5B4E5B949}"/>
              </a:ext>
            </a:extLst>
          </p:cNvPr>
          <p:cNvSpPr/>
          <p:nvPr/>
        </p:nvSpPr>
        <p:spPr>
          <a:xfrm>
            <a:off x="914400" y="2971800"/>
            <a:ext cx="1143000" cy="338328"/>
          </a:xfrm>
          <a:prstGeom prst="round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0D3C486A-317C-C2AB-0801-A0B8346F83B5}"/>
              </a:ext>
            </a:extLst>
          </p:cNvPr>
          <p:cNvSpPr txBox="1"/>
          <p:nvPr/>
        </p:nvSpPr>
        <p:spPr>
          <a:xfrm>
            <a:off x="950976" y="3014954"/>
            <a:ext cx="106984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0A2646E1-40B4-D37B-32B6-80AE138EE94F}"/>
              </a:ext>
            </a:extLst>
          </p:cNvPr>
          <p:cNvSpPr txBox="1"/>
          <p:nvPr/>
        </p:nvSpPr>
        <p:spPr>
          <a:xfrm>
            <a:off x="2240280" y="2948270"/>
            <a:ext cx="2926080" cy="348813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  <a:latin typeface="Consolas"/>
              </a:rPr>
              <a:t>/libros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26E4F81D-6D2E-F0CD-AB57-A0BAFAF9F8A3}"/>
              </a:ext>
            </a:extLst>
          </p:cNvPr>
          <p:cNvSpPr txBox="1"/>
          <p:nvPr/>
        </p:nvSpPr>
        <p:spPr>
          <a:xfrm>
            <a:off x="5486400" y="2948270"/>
            <a:ext cx="1828800" cy="348813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757575"/>
                </a:solidFill>
                <a:latin typeface="Arial"/>
              </a:rPr>
              <a:t>listar</a:t>
            </a:r>
            <a:endParaRPr sz="1600" b="0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DB08860B-CDC1-2494-97A2-D6401F7CD0E9}"/>
              </a:ext>
            </a:extLst>
          </p:cNvPr>
          <p:cNvSpPr/>
          <p:nvPr/>
        </p:nvSpPr>
        <p:spPr>
          <a:xfrm>
            <a:off x="914400" y="3401568"/>
            <a:ext cx="1143000" cy="338328"/>
          </a:xfrm>
          <a:prstGeom prst="round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C488DCBE-BA71-5DCB-9650-7E827C83EC00}"/>
              </a:ext>
            </a:extLst>
          </p:cNvPr>
          <p:cNvSpPr txBox="1"/>
          <p:nvPr/>
        </p:nvSpPr>
        <p:spPr>
          <a:xfrm>
            <a:off x="950976" y="3444722"/>
            <a:ext cx="106984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D36FF1B1-ED93-C255-F03E-67DCEFAC3356}"/>
              </a:ext>
            </a:extLst>
          </p:cNvPr>
          <p:cNvSpPr txBox="1"/>
          <p:nvPr/>
        </p:nvSpPr>
        <p:spPr>
          <a:xfrm>
            <a:off x="2240280" y="3378038"/>
            <a:ext cx="2926080" cy="348813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  <a:latin typeface="Consolas"/>
              </a:rPr>
              <a:t>/libros/3</a:t>
            </a: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AFEAF046-6304-822D-6146-76B30E031829}"/>
              </a:ext>
            </a:extLst>
          </p:cNvPr>
          <p:cNvSpPr txBox="1"/>
          <p:nvPr/>
        </p:nvSpPr>
        <p:spPr>
          <a:xfrm>
            <a:off x="5486400" y="3378038"/>
            <a:ext cx="1828800" cy="348813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600" b="0" i="0">
                <a:solidFill>
                  <a:srgbClr val="757575"/>
                </a:solidFill>
                <a:latin typeface="Arial"/>
              </a:rPr>
              <a:t>leer uno</a:t>
            </a:r>
          </a:p>
        </p:txBody>
      </p:sp>
      <p:sp>
        <p:nvSpPr>
          <p:cNvPr id="37" name="Rounded Rectangle 18">
            <a:extLst>
              <a:ext uri="{FF2B5EF4-FFF2-40B4-BE49-F238E27FC236}">
                <a16:creationId xmlns:a16="http://schemas.microsoft.com/office/drawing/2014/main" id="{F53D1BCD-0056-FE11-1CAF-1EE81088FF91}"/>
              </a:ext>
            </a:extLst>
          </p:cNvPr>
          <p:cNvSpPr/>
          <p:nvPr/>
        </p:nvSpPr>
        <p:spPr>
          <a:xfrm>
            <a:off x="914400" y="3831335"/>
            <a:ext cx="1143000" cy="33832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B3963A35-DEF5-C88E-C970-06323E9283F5}"/>
              </a:ext>
            </a:extLst>
          </p:cNvPr>
          <p:cNvSpPr txBox="1"/>
          <p:nvPr/>
        </p:nvSpPr>
        <p:spPr>
          <a:xfrm>
            <a:off x="950976" y="3874489"/>
            <a:ext cx="106984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POST</a:t>
            </a: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B76AEA3A-D660-F473-004E-12B099FAF57C}"/>
              </a:ext>
            </a:extLst>
          </p:cNvPr>
          <p:cNvSpPr txBox="1"/>
          <p:nvPr/>
        </p:nvSpPr>
        <p:spPr>
          <a:xfrm>
            <a:off x="2240280" y="3807805"/>
            <a:ext cx="2926080" cy="348813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  <a:latin typeface="Consolas"/>
              </a:rPr>
              <a:t>/libros</a:t>
            </a:r>
          </a:p>
        </p:txBody>
      </p:sp>
      <p:sp>
        <p:nvSpPr>
          <p:cNvPr id="43" name="TextBox 21">
            <a:extLst>
              <a:ext uri="{FF2B5EF4-FFF2-40B4-BE49-F238E27FC236}">
                <a16:creationId xmlns:a16="http://schemas.microsoft.com/office/drawing/2014/main" id="{E97A4BFB-424B-D4B9-86BE-828A4DDD8DB0}"/>
              </a:ext>
            </a:extLst>
          </p:cNvPr>
          <p:cNvSpPr txBox="1"/>
          <p:nvPr/>
        </p:nvSpPr>
        <p:spPr>
          <a:xfrm>
            <a:off x="5486400" y="3807805"/>
            <a:ext cx="1828800" cy="348813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600" b="0" i="0">
                <a:solidFill>
                  <a:srgbClr val="757575"/>
                </a:solidFill>
                <a:latin typeface="Arial"/>
              </a:rPr>
              <a:t>crear</a:t>
            </a:r>
          </a:p>
        </p:txBody>
      </p:sp>
      <p:sp>
        <p:nvSpPr>
          <p:cNvPr id="45" name="Rounded Rectangle 22">
            <a:extLst>
              <a:ext uri="{FF2B5EF4-FFF2-40B4-BE49-F238E27FC236}">
                <a16:creationId xmlns:a16="http://schemas.microsoft.com/office/drawing/2014/main" id="{CC7E82EA-BB12-0F44-0A16-A81C9243862F}"/>
              </a:ext>
            </a:extLst>
          </p:cNvPr>
          <p:cNvSpPr/>
          <p:nvPr/>
        </p:nvSpPr>
        <p:spPr>
          <a:xfrm>
            <a:off x="914400" y="4261104"/>
            <a:ext cx="1143000" cy="33832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25653A6D-DF5A-732A-0069-E177448BCAE5}"/>
              </a:ext>
            </a:extLst>
          </p:cNvPr>
          <p:cNvSpPr txBox="1"/>
          <p:nvPr/>
        </p:nvSpPr>
        <p:spPr>
          <a:xfrm>
            <a:off x="950976" y="4304258"/>
            <a:ext cx="106984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PUT</a:t>
            </a:r>
          </a:p>
        </p:txBody>
      </p:sp>
      <p:sp>
        <p:nvSpPr>
          <p:cNvPr id="49" name="TextBox 24">
            <a:extLst>
              <a:ext uri="{FF2B5EF4-FFF2-40B4-BE49-F238E27FC236}">
                <a16:creationId xmlns:a16="http://schemas.microsoft.com/office/drawing/2014/main" id="{B0657314-75D3-3B27-A404-BEF361114B06}"/>
              </a:ext>
            </a:extLst>
          </p:cNvPr>
          <p:cNvSpPr txBox="1"/>
          <p:nvPr/>
        </p:nvSpPr>
        <p:spPr>
          <a:xfrm>
            <a:off x="2240280" y="4237574"/>
            <a:ext cx="2926080" cy="348813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  <a:latin typeface="Consolas"/>
              </a:rPr>
              <a:t>/libros/3</a:t>
            </a:r>
          </a:p>
        </p:txBody>
      </p:sp>
      <p:sp>
        <p:nvSpPr>
          <p:cNvPr id="51" name="TextBox 25">
            <a:extLst>
              <a:ext uri="{FF2B5EF4-FFF2-40B4-BE49-F238E27FC236}">
                <a16:creationId xmlns:a16="http://schemas.microsoft.com/office/drawing/2014/main" id="{5CC51F79-B109-D925-9E4A-11615FFEB0DE}"/>
              </a:ext>
            </a:extLst>
          </p:cNvPr>
          <p:cNvSpPr txBox="1"/>
          <p:nvPr/>
        </p:nvSpPr>
        <p:spPr>
          <a:xfrm>
            <a:off x="5486400" y="4237574"/>
            <a:ext cx="1828800" cy="348813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600" b="0" i="0">
                <a:solidFill>
                  <a:srgbClr val="757575"/>
                </a:solidFill>
                <a:latin typeface="Arial"/>
              </a:rPr>
              <a:t>reemplazar</a:t>
            </a:r>
          </a:p>
        </p:txBody>
      </p:sp>
      <p:sp>
        <p:nvSpPr>
          <p:cNvPr id="53" name="Rounded Rectangle 26">
            <a:extLst>
              <a:ext uri="{FF2B5EF4-FFF2-40B4-BE49-F238E27FC236}">
                <a16:creationId xmlns:a16="http://schemas.microsoft.com/office/drawing/2014/main" id="{FC94ABDF-BDF7-B7E6-493A-E65D7EB32156}"/>
              </a:ext>
            </a:extLst>
          </p:cNvPr>
          <p:cNvSpPr/>
          <p:nvPr/>
        </p:nvSpPr>
        <p:spPr>
          <a:xfrm>
            <a:off x="914400" y="4690872"/>
            <a:ext cx="1143000" cy="338328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27">
            <a:extLst>
              <a:ext uri="{FF2B5EF4-FFF2-40B4-BE49-F238E27FC236}">
                <a16:creationId xmlns:a16="http://schemas.microsoft.com/office/drawing/2014/main" id="{01E2721A-96D5-F1A3-EB76-19DE3046DD7E}"/>
              </a:ext>
            </a:extLst>
          </p:cNvPr>
          <p:cNvSpPr txBox="1"/>
          <p:nvPr/>
        </p:nvSpPr>
        <p:spPr>
          <a:xfrm>
            <a:off x="950976" y="4734026"/>
            <a:ext cx="106984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DELETE</a:t>
            </a:r>
          </a:p>
        </p:txBody>
      </p:sp>
      <p:sp>
        <p:nvSpPr>
          <p:cNvPr id="57" name="TextBox 28">
            <a:extLst>
              <a:ext uri="{FF2B5EF4-FFF2-40B4-BE49-F238E27FC236}">
                <a16:creationId xmlns:a16="http://schemas.microsoft.com/office/drawing/2014/main" id="{4BF5568F-BD91-485A-B7E2-3A1158EE01C0}"/>
              </a:ext>
            </a:extLst>
          </p:cNvPr>
          <p:cNvSpPr txBox="1"/>
          <p:nvPr/>
        </p:nvSpPr>
        <p:spPr>
          <a:xfrm>
            <a:off x="2240280" y="4667342"/>
            <a:ext cx="2926080" cy="348813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  <a:latin typeface="Consolas"/>
              </a:rPr>
              <a:t>/libros/3</a:t>
            </a:r>
          </a:p>
        </p:txBody>
      </p:sp>
      <p:sp>
        <p:nvSpPr>
          <p:cNvPr id="59" name="TextBox 29">
            <a:extLst>
              <a:ext uri="{FF2B5EF4-FFF2-40B4-BE49-F238E27FC236}">
                <a16:creationId xmlns:a16="http://schemas.microsoft.com/office/drawing/2014/main" id="{2FAD8400-7CDB-6B9B-7584-40E6E5478F15}"/>
              </a:ext>
            </a:extLst>
          </p:cNvPr>
          <p:cNvSpPr txBox="1"/>
          <p:nvPr/>
        </p:nvSpPr>
        <p:spPr>
          <a:xfrm>
            <a:off x="5486400" y="4667342"/>
            <a:ext cx="1828800" cy="348813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600" b="0" i="0">
                <a:solidFill>
                  <a:srgbClr val="757575"/>
                </a:solidFill>
                <a:latin typeface="Arial"/>
              </a:rPr>
              <a:t>borrar</a:t>
            </a:r>
          </a:p>
        </p:txBody>
      </p:sp>
      <p:sp>
        <p:nvSpPr>
          <p:cNvPr id="61" name="Rounded Rectangle 30">
            <a:extLst>
              <a:ext uri="{FF2B5EF4-FFF2-40B4-BE49-F238E27FC236}">
                <a16:creationId xmlns:a16="http://schemas.microsoft.com/office/drawing/2014/main" id="{5031B37F-25BB-2C08-A801-E0264950FB63}"/>
              </a:ext>
            </a:extLst>
          </p:cNvPr>
          <p:cNvSpPr/>
          <p:nvPr/>
        </p:nvSpPr>
        <p:spPr>
          <a:xfrm>
            <a:off x="731520" y="5440680"/>
            <a:ext cx="10744200" cy="640080"/>
          </a:xfrm>
          <a:prstGeom prst="roundRect">
            <a:avLst/>
          </a:prstGeom>
          <a:solidFill>
            <a:srgbClr val="FFF3E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31">
            <a:extLst>
              <a:ext uri="{FF2B5EF4-FFF2-40B4-BE49-F238E27FC236}">
                <a16:creationId xmlns:a16="http://schemas.microsoft.com/office/drawing/2014/main" id="{96948D3E-768C-E8B3-75CB-BDB8C9427B73}"/>
              </a:ext>
            </a:extLst>
          </p:cNvPr>
          <p:cNvSpPr txBox="1"/>
          <p:nvPr/>
        </p:nvSpPr>
        <p:spPr>
          <a:xfrm>
            <a:off x="841248" y="5486400"/>
            <a:ext cx="10524744" cy="548640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1600" b="0" i="0" dirty="0">
                <a:solidFill>
                  <a:srgbClr val="212121"/>
                </a:solidFill>
                <a:latin typeface="Arial"/>
              </a:rPr>
              <a:t>La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ruta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identifica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qué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recurso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; el verbo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identifica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qué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operación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. Evita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rutas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tipo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/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libros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/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borrar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/3.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dirty="0">
                <a:solidFill>
                  <a:srgbClr val="FFFFFF"/>
                </a:solidFill>
                <a:latin typeface="Arial"/>
              </a:rPr>
              <a:t>Del HTTP al controlador REST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pic>
        <p:nvPicPr>
          <p:cNvPr id="8" name="Picture 4" descr="del_http_al_controlador_rest.png">
            <a:extLst>
              <a:ext uri="{FF2B5EF4-FFF2-40B4-BE49-F238E27FC236}">
                <a16:creationId xmlns:a16="http://schemas.microsoft.com/office/drawing/2014/main" id="{AF8AE432-7918-3EE8-6886-DF035E6E0C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01"/>
          <a:stretch>
            <a:fillRect/>
          </a:stretch>
        </p:blipFill>
        <p:spPr>
          <a:xfrm>
            <a:off x="823614" y="932688"/>
            <a:ext cx="10541724" cy="55412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controlador completo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632D1063-74E3-555F-830F-1E121A836000}"/>
              </a:ext>
            </a:extLst>
          </p:cNvPr>
          <p:cNvSpPr/>
          <p:nvPr/>
        </p:nvSpPr>
        <p:spPr>
          <a:xfrm>
            <a:off x="731520" y="1051560"/>
            <a:ext cx="6995160" cy="489204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797A824C-121F-83F8-8D76-09483CFC36CC}"/>
              </a:ext>
            </a:extLst>
          </p:cNvPr>
          <p:cNvSpPr txBox="1"/>
          <p:nvPr/>
        </p:nvSpPr>
        <p:spPr>
          <a:xfrm>
            <a:off x="890017" y="1709928"/>
            <a:ext cx="6567678" cy="3662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@RestController
@RequestMapping("/api/v1/libros")
@RequiredArgsConstructor
public class </a:t>
            </a:r>
            <a:r>
              <a:rPr sz="14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LibroController</a:t>
            </a:r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
    private final </a:t>
            </a:r>
            <a:r>
              <a:rPr sz="14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LibroService</a:t>
            </a:r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4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libroService</a:t>
            </a:r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
    @GetMapping
    public </a:t>
            </a:r>
            <a:r>
              <a:rPr sz="14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ResponseEntity</a:t>
            </a:r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&lt;List&lt;Libro</a:t>
            </a:r>
            <a:r>
              <a:rPr lang="es-ES"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Response</a:t>
            </a:r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DTO&gt;&gt; </a:t>
            </a:r>
            <a:r>
              <a:rPr sz="14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getAll</a:t>
            </a:r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
        return </a:t>
            </a:r>
            <a:r>
              <a:rPr sz="14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ResponseEntity.ok</a:t>
            </a:r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sz="14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libroService.findAll</a:t>
            </a:r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
    }
    @GetMapping("/{id}")
    public </a:t>
            </a:r>
            <a:r>
              <a:rPr sz="14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ResponseEntity</a:t>
            </a:r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&lt;Libro</a:t>
            </a:r>
            <a:r>
              <a:rPr lang="es-ES"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Response</a:t>
            </a:r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DTO&gt;</a:t>
            </a:r>
            <a:endParaRPr lang="es-ES" sz="1400" b="0" i="0" dirty="0">
              <a:solidFill>
                <a:srgbClr val="21212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sz="14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getById</a:t>
            </a:r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(@PathVariable Long id) {
        return </a:t>
            </a:r>
            <a:r>
              <a:rPr sz="14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ResponseEntity.ok</a:t>
            </a:r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sz="14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libroService.findById</a:t>
            </a:r>
            <a:r>
              <a:rPr sz="14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(id));
    }
}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FB51D11F-F279-037E-B61D-5CA2FEBA8574}"/>
              </a:ext>
            </a:extLst>
          </p:cNvPr>
          <p:cNvSpPr/>
          <p:nvPr/>
        </p:nvSpPr>
        <p:spPr>
          <a:xfrm>
            <a:off x="8119872" y="1234440"/>
            <a:ext cx="3310127" cy="1234440"/>
          </a:xfrm>
          <a:prstGeom prst="roundRect">
            <a:avLst/>
          </a:prstGeom>
          <a:solidFill>
            <a:srgbClr val="FFF3E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F6A7E4B7-D048-2D36-C6BB-FBC2668E2FBF}"/>
              </a:ext>
            </a:extLst>
          </p:cNvPr>
          <p:cNvSpPr txBox="1"/>
          <p:nvPr/>
        </p:nvSpPr>
        <p:spPr>
          <a:xfrm>
            <a:off x="8217914" y="1325880"/>
            <a:ext cx="3084069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>
                <a:solidFill>
                  <a:srgbClr val="4E342E"/>
                </a:solidFill>
                <a:latin typeface="Arial"/>
              </a:rPr>
              <a:t>Qué hace el controller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423BBEEA-7852-32BB-15D4-8BE28922EC04}"/>
              </a:ext>
            </a:extLst>
          </p:cNvPr>
          <p:cNvSpPr txBox="1"/>
          <p:nvPr/>
        </p:nvSpPr>
        <p:spPr>
          <a:xfrm>
            <a:off x="8217914" y="1783080"/>
            <a:ext cx="3084069" cy="576072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500" b="0" i="0" dirty="0">
                <a:solidFill>
                  <a:srgbClr val="212121"/>
                </a:solidFill>
                <a:latin typeface="Arial"/>
              </a:rPr>
              <a:t>Traduce entre HTTP y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llamadas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Java.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2E60CAF9-EA5E-DC3C-95C6-E683BD153F82}"/>
              </a:ext>
            </a:extLst>
          </p:cNvPr>
          <p:cNvSpPr/>
          <p:nvPr/>
        </p:nvSpPr>
        <p:spPr>
          <a:xfrm>
            <a:off x="8119872" y="2743200"/>
            <a:ext cx="3310127" cy="1234440"/>
          </a:xfrm>
          <a:prstGeom prst="roundRect">
            <a:avLst/>
          </a:prstGeom>
          <a:solidFill>
            <a:srgbClr val="FFEBEE"/>
          </a:solidFill>
          <a:ln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32C32A21-C518-0CED-DE68-FC42E031A571}"/>
              </a:ext>
            </a:extLst>
          </p:cNvPr>
          <p:cNvSpPr txBox="1"/>
          <p:nvPr/>
        </p:nvSpPr>
        <p:spPr>
          <a:xfrm>
            <a:off x="8217914" y="2834640"/>
            <a:ext cx="3084069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Arial"/>
              </a:rPr>
              <a:t>Qué no hace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8F377926-635B-8699-9B21-DEF579AA279C}"/>
              </a:ext>
            </a:extLst>
          </p:cNvPr>
          <p:cNvSpPr txBox="1"/>
          <p:nvPr/>
        </p:nvSpPr>
        <p:spPr>
          <a:xfrm>
            <a:off x="8217914" y="3291840"/>
            <a:ext cx="3084069" cy="576072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500" b="0" i="0" dirty="0">
                <a:solidFill>
                  <a:srgbClr val="212121"/>
                </a:solidFill>
                <a:latin typeface="Arial"/>
              </a:rPr>
              <a:t>No consulta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directamente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la base de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datos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04D67BF1-E780-FCF4-FE67-12EF13FFA175}"/>
              </a:ext>
            </a:extLst>
          </p:cNvPr>
          <p:cNvSpPr/>
          <p:nvPr/>
        </p:nvSpPr>
        <p:spPr>
          <a:xfrm>
            <a:off x="8119872" y="4251960"/>
            <a:ext cx="3310127" cy="1234440"/>
          </a:xfrm>
          <a:prstGeom prst="roundRect">
            <a:avLst/>
          </a:prstGeom>
          <a:solidFill>
            <a:srgbClr val="E8F5E9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BA031D08-64A9-69C0-391F-941CC891301C}"/>
              </a:ext>
            </a:extLst>
          </p:cNvPr>
          <p:cNvSpPr txBox="1"/>
          <p:nvPr/>
        </p:nvSpPr>
        <p:spPr>
          <a:xfrm>
            <a:off x="8217914" y="4343400"/>
            <a:ext cx="3084069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Arial"/>
              </a:rPr>
              <a:t>Quién trabaja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2BA3DD64-947C-0955-4CE0-FDE83B2711BB}"/>
              </a:ext>
            </a:extLst>
          </p:cNvPr>
          <p:cNvSpPr txBox="1"/>
          <p:nvPr/>
        </p:nvSpPr>
        <p:spPr>
          <a:xfrm>
            <a:off x="8217914" y="4800600"/>
            <a:ext cx="3084069" cy="576072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Arial"/>
              </a:rPr>
              <a:t>LibroService aplica la lógica y obtiene el resultado.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dirty="0">
                <a:solidFill>
                  <a:srgbClr val="FFFFFF"/>
                </a:solidFill>
                <a:latin typeface="Arial"/>
              </a:rPr>
              <a:t>Anotación a anotación: qué traduce cada una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E26C3397-E4AD-66C8-3487-66EDA2AA6E87}"/>
              </a:ext>
            </a:extLst>
          </p:cNvPr>
          <p:cNvSpPr/>
          <p:nvPr/>
        </p:nvSpPr>
        <p:spPr>
          <a:xfrm>
            <a:off x="822960" y="1143000"/>
            <a:ext cx="3822192" cy="658368"/>
          </a:xfrm>
          <a:prstGeom prst="roundRect">
            <a:avLst/>
          </a:prstGeom>
          <a:solidFill>
            <a:srgbClr val="E3F2FD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B575B3D6-22FA-E6B5-D242-0FF5474201D9}"/>
              </a:ext>
            </a:extLst>
          </p:cNvPr>
          <p:cNvSpPr txBox="1"/>
          <p:nvPr/>
        </p:nvSpPr>
        <p:spPr>
          <a:xfrm>
            <a:off x="914400" y="1285734"/>
            <a:ext cx="3017520" cy="318036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@RestController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1FB2EEC6-8A9A-5CF1-4998-ECE83BE185C9}"/>
              </a:ext>
            </a:extLst>
          </p:cNvPr>
          <p:cNvSpPr txBox="1"/>
          <p:nvPr/>
        </p:nvSpPr>
        <p:spPr>
          <a:xfrm>
            <a:off x="5340096" y="1287183"/>
            <a:ext cx="6025896" cy="333425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500" b="0" i="0" dirty="0">
                <a:solidFill>
                  <a:srgbClr val="212121"/>
                </a:solidFill>
                <a:latin typeface="Arial"/>
              </a:rPr>
              <a:t>Clase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que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recibe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peticiones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y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serializa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la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respuesta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al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cuerpo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HTTP.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63181CAF-8F07-10CB-8DEA-C49F6AC71968}"/>
              </a:ext>
            </a:extLst>
          </p:cNvPr>
          <p:cNvSpPr/>
          <p:nvPr/>
        </p:nvSpPr>
        <p:spPr>
          <a:xfrm>
            <a:off x="822960" y="2057400"/>
            <a:ext cx="3822192" cy="658368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4664E047-991B-8C5F-6A62-ACD6597A2D8C}"/>
              </a:ext>
            </a:extLst>
          </p:cNvPr>
          <p:cNvSpPr txBox="1"/>
          <p:nvPr/>
        </p:nvSpPr>
        <p:spPr>
          <a:xfrm>
            <a:off x="914399" y="2200134"/>
            <a:ext cx="3730753" cy="318036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400" b="1" i="0" dirty="0">
                <a:solidFill>
                  <a:srgbClr val="1565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@RequestMapping("/api/v1/libros")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AB33B67F-BEEA-EB54-FB8E-A678B8E73A13}"/>
              </a:ext>
            </a:extLst>
          </p:cNvPr>
          <p:cNvSpPr txBox="1"/>
          <p:nvPr/>
        </p:nvSpPr>
        <p:spPr>
          <a:xfrm>
            <a:off x="5340096" y="2201583"/>
            <a:ext cx="6025896" cy="333425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Arial"/>
              </a:rPr>
              <a:t>Ruta base común a los métodos del controlador.</a:t>
            </a: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692113A1-C0DA-DF32-019D-5702FD60B4CF}"/>
              </a:ext>
            </a:extLst>
          </p:cNvPr>
          <p:cNvSpPr/>
          <p:nvPr/>
        </p:nvSpPr>
        <p:spPr>
          <a:xfrm>
            <a:off x="822960" y="2971800"/>
            <a:ext cx="3822192" cy="658368"/>
          </a:xfrm>
          <a:prstGeom prst="roundRect">
            <a:avLst/>
          </a:prstGeom>
          <a:solidFill>
            <a:srgbClr val="E3F2FD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50D0A2F4-C40B-9828-6C29-52962E730FC7}"/>
              </a:ext>
            </a:extLst>
          </p:cNvPr>
          <p:cNvSpPr txBox="1"/>
          <p:nvPr/>
        </p:nvSpPr>
        <p:spPr>
          <a:xfrm>
            <a:off x="914399" y="3114534"/>
            <a:ext cx="3603781" cy="318036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@GetMapping("/{id}")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24530C15-BDEC-DA9C-406E-C129F87135A0}"/>
              </a:ext>
            </a:extLst>
          </p:cNvPr>
          <p:cNvSpPr txBox="1"/>
          <p:nvPr/>
        </p:nvSpPr>
        <p:spPr>
          <a:xfrm>
            <a:off x="5340096" y="3115983"/>
            <a:ext cx="6025896" cy="333425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Arial"/>
              </a:rPr>
              <a:t>Verbo GET + parte variable de la ruta.</a:t>
            </a:r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D65E91E8-74A6-E944-857B-9A00F205DEB7}"/>
              </a:ext>
            </a:extLst>
          </p:cNvPr>
          <p:cNvSpPr/>
          <p:nvPr/>
        </p:nvSpPr>
        <p:spPr>
          <a:xfrm>
            <a:off x="822960" y="3886200"/>
            <a:ext cx="3822192" cy="658368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AF4A3923-787F-B134-8B45-7AE874C215E5}"/>
              </a:ext>
            </a:extLst>
          </p:cNvPr>
          <p:cNvSpPr txBox="1"/>
          <p:nvPr/>
        </p:nvSpPr>
        <p:spPr>
          <a:xfrm>
            <a:off x="914399" y="4028934"/>
            <a:ext cx="3603781" cy="318036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@PathVariable Long id</a:t>
            </a: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FC43998C-1324-8510-4114-C42687D04BC5}"/>
              </a:ext>
            </a:extLst>
          </p:cNvPr>
          <p:cNvSpPr txBox="1"/>
          <p:nvPr/>
        </p:nvSpPr>
        <p:spPr>
          <a:xfrm>
            <a:off x="5340096" y="4030383"/>
            <a:ext cx="6025896" cy="333425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Arial"/>
              </a:rPr>
              <a:t>Extrae el 3 de /libros/3 y lo entrega como Long.</a:t>
            </a:r>
          </a:p>
        </p:txBody>
      </p:sp>
      <p:sp>
        <p:nvSpPr>
          <p:cNvPr id="31" name="Rounded Rectangle 16">
            <a:extLst>
              <a:ext uri="{FF2B5EF4-FFF2-40B4-BE49-F238E27FC236}">
                <a16:creationId xmlns:a16="http://schemas.microsoft.com/office/drawing/2014/main" id="{5C80AF4E-ECA8-0FE4-8242-9F6EB30FD1AB}"/>
              </a:ext>
            </a:extLst>
          </p:cNvPr>
          <p:cNvSpPr/>
          <p:nvPr/>
        </p:nvSpPr>
        <p:spPr>
          <a:xfrm>
            <a:off x="822960" y="4800600"/>
            <a:ext cx="3822192" cy="658368"/>
          </a:xfrm>
          <a:prstGeom prst="roundRect">
            <a:avLst/>
          </a:prstGeom>
          <a:solidFill>
            <a:srgbClr val="E3F2FD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9094501D-D5CB-ACC1-72BE-EF277FF860EA}"/>
              </a:ext>
            </a:extLst>
          </p:cNvPr>
          <p:cNvSpPr txBox="1"/>
          <p:nvPr/>
        </p:nvSpPr>
        <p:spPr>
          <a:xfrm>
            <a:off x="914399" y="4943334"/>
            <a:ext cx="3603781" cy="318036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400" b="1" i="0" dirty="0" err="1">
                <a:solidFill>
                  <a:srgbClr val="1565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ResponseEntity.ok</a:t>
            </a:r>
            <a:r>
              <a:rPr sz="1400" b="1" i="0" dirty="0">
                <a:solidFill>
                  <a:srgbClr val="1565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FB9531BE-9154-C49D-A358-EA71CC6FE722}"/>
              </a:ext>
            </a:extLst>
          </p:cNvPr>
          <p:cNvSpPr txBox="1"/>
          <p:nvPr/>
        </p:nvSpPr>
        <p:spPr>
          <a:xfrm>
            <a:off x="5340096" y="4944783"/>
            <a:ext cx="6025896" cy="333425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Arial"/>
              </a:rPr>
              <a:t>Construye una respuesta 200 OK con un cuerpo.</a:t>
            </a:r>
          </a:p>
        </p:txBody>
      </p:sp>
      <p:sp>
        <p:nvSpPr>
          <p:cNvPr id="37" name="Rounded Rectangle 19">
            <a:extLst>
              <a:ext uri="{FF2B5EF4-FFF2-40B4-BE49-F238E27FC236}">
                <a16:creationId xmlns:a16="http://schemas.microsoft.com/office/drawing/2014/main" id="{4613646C-AD30-C508-90C5-1E4650E404A8}"/>
              </a:ext>
            </a:extLst>
          </p:cNvPr>
          <p:cNvSpPr/>
          <p:nvPr/>
        </p:nvSpPr>
        <p:spPr>
          <a:xfrm>
            <a:off x="731520" y="5678424"/>
            <a:ext cx="10744200" cy="640080"/>
          </a:xfrm>
          <a:prstGeom prst="roundRect">
            <a:avLst/>
          </a:prstGeom>
          <a:solidFill>
            <a:srgbClr val="FFF3E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20">
            <a:extLst>
              <a:ext uri="{FF2B5EF4-FFF2-40B4-BE49-F238E27FC236}">
                <a16:creationId xmlns:a16="http://schemas.microsoft.com/office/drawing/2014/main" id="{1ADD8F36-3936-D19C-F80D-240CD6CFDE8C}"/>
              </a:ext>
            </a:extLst>
          </p:cNvPr>
          <p:cNvSpPr txBox="1"/>
          <p:nvPr/>
        </p:nvSpPr>
        <p:spPr>
          <a:xfrm>
            <a:off x="841248" y="5824057"/>
            <a:ext cx="10524744" cy="348813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lang="es-ES" sz="1600" dirty="0">
                <a:solidFill>
                  <a:srgbClr val="212121"/>
                </a:solidFill>
                <a:latin typeface="Arial"/>
              </a:rPr>
              <a:t>No hay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magia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añadida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: GET +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ruta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+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dato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variable se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convierten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la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selección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de un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método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y sus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parámetros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viaje completo, ida y vuelta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Fíjate en que la respuesta recorre exactamente el mismo camino que la petición, pero al revés:</a:t>
            </a:r>
            <a:endParaRPr lang="en-US" sz="1800" dirty="0"/>
          </a:p>
        </p:txBody>
      </p:sp>
      <p:pic>
        <p:nvPicPr>
          <p:cNvPr id="6" name="Image 0" descr="C:/Users/Aitor/docxgen/img/pr-viaje-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134" y="2057400"/>
            <a:ext cx="8360684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puerto 8080 y Tomcat no son magia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1672" cy="1737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Tomcat que escucha en el puerto 8080 lo trae la dependencia spring-boot-starter-webmvc del pom.xml — es la "librería que implementa el servicio en red" de la que habla el currículo. Tú no arrancas ningún servidor a mano: Spring Boot lo hace por ti al ejecutar la clase anotada con @SpringBootApplication.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pic>
        <p:nvPicPr>
          <p:cNvPr id="5" name="Image 0" descr="C:/Users/Aitor/docxgen/img/pr-viaje-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641" y="1185577"/>
            <a:ext cx="8954139" cy="44868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dirty="0">
                <a:solidFill>
                  <a:srgbClr val="FFFFFF"/>
                </a:solidFill>
                <a:latin typeface="Arial"/>
              </a:rPr>
              <a:t>Éxito vs 404: misma petición, distinto resultado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B2946680-A7A6-64FF-17CD-69636AFEFCCE}"/>
              </a:ext>
            </a:extLst>
          </p:cNvPr>
          <p:cNvSpPr/>
          <p:nvPr/>
        </p:nvSpPr>
        <p:spPr>
          <a:xfrm>
            <a:off x="502920" y="1051560"/>
            <a:ext cx="5486400" cy="4480560"/>
          </a:xfrm>
          <a:prstGeom prst="roundRect">
            <a:avLst/>
          </a:prstGeom>
          <a:solidFill>
            <a:srgbClr val="E8F5E9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AED687EC-5C6D-8154-C249-24DAE7A8F04A}"/>
              </a:ext>
            </a:extLst>
          </p:cNvPr>
          <p:cNvSpPr txBox="1"/>
          <p:nvPr/>
        </p:nvSpPr>
        <p:spPr>
          <a:xfrm>
            <a:off x="777240" y="1261872"/>
            <a:ext cx="4937760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Arial"/>
              </a:rPr>
              <a:t>✓ Recurso encontrado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20065DB3-0A4E-4137-C79F-62B51BDE8D37}"/>
              </a:ext>
            </a:extLst>
          </p:cNvPr>
          <p:cNvSpPr/>
          <p:nvPr/>
        </p:nvSpPr>
        <p:spPr>
          <a:xfrm>
            <a:off x="914400" y="1874519"/>
            <a:ext cx="4663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A581E6F3-58CD-2354-BB29-4324A18F60AA}"/>
              </a:ext>
            </a:extLst>
          </p:cNvPr>
          <p:cNvSpPr txBox="1"/>
          <p:nvPr/>
        </p:nvSpPr>
        <p:spPr>
          <a:xfrm>
            <a:off x="987552" y="1938527"/>
            <a:ext cx="451713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 /</a:t>
            </a:r>
            <a:r>
              <a:rPr sz="18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sz="18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/v1/</a:t>
            </a:r>
            <a:r>
              <a:rPr sz="18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libros</a:t>
            </a:r>
            <a:r>
              <a:rPr sz="18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/3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B6C4DD48-5E0A-ECD0-FC26-E7DEB7CE937E}"/>
              </a:ext>
            </a:extLst>
          </p:cNvPr>
          <p:cNvSpPr txBox="1"/>
          <p:nvPr/>
        </p:nvSpPr>
        <p:spPr>
          <a:xfrm>
            <a:off x="1097280" y="2788920"/>
            <a:ext cx="4389120" cy="9144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700" b="0" i="0">
                <a:solidFill>
                  <a:srgbClr val="212121"/>
                </a:solidFill>
                <a:latin typeface="Arial"/>
              </a:rPr>
              <a:t>LibroService encuentra el libro.
El controller construye una respuesta correcta.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E410B032-88A7-F410-EAC6-4BC448770108}"/>
              </a:ext>
            </a:extLst>
          </p:cNvPr>
          <p:cNvSpPr/>
          <p:nvPr/>
        </p:nvSpPr>
        <p:spPr>
          <a:xfrm>
            <a:off x="914400" y="3886200"/>
            <a:ext cx="46634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FA2BFFD1-48AC-7E67-363B-C371CDEE9985}"/>
              </a:ext>
            </a:extLst>
          </p:cNvPr>
          <p:cNvSpPr txBox="1"/>
          <p:nvPr/>
        </p:nvSpPr>
        <p:spPr>
          <a:xfrm>
            <a:off x="987552" y="3950208"/>
            <a:ext cx="4517136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HTTP/1.1 200 OK
Content-Type: application/json
{ "id": 3, ... }</a:t>
            </a:r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AE98F7D2-9DCA-50D5-2663-A7DCA53A9B7D}"/>
              </a:ext>
            </a:extLst>
          </p:cNvPr>
          <p:cNvSpPr/>
          <p:nvPr/>
        </p:nvSpPr>
        <p:spPr>
          <a:xfrm>
            <a:off x="6217920" y="1051560"/>
            <a:ext cx="5486400" cy="4480560"/>
          </a:xfrm>
          <a:prstGeom prst="roundRect">
            <a:avLst/>
          </a:prstGeom>
          <a:solidFill>
            <a:srgbClr val="FFEBEE"/>
          </a:solidFill>
          <a:ln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EBF8438F-CF6F-1AE6-4790-F7B3E5AE34CA}"/>
              </a:ext>
            </a:extLst>
          </p:cNvPr>
          <p:cNvSpPr txBox="1"/>
          <p:nvPr/>
        </p:nvSpPr>
        <p:spPr>
          <a:xfrm>
            <a:off x="6492240" y="1261872"/>
            <a:ext cx="4937760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Arial"/>
              </a:rPr>
              <a:t>✕ Recurso no encontrado</a:t>
            </a: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CABD7909-0F7D-B5C8-E837-D0AC442AFE45}"/>
              </a:ext>
            </a:extLst>
          </p:cNvPr>
          <p:cNvSpPr/>
          <p:nvPr/>
        </p:nvSpPr>
        <p:spPr>
          <a:xfrm>
            <a:off x="6629400" y="1874519"/>
            <a:ext cx="4663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D9E901F9-BC8A-EB51-32CE-FB610F4FC16E}"/>
              </a:ext>
            </a:extLst>
          </p:cNvPr>
          <p:cNvSpPr txBox="1"/>
          <p:nvPr/>
        </p:nvSpPr>
        <p:spPr>
          <a:xfrm>
            <a:off x="6702552" y="1938527"/>
            <a:ext cx="451713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 /api/v1/libros/9999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BD8AF3E1-8087-065A-E1B6-7CB13639E276}"/>
              </a:ext>
            </a:extLst>
          </p:cNvPr>
          <p:cNvSpPr txBox="1"/>
          <p:nvPr/>
        </p:nvSpPr>
        <p:spPr>
          <a:xfrm>
            <a:off x="6812280" y="2788920"/>
            <a:ext cx="4389120" cy="9144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/>
            <a:r>
              <a:rPr sz="1700" b="0" i="0">
                <a:solidFill>
                  <a:srgbClr val="212121"/>
                </a:solidFill>
                <a:latin typeface="Arial"/>
              </a:rPr>
              <a:t>LibroService no encuentra el libro.
El controller traduce ese resultado a HTTP.</a:t>
            </a:r>
          </a:p>
        </p:txBody>
      </p:sp>
      <p:sp>
        <p:nvSpPr>
          <p:cNvPr id="33" name="Rounded Rectangle 16">
            <a:extLst>
              <a:ext uri="{FF2B5EF4-FFF2-40B4-BE49-F238E27FC236}">
                <a16:creationId xmlns:a16="http://schemas.microsoft.com/office/drawing/2014/main" id="{EE8E6A50-25CF-9073-E420-C0AB2642D5B3}"/>
              </a:ext>
            </a:extLst>
          </p:cNvPr>
          <p:cNvSpPr/>
          <p:nvPr/>
        </p:nvSpPr>
        <p:spPr>
          <a:xfrm>
            <a:off x="6629400" y="3886200"/>
            <a:ext cx="46634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182DC477-3C77-96A3-509C-39F932F6EEB9}"/>
              </a:ext>
            </a:extLst>
          </p:cNvPr>
          <p:cNvSpPr txBox="1"/>
          <p:nvPr/>
        </p:nvSpPr>
        <p:spPr>
          <a:xfrm>
            <a:off x="6702552" y="3950208"/>
            <a:ext cx="4517136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HTTP/1.1 404 Not Found
(sin </a:t>
            </a:r>
            <a:r>
              <a:rPr sz="15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cuerpo</a:t>
            </a:r>
            <a:r>
              <a:rPr sz="15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5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sz="15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5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esta</a:t>
            </a:r>
            <a:r>
              <a:rPr sz="15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5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primera</a:t>
            </a:r>
            <a:r>
              <a:rPr sz="15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5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versión</a:t>
            </a:r>
            <a:r>
              <a:rPr sz="15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7" name="Rounded Rectangle 18">
            <a:extLst>
              <a:ext uri="{FF2B5EF4-FFF2-40B4-BE49-F238E27FC236}">
                <a16:creationId xmlns:a16="http://schemas.microsoft.com/office/drawing/2014/main" id="{4F63B8D2-73A6-B13E-1508-7B9B9BF006CB}"/>
              </a:ext>
            </a:extLst>
          </p:cNvPr>
          <p:cNvSpPr/>
          <p:nvPr/>
        </p:nvSpPr>
        <p:spPr>
          <a:xfrm>
            <a:off x="731520" y="5623560"/>
            <a:ext cx="10744200" cy="640080"/>
          </a:xfrm>
          <a:prstGeom prst="roundRect">
            <a:avLst/>
          </a:prstGeom>
          <a:solidFill>
            <a:srgbClr val="FFF3E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733098A3-33EC-C07A-1245-51EB234B4B5A}"/>
              </a:ext>
            </a:extLst>
          </p:cNvPr>
          <p:cNvSpPr txBox="1"/>
          <p:nvPr/>
        </p:nvSpPr>
        <p:spPr>
          <a:xfrm>
            <a:off x="841248" y="5669280"/>
            <a:ext cx="10524744" cy="548640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1600" b="0" i="0">
                <a:solidFill>
                  <a:srgbClr val="212121"/>
                </a:solidFill>
                <a:latin typeface="Arial"/>
              </a:rPr>
              <a:t>404 no significa que el servidor esté caído: significa que ese recurso no se ha encontrado.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CB4C6-A299-3721-9051-2D9DFABA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25B5B6-4226-FBC4-A9BB-44AF062B3A12}"/>
              </a:ext>
            </a:extLst>
          </p:cNvPr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F98CBB-2BC8-4BC8-BE99-ABF17C8994A1}"/>
              </a:ext>
            </a:extLst>
          </p:cNvPr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dirty="0">
                <a:solidFill>
                  <a:srgbClr val="FFFFFF"/>
                </a:solidFill>
                <a:latin typeface="Arial"/>
              </a:rPr>
              <a:t>Cómo el código produce el 404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D1B93B-80C6-C2D6-E271-2A5011857242}"/>
              </a:ext>
            </a:extLst>
          </p:cNvPr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54DEF470-DE62-549E-B49B-BC115D7E15A6}"/>
              </a:ext>
            </a:extLst>
          </p:cNvPr>
          <p:cNvSpPr/>
          <p:nvPr/>
        </p:nvSpPr>
        <p:spPr>
          <a:xfrm>
            <a:off x="685799" y="1097280"/>
            <a:ext cx="6994281" cy="443484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78EF545-400A-3559-A6E8-7641395C5E4F}"/>
              </a:ext>
            </a:extLst>
          </p:cNvPr>
          <p:cNvSpPr txBox="1"/>
          <p:nvPr/>
        </p:nvSpPr>
        <p:spPr>
          <a:xfrm>
            <a:off x="844295" y="1719072"/>
            <a:ext cx="6836663" cy="2954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@GetMapping("/{id}")
public 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ResponseEntity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LibroResponseDTO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s-ES" sz="1600" b="0" i="0" dirty="0">
              <a:solidFill>
                <a:srgbClr val="21212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s-ES"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getById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(@PathVariable Long id) {
</a:t>
            </a:r>
            <a:endParaRPr lang="es-ES" sz="1600" b="0" i="0" dirty="0">
              <a:solidFill>
                <a:srgbClr val="21212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LibroResponseDTO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libro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libroService.findById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(id);
    if (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libro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 {
        return 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ResponseEntity.notFound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().build();
    }
    return 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ResponseEntity.ok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sz="1600" b="0" i="0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libro</a:t>
            </a:r>
            <a:r>
              <a:rPr sz="1600" b="0" i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
}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48E3937B-666D-FC75-AC48-CEB6DE54E03B}"/>
              </a:ext>
            </a:extLst>
          </p:cNvPr>
          <p:cNvSpPr/>
          <p:nvPr/>
        </p:nvSpPr>
        <p:spPr>
          <a:xfrm>
            <a:off x="7808976" y="1280160"/>
            <a:ext cx="3666744" cy="1280160"/>
          </a:xfrm>
          <a:prstGeom prst="roundRect">
            <a:avLst/>
          </a:prstGeom>
          <a:solidFill>
            <a:srgbClr val="E8F5E9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734DD3B5-81A2-8B8D-9BA7-6FF2ACA40979}"/>
              </a:ext>
            </a:extLst>
          </p:cNvPr>
          <p:cNvSpPr txBox="1"/>
          <p:nvPr/>
        </p:nvSpPr>
        <p:spPr>
          <a:xfrm>
            <a:off x="7919724" y="1371600"/>
            <a:ext cx="3427979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Arial"/>
              </a:rPr>
              <a:t>Si existe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7570E9C5-BB63-87E4-1462-AE7981C28F22}"/>
              </a:ext>
            </a:extLst>
          </p:cNvPr>
          <p:cNvSpPr txBox="1"/>
          <p:nvPr/>
        </p:nvSpPr>
        <p:spPr>
          <a:xfrm>
            <a:off x="7919724" y="1828800"/>
            <a:ext cx="3427979" cy="564257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Arial"/>
              </a:rPr>
              <a:t>ResponseEntity.ok(libro) → 200 OK + cuerpo</a:t>
            </a:r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FD8E056C-36D0-9C50-EC68-02AAC5429F81}"/>
              </a:ext>
            </a:extLst>
          </p:cNvPr>
          <p:cNvSpPr/>
          <p:nvPr/>
        </p:nvSpPr>
        <p:spPr>
          <a:xfrm>
            <a:off x="7808976" y="2880360"/>
            <a:ext cx="3666744" cy="1280160"/>
          </a:xfrm>
          <a:prstGeom prst="roundRect">
            <a:avLst/>
          </a:prstGeom>
          <a:solidFill>
            <a:srgbClr val="FFEBEE"/>
          </a:solidFill>
          <a:ln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715BF352-D3A7-C695-F67D-3DE5EE10F0A9}"/>
              </a:ext>
            </a:extLst>
          </p:cNvPr>
          <p:cNvSpPr txBox="1"/>
          <p:nvPr/>
        </p:nvSpPr>
        <p:spPr>
          <a:xfrm>
            <a:off x="7919724" y="2971800"/>
            <a:ext cx="3427979" cy="38404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Arial"/>
              </a:rPr>
              <a:t>Si no existe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91AE100C-DEC4-7C95-61AD-4B45D390C741}"/>
              </a:ext>
            </a:extLst>
          </p:cNvPr>
          <p:cNvSpPr txBox="1"/>
          <p:nvPr/>
        </p:nvSpPr>
        <p:spPr>
          <a:xfrm>
            <a:off x="7919724" y="3429000"/>
            <a:ext cx="3427979" cy="564257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Arial"/>
              </a:rPr>
              <a:t>ResponseEntity.notFound().build() → 404 sin cuerpo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26DF2E25-9501-1FCA-CE4B-92CF1769B8FD}"/>
              </a:ext>
            </a:extLst>
          </p:cNvPr>
          <p:cNvSpPr txBox="1"/>
          <p:nvPr/>
        </p:nvSpPr>
        <p:spPr>
          <a:xfrm>
            <a:off x="7888082" y="4617720"/>
            <a:ext cx="3496197" cy="748923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Arial"/>
              </a:rPr>
              <a:t>Más adelante el service lanzará una excepción con orElseThrow() y evitaremos repetir este if.</a:t>
            </a:r>
          </a:p>
        </p:txBody>
      </p:sp>
    </p:spTree>
    <p:extLst>
      <p:ext uri="{BB962C8B-B14F-4D97-AF65-F5344CB8AC3E}">
        <p14:creationId xmlns:p14="http://schemas.microsoft.com/office/powerpoint/2010/main" val="3807864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dirty="0">
                <a:solidFill>
                  <a:srgbClr val="FFFFFF"/>
                </a:solidFill>
                <a:latin typeface="Arial"/>
              </a:rPr>
              <a:t>Por qué un protocolo estándar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pic>
        <p:nvPicPr>
          <p:cNvPr id="6" name="Picture 4" descr="wide_infographic_poster_in_a_clean_flat_vector_sty.png">
            <a:extLst>
              <a:ext uri="{FF2B5EF4-FFF2-40B4-BE49-F238E27FC236}">
                <a16:creationId xmlns:a16="http://schemas.microsoft.com/office/drawing/2014/main" id="{F1C193CA-5C78-3AAE-B25A-F4DFAC50F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932688"/>
            <a:ext cx="8202168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1: Protocolos y REST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s-ES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comunicación HTTP es petición-respuesta entre un cliente y un servidor.</a:t>
            </a:r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s-ES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URL localiza el recurso; el verbo expresa la operación.</a:t>
            </a:r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s-ES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organiza cada mensaje en primera línea, cabeceras y cuerpo opcional.</a:t>
            </a:r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s-ES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códigos 2xx, 4xx y 5xx resumen el resultado.</a:t>
            </a:r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s-ES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modela datos como recursos y utiliza las convenciones de HTTP.</a:t>
            </a:r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s-ES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traduce verbo + ruta en un método Java y </a:t>
            </a:r>
            <a:r>
              <a:rPr lang="es-ES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ResponseEntity</a:t>
            </a:r>
            <a:r>
              <a:rPr lang="es-ES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construye la respuesta.</a:t>
            </a:r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s-ES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un estándar permite reutilizar clientes, herramientas y conocimiento existente.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7AEA414-E78C-54E0-1839-7BC26199996A}"/>
              </a:ext>
            </a:extLst>
          </p:cNvPr>
          <p:cNvSpPr/>
          <p:nvPr/>
        </p:nvSpPr>
        <p:spPr>
          <a:xfrm>
            <a:off x="731520" y="5440680"/>
            <a:ext cx="10744200" cy="640080"/>
          </a:xfrm>
          <a:prstGeom prst="roundRect">
            <a:avLst/>
          </a:prstGeom>
          <a:solidFill>
            <a:srgbClr val="FFF3E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065D2B37-BA69-8C83-A44E-129EC25BBF89}"/>
              </a:ext>
            </a:extLst>
          </p:cNvPr>
          <p:cNvSpPr txBox="1"/>
          <p:nvPr/>
        </p:nvSpPr>
        <p:spPr>
          <a:xfrm>
            <a:off x="841248" y="5486400"/>
            <a:ext cx="10524744" cy="548640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1600" b="0" i="0" dirty="0">
                <a:solidFill>
                  <a:srgbClr val="212121"/>
                </a:solidFill>
                <a:latin typeface="Arial"/>
              </a:rPr>
              <a:t>Si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puedes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seguir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el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recorrido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GET /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api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/v1/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libros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/3 →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getById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(3) → 200/404,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tienes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el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núcleo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de la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sesión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1060</TotalTime>
  <Words>1731</Words>
  <Application>Microsoft Office PowerPoint</Application>
  <PresentationFormat>Panorámica</PresentationFormat>
  <Paragraphs>203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Consolas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Protocolos estándar y servicios REST: leyendo el controlador</dc:title>
  <dc:subject>PptxGenJS Presentation</dc:subject>
  <dc:creator>Programación de Servicios y Procesos</dc:creator>
  <cp:lastModifiedBy>ROIG AGUILAR, ALEJANDRO</cp:lastModifiedBy>
  <cp:revision>4</cp:revision>
  <dcterms:created xsi:type="dcterms:W3CDTF">2026-08-06T10:01:49Z</dcterms:created>
  <dcterms:modified xsi:type="dcterms:W3CDTF">2026-09-21T13:33:56Z</dcterms:modified>
</cp:coreProperties>
</file>