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841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342E"/>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CAAA4"/>
                </a:solidFill>
                <a:latin typeface="Arial" pitchFamily="34" charset="0"/>
                <a:ea typeface="Arial" pitchFamily="34" charset="-122"/>
                <a:cs typeface="Arial" pitchFamily="34" charset="-120"/>
              </a:rPr>
              <a:t>PROGRAMACIÓN DE SERVICIOS Y PROCESOS  —  TEMA 3: PROGRAMACIÓN MULTIHILO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000" b="1" dirty="0">
                <a:solidFill>
                  <a:srgbClr val="FFFFFF"/>
                </a:solidFill>
                <a:latin typeface="Arial" pitchFamily="34" charset="0"/>
                <a:ea typeface="Arial" pitchFamily="34" charset="-122"/>
                <a:cs typeface="Arial" pitchFamily="34" charset="-120"/>
              </a:rPr>
              <a:t>Eventos internos de Spring</a:t>
            </a:r>
            <a:endParaRPr lang="en-US" sz="40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El warm-up de caché — parte 1 de 2</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Qué vas a construir hoy</a:t>
            </a:r>
            <a:endParaRPr lang="en-US" sz="2500" dirty="0"/>
          </a:p>
        </p:txBody>
      </p:sp>
      <p:sp>
        <p:nvSpPr>
          <p:cNvPr id="4" name="Text 2"/>
          <p:cNvSpPr/>
          <p:nvPr/>
        </p:nvSpPr>
        <p:spPr>
          <a:xfrm>
            <a:off x="548640" y="1371600"/>
            <a:ext cx="11091672" cy="118872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Ya sabes que tu aplicación es multihilo (pool de Tomcat, listeners de RabbitMQ). Hoy construyes una pieza nueva que se apoya en eso: el warm-up de una caché, repartido en dos apartados.</a:t>
            </a:r>
            <a:endParaRPr lang="en-US" sz="2100" dirty="0"/>
          </a:p>
        </p:txBody>
      </p:sp>
      <p:sp>
        <p:nvSpPr>
          <p:cNvPr id="5" name="Shape 3"/>
          <p:cNvSpPr/>
          <p:nvPr/>
        </p:nvSpPr>
        <p:spPr>
          <a:xfrm>
            <a:off x="548640" y="2651760"/>
            <a:ext cx="11091672" cy="100584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2743200"/>
            <a:ext cx="10543032" cy="82296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Hoy montas la caché y el evento que avisa cuando deja de ser válida. En el próximo apartado, el listener que reacciona a ese aviso.</a:t>
            </a:r>
            <a:endParaRPr lang="en-US" sz="1900" dirty="0"/>
          </a:p>
        </p:txBody>
      </p:sp>
      <p:sp>
        <p:nvSpPr>
          <p:cNvPr id="7"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Qué es una caché</a:t>
            </a:r>
            <a:endParaRPr lang="en-US" sz="2500" dirty="0"/>
          </a:p>
        </p:txBody>
      </p:sp>
      <p:sp>
        <p:nvSpPr>
          <p:cNvPr id="4" name="Text 2"/>
          <p:cNvSpPr/>
          <p:nvPr/>
        </p:nvSpPr>
        <p:spPr>
          <a:xfrm>
            <a:off x="548640" y="1097280"/>
            <a:ext cx="11091672" cy="64008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Una caché guarda el resultado de una operación cara para reutilizarlo sin repetir el trabajo.</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3108960"/>
        </p:xfrm>
        <a:graphic>
          <a:graphicData uri="http://schemas.openxmlformats.org/drawingml/2006/table">
            <a:tbl>
              <a:tblPr/>
              <a:tblGrid>
                <a:gridCol w="3327502">
                  <a:extLst>
                    <a:ext uri="{9D8B030D-6E8A-4147-A177-3AD203B41FA5}">
                      <a16:colId xmlns:a16="http://schemas.microsoft.com/office/drawing/2014/main" val="20000"/>
                    </a:ext>
                  </a:extLst>
                </a:gridCol>
                <a:gridCol w="3882085">
                  <a:extLst>
                    <a:ext uri="{9D8B030D-6E8A-4147-A177-3AD203B41FA5}">
                      <a16:colId xmlns:a16="http://schemas.microsoft.com/office/drawing/2014/main" val="20001"/>
                    </a:ext>
                  </a:extLst>
                </a:gridCol>
                <a:gridCol w="3882085">
                  <a:extLst>
                    <a:ext uri="{9D8B030D-6E8A-4147-A177-3AD203B41FA5}">
                      <a16:colId xmlns:a16="http://schemas.microsoft.com/office/drawing/2014/main" val="20002"/>
                    </a:ext>
                  </a:extLst>
                </a:gridCol>
              </a:tblGrid>
              <a:tr h="777240">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Momento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Sin caché</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Con caché</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777240">
                <a:tc>
                  <a:txBody>
                    <a:bodyPr/>
                    <a:lstStyle/>
                    <a:p>
                      <a:pPr marL="0" indent="0">
                        <a:buNone/>
                      </a:pPr>
                      <a:r>
                        <a:rPr lang="en-US" sz="1500" dirty="0">
                          <a:solidFill>
                            <a:srgbClr val="212121"/>
                          </a:solidFill>
                          <a:latin typeface="Arial" pitchFamily="34" charset="0"/>
                          <a:ea typeface="Arial" pitchFamily="34" charset="-122"/>
                          <a:cs typeface="Arial" pitchFamily="34" charset="-120"/>
                        </a:rPr>
                        <a:t>1ª petición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Paga el coste completo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Paga el coste completo, y lo guarda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500" dirty="0">
                          <a:solidFill>
                            <a:srgbClr val="212121"/>
                          </a:solidFill>
                          <a:latin typeface="Arial" pitchFamily="34" charset="0"/>
                          <a:ea typeface="Arial" pitchFamily="34" charset="-122"/>
                          <a:cs typeface="Arial" pitchFamily="34" charset="-120"/>
                        </a:rPr>
                        <a:t>2ª petición (nada cambió)</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Vuelve a pagar el coste completo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Instantánea — usa lo ya guardado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77240">
                <a:tc>
                  <a:txBody>
                    <a:bodyPr/>
                    <a:lstStyle/>
                    <a:p>
                      <a:pPr marL="0" indent="0">
                        <a:buNone/>
                      </a:pPr>
                      <a:r>
                        <a:rPr lang="en-US" sz="1500" dirty="0">
                          <a:solidFill>
                            <a:srgbClr val="212121"/>
                          </a:solidFill>
                          <a:latin typeface="Arial" pitchFamily="34" charset="0"/>
                          <a:ea typeface="Arial" pitchFamily="34" charset="-122"/>
                          <a:cs typeface="Arial" pitchFamily="34" charset="-120"/>
                        </a:rPr>
                        <a:t>Tras crear/editar/borrar un libro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Paga el coste completo (como siempre)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Paga el coste completo otra vez — la caché ya no vale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48640" y="5166360"/>
            <a:ext cx="11091672" cy="777240"/>
          </a:xfrm>
          <a:prstGeom prst="roundRect">
            <a:avLst/>
          </a:prstGeom>
          <a:solidFill>
            <a:srgbClr val="FFF3E0"/>
          </a:solidFill>
          <a:ln w="19050">
            <a:solidFill>
              <a:srgbClr val="FFA000"/>
            </a:solidFill>
            <a:prstDash val="solid"/>
          </a:ln>
        </p:spPr>
        <p:txBody>
          <a:bodyPr/>
          <a:lstStyle/>
          <a:p>
            <a:endParaRPr lang="es-ES"/>
          </a:p>
        </p:txBody>
      </p:sp>
      <p:sp>
        <p:nvSpPr>
          <p:cNvPr id="7" name="Text 4"/>
          <p:cNvSpPr/>
          <p:nvPr/>
        </p:nvSpPr>
        <p:spPr>
          <a:xfrm>
            <a:off x="822960" y="5257800"/>
            <a:ext cx="10543032" cy="594360"/>
          </a:xfrm>
          <a:prstGeom prst="rect">
            <a:avLst/>
          </a:prstGeom>
          <a:noFill/>
          <a:ln/>
        </p:spPr>
        <p:txBody>
          <a:bodyPr wrap="square" rtlCol="0" anchor="ctr"/>
          <a:lstStyle/>
          <a:p>
            <a:pPr marL="0" indent="0">
              <a:buNone/>
            </a:pPr>
            <a:r>
              <a:rPr lang="en-US" sz="1700" dirty="0">
                <a:solidFill>
                  <a:srgbClr val="212121"/>
                </a:solidFill>
                <a:latin typeface="Arial" pitchFamily="34" charset="0"/>
                <a:ea typeface="Arial" pitchFamily="34" charset="-122"/>
                <a:cs typeface="Arial" pitchFamily="34" charset="-120"/>
              </a:rPr>
              <a:t>Invalidar borra el resultado guardado. Recalentar lo vuelve a calcular por adelantado, antes de que alguien lo pida.</a:t>
            </a:r>
            <a:endParaRPr lang="en-US" sz="1700" dirty="0"/>
          </a:p>
        </p:txBody>
      </p:sp>
      <p:sp>
        <p:nvSpPr>
          <p:cNvPr id="8"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Cómo funciona @Cacheable por debajo</a:t>
            </a:r>
            <a:endParaRPr lang="en-US" sz="2500" dirty="0"/>
          </a:p>
        </p:txBody>
      </p:sp>
      <p:sp>
        <p:nvSpPr>
          <p:cNvPr id="4" name="Text 2"/>
          <p:cNvSpPr/>
          <p:nvPr/>
        </p:nvSpPr>
        <p:spPr>
          <a:xfrm>
            <a:off x="548640" y="1097280"/>
            <a:ext cx="11091672" cy="64008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@Cacheable("librosBaratos") le dice a Spring que, antes de ejecutar el método de verdad, siga estos dos pasos:</a:t>
            </a:r>
            <a:endParaRPr lang="en-US" sz="1900" dirty="0"/>
          </a:p>
        </p:txBody>
      </p:sp>
      <p:sp>
        <p:nvSpPr>
          <p:cNvPr id="5" name="Text 3"/>
          <p:cNvSpPr/>
          <p:nvPr/>
        </p:nvSpPr>
        <p:spPr>
          <a:xfrm>
            <a:off x="548640" y="1828800"/>
            <a:ext cx="11091672" cy="1554480"/>
          </a:xfrm>
          <a:prstGeom prst="rect">
            <a:avLst/>
          </a:prstGeom>
          <a:noFill/>
          <a:ln/>
        </p:spPr>
        <p:txBody>
          <a:bodyPr wrap="square" rtlCol="0" anchor="t"/>
          <a:lstStyle/>
          <a:p>
            <a:pPr marL="342900" indent="-342900">
              <a:spcAft>
                <a:spcPts val="1200"/>
              </a:spcAft>
              <a:buSzPct val="100000"/>
              <a:buChar char="•"/>
            </a:pPr>
            <a:r>
              <a:rPr lang="en-US" sz="1800" dirty="0">
                <a:solidFill>
                  <a:srgbClr val="212121"/>
                </a:solidFill>
                <a:latin typeface="Arial" pitchFamily="34" charset="0"/>
                <a:ea typeface="Arial" pitchFamily="34" charset="-122"/>
                <a:cs typeface="Arial" pitchFamily="34" charset="-120"/>
              </a:rPr>
              <a:t>Calcula la clave que corresponde a esta llamada, y comprueba si ya hay algo guardado bajo esa clave.</a:t>
            </a:r>
            <a:endParaRPr lang="en-US" sz="1800" dirty="0"/>
          </a:p>
          <a:p>
            <a:pPr marL="342900" indent="-342900">
              <a:spcAft>
                <a:spcPts val="1200"/>
              </a:spcAft>
              <a:buSzPct val="100000"/>
              <a:buChar char="•"/>
            </a:pPr>
            <a:r>
              <a:rPr lang="en-US" sz="1800" dirty="0">
                <a:solidFill>
                  <a:srgbClr val="212121"/>
                </a:solidFill>
                <a:latin typeface="Arial" pitchFamily="34" charset="0"/>
                <a:ea typeface="Arial" pitchFamily="34" charset="-122"/>
                <a:cs typeface="Arial" pitchFamily="34" charset="-120"/>
              </a:rPr>
              <a:t>Si lo hay, lo devuelve directamente — sin ejecutar ni una línea del método. Si no lo hay, ejecuta el método, guarda lo que devuelva, y a partir de ahora responde con eso.</a:t>
            </a:r>
            <a:endParaRPr lang="en-US" sz="1800" dirty="0"/>
          </a:p>
        </p:txBody>
      </p:sp>
      <p:sp>
        <p:nvSpPr>
          <p:cNvPr id="6" name="Shape 4"/>
          <p:cNvSpPr/>
          <p:nvPr/>
        </p:nvSpPr>
        <p:spPr>
          <a:xfrm>
            <a:off x="548640" y="3657600"/>
            <a:ext cx="11091672" cy="914400"/>
          </a:xfrm>
          <a:prstGeom prst="roundRect">
            <a:avLst/>
          </a:prstGeom>
          <a:solidFill>
            <a:srgbClr val="FFF3E0"/>
          </a:solidFill>
          <a:ln w="19050">
            <a:solidFill>
              <a:srgbClr val="FFA000"/>
            </a:solidFill>
            <a:prstDash val="solid"/>
          </a:ln>
        </p:spPr>
        <p:txBody>
          <a:bodyPr/>
          <a:lstStyle/>
          <a:p>
            <a:endParaRPr lang="es-ES"/>
          </a:p>
        </p:txBody>
      </p:sp>
      <p:sp>
        <p:nvSpPr>
          <p:cNvPr id="7" name="Text 5"/>
          <p:cNvSpPr/>
          <p:nvPr/>
        </p:nvSpPr>
        <p:spPr>
          <a:xfrm>
            <a:off x="822960" y="3749040"/>
            <a:ext cx="10543032" cy="73152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Sin @EnableCaching en la clase principal, @Cacheable/@CacheEvict se quedan ahí escritas pero Spring las ignora por completo, en silencio.</a:t>
            </a:r>
            <a:endParaRPr lang="en-US" sz="1800" dirty="0"/>
          </a:p>
        </p:txBody>
      </p:sp>
      <p:sp>
        <p:nvSpPr>
          <p:cNvPr id="8"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flujo de una llamada cacheada</a:t>
            </a:r>
            <a:endParaRPr lang="en-US" sz="2500" dirty="0"/>
          </a:p>
        </p:txBody>
      </p:sp>
      <p:pic>
        <p:nvPicPr>
          <p:cNvPr id="4" name="Image 0" descr="C:/Users/Aitor/docxgen/img/psp-t3-cache-hitmiss.png"/>
          <p:cNvPicPr>
            <a:picLocks noChangeAspect="1"/>
          </p:cNvPicPr>
          <p:nvPr/>
        </p:nvPicPr>
        <p:blipFill>
          <a:blip r:embed="rId3"/>
          <a:stretch>
            <a:fillRect/>
          </a:stretch>
        </p:blipFill>
        <p:spPr>
          <a:xfrm>
            <a:off x="196367" y="1694438"/>
            <a:ext cx="11799265" cy="2355047"/>
          </a:xfrm>
          <a:prstGeom prst="rect">
            <a:avLst/>
          </a:prstGeom>
        </p:spPr>
      </p:pic>
      <p:sp>
        <p:nvSpPr>
          <p:cNvPr id="5" name="Text 2"/>
          <p:cNvSpPr/>
          <p:nvPr/>
        </p:nvSpPr>
        <p:spPr>
          <a:xfrm>
            <a:off x="548640" y="4394044"/>
            <a:ext cx="11091672" cy="640080"/>
          </a:xfrm>
          <a:prstGeom prst="rect">
            <a:avLst/>
          </a:prstGeom>
          <a:noFill/>
          <a:ln/>
        </p:spPr>
        <p:txBody>
          <a:bodyPr wrap="square" rtlCol="0" anchor="t"/>
          <a:lstStyle/>
          <a:p>
            <a:pPr marL="0" indent="0" algn="ctr">
              <a:buNone/>
            </a:pPr>
            <a:r>
              <a:rPr lang="en-US" sz="1700" i="1" dirty="0">
                <a:solidFill>
                  <a:srgbClr val="757575"/>
                </a:solidFill>
                <a:latin typeface="Arial" pitchFamily="34" charset="0"/>
                <a:ea typeface="Arial" pitchFamily="34" charset="-122"/>
                <a:cs typeface="Arial" pitchFamily="34" charset="-120"/>
              </a:rPr>
              <a:t>"librosBaratos" es el nombre de la caché completa, no una clave dentro de ella — la clave se construye a partir de los argumentos de la llamada.</a:t>
            </a:r>
            <a:endParaRPr lang="en-US" sz="1700" dirty="0"/>
          </a:p>
        </p:txBody>
      </p:sp>
      <p:sp>
        <p:nvSpPr>
          <p:cNvPr id="6" name="Text 3"/>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@EnableCaching puede romper tests que ya tenías</a:t>
            </a:r>
            <a:endParaRPr lang="en-US" sz="2500" dirty="0"/>
          </a:p>
        </p:txBody>
      </p:sp>
      <p:sp>
        <p:nvSpPr>
          <p:cNvPr id="4" name="Shape 2"/>
          <p:cNvSpPr/>
          <p:nvPr/>
        </p:nvSpPr>
        <p:spPr>
          <a:xfrm>
            <a:off x="548640" y="1371600"/>
            <a:ext cx="11091672" cy="2468880"/>
          </a:xfrm>
          <a:prstGeom prst="roundRect">
            <a:avLst/>
          </a:prstGeom>
          <a:solidFill>
            <a:srgbClr val="FFF3E0"/>
          </a:solidFill>
          <a:ln w="28575">
            <a:solidFill>
              <a:srgbClr val="FFA000"/>
            </a:solidFill>
            <a:prstDash val="solid"/>
          </a:ln>
        </p:spPr>
        <p:txBody>
          <a:bodyPr/>
          <a:lstStyle/>
          <a:p>
            <a:endParaRPr lang="es-ES"/>
          </a:p>
        </p:txBody>
      </p:sp>
      <p:sp>
        <p:nvSpPr>
          <p:cNvPr id="5" name="Text 3"/>
          <p:cNvSpPr/>
          <p:nvPr/>
        </p:nvSpPr>
        <p:spPr>
          <a:xfrm>
            <a:off x="822960" y="1481328"/>
            <a:ext cx="10543032" cy="2249424"/>
          </a:xfrm>
          <a:prstGeom prst="rect">
            <a:avLst/>
          </a:prstGeom>
          <a:noFill/>
          <a:ln/>
        </p:spPr>
        <p:txBody>
          <a:bodyPr wrap="square" rtlCol="0" anchor="t"/>
          <a:lstStyle/>
          <a:p>
            <a:pPr marL="0" indent="0">
              <a:buNone/>
            </a:pPr>
            <a:r>
              <a:rPr lang="en-US" sz="2000" b="1" dirty="0">
                <a:solidFill>
                  <a:srgbClr val="4E342E"/>
                </a:solidFill>
                <a:latin typeface="Arial" pitchFamily="34" charset="0"/>
                <a:ea typeface="Arial" pitchFamily="34" charset="-122"/>
                <a:cs typeface="Arial" pitchFamily="34" charset="-120"/>
              </a:rPr>
              <a:t>Atención
</a:t>
            </a:r>
            <a:endParaRPr lang="en-US" sz="2000" dirty="0"/>
          </a:p>
          <a:p>
            <a:pPr marL="0" indent="0">
              <a:buNone/>
            </a:pPr>
            <a:r>
              <a:rPr lang="en-US" sz="1900" dirty="0">
                <a:solidFill>
                  <a:srgbClr val="212121"/>
                </a:solidFill>
                <a:latin typeface="Arial" pitchFamily="34" charset="0"/>
                <a:ea typeface="Arial" pitchFamily="34" charset="-122"/>
                <a:cs typeface="Arial" pitchFamily="34" charset="-120"/>
              </a:rPr>
              <a:t>@EnableCaching se activa para TODA la aplicación, no solo para el método que te interesa cachear. Si ya tenías tests @WebMvcTest, cargan tu clase principal (y con ella @EnableCaching), pero un test de solo el nivel web no trae la autoconfiguración que da soporte real a la caché — Spring no encuentra dónde guardar nada, y el test falla al arrancar el contexto, no al ejecutar ninguna aserción.</a:t>
            </a:r>
            <a:endParaRPr lang="en-US" sz="2000" dirty="0"/>
          </a:p>
        </p:txBody>
      </p:sp>
      <p:sp>
        <p:nvSpPr>
          <p:cNvPr id="6" name="Text 4"/>
          <p:cNvSpPr/>
          <p:nvPr/>
        </p:nvSpPr>
        <p:spPr>
          <a:xfrm>
            <a:off x="548640" y="4114800"/>
            <a:ext cx="11091672" cy="822960"/>
          </a:xfrm>
          <a:prstGeom prst="rect">
            <a:avLst/>
          </a:prstGeom>
          <a:noFill/>
          <a:ln/>
        </p:spPr>
        <p:txBody>
          <a:bodyPr wrap="square" rtlCol="0" anchor="t"/>
          <a:lstStyle/>
          <a:p>
            <a:pPr marL="0" indent="0">
              <a:buNone/>
            </a:pPr>
            <a:r>
              <a:rPr lang="en-US" sz="1800" i="1" dirty="0">
                <a:solidFill>
                  <a:srgbClr val="757575"/>
                </a:solidFill>
                <a:latin typeface="Arial" pitchFamily="34" charset="0"/>
                <a:ea typeface="Arial" pitchFamily="34" charset="-122"/>
                <a:cs typeface="Arial" pitchFamily="34" charset="-120"/>
              </a:rPr>
              <a:t>Es un buen ejemplo de por qué un test "de una sola capa" sigue arrastrando piezas de configuración global de tu aplicación, aunque no las necesite.</a:t>
            </a:r>
            <a:endParaRPr lang="en-US" sz="1800" dirty="0"/>
          </a:p>
        </p:txBody>
      </p:sp>
      <p:sp>
        <p:nvSpPr>
          <p:cNvPr id="7"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 otra mitad: @CacheEvict invalida</a:t>
            </a:r>
            <a:endParaRPr lang="en-US" sz="2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1672" cy="3108960"/>
        </p:xfrm>
        <a:graphic>
          <a:graphicData uri="http://schemas.openxmlformats.org/drawingml/2006/table">
            <a:tbl>
              <a:tblPr/>
              <a:tblGrid>
                <a:gridCol w="2440168">
                  <a:extLst>
                    <a:ext uri="{9D8B030D-6E8A-4147-A177-3AD203B41FA5}">
                      <a16:colId xmlns:a16="http://schemas.microsoft.com/office/drawing/2014/main" val="20000"/>
                    </a:ext>
                  </a:extLst>
                </a:gridCol>
                <a:gridCol w="4325752">
                  <a:extLst>
                    <a:ext uri="{9D8B030D-6E8A-4147-A177-3AD203B41FA5}">
                      <a16:colId xmlns:a16="http://schemas.microsoft.com/office/drawing/2014/main" val="20001"/>
                    </a:ext>
                  </a:extLst>
                </a:gridCol>
                <a:gridCol w="4325752">
                  <a:extLst>
                    <a:ext uri="{9D8B030D-6E8A-4147-A177-3AD203B41FA5}">
                      <a16:colId xmlns:a16="http://schemas.microsoft.com/office/drawing/2014/main" val="20002"/>
                    </a:ext>
                  </a:extLst>
                </a:gridCol>
              </a:tblGrid>
              <a:tr h="777240">
                <a:tc>
                  <a:txBody>
                    <a:bodyPr/>
                    <a:lstStyle/>
                    <a:p>
                      <a:pPr marL="0" indent="0" algn="ctr">
                        <a:buNone/>
                      </a:pP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@Cacheable</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@CacheEvict</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777240">
                <a:tc>
                  <a:txBody>
                    <a:bodyPr/>
                    <a:lstStyle/>
                    <a:p>
                      <a:pPr marL="0" indent="0">
                        <a:buNone/>
                      </a:pPr>
                      <a:r>
                        <a:rPr lang="en-US" sz="1600" b="1" dirty="0">
                          <a:solidFill>
                            <a:srgbClr val="212121"/>
                          </a:solidFill>
                          <a:latin typeface="Arial" pitchFamily="34" charset="0"/>
                          <a:ea typeface="Arial" pitchFamily="34" charset="-122"/>
                          <a:cs typeface="Arial" pitchFamily="34" charset="-120"/>
                        </a:rPr>
                        <a:t>Va sobre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Un método de lectura</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Un método de escritura (create/update/delete)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600" b="1" dirty="0">
                          <a:solidFill>
                            <a:srgbClr val="212121"/>
                          </a:solidFill>
                          <a:latin typeface="Arial" pitchFamily="34" charset="0"/>
                          <a:ea typeface="Arial" pitchFamily="34" charset="-122"/>
                          <a:cs typeface="Arial" pitchFamily="34" charset="-120"/>
                        </a:rPr>
                        <a:t>Qué hace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Guarda el resultado la primera vez; lo reutiliza después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Borra el resultado guardado</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77240">
                <a:tc>
                  <a:txBody>
                    <a:bodyPr/>
                    <a:lstStyle/>
                    <a:p>
                      <a:pPr marL="0" indent="0">
                        <a:buNone/>
                      </a:pPr>
                      <a:r>
                        <a:rPr lang="en-US" sz="1600" b="1" dirty="0">
                          <a:solidFill>
                            <a:srgbClr val="212121"/>
                          </a:solidFill>
                          <a:latin typeface="Arial" pitchFamily="34" charset="0"/>
                          <a:ea typeface="Arial" pitchFamily="34" charset="-122"/>
                          <a:cs typeface="Arial" pitchFamily="34" charset="-120"/>
                        </a:rPr>
                        <a:t>Con allEntries = true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No aplica</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600" dirty="0">
                          <a:solidFill>
                            <a:srgbClr val="212121"/>
                          </a:solidFill>
                          <a:latin typeface="Arial" pitchFamily="34" charset="0"/>
                          <a:ea typeface="Arial" pitchFamily="34" charset="-122"/>
                          <a:cs typeface="Arial" pitchFamily="34" charset="-120"/>
                        </a:rPr>
                        <a:t>Borra todas las entradas de esa caché de golpe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480560"/>
            <a:ext cx="11091672" cy="914400"/>
          </a:xfrm>
          <a:prstGeom prst="roundRect">
            <a:avLst/>
          </a:prstGeom>
          <a:solidFill>
            <a:srgbClr val="FFF3E0"/>
          </a:solidFill>
          <a:ln w="19050">
            <a:solidFill>
              <a:srgbClr val="FFA000"/>
            </a:solidFill>
            <a:prstDash val="solid"/>
          </a:ln>
        </p:spPr>
        <p:txBody>
          <a:bodyPr/>
          <a:lstStyle/>
          <a:p>
            <a:endParaRPr lang="es-ES"/>
          </a:p>
        </p:txBody>
      </p:sp>
      <p:sp>
        <p:nvSpPr>
          <p:cNvPr id="6" name="Text 3"/>
          <p:cNvSpPr/>
          <p:nvPr/>
        </p:nvSpPr>
        <p:spPr>
          <a:xfrm>
            <a:off x="822960" y="4572000"/>
            <a:ext cx="10543032" cy="731520"/>
          </a:xfrm>
          <a:prstGeom prst="rect">
            <a:avLst/>
          </a:prstGeom>
          <a:noFill/>
          <a:ln/>
        </p:spPr>
        <p:txBody>
          <a:bodyPr wrap="square" rtlCol="0" anchor="ctr"/>
          <a:lstStyle/>
          <a:p>
            <a:pPr marL="0" indent="0">
              <a:buNone/>
            </a:pPr>
            <a:r>
              <a:rPr lang="en-US" sz="1700" dirty="0">
                <a:solidFill>
                  <a:srgbClr val="212121"/>
                </a:solidFill>
                <a:latin typeface="Arial" pitchFamily="34" charset="0"/>
                <a:ea typeface="Arial" pitchFamily="34" charset="-122"/>
                <a:cs typeface="Arial" pitchFamily="34" charset="-120"/>
              </a:rPr>
              <a:t>Interesa allEntries = true porque cualquier escritura sobre el catálogo puede cambiar cuál es la lista de "más baratos" — no vale la pena intentar borrar solo la entrada afectada.</a:t>
            </a:r>
            <a:endParaRPr lang="en-US" sz="1700" dirty="0"/>
          </a:p>
        </p:txBody>
      </p:sp>
      <p:sp>
        <p:nvSpPr>
          <p:cNvPr id="7" name="Text 4"/>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Qué es Redis</a:t>
            </a:r>
            <a:endParaRPr lang="en-US" sz="2500" dirty="0"/>
          </a:p>
        </p:txBody>
      </p:sp>
      <p:sp>
        <p:nvSpPr>
          <p:cNvPr id="4" name="Text 2"/>
          <p:cNvSpPr/>
          <p:nvPr/>
        </p:nvSpPr>
        <p:spPr>
          <a:xfrm>
            <a:off x="548640" y="1097280"/>
            <a:ext cx="11091672" cy="64008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Redis es una base de datos en memoria, de tipo clave-valor, muy rápida, usada típicamente como caché compartida.</a:t>
            </a:r>
            <a:endParaRPr lang="en-US" sz="1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1" cy="2743200"/>
        </p:xfrm>
        <a:graphic>
          <a:graphicData uri="http://schemas.openxmlformats.org/drawingml/2006/table">
            <a:tbl>
              <a:tblPr/>
              <a:tblGrid>
                <a:gridCol w="3549335">
                  <a:extLst>
                    <a:ext uri="{9D8B030D-6E8A-4147-A177-3AD203B41FA5}">
                      <a16:colId xmlns:a16="http://schemas.microsoft.com/office/drawing/2014/main" val="20000"/>
                    </a:ext>
                  </a:extLst>
                </a:gridCol>
                <a:gridCol w="3771168">
                  <a:extLst>
                    <a:ext uri="{9D8B030D-6E8A-4147-A177-3AD203B41FA5}">
                      <a16:colId xmlns:a16="http://schemas.microsoft.com/office/drawing/2014/main" val="20001"/>
                    </a:ext>
                  </a:extLst>
                </a:gridCol>
                <a:gridCol w="3771168">
                  <a:extLst>
                    <a:ext uri="{9D8B030D-6E8A-4147-A177-3AD203B41FA5}">
                      <a16:colId xmlns:a16="http://schemas.microsoft.com/office/drawing/2014/main" val="20002"/>
                    </a:ext>
                  </a:extLst>
                </a:gridCol>
              </a:tblGrid>
              <a:tr h="685800">
                <a:tc>
                  <a:txBody>
                    <a:bodyPr/>
                    <a:lstStyle/>
                    <a:p>
                      <a:pPr marL="0" indent="0" algn="ctr">
                        <a:buNone/>
                      </a:pP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Caché en memoria de la app</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Caché en Redis</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6858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¿Sobrevive a un reinicio?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No — se pierde entera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Sí — vive en su propio contenedor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¿Se comparte entre instancias?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No — cada instancia tiene la suya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Sí — todas leen del mismo Redis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85800">
                <a:tc>
                  <a:txBody>
                    <a:bodyPr/>
                    <a:lstStyle/>
                    <a:p>
                      <a:pPr marL="0" indent="0">
                        <a:buNone/>
                      </a:pPr>
                      <a:r>
                        <a:rPr lang="en-US" sz="1500" b="1" dirty="0">
                          <a:solidFill>
                            <a:srgbClr val="212121"/>
                          </a:solidFill>
                          <a:latin typeface="Arial" pitchFamily="34" charset="0"/>
                          <a:ea typeface="Arial" pitchFamily="34" charset="-122"/>
                          <a:cs typeface="Arial" pitchFamily="34" charset="-120"/>
                        </a:rPr>
                        <a:t>¿Dónde vive el dato?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En un mapa dentro de la JVM</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En el contenedor Redis, aparte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Redis exige que lo que guardes sea Serializable</a:t>
            </a:r>
            <a:endParaRPr lang="en-US" sz="2500" dirty="0"/>
          </a:p>
        </p:txBody>
      </p:sp>
      <p:sp>
        <p:nvSpPr>
          <p:cNvPr id="4" name="Shape 2"/>
          <p:cNvSpPr/>
          <p:nvPr/>
        </p:nvSpPr>
        <p:spPr>
          <a:xfrm>
            <a:off x="548640" y="1371600"/>
            <a:ext cx="11091672" cy="2011680"/>
          </a:xfrm>
          <a:prstGeom prst="roundRect">
            <a:avLst/>
          </a:prstGeom>
          <a:solidFill>
            <a:srgbClr val="FFF3E0"/>
          </a:solidFill>
          <a:ln w="28575">
            <a:solidFill>
              <a:srgbClr val="FFA000"/>
            </a:solidFill>
            <a:prstDash val="solid"/>
          </a:ln>
        </p:spPr>
        <p:txBody>
          <a:bodyPr/>
          <a:lstStyle/>
          <a:p>
            <a:endParaRPr lang="es-ES"/>
          </a:p>
        </p:txBody>
      </p:sp>
      <p:sp>
        <p:nvSpPr>
          <p:cNvPr id="5" name="Text 3"/>
          <p:cNvSpPr/>
          <p:nvPr/>
        </p:nvSpPr>
        <p:spPr>
          <a:xfrm>
            <a:off x="822960" y="1481328"/>
            <a:ext cx="10543032" cy="1792224"/>
          </a:xfrm>
          <a:prstGeom prst="rect">
            <a:avLst/>
          </a:prstGeom>
          <a:noFill/>
          <a:ln/>
        </p:spPr>
        <p:txBody>
          <a:bodyPr wrap="square" rtlCol="0" anchor="t"/>
          <a:lstStyle/>
          <a:p>
            <a:pPr marL="0" indent="0">
              <a:buNone/>
            </a:pPr>
            <a:r>
              <a:rPr lang="en-US" sz="2000" b="1" dirty="0">
                <a:solidFill>
                  <a:srgbClr val="4E342E"/>
                </a:solidFill>
                <a:latin typeface="Arial" pitchFamily="34" charset="0"/>
                <a:ea typeface="Arial" pitchFamily="34" charset="-122"/>
                <a:cs typeface="Arial" pitchFamily="34" charset="-120"/>
              </a:rPr>
              <a:t>Atención
</a:t>
            </a:r>
            <a:endParaRPr lang="en-US" sz="2000" dirty="0"/>
          </a:p>
          <a:p>
            <a:pPr marL="0" indent="0">
              <a:buNone/>
            </a:pPr>
            <a:r>
              <a:rPr lang="en-US" sz="1900" dirty="0">
                <a:solidFill>
                  <a:srgbClr val="212121"/>
                </a:solidFill>
                <a:latin typeface="Arial" pitchFamily="34" charset="0"/>
                <a:ea typeface="Arial" pitchFamily="34" charset="-122"/>
                <a:cs typeface="Arial" pitchFamily="34" charset="-120"/>
              </a:rPr>
              <a:t>Para enviar un objeto por la red hasta Redis, Spring primero tiene que serializarlo. Por defecto, RedisCacheManager usa la serialización estándar de Java, que exige que la clase implemente Serializable. Un record como el que devuelve getLibrosBaratos() no la implementa por defecto, así que guardarlo en caché tal cual falla con un error de serialización.</a:t>
            </a:r>
            <a:endParaRPr lang="en-US" sz="2000" dirty="0"/>
          </a:p>
        </p:txBody>
      </p:sp>
      <p:sp>
        <p:nvSpPr>
          <p:cNvPr id="6" name="Shape 4"/>
          <p:cNvSpPr/>
          <p:nvPr/>
        </p:nvSpPr>
        <p:spPr>
          <a:xfrm>
            <a:off x="548640" y="3703320"/>
            <a:ext cx="11091672" cy="914400"/>
          </a:xfrm>
          <a:prstGeom prst="roundRect">
            <a:avLst/>
          </a:prstGeom>
          <a:solidFill>
            <a:srgbClr val="FFF3E0"/>
          </a:solidFill>
          <a:ln w="19050">
            <a:solidFill>
              <a:srgbClr val="FFA000"/>
            </a:solidFill>
            <a:prstDash val="solid"/>
          </a:ln>
        </p:spPr>
        <p:txBody>
          <a:bodyPr/>
          <a:lstStyle/>
          <a:p>
            <a:endParaRPr lang="es-ES"/>
          </a:p>
        </p:txBody>
      </p:sp>
      <p:sp>
        <p:nvSpPr>
          <p:cNvPr id="7" name="Text 5"/>
          <p:cNvSpPr/>
          <p:nvPr/>
        </p:nvSpPr>
        <p:spPr>
          <a:xfrm>
            <a:off x="822960" y="3794760"/>
            <a:ext cx="10543032" cy="73152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La solución más simple y fiable: que el propio DTO implemente Serializable — un record puede hacerlo sin cambiar nada más de su definición.</a:t>
            </a:r>
            <a:endParaRPr lang="en-US" sz="1900" dirty="0"/>
          </a:p>
        </p:txBody>
      </p:sp>
      <p:sp>
        <p:nvSpPr>
          <p:cNvPr id="8"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Por qué esto todavía no basta</a:t>
            </a:r>
            <a:endParaRPr lang="en-US" sz="2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1671" cy="3108960"/>
        </p:xfrm>
        <a:graphic>
          <a:graphicData uri="http://schemas.openxmlformats.org/drawingml/2006/table">
            <a:tbl>
              <a:tblPr/>
              <a:tblGrid>
                <a:gridCol w="2662001">
                  <a:extLst>
                    <a:ext uri="{9D8B030D-6E8A-4147-A177-3AD203B41FA5}">
                      <a16:colId xmlns:a16="http://schemas.microsoft.com/office/drawing/2014/main" val="20000"/>
                    </a:ext>
                  </a:extLst>
                </a:gridCol>
                <a:gridCol w="4214835">
                  <a:extLst>
                    <a:ext uri="{9D8B030D-6E8A-4147-A177-3AD203B41FA5}">
                      <a16:colId xmlns:a16="http://schemas.microsoft.com/office/drawing/2014/main" val="20001"/>
                    </a:ext>
                  </a:extLst>
                </a:gridCol>
                <a:gridCol w="4214835">
                  <a:extLst>
                    <a:ext uri="{9D8B030D-6E8A-4147-A177-3AD203B41FA5}">
                      <a16:colId xmlns:a16="http://schemas.microsoft.com/office/drawing/2014/main" val="20002"/>
                    </a:ext>
                  </a:extLst>
                </a:gridCol>
              </a:tblGrid>
              <a:tr h="777240">
                <a:tc>
                  <a:txBody>
                    <a:bodyPr/>
                    <a:lstStyle/>
                    <a:p>
                      <a:pPr marL="0" indent="0" algn="ctr">
                        <a:buNone/>
                      </a:pP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Invalidar (@CacheEvict)</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Recalentar (volver a llamar)</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7772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¿Dónde ocurre?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Dentro de create()/update()/delete(), en el hilo de la petición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Ahí mismo, si lo llamaras a continuación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¿Cuánto cuesta?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Poco — borrar una entrada de Redis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Mucho — la misma consulta lenta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772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¿Quién paga ese coste?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El cliente que solo quería crear un libro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480560"/>
            <a:ext cx="11091672" cy="914400"/>
          </a:xfrm>
          <a:prstGeom prst="roundRect">
            <a:avLst/>
          </a:prstGeom>
          <a:solidFill>
            <a:srgbClr val="FFF3E0"/>
          </a:solidFill>
          <a:ln w="19050">
            <a:solidFill>
              <a:srgbClr val="FFA000"/>
            </a:solidFill>
            <a:prstDash val="solid"/>
          </a:ln>
        </p:spPr>
        <p:txBody>
          <a:bodyPr/>
          <a:lstStyle/>
          <a:p>
            <a:endParaRPr lang="es-ES"/>
          </a:p>
        </p:txBody>
      </p:sp>
      <p:sp>
        <p:nvSpPr>
          <p:cNvPr id="6" name="Text 3"/>
          <p:cNvSpPr/>
          <p:nvPr/>
        </p:nvSpPr>
        <p:spPr>
          <a:xfrm>
            <a:off x="822960" y="4572000"/>
            <a:ext cx="10543032" cy="731520"/>
          </a:xfrm>
          <a:prstGeom prst="rect">
            <a:avLst/>
          </a:prstGeom>
          <a:noFill/>
          <a:ln/>
        </p:spPr>
        <p:txBody>
          <a:bodyPr wrap="square" rtlCol="0" anchor="ctr"/>
          <a:lstStyle/>
          <a:p>
            <a:pPr marL="0" indent="0">
              <a:buNone/>
            </a:pPr>
            <a:r>
              <a:rPr lang="en-US" sz="1700" dirty="0">
                <a:solidFill>
                  <a:srgbClr val="212121"/>
                </a:solidFill>
                <a:latin typeface="Arial" pitchFamily="34" charset="0"/>
                <a:ea typeface="Arial" pitchFamily="34" charset="-122"/>
                <a:cs typeface="Arial" pitchFamily="34" charset="-120"/>
              </a:rPr>
              <a:t>La misma solución de siempre: que create()/update()/delete() se limiten a anunciar que la caché se ha invalidado, sin saber quién, cómo o cuándo se encarga de recalentarla. Eso es un evento.</a:t>
            </a:r>
            <a:endParaRPr lang="en-US" sz="1700" dirty="0"/>
          </a:p>
        </p:txBody>
      </p:sp>
      <p:sp>
        <p:nvSpPr>
          <p:cNvPr id="7" name="Text 4"/>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Qué es un evento (observador / publicador-suscriptor)</a:t>
            </a:r>
            <a:endParaRPr lang="en-US" sz="2500" dirty="0"/>
          </a:p>
        </p:txBody>
      </p:sp>
      <p:sp>
        <p:nvSpPr>
          <p:cNvPr id="4" name="Text 2"/>
          <p:cNvSpPr/>
          <p:nvPr/>
        </p:nvSpPr>
        <p:spPr>
          <a:xfrm>
            <a:off x="548640" y="1097280"/>
            <a:ext cx="11091672" cy="100584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Un evento es "algo ha pasado", empaquetado como un objeto. Dos papeles: quien publica (anuncia, sin saber quién escucha) y quien escucha (reacciona, sin que el publicador lo conozca).</a:t>
            </a:r>
            <a:endParaRPr lang="en-US" sz="1900" dirty="0"/>
          </a:p>
        </p:txBody>
      </p:sp>
      <p:sp>
        <p:nvSpPr>
          <p:cNvPr id="5" name="Shape 3"/>
          <p:cNvSpPr/>
          <p:nvPr/>
        </p:nvSpPr>
        <p:spPr>
          <a:xfrm>
            <a:off x="548640" y="2194560"/>
            <a:ext cx="11091672" cy="105156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2286000"/>
            <a:ext cx="10543032" cy="86868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Publicar una foto en redes sociales: no sabes ni te importa cuántas apps reaccionarán (notificar seguidores, generar miniatura, actualizar contador) — cada una se suscribe por su cuenta.</a:t>
            </a:r>
            <a:endParaRPr lang="en-US" sz="1800" dirty="0"/>
          </a:p>
        </p:txBody>
      </p:sp>
      <p:sp>
        <p:nvSpPr>
          <p:cNvPr id="7" name="Text 5"/>
          <p:cNvSpPr/>
          <p:nvPr/>
        </p:nvSpPr>
        <p:spPr>
          <a:xfrm>
            <a:off x="548640" y="3520440"/>
            <a:ext cx="11091672" cy="914400"/>
          </a:xfrm>
          <a:prstGeom prst="rect">
            <a:avLst/>
          </a:prstGeom>
          <a:noFill/>
          <a:ln/>
        </p:spPr>
        <p:txBody>
          <a:bodyPr wrap="square" rtlCol="0" anchor="t"/>
          <a:lstStyle/>
          <a:p>
            <a:pPr marL="0" indent="0">
              <a:buNone/>
            </a:pPr>
            <a:r>
              <a:rPr lang="en-US" sz="1700" i="1" dirty="0">
                <a:solidFill>
                  <a:srgbClr val="757575"/>
                </a:solidFill>
                <a:latin typeface="Arial" pitchFamily="34" charset="0"/>
                <a:ea typeface="Arial" pitchFamily="34" charset="-122"/>
                <a:cs typeface="Arial" pitchFamily="34" charset="-120"/>
              </a:rPr>
              <a:t>Ya has usado este patrón: los eventos de una interfaz gráfica, y RabbitMQ (Actividad 3.1) — un broker externo con productores y consumidores que no se conocen. Mismo patrón, distinta escala.</a:t>
            </a:r>
            <a:endParaRPr lang="en-US" sz="1700" dirty="0"/>
          </a:p>
        </p:txBody>
      </p:sp>
      <p:sp>
        <p:nvSpPr>
          <p:cNvPr id="8"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ApplicationEventPublisher: eventos dentro de la JVM</a:t>
            </a:r>
            <a:endParaRPr lang="en-US" sz="2500" dirty="0"/>
          </a:p>
        </p:txBody>
      </p:sp>
      <p:sp>
        <p:nvSpPr>
          <p:cNvPr id="4" name="Text 2"/>
          <p:cNvSpPr/>
          <p:nvPr/>
        </p:nvSpPr>
        <p:spPr>
          <a:xfrm>
            <a:off x="548640" y="1280160"/>
            <a:ext cx="11091672" cy="91440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Para "la caché se ha invalidado" no hace falta nada tan pesado como un broker externo: Spring ofrece una versión más ligera del mismo patrón, dentro de la propia aplicación.</a:t>
            </a:r>
            <a:endParaRPr lang="en-US" sz="1900" dirty="0"/>
          </a:p>
        </p:txBody>
      </p:sp>
      <p:sp>
        <p:nvSpPr>
          <p:cNvPr id="5" name="Shape 3"/>
          <p:cNvSpPr/>
          <p:nvPr/>
        </p:nvSpPr>
        <p:spPr>
          <a:xfrm>
            <a:off x="548640" y="2286000"/>
            <a:ext cx="11091672" cy="1737360"/>
          </a:xfrm>
          <a:prstGeom prst="roundRect">
            <a:avLst/>
          </a:prstGeom>
          <a:solidFill>
            <a:srgbClr val="FFF3E0"/>
          </a:solidFill>
          <a:ln w="28575">
            <a:solidFill>
              <a:srgbClr val="FFA000"/>
            </a:solidFill>
            <a:prstDash val="solid"/>
          </a:ln>
        </p:spPr>
        <p:txBody>
          <a:bodyPr/>
          <a:lstStyle/>
          <a:p>
            <a:endParaRPr lang="es-ES"/>
          </a:p>
        </p:txBody>
      </p:sp>
      <p:sp>
        <p:nvSpPr>
          <p:cNvPr id="6" name="Text 4"/>
          <p:cNvSpPr/>
          <p:nvPr/>
        </p:nvSpPr>
        <p:spPr>
          <a:xfrm>
            <a:off x="822960" y="2395728"/>
            <a:ext cx="10543032" cy="1517904"/>
          </a:xfrm>
          <a:prstGeom prst="rect">
            <a:avLst/>
          </a:prstGeom>
          <a:noFill/>
          <a:ln/>
        </p:spPr>
        <p:txBody>
          <a:bodyPr wrap="square" rtlCol="0" anchor="t"/>
          <a:lstStyle/>
          <a:p>
            <a:pPr marL="0" indent="0">
              <a:buNone/>
            </a:pPr>
            <a:r>
              <a:rPr lang="en-US" sz="2000" b="1" dirty="0">
                <a:solidFill>
                  <a:srgbClr val="4E342E"/>
                </a:solidFill>
                <a:latin typeface="Arial" pitchFamily="34" charset="0"/>
                <a:ea typeface="Arial" pitchFamily="34" charset="-122"/>
                <a:cs typeface="Arial" pitchFamily="34" charset="-120"/>
              </a:rPr>
              <a:t>No lo confundas con RabbitMQ
</a:t>
            </a:r>
            <a:endParaRPr lang="en-US" sz="2000" dirty="0"/>
          </a:p>
          <a:p>
            <a:pPr marL="0" indent="0">
              <a:buNone/>
            </a:pPr>
            <a:r>
              <a:rPr lang="en-US" sz="1900" dirty="0">
                <a:solidFill>
                  <a:srgbClr val="212121"/>
                </a:solidFill>
                <a:latin typeface="Arial" pitchFamily="34" charset="0"/>
                <a:ea typeface="Arial" pitchFamily="34" charset="-122"/>
                <a:cs typeface="Arial" pitchFamily="34" charset="-120"/>
              </a:rPr>
              <a:t>RabbitMQ: mensajería entre procesos/módulos, a través de un broker externo. ApplicationEventPublisher: eventos dentro de la misma JVM, entre beans de la misma aplicación, sin ningún broker — mucho más ligero, pero solo sirve dentro del propio proceso.</a:t>
            </a:r>
            <a:endParaRPr lang="en-US" sz="2000" dirty="0"/>
          </a:p>
        </p:txBody>
      </p:sp>
      <p:sp>
        <p:nvSpPr>
          <p:cNvPr id="7"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diseño del warm-up (pieza 1 de 2)</a:t>
            </a:r>
            <a:endParaRPr lang="en-US" sz="2500" dirty="0"/>
          </a:p>
        </p:txBody>
      </p:sp>
      <p:sp>
        <p:nvSpPr>
          <p:cNvPr id="4" name="Shape 2"/>
          <p:cNvSpPr/>
          <p:nvPr/>
        </p:nvSpPr>
        <p:spPr>
          <a:xfrm>
            <a:off x="548640" y="1371600"/>
            <a:ext cx="3026664" cy="1188720"/>
          </a:xfrm>
          <a:prstGeom prst="roundRect">
            <a:avLst/>
          </a:prstGeom>
          <a:solidFill>
            <a:srgbClr val="EFEBE9"/>
          </a:solidFill>
          <a:ln w="15875">
            <a:solidFill>
              <a:srgbClr val="6D4C41"/>
            </a:solidFill>
            <a:prstDash val="solid"/>
          </a:ln>
        </p:spPr>
        <p:txBody>
          <a:bodyPr/>
          <a:lstStyle/>
          <a:p>
            <a:endParaRPr lang="es-ES"/>
          </a:p>
        </p:txBody>
      </p:sp>
      <p:sp>
        <p:nvSpPr>
          <p:cNvPr id="5" name="Text 3"/>
          <p:cNvSpPr/>
          <p:nvPr/>
        </p:nvSpPr>
        <p:spPr>
          <a:xfrm>
            <a:off x="594360" y="1417320"/>
            <a:ext cx="2935224" cy="109728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LibroService</a:t>
            </a:r>
            <a:endParaRPr lang="en-US" sz="1600" dirty="0"/>
          </a:p>
          <a:p>
            <a:pPr marL="0" indent="0" algn="ctr">
              <a:buNone/>
            </a:pPr>
            <a:r>
              <a:rPr lang="en-US" sz="1600" dirty="0">
                <a:solidFill>
                  <a:srgbClr val="212121"/>
                </a:solidFill>
                <a:latin typeface="Arial" pitchFamily="34" charset="0"/>
                <a:ea typeface="Arial" pitchFamily="34" charset="-122"/>
                <a:cs typeface="Arial" pitchFamily="34" charset="-120"/>
              </a:rPr>
              <a:t>@CacheEvict tras escritura</a:t>
            </a:r>
            <a:endParaRPr lang="en-US" sz="1600" dirty="0"/>
          </a:p>
        </p:txBody>
      </p:sp>
      <p:sp>
        <p:nvSpPr>
          <p:cNvPr id="6" name="Text 4"/>
          <p:cNvSpPr/>
          <p:nvPr/>
        </p:nvSpPr>
        <p:spPr>
          <a:xfrm>
            <a:off x="3529584" y="1371600"/>
            <a:ext cx="1097280" cy="1188720"/>
          </a:xfrm>
          <a:prstGeom prst="rect">
            <a:avLst/>
          </a:prstGeom>
          <a:noFill/>
          <a:ln/>
        </p:spPr>
        <p:txBody>
          <a:bodyPr wrap="square" rtlCol="0" anchor="ctr"/>
          <a:lstStyle/>
          <a:p>
            <a:pPr marL="0" indent="0" algn="ctr">
              <a:buNone/>
            </a:pPr>
            <a:r>
              <a:rPr lang="en-US" sz="1200" b="1" i="1" dirty="0">
                <a:solidFill>
                  <a:srgbClr val="6D4C41"/>
                </a:solidFill>
                <a:latin typeface="Arial" pitchFamily="34" charset="0"/>
                <a:ea typeface="Arial" pitchFamily="34" charset="-122"/>
                <a:cs typeface="Arial" pitchFamily="34" charset="-120"/>
              </a:rPr>
              <a:t>publica  →</a:t>
            </a:r>
            <a:endParaRPr lang="en-US" sz="1200" dirty="0"/>
          </a:p>
        </p:txBody>
      </p:sp>
      <p:sp>
        <p:nvSpPr>
          <p:cNvPr id="7" name="Shape 5"/>
          <p:cNvSpPr/>
          <p:nvPr/>
        </p:nvSpPr>
        <p:spPr>
          <a:xfrm>
            <a:off x="4581144" y="1371600"/>
            <a:ext cx="3026664" cy="1188720"/>
          </a:xfrm>
          <a:prstGeom prst="roundRect">
            <a:avLst/>
          </a:prstGeom>
          <a:solidFill>
            <a:srgbClr val="EFEBE9"/>
          </a:solidFill>
          <a:ln w="15875">
            <a:solidFill>
              <a:srgbClr val="6D4C41"/>
            </a:solidFill>
            <a:prstDash val="solid"/>
          </a:ln>
        </p:spPr>
        <p:txBody>
          <a:bodyPr/>
          <a:lstStyle/>
          <a:p>
            <a:endParaRPr lang="es-ES"/>
          </a:p>
        </p:txBody>
      </p:sp>
      <p:sp>
        <p:nvSpPr>
          <p:cNvPr id="8" name="Text 6"/>
          <p:cNvSpPr/>
          <p:nvPr/>
        </p:nvSpPr>
        <p:spPr>
          <a:xfrm>
            <a:off x="4626864" y="1417320"/>
            <a:ext cx="2935224" cy="109728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LibrosBaratosInvalidadoEvent</a:t>
            </a:r>
            <a:endParaRPr lang="en-US" sz="1600" dirty="0"/>
          </a:p>
        </p:txBody>
      </p:sp>
      <p:sp>
        <p:nvSpPr>
          <p:cNvPr id="9" name="Text 7"/>
          <p:cNvSpPr/>
          <p:nvPr/>
        </p:nvSpPr>
        <p:spPr>
          <a:xfrm>
            <a:off x="7562088" y="1371600"/>
            <a:ext cx="1097280" cy="1188720"/>
          </a:xfrm>
          <a:prstGeom prst="rect">
            <a:avLst/>
          </a:prstGeom>
          <a:noFill/>
          <a:ln/>
        </p:spPr>
        <p:txBody>
          <a:bodyPr wrap="square" rtlCol="0" anchor="ctr"/>
          <a:lstStyle/>
          <a:p>
            <a:pPr marL="0" indent="0" algn="ctr">
              <a:buNone/>
            </a:pPr>
            <a:r>
              <a:rPr lang="en-US" sz="1200" b="1" i="1" dirty="0">
                <a:solidFill>
                  <a:srgbClr val="6D4C41"/>
                </a:solidFill>
                <a:latin typeface="Arial" pitchFamily="34" charset="0"/>
                <a:ea typeface="Arial" pitchFamily="34" charset="-122"/>
                <a:cs typeface="Arial" pitchFamily="34" charset="-120"/>
              </a:rPr>
              <a:t>próx. apartado  →</a:t>
            </a:r>
            <a:endParaRPr lang="en-US" sz="1200" dirty="0"/>
          </a:p>
        </p:txBody>
      </p:sp>
      <p:sp>
        <p:nvSpPr>
          <p:cNvPr id="10" name="Shape 8"/>
          <p:cNvSpPr/>
          <p:nvPr/>
        </p:nvSpPr>
        <p:spPr>
          <a:xfrm>
            <a:off x="8613648" y="1371600"/>
            <a:ext cx="3026664" cy="1188720"/>
          </a:xfrm>
          <a:prstGeom prst="roundRect">
            <a:avLst/>
          </a:prstGeom>
          <a:solidFill>
            <a:srgbClr val="EFEBE9"/>
          </a:solidFill>
          <a:ln w="15875">
            <a:solidFill>
              <a:srgbClr val="6D4C41"/>
            </a:solidFill>
            <a:prstDash val="solid"/>
          </a:ln>
        </p:spPr>
        <p:txBody>
          <a:bodyPr/>
          <a:lstStyle/>
          <a:p>
            <a:endParaRPr lang="es-ES"/>
          </a:p>
        </p:txBody>
      </p:sp>
      <p:sp>
        <p:nvSpPr>
          <p:cNvPr id="11" name="Text 9"/>
          <p:cNvSpPr/>
          <p:nvPr/>
        </p:nvSpPr>
        <p:spPr>
          <a:xfrm>
            <a:off x="8659368" y="1417320"/>
            <a:ext cx="2935224" cy="109728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Listener @Async</a:t>
            </a:r>
            <a:endParaRPr lang="en-US" sz="1600" dirty="0"/>
          </a:p>
          <a:p>
            <a:pPr marL="0" indent="0" algn="ctr">
              <a:buNone/>
            </a:pPr>
            <a:r>
              <a:rPr lang="en-US" sz="1600" dirty="0">
                <a:solidFill>
                  <a:srgbClr val="212121"/>
                </a:solidFill>
                <a:latin typeface="Arial" pitchFamily="34" charset="0"/>
                <a:ea typeface="Arial" pitchFamily="34" charset="-122"/>
                <a:cs typeface="Arial" pitchFamily="34" charset="-120"/>
              </a:rPr>
              <a:t>recalienta la caché</a:t>
            </a:r>
            <a:endParaRPr lang="en-US" sz="1600" dirty="0"/>
          </a:p>
        </p:txBody>
      </p:sp>
      <p:sp>
        <p:nvSpPr>
          <p:cNvPr id="12" name="Shape 10"/>
          <p:cNvSpPr/>
          <p:nvPr/>
        </p:nvSpPr>
        <p:spPr>
          <a:xfrm>
            <a:off x="548640" y="2926080"/>
            <a:ext cx="11091672" cy="1280160"/>
          </a:xfrm>
          <a:prstGeom prst="roundRect">
            <a:avLst/>
          </a:prstGeom>
          <a:solidFill>
            <a:srgbClr val="FFF3E0"/>
          </a:solidFill>
          <a:ln w="19050">
            <a:solidFill>
              <a:srgbClr val="FFA000"/>
            </a:solidFill>
            <a:prstDash val="solid"/>
          </a:ln>
        </p:spPr>
        <p:txBody>
          <a:bodyPr/>
          <a:lstStyle/>
          <a:p>
            <a:endParaRPr lang="es-ES"/>
          </a:p>
        </p:txBody>
      </p:sp>
      <p:sp>
        <p:nvSpPr>
          <p:cNvPr id="13" name="Text 11"/>
          <p:cNvSpPr/>
          <p:nvPr/>
        </p:nvSpPr>
        <p:spPr>
          <a:xfrm>
            <a:off x="822960" y="3017520"/>
            <a:ext cx="10543032" cy="109728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Cuando LibroService invalida la caché (en create/update/delete, cada uno con @CacheEvict), publica además un evento interno. Sin listener todavía, publicarlo no hace nada visible — el sistema queda "emitiendo" a la espera de la pieza 2.</a:t>
            </a:r>
            <a:endParaRPr lang="en-US" sz="1900" dirty="0"/>
          </a:p>
        </p:txBody>
      </p:sp>
      <p:sp>
        <p:nvSpPr>
          <p:cNvPr id="14" name="Text 1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 clase de evento: un record inmutable</a:t>
            </a:r>
            <a:endParaRPr lang="en-US" sz="2500" dirty="0"/>
          </a:p>
        </p:txBody>
      </p:sp>
      <p:sp>
        <p:nvSpPr>
          <p:cNvPr id="4" name="Shape 2"/>
          <p:cNvSpPr/>
          <p:nvPr/>
        </p:nvSpPr>
        <p:spPr>
          <a:xfrm>
            <a:off x="548640" y="1097280"/>
            <a:ext cx="11091672" cy="777240"/>
          </a:xfrm>
          <a:prstGeom prst="rect">
            <a:avLst/>
          </a:prstGeom>
          <a:solidFill>
            <a:srgbClr val="ECEFF1"/>
          </a:solidFill>
          <a:ln w="12700">
            <a:solidFill>
              <a:srgbClr val="EEEEEE"/>
            </a:solidFill>
            <a:prstDash val="solid"/>
          </a:ln>
        </p:spPr>
        <p:txBody>
          <a:bodyPr/>
          <a:lstStyle/>
          <a:p>
            <a:endParaRPr lang="es-ES"/>
          </a:p>
        </p:txBody>
      </p:sp>
      <p:sp>
        <p:nvSpPr>
          <p:cNvPr id="5" name="Shape 3"/>
          <p:cNvSpPr/>
          <p:nvPr/>
        </p:nvSpPr>
        <p:spPr>
          <a:xfrm>
            <a:off x="548640" y="1097280"/>
            <a:ext cx="73152" cy="777240"/>
          </a:xfrm>
          <a:prstGeom prst="rect">
            <a:avLst/>
          </a:prstGeom>
          <a:solidFill>
            <a:srgbClr val="FFA000"/>
          </a:solidFill>
          <a:ln w="12700">
            <a:solidFill>
              <a:srgbClr val="FFA000"/>
            </a:solidFill>
            <a:prstDash val="solid"/>
          </a:ln>
        </p:spPr>
        <p:txBody>
          <a:bodyPr/>
          <a:lstStyle/>
          <a:p>
            <a:endParaRPr lang="es-ES"/>
          </a:p>
        </p:txBody>
      </p:sp>
      <p:sp>
        <p:nvSpPr>
          <p:cNvPr id="6" name="Text 4"/>
          <p:cNvSpPr/>
          <p:nvPr/>
        </p:nvSpPr>
        <p:spPr>
          <a:xfrm>
            <a:off x="822960" y="1207008"/>
            <a:ext cx="10588752" cy="55778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public record LibrosBaratosInvalidadoEvent(Instant momento) {}</a:t>
            </a:r>
            <a:endParaRPr lang="en-US" sz="1700" dirty="0"/>
          </a:p>
        </p:txBody>
      </p:sp>
      <p:sp>
        <p:nvSpPr>
          <p:cNvPr id="7" name="Shape 5"/>
          <p:cNvSpPr/>
          <p:nvPr/>
        </p:nvSpPr>
        <p:spPr>
          <a:xfrm>
            <a:off x="548640" y="2148840"/>
            <a:ext cx="11091672" cy="1188720"/>
          </a:xfrm>
          <a:prstGeom prst="roundRect">
            <a:avLst/>
          </a:prstGeom>
          <a:solidFill>
            <a:srgbClr val="FFF3E0"/>
          </a:solidFill>
          <a:ln w="19050">
            <a:solidFill>
              <a:srgbClr val="FFA000"/>
            </a:solidFill>
            <a:prstDash val="solid"/>
          </a:ln>
        </p:spPr>
        <p:txBody>
          <a:bodyPr/>
          <a:lstStyle/>
          <a:p>
            <a:endParaRPr lang="es-ES"/>
          </a:p>
        </p:txBody>
      </p:sp>
      <p:sp>
        <p:nvSpPr>
          <p:cNvPr id="8" name="Text 6"/>
          <p:cNvSpPr/>
          <p:nvPr/>
        </p:nvSpPr>
        <p:spPr>
          <a:xfrm>
            <a:off x="822960" y="2240280"/>
            <a:ext cx="10543032" cy="100584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Un record es inmutable por diseño, y eso importa cuando el objeto viaja entre hilos: no puede cambiar después de crearse, así que no hay riesgo de que un hilo lo modifique mientras otro lo lee — sin synchronized ni locks.</a:t>
            </a:r>
            <a:endParaRPr lang="en-US" sz="1900" dirty="0"/>
          </a:p>
        </p:txBody>
      </p:sp>
      <p:sp>
        <p:nvSpPr>
          <p:cNvPr id="9" name="Text 7"/>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 publicación</a:t>
            </a:r>
            <a:endParaRPr lang="en-US" sz="2500" dirty="0"/>
          </a:p>
        </p:txBody>
      </p:sp>
      <p:sp>
        <p:nvSpPr>
          <p:cNvPr id="4" name="Shape 2"/>
          <p:cNvSpPr/>
          <p:nvPr/>
        </p:nvSpPr>
        <p:spPr>
          <a:xfrm>
            <a:off x="548640" y="1097280"/>
            <a:ext cx="11091672" cy="2651760"/>
          </a:xfrm>
          <a:prstGeom prst="rect">
            <a:avLst/>
          </a:prstGeom>
          <a:solidFill>
            <a:srgbClr val="ECEFF1"/>
          </a:solidFill>
          <a:ln w="12700">
            <a:solidFill>
              <a:srgbClr val="EEEEEE"/>
            </a:solidFill>
            <a:prstDash val="solid"/>
          </a:ln>
        </p:spPr>
        <p:txBody>
          <a:bodyPr/>
          <a:lstStyle/>
          <a:p>
            <a:endParaRPr lang="es-ES"/>
          </a:p>
        </p:txBody>
      </p:sp>
      <p:sp>
        <p:nvSpPr>
          <p:cNvPr id="5" name="Shape 3"/>
          <p:cNvSpPr/>
          <p:nvPr/>
        </p:nvSpPr>
        <p:spPr>
          <a:xfrm>
            <a:off x="548640" y="1097280"/>
            <a:ext cx="73152" cy="2651760"/>
          </a:xfrm>
          <a:prstGeom prst="rect">
            <a:avLst/>
          </a:prstGeom>
          <a:solidFill>
            <a:srgbClr val="FFA000"/>
          </a:solidFill>
          <a:ln w="12700">
            <a:solidFill>
              <a:srgbClr val="FFA000"/>
            </a:solidFill>
            <a:prstDash val="solid"/>
          </a:ln>
        </p:spPr>
        <p:txBody>
          <a:bodyPr/>
          <a:lstStyle/>
          <a:p>
            <a:endParaRPr lang="es-ES"/>
          </a:p>
        </p:txBody>
      </p:sp>
      <p:sp>
        <p:nvSpPr>
          <p:cNvPr id="6" name="Text 4"/>
          <p:cNvSpPr/>
          <p:nvPr/>
        </p:nvSpPr>
        <p:spPr>
          <a:xfrm>
            <a:off x="822960" y="1207008"/>
            <a:ext cx="10588752" cy="243230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@CacheEvict(value = "librosBaratos", allEntries = true,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beforeInvocation = true)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@Transactional</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public LibroResponseDTO create(LibroCreateDTO dto)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 ... lógica de creación ya existente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eventPublisher.publishEvent(</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new LibrosBaratosInvalidadoEvent(Instant.now()));</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return mapToDTO(saved);</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
        <p:nvSpPr>
          <p:cNvPr id="7" name="Text 5"/>
          <p:cNvSpPr/>
          <p:nvPr/>
        </p:nvSpPr>
        <p:spPr>
          <a:xfrm>
            <a:off x="548640" y="3977640"/>
            <a:ext cx="11091672" cy="77724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La misma línea va también en update() y delete(), junto a su propio @CacheEvict: un libro editado o borrado puede cambiar igual de bien cuáles son los "más baratos".</a:t>
            </a:r>
            <a:endParaRPr lang="en-US" sz="1600" dirty="0"/>
          </a:p>
        </p:txBody>
      </p:sp>
      <p:sp>
        <p:nvSpPr>
          <p:cNvPr id="8"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beforeInvocation = true no es un detalle menor</a:t>
            </a:r>
            <a:endParaRPr lang="en-US" sz="2500" dirty="0"/>
          </a:p>
        </p:txBody>
      </p:sp>
      <p:sp>
        <p:nvSpPr>
          <p:cNvPr id="4" name="Shape 2"/>
          <p:cNvSpPr/>
          <p:nvPr/>
        </p:nvSpPr>
        <p:spPr>
          <a:xfrm>
            <a:off x="548640" y="1371600"/>
            <a:ext cx="11091672" cy="1828800"/>
          </a:xfrm>
          <a:prstGeom prst="roundRect">
            <a:avLst/>
          </a:prstGeom>
          <a:solidFill>
            <a:srgbClr val="FFF3E0"/>
          </a:solidFill>
          <a:ln w="28575">
            <a:solidFill>
              <a:srgbClr val="FFA000"/>
            </a:solidFill>
            <a:prstDash val="solid"/>
          </a:ln>
        </p:spPr>
        <p:txBody>
          <a:bodyPr/>
          <a:lstStyle/>
          <a:p>
            <a:endParaRPr lang="es-ES"/>
          </a:p>
        </p:txBody>
      </p:sp>
      <p:sp>
        <p:nvSpPr>
          <p:cNvPr id="5" name="Text 3"/>
          <p:cNvSpPr/>
          <p:nvPr/>
        </p:nvSpPr>
        <p:spPr>
          <a:xfrm>
            <a:off x="822960" y="1481328"/>
            <a:ext cx="10543032" cy="1609344"/>
          </a:xfrm>
          <a:prstGeom prst="rect">
            <a:avLst/>
          </a:prstGeom>
          <a:noFill/>
          <a:ln/>
        </p:spPr>
        <p:txBody>
          <a:bodyPr wrap="square" rtlCol="0" anchor="t"/>
          <a:lstStyle/>
          <a:p>
            <a:pPr marL="0" indent="0">
              <a:buNone/>
            </a:pPr>
            <a:r>
              <a:rPr lang="en-US" sz="2000" b="1" dirty="0">
                <a:solidFill>
                  <a:srgbClr val="4E342E"/>
                </a:solidFill>
                <a:latin typeface="Arial" pitchFamily="34" charset="0"/>
                <a:ea typeface="Arial" pitchFamily="34" charset="-122"/>
                <a:cs typeface="Arial" pitchFamily="34" charset="-120"/>
              </a:rPr>
              <a:t>Atención
</a:t>
            </a:r>
            <a:endParaRPr lang="en-US" sz="2000" dirty="0"/>
          </a:p>
          <a:p>
            <a:pPr marL="0" indent="0">
              <a:buNone/>
            </a:pPr>
            <a:r>
              <a:rPr lang="en-US" sz="1900" dirty="0">
                <a:solidFill>
                  <a:srgbClr val="212121"/>
                </a:solidFill>
                <a:latin typeface="Arial" pitchFamily="34" charset="0"/>
                <a:ea typeface="Arial" pitchFamily="34" charset="-122"/>
                <a:cs typeface="Arial" pitchFamily="34" charset="-120"/>
              </a:rPr>
              <a:t>Por defecto, @CacheEvict elimina la entrada después de que el método termine correctamente. Con beforeInvocation = true lo hace ANTES de entrar en create()/update()/delete(), garantizando que la entrada anterior ya se ha eliminado cuando se publica el evento.</a:t>
            </a:r>
            <a:endParaRPr lang="en-US" sz="2000" dirty="0"/>
          </a:p>
        </p:txBody>
      </p:sp>
      <p:sp>
        <p:nvSpPr>
          <p:cNvPr id="6" name="Text 4"/>
          <p:cNvSpPr/>
          <p:nvPr/>
        </p:nvSpPr>
        <p:spPr>
          <a:xfrm>
            <a:off x="548640" y="3520440"/>
            <a:ext cx="11091672" cy="1097280"/>
          </a:xfrm>
          <a:prstGeom prst="rect">
            <a:avLst/>
          </a:prstGeom>
          <a:noFill/>
          <a:ln/>
        </p:spPr>
        <p:txBody>
          <a:bodyPr wrap="square" rtlCol="0" anchor="t"/>
          <a:lstStyle/>
          <a:p>
            <a:pPr marL="0" indent="0">
              <a:buNone/>
            </a:pPr>
            <a:r>
              <a:rPr lang="en-US" sz="1800" i="1" dirty="0">
                <a:solidFill>
                  <a:srgbClr val="757575"/>
                </a:solidFill>
                <a:latin typeface="Arial" pitchFamily="34" charset="0"/>
                <a:ea typeface="Arial" pitchFamily="34" charset="-122"/>
                <a:cs typeface="Arial" pitchFamily="34" charset="-120"/>
              </a:rPr>
              <a:t>La contrapartida: si la escritura termina fallando, la caché ya habrá sido vaciada y tendrá que calcularse de nuevo más adelante — una decisión sencilla y adecuada aquí, no una solución general a todo problema de concurrencia.</a:t>
            </a:r>
            <a:endParaRPr lang="en-US" sz="1800" dirty="0"/>
          </a:p>
        </p:txBody>
      </p:sp>
      <p:sp>
        <p:nvSpPr>
          <p:cNvPr id="7"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mapa completo</a:t>
            </a:r>
            <a:endParaRPr lang="en-US" sz="2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1673" cy="3108960"/>
        </p:xfrm>
        <a:graphic>
          <a:graphicData uri="http://schemas.openxmlformats.org/drawingml/2006/table">
            <a:tbl>
              <a:tblPr/>
              <a:tblGrid>
                <a:gridCol w="4436669">
                  <a:extLst>
                    <a:ext uri="{9D8B030D-6E8A-4147-A177-3AD203B41FA5}">
                      <a16:colId xmlns:a16="http://schemas.microsoft.com/office/drawing/2014/main" val="20000"/>
                    </a:ext>
                  </a:extLst>
                </a:gridCol>
                <a:gridCol w="3327502">
                  <a:extLst>
                    <a:ext uri="{9D8B030D-6E8A-4147-A177-3AD203B41FA5}">
                      <a16:colId xmlns:a16="http://schemas.microsoft.com/office/drawing/2014/main" val="20001"/>
                    </a:ext>
                  </a:extLst>
                </a:gridCol>
                <a:gridCol w="3327502">
                  <a:extLst>
                    <a:ext uri="{9D8B030D-6E8A-4147-A177-3AD203B41FA5}">
                      <a16:colId xmlns:a16="http://schemas.microsoft.com/office/drawing/2014/main" val="20002"/>
                    </a:ext>
                  </a:extLst>
                </a:gridCol>
              </a:tblGrid>
              <a:tr h="777240">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Pieza</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¿Dónde se construye?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¿Ya tiene efecto visible?</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7772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Caché con Redis (@Cacheable/@CacheEvict)</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Este apartado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Sí — la 2ª petición ya sale gratis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Evento + publicación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Este apartado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No — nadie lo escucha todavía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772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Listener @Async que recalienta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Próximo apartado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480560"/>
            <a:ext cx="11091672" cy="1051560"/>
          </a:xfrm>
          <a:prstGeom prst="roundRect">
            <a:avLst/>
          </a:prstGeom>
          <a:solidFill>
            <a:srgbClr val="FFF3E0"/>
          </a:solidFill>
          <a:ln w="19050">
            <a:solidFill>
              <a:srgbClr val="FFA000"/>
            </a:solidFill>
            <a:prstDash val="solid"/>
          </a:ln>
        </p:spPr>
        <p:txBody>
          <a:bodyPr/>
          <a:lstStyle/>
          <a:p>
            <a:endParaRPr lang="es-ES"/>
          </a:p>
        </p:txBody>
      </p:sp>
      <p:sp>
        <p:nvSpPr>
          <p:cNvPr id="6" name="Text 3"/>
          <p:cNvSpPr/>
          <p:nvPr/>
        </p:nvSpPr>
        <p:spPr>
          <a:xfrm>
            <a:off x="822960" y="4572000"/>
            <a:ext cx="10543032" cy="86868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Sigue pendiente el "primer usuario tras una escritura": paga el coste completo, porque la caché se acaba de invalidar y nadie la ha vuelto a llenar. Ese alivio llega en el próximo apartado.</a:t>
            </a:r>
            <a:endParaRPr lang="en-US" sz="1800" dirty="0"/>
          </a:p>
        </p:txBody>
      </p:sp>
      <p:sp>
        <p:nvSpPr>
          <p:cNvPr id="7" name="Text 4"/>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Ideas clave</a:t>
            </a:r>
            <a:endParaRPr lang="en-US" sz="2500" dirty="0"/>
          </a:p>
        </p:txBody>
      </p:sp>
      <p:sp>
        <p:nvSpPr>
          <p:cNvPr id="4" name="Text 2"/>
          <p:cNvSpPr/>
          <p:nvPr/>
        </p:nvSpPr>
        <p:spPr>
          <a:xfrm>
            <a:off x="548640" y="1097280"/>
            <a:ext cx="11091672" cy="4572000"/>
          </a:xfrm>
          <a:prstGeom prst="rect">
            <a:avLst/>
          </a:prstGeom>
          <a:noFill/>
          <a:ln/>
        </p:spPr>
        <p:txBody>
          <a:bodyPr wrap="square" rtlCol="0" anchor="t"/>
          <a:lstStyle/>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Una caché guarda el resultado de una operación cara. Invalidar borra un resultado que ya no es válido; recalentar lo vuelve a calcular por adelantado.</a:t>
            </a:r>
            <a:endParaRPr lang="en-US" sz="1550" dirty="0"/>
          </a:p>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@Cacheable intercepta la llamada: si hay resultado guardado lo devuelve sin ejecutar el método; si no, lo ejecuta y lo guarda. @CacheEvict(allEntries = true) borra todo — con beforeInvocation = true, antes de ejecutar el método.</a:t>
            </a:r>
            <a:endParaRPr lang="en-US" sz="1550" dirty="0"/>
          </a:p>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@EnableCaching activa el mecanismo para toda la aplicación, y puede romper tests de una sola capa que carguen la clase principal.</a:t>
            </a:r>
            <a:endParaRPr lang="en-US" sz="1550" dirty="0"/>
          </a:p>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Redis: base de datos en memoria clave-valor, como caché compartida real — sobrevive a un reinicio. Por defecto exige Serializable.</a:t>
            </a:r>
            <a:endParaRPr lang="en-US" sz="1550" dirty="0"/>
          </a:p>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Invalidar (barato) y recalentar (caro) hay que separarlos, para que el coste de recalentar no se lo lleve por delante quien hizo la escritura.</a:t>
            </a:r>
            <a:endParaRPr lang="en-US" sz="1550" dirty="0"/>
          </a:p>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Un evento es "algo ha pasado"; publicador y suscriptor no se conocen entre sí. ApplicationEventPublisher: eventos dentro de la JVM, distinto de RabbitMQ (broker externo).</a:t>
            </a:r>
            <a:endParaRPr lang="en-US" sz="1550" dirty="0"/>
          </a:p>
          <a:p>
            <a:pPr marL="342900" indent="-342900">
              <a:spcAft>
                <a:spcPts val="800"/>
              </a:spcAft>
              <a:buSzPct val="100000"/>
              <a:buChar char="•"/>
            </a:pPr>
            <a:r>
              <a:rPr lang="en-US" sz="1550" dirty="0">
                <a:solidFill>
                  <a:srgbClr val="212121"/>
                </a:solidFill>
                <a:latin typeface="Arial" pitchFamily="34" charset="0"/>
                <a:ea typeface="Arial" pitchFamily="34" charset="-122"/>
                <a:cs typeface="Arial" pitchFamily="34" charset="-120"/>
              </a:rPr>
              <a:t>Un evento como record es inmutable, seguro de compartir entre hilos sin locks.</a:t>
            </a:r>
            <a:endParaRPr lang="en-US" sz="1550" dirty="0"/>
          </a:p>
        </p:txBody>
      </p:sp>
      <p:sp>
        <p:nvSpPr>
          <p:cNvPr id="5" name="Text 3"/>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3 · Eventos internos de Spring (1/2)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1893</Words>
  <Application>Microsoft Office PowerPoint</Application>
  <PresentationFormat>Panorámica</PresentationFormat>
  <Paragraphs>167</Paragraphs>
  <Slides>18</Slides>
  <Notes>18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18</vt:i4>
      </vt:variant>
    </vt:vector>
  </HeadingPairs>
  <TitlesOfParts>
    <vt:vector size="21"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Eventos internos de Spring: el warm-up de caché (1/2)</dc:title>
  <dc:subject>PptxGenJS Presentation</dc:subject>
  <dc:creator>Programación de Servicios y Procesos</dc:creator>
  <cp:lastModifiedBy>VENTURA EDO, AITOR</cp:lastModifiedBy>
  <cp:revision>2</cp:revision>
  <dcterms:created xsi:type="dcterms:W3CDTF">2026-08-10T17:43:53Z</dcterms:created>
  <dcterms:modified xsi:type="dcterms:W3CDTF">2026-08-10T21:36:18Z</dcterms:modified>
</cp:coreProperties>
</file>