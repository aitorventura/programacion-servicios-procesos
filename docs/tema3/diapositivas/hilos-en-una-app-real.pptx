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8" d="100"/>
          <a:sy n="48" d="100"/>
        </p:scale>
        <p:origin x="53" y="8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4350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342E"/>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CAAA4"/>
                </a:solidFill>
                <a:latin typeface="Arial" pitchFamily="34" charset="0"/>
                <a:ea typeface="Arial" pitchFamily="34" charset="-122"/>
                <a:cs typeface="Arial" pitchFamily="34" charset="-120"/>
              </a:rPr>
              <a:t>PROGRAMACIÓN DE SERVICIOS Y PROCESOS  —  TEMA 3: PROGRAMACIÓN MULTIHILO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000" b="1" dirty="0">
                <a:solidFill>
                  <a:srgbClr val="FFFFFF"/>
                </a:solidFill>
                <a:latin typeface="Arial" pitchFamily="34" charset="0"/>
                <a:ea typeface="Arial" pitchFamily="34" charset="-122"/>
                <a:cs typeface="Arial" pitchFamily="34" charset="-120"/>
              </a:rPr>
              <a:t>Hilos en una aplicación real</a:t>
            </a:r>
            <a:endParaRPr lang="en-US" sz="40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Dónde ya los estás usando, sin haberlo pedido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Este apartado es distinto</a:t>
            </a:r>
            <a:endParaRPr lang="en-US" sz="2500" dirty="0"/>
          </a:p>
        </p:txBody>
      </p:sp>
      <p:sp>
        <p:nvSpPr>
          <p:cNvPr id="4" name="Text 2"/>
          <p:cNvSpPr/>
          <p:nvPr/>
        </p:nvSpPr>
        <p:spPr>
          <a:xfrm>
            <a:off x="548640" y="1371600"/>
            <a:ext cx="11091672" cy="1097280"/>
          </a:xfrm>
          <a:prstGeom prst="rect">
            <a:avLst/>
          </a:prstGeom>
          <a:noFill/>
          <a:ln/>
        </p:spPr>
        <p:txBody>
          <a:bodyPr wrap="square" rtlCol="0" anchor="t"/>
          <a:lstStyle/>
          <a:p>
            <a:pPr marL="0" indent="0">
              <a:buNone/>
            </a:pPr>
            <a:r>
              <a:rPr lang="en-US" sz="2200" dirty="0">
                <a:solidFill>
                  <a:srgbClr val="212121"/>
                </a:solidFill>
                <a:latin typeface="Arial" pitchFamily="34" charset="0"/>
                <a:ea typeface="Arial" pitchFamily="34" charset="-122"/>
                <a:cs typeface="Arial" pitchFamily="34" charset="-120"/>
              </a:rPr>
              <a:t>No vas a escribir código de producción — vas a aprender a ver algo que ya está pasando delante de ti sin que lo hayas notado.</a:t>
            </a:r>
            <a:endParaRPr lang="en-US" sz="2200" dirty="0"/>
          </a:p>
        </p:txBody>
      </p:sp>
      <p:sp>
        <p:nvSpPr>
          <p:cNvPr id="5" name="Shape 3"/>
          <p:cNvSpPr/>
          <p:nvPr/>
        </p:nvSpPr>
        <p:spPr>
          <a:xfrm>
            <a:off x="548640" y="2560320"/>
            <a:ext cx="11091672" cy="1828800"/>
          </a:xfrm>
          <a:prstGeom prst="roundRect">
            <a:avLst/>
          </a:prstGeom>
          <a:solidFill>
            <a:srgbClr val="FFF3E0"/>
          </a:solidFill>
          <a:ln w="19050">
            <a:solidFill>
              <a:srgbClr val="FFA000"/>
            </a:solidFill>
            <a:prstDash val="solid"/>
          </a:ln>
        </p:spPr>
        <p:txBody>
          <a:bodyPr/>
          <a:lstStyle/>
          <a:p>
            <a:endParaRPr lang="es-ES"/>
          </a:p>
        </p:txBody>
      </p:sp>
      <p:sp>
        <p:nvSpPr>
          <p:cNvPr id="6" name="Text 4"/>
          <p:cNvSpPr/>
          <p:nvPr/>
        </p:nvSpPr>
        <p:spPr>
          <a:xfrm>
            <a:off x="822960" y="2651760"/>
            <a:ext cx="10543032" cy="164592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Ahora mismo, mientras tu aplicación Spring Boot atiende peticiones, hay varias tareas ejecutándose "a la vez" dentro de ella, sin que tú hayas escrito una sola línea de código pidiéndolo. El mecanismo detrás tiene nombre: el hilo.</a:t>
            </a:r>
            <a:endParaRPr lang="en-US" sz="2000" dirty="0"/>
          </a:p>
        </p:txBody>
      </p:sp>
      <p:sp>
        <p:nvSpPr>
          <p:cNvPr id="7"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Proceso vs. hilo</a:t>
            </a:r>
            <a:endParaRPr lang="en-US" sz="2500" dirty="0"/>
          </a:p>
        </p:txBody>
      </p:sp>
      <p:sp>
        <p:nvSpPr>
          <p:cNvPr id="4" name="Text 2"/>
          <p:cNvSpPr/>
          <p:nvPr/>
        </p:nvSpPr>
        <p:spPr>
          <a:xfrm>
            <a:off x="548640" y="1097280"/>
            <a:ext cx="11091672" cy="2377440"/>
          </a:xfrm>
          <a:prstGeom prst="rect">
            <a:avLst/>
          </a:prstGeom>
          <a:noFill/>
          <a:ln/>
        </p:spPr>
        <p:txBody>
          <a:bodyPr wrap="square" rtlCol="0" anchor="t"/>
          <a:lstStyle/>
          <a:p>
            <a:pPr marL="190500" indent="-190500">
              <a:spcAft>
                <a:spcPts val="400"/>
              </a:spcAft>
              <a:buSzPct val="100000"/>
              <a:buChar char="•"/>
            </a:pPr>
            <a:r>
              <a:rPr lang="en-US" sz="1800" b="1" dirty="0">
                <a:solidFill>
                  <a:srgbClr val="212121"/>
                </a:solidFill>
                <a:latin typeface="Arial" pitchFamily="34" charset="0"/>
                <a:ea typeface="Arial" pitchFamily="34" charset="-122"/>
                <a:cs typeface="Arial" pitchFamily="34" charset="-120"/>
              </a:rPr>
              <a:t>Proceso: </a:t>
            </a:r>
            <a:endParaRPr lang="en-US" sz="1800" dirty="0"/>
          </a:p>
          <a:p>
            <a:pPr marL="762000" lvl="1" indent="-381000">
              <a:spcAft>
                <a:spcPts val="1200"/>
              </a:spcAft>
              <a:buSzPct val="100000"/>
              <a:buChar char="•"/>
            </a:pPr>
            <a:r>
              <a:rPr lang="en-US" sz="1700" dirty="0">
                <a:solidFill>
                  <a:srgbClr val="212121"/>
                </a:solidFill>
                <a:latin typeface="Arial" pitchFamily="34" charset="0"/>
                <a:ea typeface="Arial" pitchFamily="34" charset="-122"/>
                <a:cs typeface="Arial" pitchFamily="34" charset="-120"/>
              </a:rPr>
              <a:t>un programa en ejecución con su propia memoria, aislada de otros procesos. La JVM entera es un proceso.</a:t>
            </a:r>
            <a:endParaRPr lang="en-US" sz="1800" dirty="0"/>
          </a:p>
          <a:p>
            <a:pPr marL="190500" indent="-190500">
              <a:spcAft>
                <a:spcPts val="400"/>
              </a:spcAft>
              <a:buSzPct val="100000"/>
              <a:buChar char="•"/>
            </a:pPr>
            <a:r>
              <a:rPr lang="en-US" sz="1800" b="1" dirty="0">
                <a:solidFill>
                  <a:srgbClr val="212121"/>
                </a:solidFill>
                <a:latin typeface="Arial" pitchFamily="34" charset="0"/>
                <a:ea typeface="Arial" pitchFamily="34" charset="-122"/>
                <a:cs typeface="Arial" pitchFamily="34" charset="-120"/>
              </a:rPr>
              <a:t>Hilo (thread): </a:t>
            </a:r>
            <a:endParaRPr lang="en-US" sz="1800" dirty="0"/>
          </a:p>
          <a:p>
            <a:pPr marL="762000" lvl="1" indent="-381000">
              <a:spcAft>
                <a:spcPts val="1200"/>
              </a:spcAft>
              <a:buSzPct val="100000"/>
              <a:buChar char="•"/>
            </a:pPr>
            <a:r>
              <a:rPr lang="en-US" sz="1700" dirty="0">
                <a:solidFill>
                  <a:srgbClr val="212121"/>
                </a:solidFill>
                <a:latin typeface="Arial" pitchFamily="34" charset="0"/>
                <a:ea typeface="Arial" pitchFamily="34" charset="-122"/>
                <a:cs typeface="Arial" pitchFamily="34" charset="-120"/>
              </a:rPr>
              <a:t>una línea de ejecución dentro de ese proceso. Varios hilos comparten la misma memoria del proceso al que pertenecen.</a:t>
            </a:r>
            <a:endParaRPr lang="en-US" sz="1800" dirty="0"/>
          </a:p>
        </p:txBody>
      </p:sp>
      <p:sp>
        <p:nvSpPr>
          <p:cNvPr id="5" name="Shape 3"/>
          <p:cNvSpPr/>
          <p:nvPr/>
        </p:nvSpPr>
        <p:spPr>
          <a:xfrm>
            <a:off x="548640" y="3520440"/>
            <a:ext cx="11091672" cy="502920"/>
          </a:xfrm>
          <a:prstGeom prst="rect">
            <a:avLst/>
          </a:prstGeom>
          <a:solidFill>
            <a:srgbClr val="6D4C41"/>
          </a:solidFill>
          <a:ln w="12700">
            <a:solidFill>
              <a:srgbClr val="6D4C41"/>
            </a:solidFill>
            <a:prstDash val="solid"/>
          </a:ln>
        </p:spPr>
        <p:txBody>
          <a:bodyPr/>
          <a:lstStyle/>
          <a:p>
            <a:endParaRPr lang="es-ES"/>
          </a:p>
        </p:txBody>
      </p:sp>
      <p:sp>
        <p:nvSpPr>
          <p:cNvPr id="6" name="Text 4"/>
          <p:cNvSpPr/>
          <p:nvPr/>
        </p:nvSpPr>
        <p:spPr>
          <a:xfrm>
            <a:off x="731520" y="3520440"/>
            <a:ext cx="10725912" cy="50292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 Proceso (la JVM) — memoria compartida entre sus hilos</a:t>
            </a:r>
            <a:endParaRPr lang="en-US" sz="1900" dirty="0"/>
          </a:p>
        </p:txBody>
      </p:sp>
      <p:sp>
        <p:nvSpPr>
          <p:cNvPr id="7" name="Shape 5"/>
          <p:cNvSpPr/>
          <p:nvPr/>
        </p:nvSpPr>
        <p:spPr>
          <a:xfrm>
            <a:off x="3677107" y="4297680"/>
            <a:ext cx="4834738" cy="548640"/>
          </a:xfrm>
          <a:prstGeom prst="roundRect">
            <a:avLst/>
          </a:prstGeom>
          <a:solidFill>
            <a:srgbClr val="EFEBE9"/>
          </a:solidFill>
          <a:ln w="19050">
            <a:solidFill>
              <a:srgbClr val="6D4C41"/>
            </a:solidFill>
            <a:prstDash val="solid"/>
          </a:ln>
        </p:spPr>
        <p:txBody>
          <a:bodyPr/>
          <a:lstStyle/>
          <a:p>
            <a:endParaRPr lang="es-ES"/>
          </a:p>
        </p:txBody>
      </p:sp>
      <p:sp>
        <p:nvSpPr>
          <p:cNvPr id="8" name="Text 6"/>
          <p:cNvSpPr/>
          <p:nvPr/>
        </p:nvSpPr>
        <p:spPr>
          <a:xfrm>
            <a:off x="3677107" y="4297680"/>
            <a:ext cx="4834738" cy="548640"/>
          </a:xfrm>
          <a:prstGeom prst="rect">
            <a:avLst/>
          </a:prstGeom>
          <a:noFill/>
          <a:ln/>
        </p:spPr>
        <p:txBody>
          <a:bodyPr wrap="square" rtlCol="0" anchor="ctr"/>
          <a:lstStyle/>
          <a:p>
            <a:pPr marL="0" indent="0" algn="ctr">
              <a:buNone/>
            </a:pPr>
            <a:r>
              <a:rPr lang="en-US" sz="1700" b="1" dirty="0">
                <a:solidFill>
                  <a:srgbClr val="212121"/>
                </a:solidFill>
                <a:latin typeface="Arial" pitchFamily="34" charset="0"/>
                <a:ea typeface="Arial" pitchFamily="34" charset="-122"/>
                <a:cs typeface="Arial" pitchFamily="34" charset="-120"/>
              </a:rPr>
              <a:t>Memoria compartida</a:t>
            </a:r>
            <a:endParaRPr lang="en-US" sz="1700" dirty="0"/>
          </a:p>
        </p:txBody>
      </p:sp>
      <p:sp>
        <p:nvSpPr>
          <p:cNvPr id="9" name="Shape 7"/>
          <p:cNvSpPr/>
          <p:nvPr/>
        </p:nvSpPr>
        <p:spPr>
          <a:xfrm>
            <a:off x="6094476" y="4846320"/>
            <a:ext cx="914" cy="137160"/>
          </a:xfrm>
          <a:prstGeom prst="line">
            <a:avLst/>
          </a:prstGeom>
          <a:noFill/>
          <a:ln w="15875">
            <a:solidFill>
              <a:srgbClr val="6D4C41"/>
            </a:solidFill>
            <a:prstDash val="solid"/>
          </a:ln>
        </p:spPr>
        <p:txBody>
          <a:bodyPr/>
          <a:lstStyle/>
          <a:p>
            <a:endParaRPr lang="es-ES"/>
          </a:p>
        </p:txBody>
      </p:sp>
      <p:sp>
        <p:nvSpPr>
          <p:cNvPr id="10" name="Shape 8"/>
          <p:cNvSpPr/>
          <p:nvPr/>
        </p:nvSpPr>
        <p:spPr>
          <a:xfrm>
            <a:off x="548640" y="5120640"/>
            <a:ext cx="3453384" cy="548640"/>
          </a:xfrm>
          <a:prstGeom prst="roundRect">
            <a:avLst/>
          </a:prstGeom>
          <a:solidFill>
            <a:srgbClr val="EFEBE9"/>
          </a:solidFill>
          <a:ln w="15875">
            <a:solidFill>
              <a:srgbClr val="6D4C41"/>
            </a:solidFill>
            <a:prstDash val="solid"/>
          </a:ln>
        </p:spPr>
        <p:txBody>
          <a:bodyPr/>
          <a:lstStyle/>
          <a:p>
            <a:endParaRPr lang="es-ES"/>
          </a:p>
        </p:txBody>
      </p:sp>
      <p:sp>
        <p:nvSpPr>
          <p:cNvPr id="11" name="Text 9"/>
          <p:cNvSpPr/>
          <p:nvPr/>
        </p:nvSpPr>
        <p:spPr>
          <a:xfrm>
            <a:off x="594360" y="5120640"/>
            <a:ext cx="3361944" cy="548640"/>
          </a:xfrm>
          <a:prstGeom prst="rect">
            <a:avLst/>
          </a:prstGeom>
          <a:noFill/>
          <a:ln/>
        </p:spPr>
        <p:txBody>
          <a:bodyPr wrap="square" rtlCol="0" anchor="ctr"/>
          <a:lstStyle/>
          <a:p>
            <a:pPr marL="0" indent="0" algn="ctr">
              <a:buNone/>
            </a:pPr>
            <a:r>
              <a:rPr lang="en-US" sz="1600" dirty="0">
                <a:solidFill>
                  <a:srgbClr val="212121"/>
                </a:solidFill>
                <a:latin typeface="Arial" pitchFamily="34" charset="0"/>
                <a:ea typeface="Arial" pitchFamily="34" charset="-122"/>
                <a:cs typeface="Arial" pitchFamily="34" charset="-120"/>
              </a:rPr>
              <a:t>Hilo 1</a:t>
            </a:r>
            <a:endParaRPr lang="en-US" sz="1600" dirty="0"/>
          </a:p>
        </p:txBody>
      </p:sp>
      <p:sp>
        <p:nvSpPr>
          <p:cNvPr id="12" name="Shape 10"/>
          <p:cNvSpPr/>
          <p:nvPr/>
        </p:nvSpPr>
        <p:spPr>
          <a:xfrm>
            <a:off x="2275332" y="4983480"/>
            <a:ext cx="914" cy="137160"/>
          </a:xfrm>
          <a:prstGeom prst="line">
            <a:avLst/>
          </a:prstGeom>
          <a:noFill/>
          <a:ln w="15875">
            <a:solidFill>
              <a:srgbClr val="6D4C41"/>
            </a:solidFill>
            <a:prstDash val="solid"/>
          </a:ln>
        </p:spPr>
        <p:txBody>
          <a:bodyPr/>
          <a:lstStyle/>
          <a:p>
            <a:endParaRPr lang="es-ES"/>
          </a:p>
        </p:txBody>
      </p:sp>
      <p:sp>
        <p:nvSpPr>
          <p:cNvPr id="13" name="Shape 11"/>
          <p:cNvSpPr/>
          <p:nvPr/>
        </p:nvSpPr>
        <p:spPr>
          <a:xfrm>
            <a:off x="4367784" y="5120640"/>
            <a:ext cx="3453384" cy="548640"/>
          </a:xfrm>
          <a:prstGeom prst="roundRect">
            <a:avLst/>
          </a:prstGeom>
          <a:solidFill>
            <a:srgbClr val="EFEBE9"/>
          </a:solidFill>
          <a:ln w="15875">
            <a:solidFill>
              <a:srgbClr val="6D4C41"/>
            </a:solidFill>
            <a:prstDash val="solid"/>
          </a:ln>
        </p:spPr>
        <p:txBody>
          <a:bodyPr/>
          <a:lstStyle/>
          <a:p>
            <a:endParaRPr lang="es-ES"/>
          </a:p>
        </p:txBody>
      </p:sp>
      <p:sp>
        <p:nvSpPr>
          <p:cNvPr id="14" name="Text 12"/>
          <p:cNvSpPr/>
          <p:nvPr/>
        </p:nvSpPr>
        <p:spPr>
          <a:xfrm>
            <a:off x="4413504" y="5120640"/>
            <a:ext cx="3361944" cy="548640"/>
          </a:xfrm>
          <a:prstGeom prst="rect">
            <a:avLst/>
          </a:prstGeom>
          <a:noFill/>
          <a:ln/>
        </p:spPr>
        <p:txBody>
          <a:bodyPr wrap="square" rtlCol="0" anchor="ctr"/>
          <a:lstStyle/>
          <a:p>
            <a:pPr marL="0" indent="0" algn="ctr">
              <a:buNone/>
            </a:pPr>
            <a:r>
              <a:rPr lang="en-US" sz="1600" dirty="0">
                <a:solidFill>
                  <a:srgbClr val="212121"/>
                </a:solidFill>
                <a:latin typeface="Arial" pitchFamily="34" charset="0"/>
                <a:ea typeface="Arial" pitchFamily="34" charset="-122"/>
                <a:cs typeface="Arial" pitchFamily="34" charset="-120"/>
              </a:rPr>
              <a:t>Hilo 2</a:t>
            </a:r>
            <a:endParaRPr lang="en-US" sz="1600" dirty="0"/>
          </a:p>
        </p:txBody>
      </p:sp>
      <p:sp>
        <p:nvSpPr>
          <p:cNvPr id="15" name="Shape 13"/>
          <p:cNvSpPr/>
          <p:nvPr/>
        </p:nvSpPr>
        <p:spPr>
          <a:xfrm>
            <a:off x="6094476" y="4983480"/>
            <a:ext cx="914" cy="137160"/>
          </a:xfrm>
          <a:prstGeom prst="line">
            <a:avLst/>
          </a:prstGeom>
          <a:noFill/>
          <a:ln w="15875">
            <a:solidFill>
              <a:srgbClr val="6D4C41"/>
            </a:solidFill>
            <a:prstDash val="solid"/>
          </a:ln>
        </p:spPr>
        <p:txBody>
          <a:bodyPr/>
          <a:lstStyle/>
          <a:p>
            <a:endParaRPr lang="es-ES"/>
          </a:p>
        </p:txBody>
      </p:sp>
      <p:sp>
        <p:nvSpPr>
          <p:cNvPr id="16" name="Shape 14"/>
          <p:cNvSpPr/>
          <p:nvPr/>
        </p:nvSpPr>
        <p:spPr>
          <a:xfrm>
            <a:off x="8186928" y="5120640"/>
            <a:ext cx="3453384" cy="548640"/>
          </a:xfrm>
          <a:prstGeom prst="roundRect">
            <a:avLst/>
          </a:prstGeom>
          <a:solidFill>
            <a:srgbClr val="EFEBE9"/>
          </a:solidFill>
          <a:ln w="15875">
            <a:solidFill>
              <a:srgbClr val="6D4C41"/>
            </a:solidFill>
            <a:prstDash val="solid"/>
          </a:ln>
        </p:spPr>
        <p:txBody>
          <a:bodyPr/>
          <a:lstStyle/>
          <a:p>
            <a:endParaRPr lang="es-ES"/>
          </a:p>
        </p:txBody>
      </p:sp>
      <p:sp>
        <p:nvSpPr>
          <p:cNvPr id="17" name="Text 15"/>
          <p:cNvSpPr/>
          <p:nvPr/>
        </p:nvSpPr>
        <p:spPr>
          <a:xfrm>
            <a:off x="8232648" y="5120640"/>
            <a:ext cx="3361944" cy="548640"/>
          </a:xfrm>
          <a:prstGeom prst="rect">
            <a:avLst/>
          </a:prstGeom>
          <a:noFill/>
          <a:ln/>
        </p:spPr>
        <p:txBody>
          <a:bodyPr wrap="square" rtlCol="0" anchor="ctr"/>
          <a:lstStyle/>
          <a:p>
            <a:pPr marL="0" indent="0" algn="ctr">
              <a:buNone/>
            </a:pPr>
            <a:r>
              <a:rPr lang="en-US" sz="1600" dirty="0">
                <a:solidFill>
                  <a:srgbClr val="212121"/>
                </a:solidFill>
                <a:latin typeface="Arial" pitchFamily="34" charset="0"/>
                <a:ea typeface="Arial" pitchFamily="34" charset="-122"/>
                <a:cs typeface="Arial" pitchFamily="34" charset="-120"/>
              </a:rPr>
              <a:t>Hilo 3</a:t>
            </a:r>
            <a:endParaRPr lang="en-US" sz="1600" dirty="0"/>
          </a:p>
        </p:txBody>
      </p:sp>
      <p:sp>
        <p:nvSpPr>
          <p:cNvPr id="18" name="Shape 16"/>
          <p:cNvSpPr/>
          <p:nvPr/>
        </p:nvSpPr>
        <p:spPr>
          <a:xfrm>
            <a:off x="9913620" y="4983480"/>
            <a:ext cx="914" cy="137160"/>
          </a:xfrm>
          <a:prstGeom prst="line">
            <a:avLst/>
          </a:prstGeom>
          <a:noFill/>
          <a:ln w="15875">
            <a:solidFill>
              <a:srgbClr val="6D4C41"/>
            </a:solidFill>
            <a:prstDash val="solid"/>
          </a:ln>
        </p:spPr>
        <p:txBody>
          <a:bodyPr/>
          <a:lstStyle/>
          <a:p>
            <a:endParaRPr lang="es-ES"/>
          </a:p>
        </p:txBody>
      </p:sp>
      <p:sp>
        <p:nvSpPr>
          <p:cNvPr id="19" name="Shape 17"/>
          <p:cNvSpPr/>
          <p:nvPr/>
        </p:nvSpPr>
        <p:spPr>
          <a:xfrm>
            <a:off x="2275332" y="4983480"/>
            <a:ext cx="7638288" cy="914"/>
          </a:xfrm>
          <a:prstGeom prst="line">
            <a:avLst/>
          </a:prstGeom>
          <a:noFill/>
          <a:ln w="15875">
            <a:solidFill>
              <a:srgbClr val="6D4C41"/>
            </a:solidFill>
            <a:prstDash val="solid"/>
          </a:ln>
        </p:spPr>
        <p:txBody>
          <a:bodyPr/>
          <a:lstStyle/>
          <a:p>
            <a:endParaRPr lang="es-ES"/>
          </a:p>
        </p:txBody>
      </p:sp>
      <p:sp>
        <p:nvSpPr>
          <p:cNvPr id="20" name="Text 1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Concurrencia vs. paralelismo</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1672" cy="3017520"/>
        </p:xfrm>
        <a:graphic>
          <a:graphicData uri="http://schemas.openxmlformats.org/drawingml/2006/table">
            <a:tbl>
              <a:tblPr/>
              <a:tblGrid>
                <a:gridCol w="2772918">
                  <a:extLst>
                    <a:ext uri="{9D8B030D-6E8A-4147-A177-3AD203B41FA5}">
                      <a16:colId xmlns:a16="http://schemas.microsoft.com/office/drawing/2014/main" val="20000"/>
                    </a:ext>
                  </a:extLst>
                </a:gridCol>
                <a:gridCol w="8318754">
                  <a:extLst>
                    <a:ext uri="{9D8B030D-6E8A-4147-A177-3AD203B41FA5}">
                      <a16:colId xmlns:a16="http://schemas.microsoft.com/office/drawing/2014/main" val="20001"/>
                    </a:ext>
                  </a:extLst>
                </a:gridCol>
              </a:tblGrid>
              <a:tr h="1005840">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Concepto</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Qué significa</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1005840">
                <a:tc>
                  <a:txBody>
                    <a:bodyPr/>
                    <a:lstStyle/>
                    <a:p>
                      <a:pPr marL="0" indent="0">
                        <a:buNone/>
                      </a:pPr>
                      <a:r>
                        <a:rPr lang="en-US" sz="1800" dirty="0">
                          <a:solidFill>
                            <a:srgbClr val="212121"/>
                          </a:solidFill>
                          <a:latin typeface="Arial" pitchFamily="34" charset="0"/>
                          <a:ea typeface="Arial" pitchFamily="34" charset="-122"/>
                          <a:cs typeface="Arial" pitchFamily="34" charset="-120"/>
                        </a:rPr>
                        <a:t>Concurrencia</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800" dirty="0">
                          <a:solidFill>
                            <a:srgbClr val="212121"/>
                          </a:solidFill>
                          <a:latin typeface="Arial" pitchFamily="34" charset="0"/>
                          <a:ea typeface="Arial" pitchFamily="34" charset="-122"/>
                          <a:cs typeface="Arial" pitchFamily="34" charset="-120"/>
                        </a:rPr>
                        <a:t>Varios hilos se turnan para avanzar, aunque haya un solo núcleo — el planificador reparte porciones de tiempo tan rápido que parece simultáneo.</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marL="0" indent="0">
                        <a:buNone/>
                      </a:pPr>
                      <a:r>
                        <a:rPr lang="en-US" sz="1800" dirty="0">
                          <a:solidFill>
                            <a:srgbClr val="212121"/>
                          </a:solidFill>
                          <a:latin typeface="Arial" pitchFamily="34" charset="0"/>
                          <a:ea typeface="Arial" pitchFamily="34" charset="-122"/>
                          <a:cs typeface="Arial" pitchFamily="34" charset="-120"/>
                        </a:rPr>
                        <a:t>Paralelismo</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800" dirty="0">
                          <a:solidFill>
                            <a:srgbClr val="212121"/>
                          </a:solidFill>
                          <a:latin typeface="Arial" pitchFamily="34" charset="0"/>
                          <a:ea typeface="Arial" pitchFamily="34" charset="-122"/>
                          <a:cs typeface="Arial" pitchFamily="34" charset="-120"/>
                        </a:rPr>
                        <a:t>Varios hilos ejecutan de verdad al mismo tiempo, en núcleos de procesador distintos.</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bl>
          </a:graphicData>
        </a:graphic>
      </p:graphicFrame>
      <p:sp>
        <p:nvSpPr>
          <p:cNvPr id="4" name="Shape 2"/>
          <p:cNvSpPr/>
          <p:nvPr/>
        </p:nvSpPr>
        <p:spPr>
          <a:xfrm>
            <a:off x="548640" y="4434840"/>
            <a:ext cx="11091672" cy="914400"/>
          </a:xfrm>
          <a:prstGeom prst="roundRect">
            <a:avLst/>
          </a:prstGeom>
          <a:solidFill>
            <a:srgbClr val="FFF3E0"/>
          </a:solidFill>
          <a:ln w="19050">
            <a:solidFill>
              <a:srgbClr val="FFA000"/>
            </a:solidFill>
            <a:prstDash val="solid"/>
          </a:ln>
        </p:spPr>
        <p:txBody>
          <a:bodyPr/>
          <a:lstStyle/>
          <a:p>
            <a:endParaRPr lang="es-ES"/>
          </a:p>
        </p:txBody>
      </p:sp>
      <p:sp>
        <p:nvSpPr>
          <p:cNvPr id="6" name="Text 3"/>
          <p:cNvSpPr/>
          <p:nvPr/>
        </p:nvSpPr>
        <p:spPr>
          <a:xfrm>
            <a:off x="822960" y="4526280"/>
            <a:ext cx="10543032" cy="73152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En ambos casos, el planificador del sistema operativo decide cuándo se ejecuta cada hilo — tu programa no controla ese detalle.</a:t>
            </a:r>
            <a:endParaRPr lang="en-US" sz="1900" dirty="0"/>
          </a:p>
        </p:txBody>
      </p:sp>
      <p:sp>
        <p:nvSpPr>
          <p:cNvPr id="7" name="Text 4"/>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Crear hilos en Java: Runnable y Thread</a:t>
            </a:r>
            <a:endParaRPr lang="en-US" sz="2500" dirty="0"/>
          </a:p>
        </p:txBody>
      </p:sp>
      <p:sp>
        <p:nvSpPr>
          <p:cNvPr id="4" name="Text 2"/>
          <p:cNvSpPr/>
          <p:nvPr/>
        </p:nvSpPr>
        <p:spPr>
          <a:xfrm>
            <a:off x="548640" y="1097280"/>
            <a:ext cx="11091672" cy="1920240"/>
          </a:xfrm>
          <a:prstGeom prst="rect">
            <a:avLst/>
          </a:prstGeom>
          <a:noFill/>
          <a:ln/>
        </p:spPr>
        <p:txBody>
          <a:bodyPr wrap="square" rtlCol="0" anchor="t"/>
          <a:lstStyle/>
          <a:p>
            <a:pPr marL="190500" indent="-190500">
              <a:spcAft>
                <a:spcPts val="400"/>
              </a:spcAft>
              <a:buSzPct val="100000"/>
              <a:buChar char="•"/>
            </a:pPr>
            <a:r>
              <a:rPr lang="en-US" sz="1800" b="1" dirty="0">
                <a:solidFill>
                  <a:srgbClr val="212121"/>
                </a:solidFill>
                <a:latin typeface="Arial" pitchFamily="34" charset="0"/>
                <a:ea typeface="Arial" pitchFamily="34" charset="-122"/>
                <a:cs typeface="Arial" pitchFamily="34" charset="-120"/>
              </a:rPr>
              <a:t>Runnable: </a:t>
            </a:r>
            <a:endParaRPr lang="en-US" sz="1800" dirty="0"/>
          </a:p>
          <a:p>
            <a:pPr marL="762000" lvl="1" indent="-381000">
              <a:spcAft>
                <a:spcPts val="1000"/>
              </a:spcAft>
              <a:buSzPct val="100000"/>
              <a:buChar char="•"/>
            </a:pPr>
            <a:r>
              <a:rPr lang="en-US" sz="1700" dirty="0">
                <a:solidFill>
                  <a:srgbClr val="212121"/>
                </a:solidFill>
                <a:latin typeface="Arial" pitchFamily="34" charset="0"/>
                <a:ea typeface="Arial" pitchFamily="34" charset="-122"/>
                <a:cs typeface="Arial" pitchFamily="34" charset="-120"/>
              </a:rPr>
              <a:t>describe el trabajo a hacer — la orden de trabajo, sin decir quién la ejecuta.</a:t>
            </a:r>
            <a:endParaRPr lang="en-US" sz="1800" dirty="0"/>
          </a:p>
          <a:p>
            <a:pPr marL="190500" indent="-190500">
              <a:spcAft>
                <a:spcPts val="400"/>
              </a:spcAft>
              <a:buSzPct val="100000"/>
              <a:buChar char="•"/>
            </a:pPr>
            <a:r>
              <a:rPr lang="en-US" sz="1800" b="1" dirty="0">
                <a:solidFill>
                  <a:srgbClr val="212121"/>
                </a:solidFill>
                <a:latin typeface="Arial" pitchFamily="34" charset="0"/>
                <a:ea typeface="Arial" pitchFamily="34" charset="-122"/>
                <a:cs typeface="Arial" pitchFamily="34" charset="-120"/>
              </a:rPr>
              <a:t>Thread: </a:t>
            </a:r>
            <a:endParaRPr lang="en-US" sz="1800" dirty="0"/>
          </a:p>
          <a:p>
            <a:pPr marL="762000" lvl="1" indent="-381000">
              <a:spcAft>
                <a:spcPts val="1000"/>
              </a:spcAft>
              <a:buSzPct val="100000"/>
              <a:buChar char="•"/>
            </a:pPr>
            <a:r>
              <a:rPr lang="en-US" sz="1700" dirty="0">
                <a:solidFill>
                  <a:srgbClr val="212121"/>
                </a:solidFill>
                <a:latin typeface="Arial" pitchFamily="34" charset="0"/>
                <a:ea typeface="Arial" pitchFamily="34" charset="-122"/>
                <a:cs typeface="Arial" pitchFamily="34" charset="-120"/>
              </a:rPr>
              <a:t>el operario de verdad — se le entrega el Runnable y, al llamar a start(), lo ejecuta de forma concurrente.</a:t>
            </a:r>
            <a:endParaRPr lang="en-US" sz="1800" dirty="0"/>
          </a:p>
        </p:txBody>
      </p:sp>
      <p:sp>
        <p:nvSpPr>
          <p:cNvPr id="5" name="Shape 3"/>
          <p:cNvSpPr/>
          <p:nvPr/>
        </p:nvSpPr>
        <p:spPr>
          <a:xfrm>
            <a:off x="548640" y="3063240"/>
            <a:ext cx="11091672" cy="210312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3063240"/>
            <a:ext cx="73152" cy="2103120"/>
          </a:xfrm>
          <a:prstGeom prst="rect">
            <a:avLst/>
          </a:prstGeom>
          <a:solidFill>
            <a:srgbClr val="FFA000"/>
          </a:solidFill>
          <a:ln w="12700">
            <a:solidFill>
              <a:srgbClr val="FFA000"/>
            </a:solidFill>
            <a:prstDash val="solid"/>
          </a:ln>
        </p:spPr>
        <p:txBody>
          <a:bodyPr/>
          <a:lstStyle/>
          <a:p>
            <a:endParaRPr lang="es-ES"/>
          </a:p>
        </p:txBody>
      </p:sp>
      <p:sp>
        <p:nvSpPr>
          <p:cNvPr id="7" name="Text 5"/>
          <p:cNvSpPr/>
          <p:nvPr/>
        </p:nvSpPr>
        <p:spPr>
          <a:xfrm>
            <a:off x="822960" y="3172968"/>
            <a:ext cx="10588752" cy="188366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Runnable tarea = () -&gt;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for (int i = 0; i &lt; 10; i++)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System.out.println(Thread.currentThread().getName() + ": " + i);</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a:p>
            <a:pPr marL="0" indent="0">
              <a:buNone/>
            </a:pP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new Thread(tarea, "Hilo-A").start();</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new Thread(tarea, "Hilo-B").start();</a:t>
            </a:r>
            <a:endParaRPr lang="en-US" sz="1600" dirty="0"/>
          </a:p>
        </p:txBody>
      </p:sp>
      <p:sp>
        <p:nvSpPr>
          <p:cNvPr id="8"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start(), no run()</a:t>
            </a:r>
            <a:endParaRPr lang="en-US" sz="2500" dirty="0"/>
          </a:p>
        </p:txBody>
      </p:sp>
      <p:sp>
        <p:nvSpPr>
          <p:cNvPr id="4" name="Shape 2"/>
          <p:cNvSpPr/>
          <p:nvPr/>
        </p:nvSpPr>
        <p:spPr>
          <a:xfrm>
            <a:off x="548640" y="1234440"/>
            <a:ext cx="11091672" cy="1828800"/>
          </a:xfrm>
          <a:prstGeom prst="roundRect">
            <a:avLst/>
          </a:prstGeom>
          <a:solidFill>
            <a:srgbClr val="FFF3E0"/>
          </a:solidFill>
          <a:ln w="28575">
            <a:solidFill>
              <a:srgbClr val="FFA000"/>
            </a:solidFill>
            <a:prstDash val="solid"/>
          </a:ln>
        </p:spPr>
        <p:txBody>
          <a:bodyPr/>
          <a:lstStyle/>
          <a:p>
            <a:endParaRPr lang="es-ES"/>
          </a:p>
        </p:txBody>
      </p:sp>
      <p:sp>
        <p:nvSpPr>
          <p:cNvPr id="5" name="Text 3"/>
          <p:cNvSpPr/>
          <p:nvPr/>
        </p:nvSpPr>
        <p:spPr>
          <a:xfrm>
            <a:off x="822960" y="1344168"/>
            <a:ext cx="10543032" cy="1609344"/>
          </a:xfrm>
          <a:prstGeom prst="rect">
            <a:avLst/>
          </a:prstGeom>
          <a:noFill/>
          <a:ln/>
        </p:spPr>
        <p:txBody>
          <a:bodyPr wrap="square" rtlCol="0" anchor="t"/>
          <a:lstStyle/>
          <a:p>
            <a:pPr marL="0" indent="0">
              <a:buNone/>
            </a:pPr>
            <a:r>
              <a:rPr lang="en-US" sz="2000" b="1" dirty="0">
                <a:solidFill>
                  <a:srgbClr val="4E342E"/>
                </a:solidFill>
                <a:latin typeface="Arial" pitchFamily="34" charset="0"/>
                <a:ea typeface="Arial" pitchFamily="34" charset="-122"/>
                <a:cs typeface="Arial" pitchFamily="34" charset="-120"/>
              </a:rPr>
              <a:t>Atención
</a:t>
            </a:r>
            <a:endParaRPr lang="en-US" sz="2000" dirty="0"/>
          </a:p>
          <a:p>
            <a:pPr marL="0" indent="0">
              <a:buNone/>
            </a:pPr>
            <a:r>
              <a:rPr lang="en-US" sz="1900" dirty="0">
                <a:solidFill>
                  <a:srgbClr val="212121"/>
                </a:solidFill>
                <a:latin typeface="Arial" pitchFamily="34" charset="0"/>
                <a:ea typeface="Arial" pitchFamily="34" charset="-122"/>
                <a:cs typeface="Arial" pitchFamily="34" charset="-120"/>
              </a:rPr>
              <a:t>Si llamas directamente a tarea.run(), ejecutas ese código en el hilo actual, como una llamada a método normal — no se crea ningún hilo nuevo. start() es lo que de verdad arranca un hilo nuevo del sistema operativo.</a:t>
            </a:r>
            <a:endParaRPr lang="en-US" sz="2000" dirty="0"/>
          </a:p>
        </p:txBody>
      </p:sp>
      <p:sp>
        <p:nvSpPr>
          <p:cNvPr id="6" name="Shape 4"/>
          <p:cNvSpPr/>
          <p:nvPr/>
        </p:nvSpPr>
        <p:spPr>
          <a:xfrm>
            <a:off x="548640" y="3383280"/>
            <a:ext cx="11091672" cy="1920240"/>
          </a:xfrm>
          <a:prstGeom prst="roundRect">
            <a:avLst/>
          </a:prstGeom>
          <a:solidFill>
            <a:srgbClr val="FFF3E0"/>
          </a:solidFill>
          <a:ln w="19050">
            <a:solidFill>
              <a:srgbClr val="FFA000"/>
            </a:solidFill>
            <a:prstDash val="solid"/>
          </a:ln>
        </p:spPr>
        <p:txBody>
          <a:bodyPr/>
          <a:lstStyle/>
          <a:p>
            <a:endParaRPr lang="es-ES"/>
          </a:p>
        </p:txBody>
      </p:sp>
      <p:sp>
        <p:nvSpPr>
          <p:cNvPr id="7" name="Text 5"/>
          <p:cNvSpPr/>
          <p:nvPr/>
        </p:nvSpPr>
        <p:spPr>
          <a:xfrm>
            <a:off x="822960" y="3474720"/>
            <a:ext cx="10543032" cy="173736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Ejecuta el mismo código dos veces seguidas: la salida por consola probablemente no será idéntica. El orden en que aparecen las líneas depende del planificador y no está garantizado — ambos hilos avanzan de forma concurrente, con un orden no determinista.</a:t>
            </a:r>
            <a:endParaRPr lang="en-US" sz="1900" dirty="0"/>
          </a:p>
        </p:txBody>
      </p:sp>
      <p:sp>
        <p:nvSpPr>
          <p:cNvPr id="8"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problema central: compartir memoria</a:t>
            </a:r>
            <a:endParaRPr lang="en-US" sz="2500" dirty="0"/>
          </a:p>
        </p:txBody>
      </p:sp>
      <p:sp>
        <p:nvSpPr>
          <p:cNvPr id="4" name="Shape 2"/>
          <p:cNvSpPr/>
          <p:nvPr/>
        </p:nvSpPr>
        <p:spPr>
          <a:xfrm>
            <a:off x="548640" y="1097280"/>
            <a:ext cx="11091672" cy="1051560"/>
          </a:xfrm>
          <a:prstGeom prst="roundRect">
            <a:avLst/>
          </a:prstGeom>
          <a:solidFill>
            <a:srgbClr val="FFF3E0"/>
          </a:solidFill>
          <a:ln w="19050">
            <a:solidFill>
              <a:srgbClr val="FFA000"/>
            </a:solidFill>
            <a:prstDash val="solid"/>
          </a:ln>
        </p:spPr>
        <p:txBody>
          <a:bodyPr/>
          <a:lstStyle/>
          <a:p>
            <a:endParaRPr lang="es-ES"/>
          </a:p>
        </p:txBody>
      </p:sp>
      <p:sp>
        <p:nvSpPr>
          <p:cNvPr id="5" name="Text 3"/>
          <p:cNvSpPr/>
          <p:nvPr/>
        </p:nvSpPr>
        <p:spPr>
          <a:xfrm>
            <a:off x="822960" y="1188720"/>
            <a:ext cx="10543032" cy="86868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Condición de carrera: dos hilos modifican el mismo dato a la vez, y el resultado depende del orden exacto en que llegan a leer y escribir — un orden impredecible.</a:t>
            </a:r>
            <a:endParaRPr lang="en-US" sz="1900" dirty="0"/>
          </a:p>
        </p:txBody>
      </p:sp>
      <p:sp>
        <p:nvSpPr>
          <p:cNvPr id="6" name="Shape 4"/>
          <p:cNvSpPr/>
          <p:nvPr/>
        </p:nvSpPr>
        <p:spPr>
          <a:xfrm>
            <a:off x="548640" y="2377440"/>
            <a:ext cx="11091672" cy="201168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377440"/>
            <a:ext cx="73152" cy="2011680"/>
          </a:xfrm>
          <a:prstGeom prst="rect">
            <a:avLst/>
          </a:prstGeom>
          <a:solidFill>
            <a:srgbClr val="FFA000"/>
          </a:solidFill>
          <a:ln w="12700">
            <a:solidFill>
              <a:srgbClr val="FFA000"/>
            </a:solidFill>
            <a:prstDash val="solid"/>
          </a:ln>
        </p:spPr>
        <p:txBody>
          <a:bodyPr/>
          <a:lstStyle/>
          <a:p>
            <a:endParaRPr lang="es-ES"/>
          </a:p>
        </p:txBody>
      </p:sp>
      <p:sp>
        <p:nvSpPr>
          <p:cNvPr id="8" name="Text 6"/>
          <p:cNvSpPr/>
          <p:nvPr/>
        </p:nvSpPr>
        <p:spPr>
          <a:xfrm>
            <a:off x="822960" y="2487168"/>
            <a:ext cx="10588752" cy="179222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class Contador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private int valor = 0;</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public void incrementar() { valor++;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public int getValor() { return valor;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a:p>
            <a:pPr marL="0" indent="0">
              <a:buNone/>
            </a:pP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Dos hilos llaman a incrementar() 10.000 veces cada uno</a:t>
            </a:r>
            <a:endParaRPr lang="en-US" sz="1600" dirty="0"/>
          </a:p>
        </p:txBody>
      </p:sp>
      <p:sp>
        <p:nvSpPr>
          <p:cNvPr id="9" name="Text 7"/>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Cómo se pierde un incremento</a:t>
            </a:r>
            <a:endParaRPr lang="en-US" sz="2500" dirty="0"/>
          </a:p>
        </p:txBody>
      </p:sp>
      <p:sp>
        <p:nvSpPr>
          <p:cNvPr id="4" name="Text 2"/>
          <p:cNvSpPr/>
          <p:nvPr/>
        </p:nvSpPr>
        <p:spPr>
          <a:xfrm>
            <a:off x="548640" y="1097280"/>
            <a:ext cx="11091672" cy="73152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valor++ no es una operación atómica: son tres pasos (leer, sumar, escribir), y se pueden intercalar entre hilos.</a:t>
            </a:r>
            <a:endParaRPr lang="en-US" sz="1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2688336"/>
        </p:xfrm>
        <a:graphic>
          <a:graphicData uri="http://schemas.openxmlformats.org/drawingml/2006/table">
            <a:tbl>
              <a:tblPr/>
              <a:tblGrid>
                <a:gridCol w="1331001">
                  <a:extLst>
                    <a:ext uri="{9D8B030D-6E8A-4147-A177-3AD203B41FA5}">
                      <a16:colId xmlns:a16="http://schemas.microsoft.com/office/drawing/2014/main" val="20000"/>
                    </a:ext>
                  </a:extLst>
                </a:gridCol>
                <a:gridCol w="3549335">
                  <a:extLst>
                    <a:ext uri="{9D8B030D-6E8A-4147-A177-3AD203B41FA5}">
                      <a16:colId xmlns:a16="http://schemas.microsoft.com/office/drawing/2014/main" val="20001"/>
                    </a:ext>
                  </a:extLst>
                </a:gridCol>
                <a:gridCol w="3549335">
                  <a:extLst>
                    <a:ext uri="{9D8B030D-6E8A-4147-A177-3AD203B41FA5}">
                      <a16:colId xmlns:a16="http://schemas.microsoft.com/office/drawing/2014/main" val="20002"/>
                    </a:ext>
                  </a:extLst>
                </a:gridCol>
                <a:gridCol w="2662001">
                  <a:extLst>
                    <a:ext uri="{9D8B030D-6E8A-4147-A177-3AD203B41FA5}">
                      <a16:colId xmlns:a16="http://schemas.microsoft.com/office/drawing/2014/main" val="20003"/>
                    </a:ext>
                  </a:extLst>
                </a:gridCol>
              </a:tblGrid>
              <a:tr h="384048">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Paso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Hilo A</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Hilo B</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valor</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384048">
                <a:tc>
                  <a:txBody>
                    <a:bodyPr/>
                    <a:lstStyle/>
                    <a:p>
                      <a:pPr marL="0" indent="0">
                        <a:buNone/>
                      </a:pPr>
                      <a:r>
                        <a:rPr lang="en-US" sz="1500" dirty="0">
                          <a:solidFill>
                            <a:srgbClr val="212121"/>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lee valor → 0</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0</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500" dirty="0">
                          <a:solidFill>
                            <a:srgbClr val="212121"/>
                          </a:solidFill>
                          <a:latin typeface="Arial" pitchFamily="34" charset="0"/>
                          <a:ea typeface="Arial" pitchFamily="34" charset="-122"/>
                          <a:cs typeface="Arial" pitchFamily="34" charset="-120"/>
                        </a:rPr>
                        <a:t>2</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lee valor → 0</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0</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384048">
                <a:tc>
                  <a:txBody>
                    <a:bodyPr/>
                    <a:lstStyle/>
                    <a:p>
                      <a:pPr marL="0" indent="0">
                        <a:buNone/>
                      </a:pPr>
                      <a:r>
                        <a:rPr lang="en-US" sz="1500" dirty="0">
                          <a:solidFill>
                            <a:srgbClr val="212121"/>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calcula 0 + 1</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0</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500" dirty="0">
                          <a:solidFill>
                            <a:srgbClr val="212121"/>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calcula 0 + 1</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0</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384048">
                <a:tc>
                  <a:txBody>
                    <a:bodyPr/>
                    <a:lstStyle/>
                    <a:p>
                      <a:pPr marL="0" indent="0">
                        <a:buNone/>
                      </a:pPr>
                      <a:r>
                        <a:rPr lang="en-US" sz="1500" dirty="0">
                          <a:solidFill>
                            <a:srgbClr val="212121"/>
                          </a:solidFill>
                          <a:latin typeface="Arial" pitchFamily="34" charset="0"/>
                          <a:ea typeface="Arial" pitchFamily="34" charset="-122"/>
                          <a:cs typeface="Arial" pitchFamily="34" charset="-120"/>
                        </a:rPr>
                        <a:t>5</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escribe valor = 1</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500" dirty="0">
                          <a:solidFill>
                            <a:srgbClr val="212121"/>
                          </a:solidFill>
                          <a:latin typeface="Arial" pitchFamily="34" charset="0"/>
                          <a:ea typeface="Arial" pitchFamily="34" charset="-122"/>
                          <a:cs typeface="Arial" pitchFamily="34" charset="-120"/>
                        </a:rPr>
                        <a:t>6</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escribe valor = 1</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bl>
          </a:graphicData>
        </a:graphic>
      </p:graphicFrame>
      <p:sp>
        <p:nvSpPr>
          <p:cNvPr id="6" name="Shape 3"/>
          <p:cNvSpPr/>
          <p:nvPr/>
        </p:nvSpPr>
        <p:spPr>
          <a:xfrm>
            <a:off x="548640" y="4837176"/>
            <a:ext cx="11091672" cy="822960"/>
          </a:xfrm>
          <a:prstGeom prst="roundRect">
            <a:avLst/>
          </a:prstGeom>
          <a:solidFill>
            <a:srgbClr val="FFF3E0"/>
          </a:solidFill>
          <a:ln w="19050">
            <a:solidFill>
              <a:srgbClr val="FFA000"/>
            </a:solidFill>
            <a:prstDash val="solid"/>
          </a:ln>
        </p:spPr>
        <p:txBody>
          <a:bodyPr/>
          <a:lstStyle/>
          <a:p>
            <a:endParaRPr lang="es-ES"/>
          </a:p>
        </p:txBody>
      </p:sp>
      <p:sp>
        <p:nvSpPr>
          <p:cNvPr id="7" name="Text 4"/>
          <p:cNvSpPr/>
          <p:nvPr/>
        </p:nvSpPr>
        <p:spPr>
          <a:xfrm>
            <a:off x="822960" y="4928616"/>
            <a:ext cx="10543032" cy="640080"/>
          </a:xfrm>
          <a:prstGeom prst="rect">
            <a:avLst/>
          </a:prstGeom>
          <a:noFill/>
          <a:ln/>
        </p:spPr>
        <p:txBody>
          <a:bodyPr wrap="square" rtlCol="0" anchor="ctr"/>
          <a:lstStyle/>
          <a:p>
            <a:pPr marL="0" indent="0">
              <a:buNone/>
            </a:pPr>
            <a:r>
              <a:rPr lang="en-US" sz="1700" dirty="0">
                <a:solidFill>
                  <a:srgbClr val="212121"/>
                </a:solidFill>
                <a:latin typeface="Arial" pitchFamily="34" charset="0"/>
                <a:ea typeface="Arial" pitchFamily="34" charset="-122"/>
                <a:cs typeface="Arial" pitchFamily="34" charset="-120"/>
              </a:rPr>
              <a:t>Dos llamadas a incrementar() deberían dejar valor en 2, pero ambos hilos leyeron el mismo valor antes de escribir: se ha perdido un incremento entero.</a:t>
            </a:r>
            <a:endParaRPr lang="en-US" sz="1700" dirty="0"/>
          </a:p>
        </p:txBody>
      </p:sp>
      <p:sp>
        <p:nvSpPr>
          <p:cNvPr id="8"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 solución básica: synchronized</a:t>
            </a:r>
            <a:endParaRPr lang="en-US" sz="2500" dirty="0"/>
          </a:p>
        </p:txBody>
      </p:sp>
      <p:sp>
        <p:nvSpPr>
          <p:cNvPr id="4" name="Text 2"/>
          <p:cNvSpPr/>
          <p:nvPr/>
        </p:nvSpPr>
        <p:spPr>
          <a:xfrm>
            <a:off x="548640" y="1097280"/>
            <a:ext cx="11091672" cy="100584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synchronized marca una sección crítica: solo un hilo puede ejecutarla a la vez. Cualquier otro que quiera entrar queda bloqueado por un lock, hasta que el primero sale.</a:t>
            </a:r>
            <a:endParaRPr lang="en-US" sz="1900" dirty="0"/>
          </a:p>
        </p:txBody>
      </p:sp>
      <p:sp>
        <p:nvSpPr>
          <p:cNvPr id="5" name="Shape 3"/>
          <p:cNvSpPr/>
          <p:nvPr/>
        </p:nvSpPr>
        <p:spPr>
          <a:xfrm>
            <a:off x="548640" y="2148840"/>
            <a:ext cx="11091672" cy="77724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2148840"/>
            <a:ext cx="73152" cy="777240"/>
          </a:xfrm>
          <a:prstGeom prst="rect">
            <a:avLst/>
          </a:prstGeom>
          <a:solidFill>
            <a:srgbClr val="FFA000"/>
          </a:solidFill>
          <a:ln w="12700">
            <a:solidFill>
              <a:srgbClr val="FFA000"/>
            </a:solidFill>
            <a:prstDash val="solid"/>
          </a:ln>
        </p:spPr>
        <p:txBody>
          <a:bodyPr/>
          <a:lstStyle/>
          <a:p>
            <a:endParaRPr lang="es-ES"/>
          </a:p>
        </p:txBody>
      </p:sp>
      <p:sp>
        <p:nvSpPr>
          <p:cNvPr id="7" name="Text 5"/>
          <p:cNvSpPr/>
          <p:nvPr/>
        </p:nvSpPr>
        <p:spPr>
          <a:xfrm>
            <a:off x="822960" y="2258568"/>
            <a:ext cx="10588752" cy="55778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public synchronized void incrementar() { valor++; }</a:t>
            </a:r>
            <a:endParaRPr lang="en-US" sz="1700" dirty="0"/>
          </a:p>
        </p:txBody>
      </p:sp>
      <p:sp>
        <p:nvSpPr>
          <p:cNvPr id="8" name="Shape 6"/>
          <p:cNvSpPr/>
          <p:nvPr/>
        </p:nvSpPr>
        <p:spPr>
          <a:xfrm>
            <a:off x="548640" y="3200400"/>
            <a:ext cx="11091672" cy="1051560"/>
          </a:xfrm>
          <a:prstGeom prst="roundRect">
            <a:avLst/>
          </a:prstGeom>
          <a:solidFill>
            <a:srgbClr val="FFF3E0"/>
          </a:solidFill>
          <a:ln w="19050">
            <a:solidFill>
              <a:srgbClr val="FFA000"/>
            </a:solidFill>
            <a:prstDash val="solid"/>
          </a:ln>
        </p:spPr>
        <p:txBody>
          <a:bodyPr/>
          <a:lstStyle/>
          <a:p>
            <a:endParaRPr lang="es-ES"/>
          </a:p>
        </p:txBody>
      </p:sp>
      <p:sp>
        <p:nvSpPr>
          <p:cNvPr id="9" name="Text 7"/>
          <p:cNvSpPr/>
          <p:nvPr/>
        </p:nvSpPr>
        <p:spPr>
          <a:xfrm>
            <a:off x="822960" y="3291840"/>
            <a:ext cx="10543032" cy="86868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Con incrementar() sincronizado, el resultado es 20000 exacto, cada vez — el synchronized no acelera los hilos (van más lentos, se turnan), pero garantiza que el resultado sea siempre correcto.</a:t>
            </a:r>
            <a:endParaRPr lang="en-US" sz="1800" dirty="0"/>
          </a:p>
        </p:txBody>
      </p:sp>
      <p:sp>
        <p:nvSpPr>
          <p:cNvPr id="10" name="Text 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peligro opuesto: deadlock</a:t>
            </a:r>
            <a:endParaRPr lang="en-US" sz="2500" dirty="0"/>
          </a:p>
        </p:txBody>
      </p:sp>
      <p:sp>
        <p:nvSpPr>
          <p:cNvPr id="4" name="Shape 2"/>
          <p:cNvSpPr/>
          <p:nvPr/>
        </p:nvSpPr>
        <p:spPr>
          <a:xfrm>
            <a:off x="548640" y="1463040"/>
            <a:ext cx="11091672" cy="2103120"/>
          </a:xfrm>
          <a:prstGeom prst="roundRect">
            <a:avLst/>
          </a:prstGeom>
          <a:solidFill>
            <a:srgbClr val="FFF3E0"/>
          </a:solidFill>
          <a:ln w="28575">
            <a:solidFill>
              <a:srgbClr val="FFA000"/>
            </a:solidFill>
            <a:prstDash val="solid"/>
          </a:ln>
        </p:spPr>
        <p:txBody>
          <a:bodyPr/>
          <a:lstStyle/>
          <a:p>
            <a:endParaRPr lang="es-ES"/>
          </a:p>
        </p:txBody>
      </p:sp>
      <p:sp>
        <p:nvSpPr>
          <p:cNvPr id="5" name="Text 3"/>
          <p:cNvSpPr/>
          <p:nvPr/>
        </p:nvSpPr>
        <p:spPr>
          <a:xfrm>
            <a:off x="822960" y="1572768"/>
            <a:ext cx="10543032" cy="1883664"/>
          </a:xfrm>
          <a:prstGeom prst="rect">
            <a:avLst/>
          </a:prstGeom>
          <a:noFill/>
          <a:ln/>
        </p:spPr>
        <p:txBody>
          <a:bodyPr wrap="square" rtlCol="0" anchor="t"/>
          <a:lstStyle/>
          <a:p>
            <a:pPr marL="0" indent="0">
              <a:buNone/>
            </a:pPr>
            <a:r>
              <a:rPr lang="en-US" sz="2100" b="1" dirty="0">
                <a:solidFill>
                  <a:srgbClr val="4E342E"/>
                </a:solidFill>
                <a:latin typeface="Arial" pitchFamily="34" charset="0"/>
                <a:ea typeface="Arial" pitchFamily="34" charset="-122"/>
                <a:cs typeface="Arial" pitchFamily="34" charset="-120"/>
              </a:rPr>
              <a:t>Peligro: deadlock
</a:t>
            </a:r>
            <a:endParaRPr lang="en-US" sz="2100" dirty="0"/>
          </a:p>
          <a:p>
            <a:pPr marL="0" indent="0">
              <a:buNone/>
            </a:pPr>
            <a:r>
              <a:rPr lang="en-US" sz="2000" dirty="0">
                <a:solidFill>
                  <a:srgbClr val="212121"/>
                </a:solidFill>
                <a:latin typeface="Arial" pitchFamily="34" charset="0"/>
                <a:ea typeface="Arial" pitchFamily="34" charset="-122"/>
                <a:cs typeface="Arial" pitchFamily="34" charset="-120"/>
              </a:rPr>
              <a:t>Si te pasas de precavido bloqueando en exceso, puedes acabar con un deadlock: dos hilos esperando cada uno un recurso que tiene bloqueado el otro, sin que ninguno pueda avanzar nunca. synchronized resuelve la condición de carrera, pero mal usado crea un problema distinto.</a:t>
            </a:r>
            <a:endParaRPr lang="en-US" sz="2100" dirty="0"/>
          </a:p>
        </p:txBody>
      </p:sp>
      <p:sp>
        <p:nvSpPr>
          <p:cNvPr id="6" name="Text 4"/>
          <p:cNvSpPr/>
          <p:nvPr/>
        </p:nvSpPr>
        <p:spPr>
          <a:xfrm>
            <a:off x="548640" y="3931920"/>
            <a:ext cx="11091672" cy="1097280"/>
          </a:xfrm>
          <a:prstGeom prst="rect">
            <a:avLst/>
          </a:prstGeom>
          <a:noFill/>
          <a:ln/>
        </p:spPr>
        <p:txBody>
          <a:bodyPr wrap="square" rtlCol="0" anchor="t"/>
          <a:lstStyle/>
          <a:p>
            <a:pPr marL="0" indent="0">
              <a:buNone/>
            </a:pPr>
            <a:r>
              <a:rPr lang="en-US" sz="1900" i="1" dirty="0">
                <a:solidFill>
                  <a:srgbClr val="757575"/>
                </a:solidFill>
                <a:latin typeface="Arial" pitchFamily="34" charset="0"/>
                <a:ea typeface="Arial" pitchFamily="34" charset="-122"/>
                <a:cs typeface="Arial" pitchFamily="34" charset="-120"/>
              </a:rPr>
              <a:t>Es como el baño de una cafetería con una única llave: mientras un cliente la tiene y está dentro, cualquier otro que la necesite espera fuera — nadie entra hasta que la llave vuelve a estar libre.</a:t>
            </a:r>
            <a:endParaRPr lang="en-US" sz="1900" dirty="0"/>
          </a:p>
        </p:txBody>
      </p:sp>
      <p:sp>
        <p:nvSpPr>
          <p:cNvPr id="7"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ciclo de vida de un hilo</a:t>
            </a:r>
            <a:endParaRPr lang="en-US" sz="2500" dirty="0"/>
          </a:p>
        </p:txBody>
      </p:sp>
      <p:sp>
        <p:nvSpPr>
          <p:cNvPr id="4" name="Text 2"/>
          <p:cNvSpPr/>
          <p:nvPr/>
        </p:nvSpPr>
        <p:spPr>
          <a:xfrm>
            <a:off x="548640" y="1097280"/>
            <a:ext cx="11091672" cy="68580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Un hilo pasa por varios estados bien definidos entre que lo creas y termina — Thread.getState() permite consultar en cuál está en cada momento.</a:t>
            </a:r>
            <a:endParaRPr lang="en-US" sz="1800" dirty="0"/>
          </a:p>
        </p:txBody>
      </p:sp>
      <p:sp>
        <p:nvSpPr>
          <p:cNvPr id="6" name="Text 3"/>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pic>
        <p:nvPicPr>
          <p:cNvPr id="8" name="Imagen 7">
            <a:extLst>
              <a:ext uri="{FF2B5EF4-FFF2-40B4-BE49-F238E27FC236}">
                <a16:creationId xmlns:a16="http://schemas.microsoft.com/office/drawing/2014/main" id="{E4256F4F-58E8-7C69-CF47-5C060201E2EF}"/>
              </a:ext>
            </a:extLst>
          </p:cNvPr>
          <p:cNvPicPr>
            <a:picLocks noChangeAspect="1"/>
          </p:cNvPicPr>
          <p:nvPr/>
        </p:nvPicPr>
        <p:blipFill>
          <a:blip r:embed="rId3"/>
          <a:stretch>
            <a:fillRect/>
          </a:stretch>
        </p:blipFill>
        <p:spPr>
          <a:xfrm>
            <a:off x="998870" y="1945196"/>
            <a:ext cx="7673793" cy="48213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Qué significa cada estado</a:t>
            </a:r>
            <a:endParaRPr lang="en-US" sz="2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1672" cy="4352544"/>
        </p:xfrm>
        <a:graphic>
          <a:graphicData uri="http://schemas.openxmlformats.org/drawingml/2006/table">
            <a:tbl>
              <a:tblPr/>
              <a:tblGrid>
                <a:gridCol w="1996501">
                  <a:extLst>
                    <a:ext uri="{9D8B030D-6E8A-4147-A177-3AD203B41FA5}">
                      <a16:colId xmlns:a16="http://schemas.microsoft.com/office/drawing/2014/main" val="20000"/>
                    </a:ext>
                  </a:extLst>
                </a:gridCol>
                <a:gridCol w="4436669">
                  <a:extLst>
                    <a:ext uri="{9D8B030D-6E8A-4147-A177-3AD203B41FA5}">
                      <a16:colId xmlns:a16="http://schemas.microsoft.com/office/drawing/2014/main" val="20001"/>
                    </a:ext>
                  </a:extLst>
                </a:gridCol>
                <a:gridCol w="4658502">
                  <a:extLst>
                    <a:ext uri="{9D8B030D-6E8A-4147-A177-3AD203B41FA5}">
                      <a16:colId xmlns:a16="http://schemas.microsoft.com/office/drawing/2014/main" val="20002"/>
                    </a:ext>
                  </a:extLst>
                </a:gridCol>
              </a:tblGrid>
              <a:tr h="621792">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Estado</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¿Cómo se llega?</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¿Qué significa?</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621792">
                <a:tc>
                  <a:txBody>
                    <a:bodyPr/>
                    <a:lstStyle/>
                    <a:p>
                      <a:pPr marL="0" indent="0">
                        <a:buNone/>
                      </a:pPr>
                      <a:r>
                        <a:rPr lang="en-US" sz="1500" b="1" dirty="0">
                          <a:solidFill>
                            <a:srgbClr val="212121"/>
                          </a:solidFill>
                          <a:latin typeface="Arial" pitchFamily="34" charset="0"/>
                          <a:ea typeface="Arial" pitchFamily="34" charset="-122"/>
                          <a:cs typeface="Arial" pitchFamily="34" charset="-120"/>
                        </a:rPr>
                        <a:t>NEW</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new Thread(...)</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Existe el objeto, todavía no se ha llamado a start()</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500" b="1" dirty="0">
                          <a:solidFill>
                            <a:srgbClr val="212121"/>
                          </a:solidFill>
                          <a:latin typeface="Arial" pitchFamily="34" charset="0"/>
                          <a:ea typeface="Arial" pitchFamily="34" charset="-122"/>
                          <a:cs typeface="Arial" pitchFamily="34" charset="-120"/>
                        </a:rPr>
                        <a:t>RUNNABLE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Llamas a start()</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Ejecuta run(), o listo para hacerlo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21792">
                <a:tc>
                  <a:txBody>
                    <a:bodyPr/>
                    <a:lstStyle/>
                    <a:p>
                      <a:pPr marL="0" indent="0">
                        <a:buNone/>
                      </a:pPr>
                      <a:r>
                        <a:rPr lang="en-US" sz="1500" b="1" dirty="0">
                          <a:solidFill>
                            <a:srgbClr val="212121"/>
                          </a:solidFill>
                          <a:latin typeface="Arial" pitchFamily="34" charset="0"/>
                          <a:ea typeface="Arial" pitchFamily="34" charset="-122"/>
                          <a:cs typeface="Arial" pitchFamily="34" charset="-120"/>
                        </a:rPr>
                        <a:t>BLOCKED</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Intenta entrar en un synchronized ocupado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Espera a poder obtener el lock</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buNone/>
                      </a:pPr>
                      <a:r>
                        <a:rPr lang="en-US" sz="1500" b="1" dirty="0">
                          <a:solidFill>
                            <a:srgbClr val="212121"/>
                          </a:solidFill>
                          <a:latin typeface="Arial" pitchFamily="34" charset="0"/>
                          <a:ea typeface="Arial" pitchFamily="34" charset="-122"/>
                          <a:cs typeface="Arial" pitchFamily="34" charset="-120"/>
                        </a:rPr>
                        <a:t>WAITING</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join() o wait() sin tiempo máximo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Espera sin límite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621792">
                <a:tc>
                  <a:txBody>
                    <a:bodyPr/>
                    <a:lstStyle/>
                    <a:p>
                      <a:pPr marL="0" indent="0">
                        <a:buNone/>
                      </a:pPr>
                      <a:r>
                        <a:rPr lang="en-US" sz="1500" b="1" dirty="0">
                          <a:solidFill>
                            <a:srgbClr val="212121"/>
                          </a:solidFill>
                          <a:latin typeface="Arial" pitchFamily="34" charset="0"/>
                          <a:ea typeface="Arial" pitchFamily="34" charset="-122"/>
                          <a:cs typeface="Arial" pitchFamily="34" charset="-120"/>
                        </a:rPr>
                        <a:t>TIMED_WAITING</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sleep(), join(t) o wait(t)</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Espera durante un tiempo máximo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21792">
                <a:tc>
                  <a:txBody>
                    <a:bodyPr/>
                    <a:lstStyle/>
                    <a:p>
                      <a:pPr marL="0" indent="0">
                        <a:buNone/>
                      </a:pPr>
                      <a:r>
                        <a:rPr lang="en-US" sz="1500" b="1" dirty="0">
                          <a:solidFill>
                            <a:srgbClr val="212121"/>
                          </a:solidFill>
                          <a:latin typeface="Arial" pitchFamily="34" charset="0"/>
                          <a:ea typeface="Arial" pitchFamily="34" charset="-122"/>
                          <a:cs typeface="Arial" pitchFamily="34" charset="-120"/>
                        </a:rPr>
                        <a:t>TERMINATED</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Su run() acaba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Fin — no vuelve a ejecutarse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bl>
          </a:graphicData>
        </a:graphic>
      </p:graphicFrame>
      <p:sp>
        <p:nvSpPr>
          <p:cNvPr id="5"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Observar los estados con getState()</a:t>
            </a:r>
            <a:endParaRPr lang="en-US" sz="2500" dirty="0"/>
          </a:p>
        </p:txBody>
      </p:sp>
      <p:sp>
        <p:nvSpPr>
          <p:cNvPr id="4" name="Shape 2"/>
          <p:cNvSpPr/>
          <p:nvPr/>
        </p:nvSpPr>
        <p:spPr>
          <a:xfrm>
            <a:off x="548640" y="1097280"/>
            <a:ext cx="11091672" cy="2834640"/>
          </a:xfrm>
          <a:prstGeom prst="rect">
            <a:avLst/>
          </a:prstGeom>
          <a:solidFill>
            <a:srgbClr val="ECEFF1"/>
          </a:solidFill>
          <a:ln w="12700">
            <a:solidFill>
              <a:srgbClr val="EEEEEE"/>
            </a:solidFill>
            <a:prstDash val="solid"/>
          </a:ln>
        </p:spPr>
        <p:txBody>
          <a:bodyPr/>
          <a:lstStyle/>
          <a:p>
            <a:endParaRPr lang="es-ES"/>
          </a:p>
        </p:txBody>
      </p:sp>
      <p:sp>
        <p:nvSpPr>
          <p:cNvPr id="5" name="Shape 3"/>
          <p:cNvSpPr/>
          <p:nvPr/>
        </p:nvSpPr>
        <p:spPr>
          <a:xfrm>
            <a:off x="548640" y="1097280"/>
            <a:ext cx="73152" cy="2834640"/>
          </a:xfrm>
          <a:prstGeom prst="rect">
            <a:avLst/>
          </a:prstGeom>
          <a:solidFill>
            <a:srgbClr val="FFA000"/>
          </a:solidFill>
          <a:ln w="12700">
            <a:solidFill>
              <a:srgbClr val="FFA000"/>
            </a:solidFill>
            <a:prstDash val="solid"/>
          </a:ln>
        </p:spPr>
        <p:txBody>
          <a:bodyPr/>
          <a:lstStyle/>
          <a:p>
            <a:endParaRPr lang="es-ES"/>
          </a:p>
        </p:txBody>
      </p:sp>
      <p:sp>
        <p:nvSpPr>
          <p:cNvPr id="6" name="Text 4"/>
          <p:cNvSpPr/>
          <p:nvPr/>
        </p:nvSpPr>
        <p:spPr>
          <a:xfrm>
            <a:off x="822960" y="1207008"/>
            <a:ext cx="10588752" cy="261518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Thread hilo1 = new Thread(contador::incrementar, "Hilo-1");</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hilo1.getState();               // NEW</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hilo1.start();</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hilo1.getState();               // RUNNABLE</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 compitiendo por el lock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hilo1.getState();               // BLOCKED</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 dentro, durmiendo (sleep)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hilo1.getState();               // TIMED_WAITING</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hilo1.join();</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hilo1.getState();               // TERMINATED</a:t>
            </a:r>
            <a:endParaRPr lang="en-US" sz="1600" dirty="0"/>
          </a:p>
        </p:txBody>
      </p:sp>
      <p:sp>
        <p:nvSpPr>
          <p:cNvPr id="7" name="Shape 5"/>
          <p:cNvSpPr/>
          <p:nvPr/>
        </p:nvSpPr>
        <p:spPr>
          <a:xfrm>
            <a:off x="548640" y="4206240"/>
            <a:ext cx="11091672" cy="640080"/>
          </a:xfrm>
          <a:prstGeom prst="roundRect">
            <a:avLst/>
          </a:prstGeom>
          <a:solidFill>
            <a:srgbClr val="FFF3E0"/>
          </a:solidFill>
          <a:ln w="19050">
            <a:solidFill>
              <a:srgbClr val="FFA000"/>
            </a:solidFill>
            <a:prstDash val="solid"/>
          </a:ln>
        </p:spPr>
        <p:txBody>
          <a:bodyPr/>
          <a:lstStyle/>
          <a:p>
            <a:endParaRPr lang="es-ES"/>
          </a:p>
        </p:txBody>
      </p:sp>
      <p:sp>
        <p:nvSpPr>
          <p:cNvPr id="8" name="Text 6"/>
          <p:cNvSpPr/>
          <p:nvPr/>
        </p:nvSpPr>
        <p:spPr>
          <a:xfrm>
            <a:off x="822960" y="4297680"/>
            <a:ext cx="10543032" cy="457200"/>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 Código completo (EstadosDemo): apuntes web — Tema 3, «Hilos en una aplicación real»</a:t>
            </a:r>
            <a:endParaRPr lang="en-US" sz="1600" dirty="0"/>
          </a:p>
        </p:txBody>
      </p:sp>
      <p:sp>
        <p:nvSpPr>
          <p:cNvPr id="9" name="Text 7"/>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 escala de abstracción</a:t>
            </a:r>
            <a:endParaRPr lang="en-US" sz="2500" dirty="0"/>
          </a:p>
        </p:txBody>
      </p:sp>
      <p:sp>
        <p:nvSpPr>
          <p:cNvPr id="4" name="Text 2"/>
          <p:cNvSpPr/>
          <p:nvPr/>
        </p:nvSpPr>
        <p:spPr>
          <a:xfrm>
            <a:off x="548640" y="1097280"/>
            <a:ext cx="11091672" cy="82296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Crear hilos con Thread/Runnable a mano no escala: un hilo nuevo por cada tarea puede agotar los recursos del sistema.</a:t>
            </a:r>
            <a:endParaRPr lang="en-US" sz="1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3108960"/>
        </p:xfrm>
        <a:graphic>
          <a:graphicData uri="http://schemas.openxmlformats.org/drawingml/2006/table">
            <a:tbl>
              <a:tblPr/>
              <a:tblGrid>
                <a:gridCol w="3105668">
                  <a:extLst>
                    <a:ext uri="{9D8B030D-6E8A-4147-A177-3AD203B41FA5}">
                      <a16:colId xmlns:a16="http://schemas.microsoft.com/office/drawing/2014/main" val="20000"/>
                    </a:ext>
                  </a:extLst>
                </a:gridCol>
                <a:gridCol w="3993002">
                  <a:extLst>
                    <a:ext uri="{9D8B030D-6E8A-4147-A177-3AD203B41FA5}">
                      <a16:colId xmlns:a16="http://schemas.microsoft.com/office/drawing/2014/main" val="20001"/>
                    </a:ext>
                  </a:extLst>
                </a:gridCol>
                <a:gridCol w="3993002">
                  <a:extLst>
                    <a:ext uri="{9D8B030D-6E8A-4147-A177-3AD203B41FA5}">
                      <a16:colId xmlns:a16="http://schemas.microsoft.com/office/drawing/2014/main" val="20002"/>
                    </a:ext>
                  </a:extLst>
                </a:gridCol>
              </a:tblGrid>
              <a:tr h="777240">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Nivel</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Qué haces tú</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Quién gestiona los hilos</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777240">
                <a:tc>
                  <a:txBody>
                    <a:bodyPr/>
                    <a:lstStyle/>
                    <a:p>
                      <a:pPr marL="0" indent="0">
                        <a:buNone/>
                      </a:pPr>
                      <a:r>
                        <a:rPr lang="en-US" sz="1600" b="1" dirty="0">
                          <a:solidFill>
                            <a:srgbClr val="212121"/>
                          </a:solidFill>
                          <a:latin typeface="Arial" pitchFamily="34" charset="0"/>
                          <a:ea typeface="Arial" pitchFamily="34" charset="-122"/>
                          <a:cs typeface="Arial" pitchFamily="34" charset="-120"/>
                        </a:rPr>
                        <a:t>Thread/Runnable a mano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Creas y arrancas cada hilo tú mismo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Nadie — un hilo nuevo por new Thread()</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600" b="1" dirty="0">
                          <a:solidFill>
                            <a:srgbClr val="212121"/>
                          </a:solidFill>
                          <a:latin typeface="Arial" pitchFamily="34" charset="0"/>
                          <a:ea typeface="Arial" pitchFamily="34" charset="-122"/>
                          <a:cs typeface="Arial" pitchFamily="34" charset="-120"/>
                        </a:rPr>
                        <a:t>ExecutorService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Envías tareas a un pool ya creado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El propio ExecutorService, reutilizando hilos</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77240">
                <a:tc>
                  <a:txBody>
                    <a:bodyPr/>
                    <a:lstStyle/>
                    <a:p>
                      <a:pPr marL="0" indent="0">
                        <a:buNone/>
                      </a:pPr>
                      <a:r>
                        <a:rPr lang="en-US" sz="1600" b="1" dirty="0">
                          <a:solidFill>
                            <a:srgbClr val="212121"/>
                          </a:solidFill>
                          <a:latin typeface="Arial" pitchFamily="34" charset="0"/>
                          <a:ea typeface="Arial" pitchFamily="34" charset="-122"/>
                          <a:cs typeface="Arial" pitchFamily="34" charset="-120"/>
                        </a:rPr>
                        <a:t>Abstracciones de Spring</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Declaras una anotación en tu código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Spring, con un ExecutorService propio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Un Thread nuevo por tarea vs. plantilla fija</a:t>
            </a:r>
            <a:endParaRPr lang="en-US" sz="2500" dirty="0"/>
          </a:p>
        </p:txBody>
      </p:sp>
      <p:sp>
        <p:nvSpPr>
          <p:cNvPr id="4" name="Shape 2"/>
          <p:cNvSpPr/>
          <p:nvPr/>
        </p:nvSpPr>
        <p:spPr>
          <a:xfrm>
            <a:off x="548640" y="1188720"/>
            <a:ext cx="11091672" cy="502920"/>
          </a:xfrm>
          <a:prstGeom prst="rect">
            <a:avLst/>
          </a:prstGeom>
          <a:solidFill>
            <a:srgbClr val="6D4C41"/>
          </a:solidFill>
          <a:ln w="12700">
            <a:solidFill>
              <a:srgbClr val="6D4C41"/>
            </a:solidFill>
            <a:prstDash val="solid"/>
          </a:ln>
        </p:spPr>
        <p:txBody>
          <a:bodyPr/>
          <a:lstStyle/>
          <a:p>
            <a:endParaRPr lang="es-ES"/>
          </a:p>
        </p:txBody>
      </p:sp>
      <p:sp>
        <p:nvSpPr>
          <p:cNvPr id="5" name="Text 3"/>
          <p:cNvSpPr/>
          <p:nvPr/>
        </p:nvSpPr>
        <p:spPr>
          <a:xfrm>
            <a:off x="731520" y="1188720"/>
            <a:ext cx="10725912" cy="50292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 Un Thread nuevo por tarea — se contrata y se despide en cada tarea</a:t>
            </a:r>
            <a:endParaRPr lang="en-US" sz="1900" dirty="0"/>
          </a:p>
        </p:txBody>
      </p:sp>
      <p:sp>
        <p:nvSpPr>
          <p:cNvPr id="6" name="Shape 4"/>
          <p:cNvSpPr/>
          <p:nvPr/>
        </p:nvSpPr>
        <p:spPr>
          <a:xfrm>
            <a:off x="548640" y="1920240"/>
            <a:ext cx="3422904" cy="685800"/>
          </a:xfrm>
          <a:prstGeom prst="roundRect">
            <a:avLst/>
          </a:prstGeom>
          <a:solidFill>
            <a:srgbClr val="EFEBE9"/>
          </a:solidFill>
          <a:ln w="15875">
            <a:solidFill>
              <a:srgbClr val="6D4C41"/>
            </a:solidFill>
            <a:prstDash val="solid"/>
          </a:ln>
        </p:spPr>
        <p:txBody>
          <a:bodyPr/>
          <a:lstStyle/>
          <a:p>
            <a:endParaRPr lang="es-ES"/>
          </a:p>
        </p:txBody>
      </p:sp>
      <p:sp>
        <p:nvSpPr>
          <p:cNvPr id="7" name="Text 5"/>
          <p:cNvSpPr/>
          <p:nvPr/>
        </p:nvSpPr>
        <p:spPr>
          <a:xfrm>
            <a:off x="594360" y="1965960"/>
            <a:ext cx="3331464" cy="59436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Tarea 1</a:t>
            </a:r>
            <a:endParaRPr lang="en-US" sz="1500" dirty="0"/>
          </a:p>
        </p:txBody>
      </p:sp>
      <p:sp>
        <p:nvSpPr>
          <p:cNvPr id="8" name="Text 6"/>
          <p:cNvSpPr/>
          <p:nvPr/>
        </p:nvSpPr>
        <p:spPr>
          <a:xfrm>
            <a:off x="3925824" y="1920240"/>
            <a:ext cx="502920" cy="685800"/>
          </a:xfrm>
          <a:prstGeom prst="rect">
            <a:avLst/>
          </a:prstGeom>
          <a:noFill/>
          <a:ln/>
        </p:spPr>
        <p:txBody>
          <a:bodyPr wrap="square" rtlCol="0" anchor="ctr"/>
          <a:lstStyle/>
          <a:p>
            <a:pPr marL="0" indent="0" algn="ctr">
              <a:buNone/>
            </a:pPr>
            <a:r>
              <a:rPr lang="en-US" sz="2200" b="1" dirty="0">
                <a:solidFill>
                  <a:srgbClr val="6D4C41"/>
                </a:solidFill>
                <a:latin typeface="Arial" pitchFamily="34" charset="0"/>
                <a:ea typeface="Arial" pitchFamily="34" charset="-122"/>
                <a:cs typeface="Arial" pitchFamily="34" charset="-120"/>
              </a:rPr>
              <a:t>→</a:t>
            </a:r>
            <a:endParaRPr lang="en-US" sz="2200" dirty="0"/>
          </a:p>
        </p:txBody>
      </p:sp>
      <p:sp>
        <p:nvSpPr>
          <p:cNvPr id="9" name="Shape 7"/>
          <p:cNvSpPr/>
          <p:nvPr/>
        </p:nvSpPr>
        <p:spPr>
          <a:xfrm>
            <a:off x="4383024" y="1920240"/>
            <a:ext cx="3422904" cy="685800"/>
          </a:xfrm>
          <a:prstGeom prst="roundRect">
            <a:avLst/>
          </a:prstGeom>
          <a:solidFill>
            <a:srgbClr val="EFEBE9"/>
          </a:solidFill>
          <a:ln w="15875">
            <a:solidFill>
              <a:srgbClr val="6D4C41"/>
            </a:solidFill>
            <a:prstDash val="solid"/>
          </a:ln>
        </p:spPr>
        <p:txBody>
          <a:bodyPr/>
          <a:lstStyle/>
          <a:p>
            <a:endParaRPr lang="es-ES"/>
          </a:p>
        </p:txBody>
      </p:sp>
      <p:sp>
        <p:nvSpPr>
          <p:cNvPr id="10" name="Text 8"/>
          <p:cNvSpPr/>
          <p:nvPr/>
        </p:nvSpPr>
        <p:spPr>
          <a:xfrm>
            <a:off x="4428744" y="1965960"/>
            <a:ext cx="3331464" cy="59436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Operario nuevo</a:t>
            </a:r>
            <a:endParaRPr lang="en-US" sz="1500" dirty="0"/>
          </a:p>
        </p:txBody>
      </p:sp>
      <p:sp>
        <p:nvSpPr>
          <p:cNvPr id="11" name="Text 9"/>
          <p:cNvSpPr/>
          <p:nvPr/>
        </p:nvSpPr>
        <p:spPr>
          <a:xfrm>
            <a:off x="7760208" y="1920240"/>
            <a:ext cx="502920" cy="685800"/>
          </a:xfrm>
          <a:prstGeom prst="rect">
            <a:avLst/>
          </a:prstGeom>
          <a:noFill/>
          <a:ln/>
        </p:spPr>
        <p:txBody>
          <a:bodyPr wrap="square" rtlCol="0" anchor="ctr"/>
          <a:lstStyle/>
          <a:p>
            <a:pPr marL="0" indent="0" algn="ctr">
              <a:buNone/>
            </a:pPr>
            <a:r>
              <a:rPr lang="en-US" sz="2200" b="1" dirty="0">
                <a:solidFill>
                  <a:srgbClr val="6D4C41"/>
                </a:solidFill>
                <a:latin typeface="Arial" pitchFamily="34" charset="0"/>
                <a:ea typeface="Arial" pitchFamily="34" charset="-122"/>
                <a:cs typeface="Arial" pitchFamily="34" charset="-120"/>
              </a:rPr>
              <a:t>→</a:t>
            </a:r>
            <a:endParaRPr lang="en-US" sz="2200" dirty="0"/>
          </a:p>
        </p:txBody>
      </p:sp>
      <p:sp>
        <p:nvSpPr>
          <p:cNvPr id="12" name="Shape 10"/>
          <p:cNvSpPr/>
          <p:nvPr/>
        </p:nvSpPr>
        <p:spPr>
          <a:xfrm>
            <a:off x="8217408" y="1920240"/>
            <a:ext cx="3422904" cy="685800"/>
          </a:xfrm>
          <a:prstGeom prst="roundRect">
            <a:avLst/>
          </a:prstGeom>
          <a:solidFill>
            <a:srgbClr val="EFEBE9"/>
          </a:solidFill>
          <a:ln w="15875">
            <a:solidFill>
              <a:srgbClr val="6D4C41"/>
            </a:solidFill>
            <a:prstDash val="solid"/>
          </a:ln>
        </p:spPr>
        <p:txBody>
          <a:bodyPr/>
          <a:lstStyle/>
          <a:p>
            <a:endParaRPr lang="es-ES"/>
          </a:p>
        </p:txBody>
      </p:sp>
      <p:sp>
        <p:nvSpPr>
          <p:cNvPr id="13" name="Text 11"/>
          <p:cNvSpPr/>
          <p:nvPr/>
        </p:nvSpPr>
        <p:spPr>
          <a:xfrm>
            <a:off x="8263128" y="1965960"/>
            <a:ext cx="3331464" cy="59436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despedido</a:t>
            </a:r>
            <a:endParaRPr lang="en-US" sz="1500" dirty="0"/>
          </a:p>
        </p:txBody>
      </p:sp>
      <p:sp>
        <p:nvSpPr>
          <p:cNvPr id="14" name="Shape 12"/>
          <p:cNvSpPr/>
          <p:nvPr/>
        </p:nvSpPr>
        <p:spPr>
          <a:xfrm>
            <a:off x="548640" y="2788920"/>
            <a:ext cx="3422904" cy="685800"/>
          </a:xfrm>
          <a:prstGeom prst="roundRect">
            <a:avLst/>
          </a:prstGeom>
          <a:solidFill>
            <a:srgbClr val="EFEBE9"/>
          </a:solidFill>
          <a:ln w="15875">
            <a:solidFill>
              <a:srgbClr val="6D4C41"/>
            </a:solidFill>
            <a:prstDash val="solid"/>
          </a:ln>
        </p:spPr>
        <p:txBody>
          <a:bodyPr/>
          <a:lstStyle/>
          <a:p>
            <a:endParaRPr lang="es-ES"/>
          </a:p>
        </p:txBody>
      </p:sp>
      <p:sp>
        <p:nvSpPr>
          <p:cNvPr id="15" name="Text 13"/>
          <p:cNvSpPr/>
          <p:nvPr/>
        </p:nvSpPr>
        <p:spPr>
          <a:xfrm>
            <a:off x="594360" y="2834640"/>
            <a:ext cx="3331464" cy="59436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Tarea 2</a:t>
            </a:r>
            <a:endParaRPr lang="en-US" sz="1500" dirty="0"/>
          </a:p>
        </p:txBody>
      </p:sp>
      <p:sp>
        <p:nvSpPr>
          <p:cNvPr id="16" name="Text 14"/>
          <p:cNvSpPr/>
          <p:nvPr/>
        </p:nvSpPr>
        <p:spPr>
          <a:xfrm>
            <a:off x="3925824" y="2788920"/>
            <a:ext cx="502920" cy="685800"/>
          </a:xfrm>
          <a:prstGeom prst="rect">
            <a:avLst/>
          </a:prstGeom>
          <a:noFill/>
          <a:ln/>
        </p:spPr>
        <p:txBody>
          <a:bodyPr wrap="square" rtlCol="0" anchor="ctr"/>
          <a:lstStyle/>
          <a:p>
            <a:pPr marL="0" indent="0" algn="ctr">
              <a:buNone/>
            </a:pPr>
            <a:r>
              <a:rPr lang="en-US" sz="2200" b="1" dirty="0">
                <a:solidFill>
                  <a:srgbClr val="6D4C41"/>
                </a:solidFill>
                <a:latin typeface="Arial" pitchFamily="34" charset="0"/>
                <a:ea typeface="Arial" pitchFamily="34" charset="-122"/>
                <a:cs typeface="Arial" pitchFamily="34" charset="-120"/>
              </a:rPr>
              <a:t>→</a:t>
            </a:r>
            <a:endParaRPr lang="en-US" sz="2200" dirty="0"/>
          </a:p>
        </p:txBody>
      </p:sp>
      <p:sp>
        <p:nvSpPr>
          <p:cNvPr id="17" name="Shape 15"/>
          <p:cNvSpPr/>
          <p:nvPr/>
        </p:nvSpPr>
        <p:spPr>
          <a:xfrm>
            <a:off x="4383024" y="2788920"/>
            <a:ext cx="3422904" cy="685800"/>
          </a:xfrm>
          <a:prstGeom prst="roundRect">
            <a:avLst/>
          </a:prstGeom>
          <a:solidFill>
            <a:srgbClr val="EFEBE9"/>
          </a:solidFill>
          <a:ln w="15875">
            <a:solidFill>
              <a:srgbClr val="6D4C41"/>
            </a:solidFill>
            <a:prstDash val="solid"/>
          </a:ln>
        </p:spPr>
        <p:txBody>
          <a:bodyPr/>
          <a:lstStyle/>
          <a:p>
            <a:endParaRPr lang="es-ES"/>
          </a:p>
        </p:txBody>
      </p:sp>
      <p:sp>
        <p:nvSpPr>
          <p:cNvPr id="18" name="Text 16"/>
          <p:cNvSpPr/>
          <p:nvPr/>
        </p:nvSpPr>
        <p:spPr>
          <a:xfrm>
            <a:off x="4428744" y="2834640"/>
            <a:ext cx="3331464" cy="59436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Operario nuevo</a:t>
            </a:r>
            <a:endParaRPr lang="en-US" sz="1500" dirty="0"/>
          </a:p>
        </p:txBody>
      </p:sp>
      <p:sp>
        <p:nvSpPr>
          <p:cNvPr id="19" name="Text 17"/>
          <p:cNvSpPr/>
          <p:nvPr/>
        </p:nvSpPr>
        <p:spPr>
          <a:xfrm>
            <a:off x="7760208" y="2788920"/>
            <a:ext cx="502920" cy="685800"/>
          </a:xfrm>
          <a:prstGeom prst="rect">
            <a:avLst/>
          </a:prstGeom>
          <a:noFill/>
          <a:ln/>
        </p:spPr>
        <p:txBody>
          <a:bodyPr wrap="square" rtlCol="0" anchor="ctr"/>
          <a:lstStyle/>
          <a:p>
            <a:pPr marL="0" indent="0" algn="ctr">
              <a:buNone/>
            </a:pPr>
            <a:r>
              <a:rPr lang="en-US" sz="2200" b="1" dirty="0">
                <a:solidFill>
                  <a:srgbClr val="6D4C41"/>
                </a:solidFill>
                <a:latin typeface="Arial" pitchFamily="34" charset="0"/>
                <a:ea typeface="Arial" pitchFamily="34" charset="-122"/>
                <a:cs typeface="Arial" pitchFamily="34" charset="-120"/>
              </a:rPr>
              <a:t>→</a:t>
            </a:r>
            <a:endParaRPr lang="en-US" sz="2200" dirty="0"/>
          </a:p>
        </p:txBody>
      </p:sp>
      <p:sp>
        <p:nvSpPr>
          <p:cNvPr id="20" name="Shape 18"/>
          <p:cNvSpPr/>
          <p:nvPr/>
        </p:nvSpPr>
        <p:spPr>
          <a:xfrm>
            <a:off x="8217408" y="2788920"/>
            <a:ext cx="3422904" cy="685800"/>
          </a:xfrm>
          <a:prstGeom prst="roundRect">
            <a:avLst/>
          </a:prstGeom>
          <a:solidFill>
            <a:srgbClr val="EFEBE9"/>
          </a:solidFill>
          <a:ln w="15875">
            <a:solidFill>
              <a:srgbClr val="6D4C41"/>
            </a:solidFill>
            <a:prstDash val="solid"/>
          </a:ln>
        </p:spPr>
        <p:txBody>
          <a:bodyPr/>
          <a:lstStyle/>
          <a:p>
            <a:endParaRPr lang="es-ES"/>
          </a:p>
        </p:txBody>
      </p:sp>
      <p:sp>
        <p:nvSpPr>
          <p:cNvPr id="21" name="Text 19"/>
          <p:cNvSpPr/>
          <p:nvPr/>
        </p:nvSpPr>
        <p:spPr>
          <a:xfrm>
            <a:off x="8263128" y="2834640"/>
            <a:ext cx="3331464" cy="59436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despedido</a:t>
            </a:r>
            <a:endParaRPr lang="en-US" sz="1500" dirty="0"/>
          </a:p>
        </p:txBody>
      </p:sp>
      <p:sp>
        <p:nvSpPr>
          <p:cNvPr id="22" name="Shape 20"/>
          <p:cNvSpPr/>
          <p:nvPr/>
        </p:nvSpPr>
        <p:spPr>
          <a:xfrm>
            <a:off x="548640" y="3794760"/>
            <a:ext cx="11091672" cy="502920"/>
          </a:xfrm>
          <a:prstGeom prst="rect">
            <a:avLst/>
          </a:prstGeom>
          <a:solidFill>
            <a:srgbClr val="6D4C41"/>
          </a:solidFill>
          <a:ln w="12700">
            <a:solidFill>
              <a:srgbClr val="6D4C41"/>
            </a:solidFill>
            <a:prstDash val="solid"/>
          </a:ln>
        </p:spPr>
        <p:txBody>
          <a:bodyPr/>
          <a:lstStyle/>
          <a:p>
            <a:endParaRPr lang="es-ES"/>
          </a:p>
        </p:txBody>
      </p:sp>
      <p:sp>
        <p:nvSpPr>
          <p:cNvPr id="23" name="Text 21"/>
          <p:cNvSpPr/>
          <p:nvPr/>
        </p:nvSpPr>
        <p:spPr>
          <a:xfrm>
            <a:off x="731520" y="3794760"/>
            <a:ext cx="10725912" cy="50292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 ExecutorService — plantilla fija que se reparte la cola de tareas</a:t>
            </a:r>
            <a:endParaRPr lang="en-US" sz="1900" dirty="0"/>
          </a:p>
        </p:txBody>
      </p:sp>
      <p:sp>
        <p:nvSpPr>
          <p:cNvPr id="24" name="Shape 22"/>
          <p:cNvSpPr/>
          <p:nvPr/>
        </p:nvSpPr>
        <p:spPr>
          <a:xfrm>
            <a:off x="2340407" y="4526280"/>
            <a:ext cx="7508138" cy="548640"/>
          </a:xfrm>
          <a:prstGeom prst="roundRect">
            <a:avLst/>
          </a:prstGeom>
          <a:solidFill>
            <a:srgbClr val="EFEBE9"/>
          </a:solidFill>
          <a:ln w="19050">
            <a:solidFill>
              <a:srgbClr val="6D4C41"/>
            </a:solidFill>
            <a:prstDash val="solid"/>
          </a:ln>
        </p:spPr>
        <p:txBody>
          <a:bodyPr/>
          <a:lstStyle/>
          <a:p>
            <a:endParaRPr lang="es-ES"/>
          </a:p>
        </p:txBody>
      </p:sp>
      <p:sp>
        <p:nvSpPr>
          <p:cNvPr id="25" name="Text 23"/>
          <p:cNvSpPr/>
          <p:nvPr/>
        </p:nvSpPr>
        <p:spPr>
          <a:xfrm>
            <a:off x="2340407" y="4526280"/>
            <a:ext cx="7508138" cy="548640"/>
          </a:xfrm>
          <a:prstGeom prst="rect">
            <a:avLst/>
          </a:prstGeom>
          <a:noFill/>
          <a:ln/>
        </p:spPr>
        <p:txBody>
          <a:bodyPr wrap="square" rtlCol="0" anchor="ctr"/>
          <a:lstStyle/>
          <a:p>
            <a:pPr marL="0" indent="0" algn="ctr">
              <a:buNone/>
            </a:pPr>
            <a:r>
              <a:rPr lang="en-US" sz="1600" b="1" dirty="0">
                <a:solidFill>
                  <a:srgbClr val="212121"/>
                </a:solidFill>
                <a:latin typeface="Arial" pitchFamily="34" charset="0"/>
                <a:ea typeface="Arial" pitchFamily="34" charset="-122"/>
                <a:cs typeface="Arial" pitchFamily="34" charset="-120"/>
              </a:rPr>
              <a:t>📋 Cola de tareas</a:t>
            </a:r>
            <a:endParaRPr lang="en-US" sz="1600" dirty="0"/>
          </a:p>
        </p:txBody>
      </p:sp>
      <p:sp>
        <p:nvSpPr>
          <p:cNvPr id="26" name="Shape 24"/>
          <p:cNvSpPr/>
          <p:nvPr/>
        </p:nvSpPr>
        <p:spPr>
          <a:xfrm>
            <a:off x="6094476" y="5074920"/>
            <a:ext cx="914" cy="137160"/>
          </a:xfrm>
          <a:prstGeom prst="line">
            <a:avLst/>
          </a:prstGeom>
          <a:noFill/>
          <a:ln w="15875">
            <a:solidFill>
              <a:srgbClr val="6D4C41"/>
            </a:solidFill>
            <a:prstDash val="solid"/>
          </a:ln>
        </p:spPr>
        <p:txBody>
          <a:bodyPr/>
          <a:lstStyle/>
          <a:p>
            <a:endParaRPr lang="es-ES"/>
          </a:p>
        </p:txBody>
      </p:sp>
      <p:sp>
        <p:nvSpPr>
          <p:cNvPr id="27" name="Shape 25"/>
          <p:cNvSpPr/>
          <p:nvPr/>
        </p:nvSpPr>
        <p:spPr>
          <a:xfrm>
            <a:off x="548640" y="5349240"/>
            <a:ext cx="5362956" cy="548640"/>
          </a:xfrm>
          <a:prstGeom prst="roundRect">
            <a:avLst/>
          </a:prstGeom>
          <a:solidFill>
            <a:srgbClr val="EFEBE9"/>
          </a:solidFill>
          <a:ln w="15875">
            <a:solidFill>
              <a:srgbClr val="6D4C41"/>
            </a:solidFill>
            <a:prstDash val="solid"/>
          </a:ln>
        </p:spPr>
        <p:txBody>
          <a:bodyPr/>
          <a:lstStyle/>
          <a:p>
            <a:endParaRPr lang="es-ES"/>
          </a:p>
        </p:txBody>
      </p:sp>
      <p:sp>
        <p:nvSpPr>
          <p:cNvPr id="28" name="Text 26"/>
          <p:cNvSpPr/>
          <p:nvPr/>
        </p:nvSpPr>
        <p:spPr>
          <a:xfrm>
            <a:off x="594360" y="5349240"/>
            <a:ext cx="5271516" cy="54864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 Operario 1</a:t>
            </a:r>
            <a:endParaRPr lang="en-US" sz="1500" dirty="0"/>
          </a:p>
        </p:txBody>
      </p:sp>
      <p:sp>
        <p:nvSpPr>
          <p:cNvPr id="29" name="Shape 27"/>
          <p:cNvSpPr/>
          <p:nvPr/>
        </p:nvSpPr>
        <p:spPr>
          <a:xfrm>
            <a:off x="3230118" y="5212080"/>
            <a:ext cx="914" cy="137160"/>
          </a:xfrm>
          <a:prstGeom prst="line">
            <a:avLst/>
          </a:prstGeom>
          <a:noFill/>
          <a:ln w="15875">
            <a:solidFill>
              <a:srgbClr val="6D4C41"/>
            </a:solidFill>
            <a:prstDash val="solid"/>
          </a:ln>
        </p:spPr>
        <p:txBody>
          <a:bodyPr/>
          <a:lstStyle/>
          <a:p>
            <a:endParaRPr lang="es-ES"/>
          </a:p>
        </p:txBody>
      </p:sp>
      <p:sp>
        <p:nvSpPr>
          <p:cNvPr id="30" name="Shape 28"/>
          <p:cNvSpPr/>
          <p:nvPr/>
        </p:nvSpPr>
        <p:spPr>
          <a:xfrm>
            <a:off x="6277356" y="5349240"/>
            <a:ext cx="5362956" cy="548640"/>
          </a:xfrm>
          <a:prstGeom prst="roundRect">
            <a:avLst/>
          </a:prstGeom>
          <a:solidFill>
            <a:srgbClr val="EFEBE9"/>
          </a:solidFill>
          <a:ln w="15875">
            <a:solidFill>
              <a:srgbClr val="6D4C41"/>
            </a:solidFill>
            <a:prstDash val="solid"/>
          </a:ln>
        </p:spPr>
        <p:txBody>
          <a:bodyPr/>
          <a:lstStyle/>
          <a:p>
            <a:endParaRPr lang="es-ES"/>
          </a:p>
        </p:txBody>
      </p:sp>
      <p:sp>
        <p:nvSpPr>
          <p:cNvPr id="31" name="Text 29"/>
          <p:cNvSpPr/>
          <p:nvPr/>
        </p:nvSpPr>
        <p:spPr>
          <a:xfrm>
            <a:off x="6323076" y="5349240"/>
            <a:ext cx="5271516" cy="54864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 Operario 2</a:t>
            </a:r>
            <a:endParaRPr lang="en-US" sz="1500" dirty="0"/>
          </a:p>
        </p:txBody>
      </p:sp>
      <p:sp>
        <p:nvSpPr>
          <p:cNvPr id="32" name="Shape 30"/>
          <p:cNvSpPr/>
          <p:nvPr/>
        </p:nvSpPr>
        <p:spPr>
          <a:xfrm>
            <a:off x="8958834" y="5212080"/>
            <a:ext cx="914" cy="137160"/>
          </a:xfrm>
          <a:prstGeom prst="line">
            <a:avLst/>
          </a:prstGeom>
          <a:noFill/>
          <a:ln w="15875">
            <a:solidFill>
              <a:srgbClr val="6D4C41"/>
            </a:solidFill>
            <a:prstDash val="solid"/>
          </a:ln>
        </p:spPr>
        <p:txBody>
          <a:bodyPr/>
          <a:lstStyle/>
          <a:p>
            <a:endParaRPr lang="es-ES"/>
          </a:p>
        </p:txBody>
      </p:sp>
      <p:sp>
        <p:nvSpPr>
          <p:cNvPr id="33" name="Shape 31"/>
          <p:cNvSpPr/>
          <p:nvPr/>
        </p:nvSpPr>
        <p:spPr>
          <a:xfrm>
            <a:off x="3230118" y="5212080"/>
            <a:ext cx="5728716" cy="914"/>
          </a:xfrm>
          <a:prstGeom prst="line">
            <a:avLst/>
          </a:prstGeom>
          <a:noFill/>
          <a:ln w="15875">
            <a:solidFill>
              <a:srgbClr val="6D4C41"/>
            </a:solidFill>
            <a:prstDash val="solid"/>
          </a:ln>
        </p:spPr>
        <p:txBody>
          <a:bodyPr/>
          <a:lstStyle/>
          <a:p>
            <a:endParaRPr lang="es-ES"/>
          </a:p>
        </p:txBody>
      </p:sp>
      <p:sp>
        <p:nvSpPr>
          <p:cNvPr id="34" name="Text 3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Tu aplicación ya es multihilo</a:t>
            </a:r>
            <a:endParaRPr lang="en-US" sz="2500" dirty="0"/>
          </a:p>
        </p:txBody>
      </p:sp>
      <p:sp>
        <p:nvSpPr>
          <p:cNvPr id="4" name="Shape 2"/>
          <p:cNvSpPr/>
          <p:nvPr/>
        </p:nvSpPr>
        <p:spPr>
          <a:xfrm>
            <a:off x="548640" y="1097280"/>
            <a:ext cx="11091672" cy="502920"/>
          </a:xfrm>
          <a:prstGeom prst="rect">
            <a:avLst/>
          </a:prstGeom>
          <a:solidFill>
            <a:srgbClr val="6D4C41"/>
          </a:solidFill>
          <a:ln w="12700">
            <a:solidFill>
              <a:srgbClr val="6D4C41"/>
            </a:solidFill>
            <a:prstDash val="solid"/>
          </a:ln>
        </p:spPr>
        <p:txBody>
          <a:bodyPr/>
          <a:lstStyle/>
          <a:p>
            <a:endParaRPr lang="es-ES"/>
          </a:p>
        </p:txBody>
      </p:sp>
      <p:sp>
        <p:nvSpPr>
          <p:cNvPr id="5" name="Text 3"/>
          <p:cNvSpPr/>
          <p:nvPr/>
        </p:nvSpPr>
        <p:spPr>
          <a:xfrm>
            <a:off x="731520" y="1097280"/>
            <a:ext cx="10725912" cy="50292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El pool de Tomcat</a:t>
            </a:r>
            <a:endParaRPr lang="en-US" sz="1900" dirty="0"/>
          </a:p>
        </p:txBody>
      </p:sp>
      <p:sp>
        <p:nvSpPr>
          <p:cNvPr id="6" name="Shape 4"/>
          <p:cNvSpPr/>
          <p:nvPr/>
        </p:nvSpPr>
        <p:spPr>
          <a:xfrm>
            <a:off x="548640" y="1828800"/>
            <a:ext cx="11091672" cy="1005840"/>
          </a:xfrm>
          <a:prstGeom prst="roundRect">
            <a:avLst/>
          </a:prstGeom>
          <a:solidFill>
            <a:srgbClr val="FFF3E0"/>
          </a:solidFill>
          <a:ln w="19050">
            <a:solidFill>
              <a:srgbClr val="FFA000"/>
            </a:solidFill>
            <a:prstDash val="solid"/>
          </a:ln>
        </p:spPr>
        <p:txBody>
          <a:bodyPr/>
          <a:lstStyle/>
          <a:p>
            <a:endParaRPr lang="es-ES"/>
          </a:p>
        </p:txBody>
      </p:sp>
      <p:sp>
        <p:nvSpPr>
          <p:cNvPr id="7" name="Text 5"/>
          <p:cNvSpPr/>
          <p:nvPr/>
        </p:nvSpPr>
        <p:spPr>
          <a:xfrm>
            <a:off x="822960" y="1920240"/>
            <a:ext cx="10543032" cy="82296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Tomcat mantiene un pool de hilos, y cada petición HTTP se atiende en un hilo distinto de ese pool — esto ya lo tienes, sin haberlo pedido.</a:t>
            </a:r>
            <a:endParaRPr lang="en-US" sz="1900" dirty="0"/>
          </a:p>
        </p:txBody>
      </p:sp>
      <p:sp>
        <p:nvSpPr>
          <p:cNvPr id="8" name="Shape 6"/>
          <p:cNvSpPr/>
          <p:nvPr/>
        </p:nvSpPr>
        <p:spPr>
          <a:xfrm>
            <a:off x="548640" y="3154680"/>
            <a:ext cx="11091672" cy="502920"/>
          </a:xfrm>
          <a:prstGeom prst="rect">
            <a:avLst/>
          </a:prstGeom>
          <a:solidFill>
            <a:srgbClr val="6D4C41"/>
          </a:solidFill>
          <a:ln w="12700">
            <a:solidFill>
              <a:srgbClr val="6D4C41"/>
            </a:solidFill>
            <a:prstDash val="solid"/>
          </a:ln>
        </p:spPr>
        <p:txBody>
          <a:bodyPr/>
          <a:lstStyle/>
          <a:p>
            <a:endParaRPr lang="es-ES"/>
          </a:p>
        </p:txBody>
      </p:sp>
      <p:sp>
        <p:nvSpPr>
          <p:cNvPr id="9" name="Text 7"/>
          <p:cNvSpPr/>
          <p:nvPr/>
        </p:nvSpPr>
        <p:spPr>
          <a:xfrm>
            <a:off x="731520" y="3154680"/>
            <a:ext cx="10725912" cy="50292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La próxima pieza: un listener que atiende mensajes</a:t>
            </a:r>
            <a:endParaRPr lang="en-US" sz="1900" dirty="0"/>
          </a:p>
        </p:txBody>
      </p:sp>
      <p:sp>
        <p:nvSpPr>
          <p:cNvPr id="10" name="Text 8"/>
          <p:cNvSpPr/>
          <p:nvPr/>
        </p:nvSpPr>
        <p:spPr>
          <a:xfrm>
            <a:off x="548640" y="3886200"/>
            <a:ext cx="11091672" cy="91440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El pool de Tomcat funciona porque hay hilos dedicados a atender algo que llega desde fuera. Lo que vas a construir en la Actividad 3.1 sigue el mismo patrón, pero atendiendo mensajes en vez de peticiones HTTP.</a:t>
            </a:r>
            <a:endParaRPr lang="en-US" sz="1800" dirty="0"/>
          </a:p>
        </p:txBody>
      </p:sp>
      <p:sp>
        <p:nvSpPr>
          <p:cNvPr id="11" name="Text 9"/>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problema, antes que la solución</a:t>
            </a:r>
            <a:endParaRPr lang="en-US" sz="2500" dirty="0"/>
          </a:p>
        </p:txBody>
      </p:sp>
      <p:sp>
        <p:nvSpPr>
          <p:cNvPr id="4" name="Text 2"/>
          <p:cNvSpPr/>
          <p:nvPr/>
        </p:nvSpPr>
        <p:spPr>
          <a:xfrm>
            <a:off x="548640" y="1097280"/>
            <a:ext cx="11091672" cy="68580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Registrar la actividad de un Libro (auditoría) llamando en el mismo hilo de la petición acopla dos cosas que no tienen por qué ir juntas:</a:t>
            </a:r>
            <a:endParaRPr lang="en-US" sz="1800" dirty="0"/>
          </a:p>
        </p:txBody>
      </p:sp>
      <p:sp>
        <p:nvSpPr>
          <p:cNvPr id="5" name="Shape 3"/>
          <p:cNvSpPr/>
          <p:nvPr/>
        </p:nvSpPr>
        <p:spPr>
          <a:xfrm>
            <a:off x="548640" y="1828800"/>
            <a:ext cx="11091672" cy="173736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828800"/>
            <a:ext cx="73152" cy="1737360"/>
          </a:xfrm>
          <a:prstGeom prst="rect">
            <a:avLst/>
          </a:prstGeom>
          <a:solidFill>
            <a:srgbClr val="FFA000"/>
          </a:solidFill>
          <a:ln w="12700">
            <a:solidFill>
              <a:srgbClr val="FFA000"/>
            </a:solidFill>
            <a:prstDash val="solid"/>
          </a:ln>
        </p:spPr>
        <p:txBody>
          <a:bodyPr/>
          <a:lstStyle/>
          <a:p>
            <a:endParaRPr lang="es-ES"/>
          </a:p>
        </p:txBody>
      </p:sp>
      <p:sp>
        <p:nvSpPr>
          <p:cNvPr id="7" name="Text 5"/>
          <p:cNvSpPr/>
          <p:nvPr/>
        </p:nvSpPr>
        <p:spPr>
          <a:xfrm>
            <a:off x="822960" y="1938528"/>
            <a:ext cx="10588752" cy="151790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public LibroResponseDTO create(LibroCreateDTO dto)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Libro saved = libroRepository.save(mapToEntity(dto));</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actividadService.registrar("CREADO", "Libro",</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saved.getId().toString()); // en el mismo hilo A</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return mapToDTO(saved);</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
        <p:nvSpPr>
          <p:cNvPr id="8" name="Shape 6"/>
          <p:cNvSpPr/>
          <p:nvPr/>
        </p:nvSpPr>
        <p:spPr>
          <a:xfrm>
            <a:off x="548640" y="3794760"/>
            <a:ext cx="11091672" cy="914400"/>
          </a:xfrm>
          <a:prstGeom prst="roundRect">
            <a:avLst/>
          </a:prstGeom>
          <a:solidFill>
            <a:srgbClr val="FFF3E0"/>
          </a:solidFill>
          <a:ln w="19050">
            <a:solidFill>
              <a:srgbClr val="FFA000"/>
            </a:solidFill>
            <a:prstDash val="solid"/>
          </a:ln>
        </p:spPr>
        <p:txBody>
          <a:bodyPr/>
          <a:lstStyle/>
          <a:p>
            <a:endParaRPr lang="es-ES"/>
          </a:p>
        </p:txBody>
      </p:sp>
      <p:sp>
        <p:nvSpPr>
          <p:cNvPr id="9" name="Text 7"/>
          <p:cNvSpPr/>
          <p:nvPr/>
        </p:nvSpPr>
        <p:spPr>
          <a:xfrm>
            <a:off x="822960" y="3886200"/>
            <a:ext cx="10543032" cy="731520"/>
          </a:xfrm>
          <a:prstGeom prst="rect">
            <a:avLst/>
          </a:prstGeom>
          <a:noFill/>
          <a:ln/>
        </p:spPr>
        <p:txBody>
          <a:bodyPr wrap="square" rtlCol="0" anchor="ctr"/>
          <a:lstStyle/>
          <a:p>
            <a:pPr marL="0" indent="0">
              <a:buNone/>
            </a:pPr>
            <a:r>
              <a:rPr lang="en-US" sz="1700" dirty="0">
                <a:solidFill>
                  <a:srgbClr val="212121"/>
                </a:solidFill>
                <a:latin typeface="Arial" pitchFamily="34" charset="0"/>
                <a:ea typeface="Arial" pitchFamily="34" charset="-122"/>
                <a:cs typeface="Arial" pitchFamily="34" charset="-120"/>
              </a:rPr>
              <a:t>El cliente que hizo el POST espera también a que termine el registro de actividad, aunque no le importe. Si registrar() fallara o tardara, se llevaría por delante la creación del libro entera.</a:t>
            </a:r>
            <a:endParaRPr lang="en-US" sz="1700" dirty="0"/>
          </a:p>
        </p:txBody>
      </p:sp>
      <p:sp>
        <p:nvSpPr>
          <p:cNvPr id="10" name="Text 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Por qué un broker, y no simplemente otro hilo</a:t>
            </a:r>
            <a:endParaRPr lang="en-US" sz="2500" dirty="0"/>
          </a:p>
        </p:txBody>
      </p:sp>
      <p:sp>
        <p:nvSpPr>
          <p:cNvPr id="4" name="Shape 2"/>
          <p:cNvSpPr/>
          <p:nvPr/>
        </p:nvSpPr>
        <p:spPr>
          <a:xfrm>
            <a:off x="548640" y="1097280"/>
            <a:ext cx="11091672" cy="1188720"/>
          </a:xfrm>
          <a:prstGeom prst="roundRect">
            <a:avLst/>
          </a:prstGeom>
          <a:solidFill>
            <a:srgbClr val="FFF3E0"/>
          </a:solidFill>
          <a:ln w="19050">
            <a:solidFill>
              <a:srgbClr val="FFA000"/>
            </a:solidFill>
            <a:prstDash val="solid"/>
          </a:ln>
        </p:spPr>
        <p:txBody>
          <a:bodyPr/>
          <a:lstStyle/>
          <a:p>
            <a:endParaRPr lang="es-ES"/>
          </a:p>
        </p:txBody>
      </p:sp>
      <p:sp>
        <p:nvSpPr>
          <p:cNvPr id="5" name="Text 3"/>
          <p:cNvSpPr/>
          <p:nvPr/>
        </p:nvSpPr>
        <p:spPr>
          <a:xfrm>
            <a:off x="822960" y="1188720"/>
            <a:ext cx="10543032" cy="100584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Un hilo suelto (new Thread()) no sobrevive a nada: si la app se reinicia justo después, el registro se pierde para siempre. Un broker de mensajería guarda el mensaje hasta que alguien lo consuma de verdad.</a:t>
            </a:r>
            <a:endParaRPr lang="en-US" sz="1900" dirty="0"/>
          </a:p>
        </p:txBody>
      </p:sp>
      <p:sp>
        <p:nvSpPr>
          <p:cNvPr id="6" name="Shape 4"/>
          <p:cNvSpPr/>
          <p:nvPr/>
        </p:nvSpPr>
        <p:spPr>
          <a:xfrm>
            <a:off x="548640" y="2606040"/>
            <a:ext cx="11091672" cy="502920"/>
          </a:xfrm>
          <a:prstGeom prst="rect">
            <a:avLst/>
          </a:prstGeom>
          <a:solidFill>
            <a:srgbClr val="6D4C41"/>
          </a:solidFill>
          <a:ln w="12700">
            <a:solidFill>
              <a:srgbClr val="6D4C41"/>
            </a:solidFill>
            <a:prstDash val="solid"/>
          </a:ln>
        </p:spPr>
        <p:txBody>
          <a:bodyPr/>
          <a:lstStyle/>
          <a:p>
            <a:endParaRPr lang="es-ES"/>
          </a:p>
        </p:txBody>
      </p:sp>
      <p:sp>
        <p:nvSpPr>
          <p:cNvPr id="7" name="Text 5"/>
          <p:cNvSpPr/>
          <p:nvPr/>
        </p:nvSpPr>
        <p:spPr>
          <a:xfrm>
            <a:off x="731520" y="2606040"/>
            <a:ext cx="10725912" cy="50292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RabbitMQ: la oficina de correos</a:t>
            </a:r>
            <a:endParaRPr lang="en-US" sz="1900" dirty="0"/>
          </a:p>
        </p:txBody>
      </p:sp>
      <p:sp>
        <p:nvSpPr>
          <p:cNvPr id="8" name="Shape 6"/>
          <p:cNvSpPr/>
          <p:nvPr/>
        </p:nvSpPr>
        <p:spPr>
          <a:xfrm>
            <a:off x="548640" y="3383280"/>
            <a:ext cx="3422904" cy="1188720"/>
          </a:xfrm>
          <a:prstGeom prst="roundRect">
            <a:avLst/>
          </a:prstGeom>
          <a:solidFill>
            <a:srgbClr val="EFEBE9"/>
          </a:solidFill>
          <a:ln w="15875">
            <a:solidFill>
              <a:srgbClr val="6D4C41"/>
            </a:solidFill>
            <a:prstDash val="solid"/>
          </a:ln>
        </p:spPr>
        <p:txBody>
          <a:bodyPr/>
          <a:lstStyle/>
          <a:p>
            <a:endParaRPr lang="es-ES"/>
          </a:p>
        </p:txBody>
      </p:sp>
      <p:sp>
        <p:nvSpPr>
          <p:cNvPr id="9" name="Text 7"/>
          <p:cNvSpPr/>
          <p:nvPr/>
        </p:nvSpPr>
        <p:spPr>
          <a:xfrm>
            <a:off x="594360" y="3429000"/>
            <a:ext cx="3331464" cy="1097280"/>
          </a:xfrm>
          <a:prstGeom prst="rect">
            <a:avLst/>
          </a:prstGeom>
          <a:noFill/>
          <a:ln/>
        </p:spPr>
        <p:txBody>
          <a:bodyPr wrap="square" rtlCol="0" anchor="ctr"/>
          <a:lstStyle/>
          <a:p>
            <a:pPr marL="0" indent="0" algn="ctr">
              <a:buNone/>
            </a:pPr>
            <a:r>
              <a:rPr lang="en-US" sz="1700" dirty="0">
                <a:solidFill>
                  <a:srgbClr val="212121"/>
                </a:solidFill>
                <a:latin typeface="Arial" pitchFamily="34" charset="0"/>
                <a:ea typeface="Arial" pitchFamily="34" charset="-122"/>
                <a:cs typeface="Arial" pitchFamily="34" charset="-120"/>
              </a:rPr>
              <a:t>📤 Productor</a:t>
            </a:r>
            <a:endParaRPr lang="en-US" sz="1700" dirty="0"/>
          </a:p>
          <a:p>
            <a:pPr marL="0" indent="0" algn="ctr">
              <a:buNone/>
            </a:pPr>
            <a:r>
              <a:rPr lang="en-US" sz="1700" dirty="0">
                <a:solidFill>
                  <a:srgbClr val="212121"/>
                </a:solidFill>
                <a:latin typeface="Arial" pitchFamily="34" charset="0"/>
                <a:ea typeface="Arial" pitchFamily="34" charset="-122"/>
                <a:cs typeface="Arial" pitchFamily="34" charset="-120"/>
              </a:rPr>
              <a:t>echa la carta</a:t>
            </a:r>
            <a:endParaRPr lang="en-US" sz="1700" dirty="0"/>
          </a:p>
        </p:txBody>
      </p:sp>
      <p:sp>
        <p:nvSpPr>
          <p:cNvPr id="10" name="Text 8"/>
          <p:cNvSpPr/>
          <p:nvPr/>
        </p:nvSpPr>
        <p:spPr>
          <a:xfrm>
            <a:off x="3925824" y="3383280"/>
            <a:ext cx="502920" cy="1188720"/>
          </a:xfrm>
          <a:prstGeom prst="rect">
            <a:avLst/>
          </a:prstGeom>
          <a:noFill/>
          <a:ln/>
        </p:spPr>
        <p:txBody>
          <a:bodyPr wrap="square" rtlCol="0" anchor="ctr"/>
          <a:lstStyle/>
          <a:p>
            <a:pPr marL="0" indent="0" algn="ctr">
              <a:buNone/>
            </a:pPr>
            <a:r>
              <a:rPr lang="en-US" sz="2200" b="1" dirty="0">
                <a:solidFill>
                  <a:srgbClr val="6D4C41"/>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4383024" y="3383280"/>
            <a:ext cx="3422904" cy="1188720"/>
          </a:xfrm>
          <a:prstGeom prst="roundRect">
            <a:avLst/>
          </a:prstGeom>
          <a:solidFill>
            <a:srgbClr val="EFEBE9"/>
          </a:solidFill>
          <a:ln w="15875">
            <a:solidFill>
              <a:srgbClr val="6D4C41"/>
            </a:solidFill>
            <a:prstDash val="solid"/>
          </a:ln>
        </p:spPr>
        <p:txBody>
          <a:bodyPr/>
          <a:lstStyle/>
          <a:p>
            <a:endParaRPr lang="es-ES"/>
          </a:p>
        </p:txBody>
      </p:sp>
      <p:sp>
        <p:nvSpPr>
          <p:cNvPr id="12" name="Text 10"/>
          <p:cNvSpPr/>
          <p:nvPr/>
        </p:nvSpPr>
        <p:spPr>
          <a:xfrm>
            <a:off x="4428744" y="3429000"/>
            <a:ext cx="3331464" cy="1097280"/>
          </a:xfrm>
          <a:prstGeom prst="rect">
            <a:avLst/>
          </a:prstGeom>
          <a:noFill/>
          <a:ln/>
        </p:spPr>
        <p:txBody>
          <a:bodyPr wrap="square" rtlCol="0" anchor="ctr"/>
          <a:lstStyle/>
          <a:p>
            <a:pPr marL="0" indent="0" algn="ctr">
              <a:buNone/>
            </a:pPr>
            <a:r>
              <a:rPr lang="en-US" sz="1700" dirty="0">
                <a:solidFill>
                  <a:srgbClr val="212121"/>
                </a:solidFill>
                <a:latin typeface="Arial" pitchFamily="34" charset="0"/>
                <a:ea typeface="Arial" pitchFamily="34" charset="-122"/>
                <a:cs typeface="Arial" pitchFamily="34" charset="-120"/>
              </a:rPr>
              <a:t>📮 RabbitMQ</a:t>
            </a:r>
            <a:endParaRPr lang="en-US" sz="1700" dirty="0"/>
          </a:p>
          <a:p>
            <a:pPr marL="0" indent="0" algn="ctr">
              <a:buNone/>
            </a:pPr>
            <a:r>
              <a:rPr lang="en-US" sz="1700" dirty="0">
                <a:solidFill>
                  <a:srgbClr val="212121"/>
                </a:solidFill>
                <a:latin typeface="Arial" pitchFamily="34" charset="0"/>
                <a:ea typeface="Arial" pitchFamily="34" charset="-122"/>
                <a:cs typeface="Arial" pitchFamily="34" charset="-120"/>
              </a:rPr>
              <a:t>la oficina de correos</a:t>
            </a:r>
            <a:endParaRPr lang="en-US" sz="1700" dirty="0"/>
          </a:p>
        </p:txBody>
      </p:sp>
      <p:sp>
        <p:nvSpPr>
          <p:cNvPr id="13" name="Text 11"/>
          <p:cNvSpPr/>
          <p:nvPr/>
        </p:nvSpPr>
        <p:spPr>
          <a:xfrm>
            <a:off x="7760208" y="3383280"/>
            <a:ext cx="502920" cy="1188720"/>
          </a:xfrm>
          <a:prstGeom prst="rect">
            <a:avLst/>
          </a:prstGeom>
          <a:noFill/>
          <a:ln/>
        </p:spPr>
        <p:txBody>
          <a:bodyPr wrap="square" rtlCol="0" anchor="ctr"/>
          <a:lstStyle/>
          <a:p>
            <a:pPr marL="0" indent="0" algn="ctr">
              <a:buNone/>
            </a:pPr>
            <a:r>
              <a:rPr lang="en-US" sz="2200" b="1" dirty="0">
                <a:solidFill>
                  <a:srgbClr val="6D4C41"/>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8217408" y="3383280"/>
            <a:ext cx="3422904" cy="1188720"/>
          </a:xfrm>
          <a:prstGeom prst="roundRect">
            <a:avLst/>
          </a:prstGeom>
          <a:solidFill>
            <a:srgbClr val="EFEBE9"/>
          </a:solidFill>
          <a:ln w="15875">
            <a:solidFill>
              <a:srgbClr val="6D4C41"/>
            </a:solidFill>
            <a:prstDash val="solid"/>
          </a:ln>
        </p:spPr>
        <p:txBody>
          <a:bodyPr/>
          <a:lstStyle/>
          <a:p>
            <a:endParaRPr lang="es-ES"/>
          </a:p>
        </p:txBody>
      </p:sp>
      <p:sp>
        <p:nvSpPr>
          <p:cNvPr id="15" name="Text 13"/>
          <p:cNvSpPr/>
          <p:nvPr/>
        </p:nvSpPr>
        <p:spPr>
          <a:xfrm>
            <a:off x="8263128" y="3429000"/>
            <a:ext cx="3331464" cy="1097280"/>
          </a:xfrm>
          <a:prstGeom prst="rect">
            <a:avLst/>
          </a:prstGeom>
          <a:noFill/>
          <a:ln/>
        </p:spPr>
        <p:txBody>
          <a:bodyPr wrap="square" rtlCol="0" anchor="ctr"/>
          <a:lstStyle/>
          <a:p>
            <a:pPr marL="0" indent="0" algn="ctr">
              <a:buNone/>
            </a:pPr>
            <a:r>
              <a:rPr lang="en-US" sz="1700" dirty="0">
                <a:solidFill>
                  <a:srgbClr val="212121"/>
                </a:solidFill>
                <a:latin typeface="Arial" pitchFamily="34" charset="0"/>
                <a:ea typeface="Arial" pitchFamily="34" charset="-122"/>
                <a:cs typeface="Arial" pitchFamily="34" charset="-120"/>
              </a:rPr>
              <a:t>📥 Consumidor</a:t>
            </a:r>
            <a:endParaRPr lang="en-US" sz="1700" dirty="0"/>
          </a:p>
          <a:p>
            <a:pPr marL="0" indent="0" algn="ctr">
              <a:buNone/>
            </a:pPr>
            <a:r>
              <a:rPr lang="en-US" sz="1700" dirty="0">
                <a:solidFill>
                  <a:srgbClr val="212121"/>
                </a:solidFill>
                <a:latin typeface="Arial" pitchFamily="34" charset="0"/>
                <a:ea typeface="Arial" pitchFamily="34" charset="-122"/>
                <a:cs typeface="Arial" pitchFamily="34" charset="-120"/>
              </a:rPr>
              <a:t>la recoge, sin prisa</a:t>
            </a:r>
            <a:endParaRPr lang="en-US" sz="1700" dirty="0"/>
          </a:p>
        </p:txBody>
      </p:sp>
      <p:sp>
        <p:nvSpPr>
          <p:cNvPr id="16" name="Text 14"/>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Exchange, cola y listener</a:t>
            </a:r>
            <a:endParaRPr lang="en-US" sz="2500" dirty="0"/>
          </a:p>
        </p:txBody>
      </p:sp>
      <p:sp>
        <p:nvSpPr>
          <p:cNvPr id="4" name="Text 2"/>
          <p:cNvSpPr/>
          <p:nvPr/>
        </p:nvSpPr>
        <p:spPr>
          <a:xfrm>
            <a:off x="548640" y="1097280"/>
            <a:ext cx="11091672" cy="2651760"/>
          </a:xfrm>
          <a:prstGeom prst="rect">
            <a:avLst/>
          </a:prstGeom>
          <a:noFill/>
          <a:ln/>
        </p:spPr>
        <p:txBody>
          <a:bodyPr wrap="square" rtlCol="0" anchor="t"/>
          <a:lstStyle/>
          <a:p>
            <a:pPr marL="190500" indent="-190500">
              <a:spcAft>
                <a:spcPts val="400"/>
              </a:spcAft>
              <a:buSzPct val="100000"/>
              <a:buChar char="•"/>
            </a:pPr>
            <a:r>
              <a:rPr lang="en-US" sz="1700" b="1" dirty="0">
                <a:solidFill>
                  <a:srgbClr val="212121"/>
                </a:solidFill>
                <a:latin typeface="Arial" pitchFamily="34" charset="0"/>
                <a:ea typeface="Arial" pitchFamily="34" charset="-122"/>
                <a:cs typeface="Arial" pitchFamily="34" charset="-120"/>
              </a:rPr>
              <a:t>Cola: </a:t>
            </a:r>
            <a:endParaRPr lang="en-US" sz="1700" dirty="0"/>
          </a:p>
          <a:p>
            <a:pPr marL="762000" lvl="1" indent="-381000">
              <a:spcAft>
                <a:spcPts val="1200"/>
              </a:spcAft>
              <a:buSzPct val="100000"/>
              <a:buChar char="•"/>
            </a:pPr>
            <a:r>
              <a:rPr lang="en-US" sz="1600" dirty="0">
                <a:solidFill>
                  <a:srgbClr val="212121"/>
                </a:solidFill>
                <a:latin typeface="Arial" pitchFamily="34" charset="0"/>
                <a:ea typeface="Arial" pitchFamily="34" charset="-122"/>
                <a:cs typeface="Arial" pitchFamily="34" charset="-120"/>
              </a:rPr>
              <a:t>lista de mensajes pendientes de procesar.</a:t>
            </a:r>
            <a:endParaRPr lang="en-US" sz="1700" dirty="0"/>
          </a:p>
          <a:p>
            <a:pPr marL="190500" indent="-190500">
              <a:spcAft>
                <a:spcPts val="400"/>
              </a:spcAft>
              <a:buSzPct val="100000"/>
              <a:buChar char="•"/>
            </a:pPr>
            <a:r>
              <a:rPr lang="en-US" sz="1700" b="1" dirty="0">
                <a:solidFill>
                  <a:srgbClr val="212121"/>
                </a:solidFill>
                <a:latin typeface="Arial" pitchFamily="34" charset="0"/>
                <a:ea typeface="Arial" pitchFamily="34" charset="-122"/>
                <a:cs typeface="Arial" pitchFamily="34" charset="-120"/>
              </a:rPr>
              <a:t>Exchange: </a:t>
            </a:r>
            <a:endParaRPr lang="en-US" sz="1700" dirty="0"/>
          </a:p>
          <a:p>
            <a:pPr marL="762000" lvl="1" indent="-381000">
              <a:spcAft>
                <a:spcPts val="1200"/>
              </a:spcAft>
              <a:buSzPct val="100000"/>
              <a:buChar char="•"/>
            </a:pPr>
            <a:r>
              <a:rPr lang="en-US" sz="1600" dirty="0">
                <a:solidFill>
                  <a:srgbClr val="212121"/>
                </a:solidFill>
                <a:latin typeface="Arial" pitchFamily="34" charset="0"/>
                <a:ea typeface="Arial" pitchFamily="34" charset="-122"/>
                <a:cs typeface="Arial" pitchFamily="34" charset="-120"/>
              </a:rPr>
              <a:t>clasificador que mira la routing key y decide a qué cola manda cada mensaje.</a:t>
            </a:r>
            <a:endParaRPr lang="en-US" sz="1700" dirty="0"/>
          </a:p>
          <a:p>
            <a:pPr marL="190500" indent="-190500">
              <a:spcAft>
                <a:spcPts val="400"/>
              </a:spcAft>
              <a:buSzPct val="100000"/>
              <a:buChar char="•"/>
            </a:pPr>
            <a:r>
              <a:rPr lang="en-US" sz="1700" b="1" dirty="0">
                <a:solidFill>
                  <a:srgbClr val="212121"/>
                </a:solidFill>
                <a:latin typeface="Arial" pitchFamily="34" charset="0"/>
                <a:ea typeface="Arial" pitchFamily="34" charset="-122"/>
                <a:cs typeface="Arial" pitchFamily="34" charset="-120"/>
              </a:rPr>
              <a:t>Listener: </a:t>
            </a:r>
            <a:endParaRPr lang="en-US" sz="1700" dirty="0"/>
          </a:p>
          <a:p>
            <a:pPr marL="762000" lvl="1" indent="-381000">
              <a:spcAft>
                <a:spcPts val="1200"/>
              </a:spcAft>
              <a:buSzPct val="100000"/>
              <a:buChar char="•"/>
            </a:pPr>
            <a:r>
              <a:rPr lang="en-US" sz="1600" dirty="0">
                <a:solidFill>
                  <a:srgbClr val="212121"/>
                </a:solidFill>
                <a:latin typeface="Arial" pitchFamily="34" charset="0"/>
                <a:ea typeface="Arial" pitchFamily="34" charset="-122"/>
                <a:cs typeface="Arial" pitchFamily="34" charset="-120"/>
              </a:rPr>
              <a:t>código que reacciona cuando llega un mensaje — @RabbitListener lo invoca en un hilo aparte.</a:t>
            </a:r>
            <a:endParaRPr lang="en-US" sz="1700" dirty="0"/>
          </a:p>
        </p:txBody>
      </p:sp>
      <p:sp>
        <p:nvSpPr>
          <p:cNvPr id="5" name="Shape 3"/>
          <p:cNvSpPr/>
          <p:nvPr/>
        </p:nvSpPr>
        <p:spPr>
          <a:xfrm>
            <a:off x="548640" y="3794760"/>
            <a:ext cx="2464308" cy="1051560"/>
          </a:xfrm>
          <a:prstGeom prst="roundRect">
            <a:avLst/>
          </a:prstGeom>
          <a:solidFill>
            <a:srgbClr val="EFEBE9"/>
          </a:solidFill>
          <a:ln w="15875">
            <a:solidFill>
              <a:srgbClr val="6D4C41"/>
            </a:solidFill>
            <a:prstDash val="solid"/>
          </a:ln>
        </p:spPr>
        <p:txBody>
          <a:bodyPr/>
          <a:lstStyle/>
          <a:p>
            <a:endParaRPr lang="es-ES"/>
          </a:p>
        </p:txBody>
      </p:sp>
      <p:sp>
        <p:nvSpPr>
          <p:cNvPr id="6" name="Text 4"/>
          <p:cNvSpPr/>
          <p:nvPr/>
        </p:nvSpPr>
        <p:spPr>
          <a:xfrm>
            <a:off x="594360" y="3840480"/>
            <a:ext cx="2372868" cy="96012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 Productor</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publica un mensaje</a:t>
            </a:r>
            <a:endParaRPr lang="en-US" sz="1400" dirty="0"/>
          </a:p>
        </p:txBody>
      </p:sp>
      <p:sp>
        <p:nvSpPr>
          <p:cNvPr id="7" name="Text 5"/>
          <p:cNvSpPr/>
          <p:nvPr/>
        </p:nvSpPr>
        <p:spPr>
          <a:xfrm>
            <a:off x="2967228" y="3794760"/>
            <a:ext cx="502920" cy="1051560"/>
          </a:xfrm>
          <a:prstGeom prst="rect">
            <a:avLst/>
          </a:prstGeom>
          <a:noFill/>
          <a:ln/>
        </p:spPr>
        <p:txBody>
          <a:bodyPr wrap="square" rtlCol="0" anchor="ctr"/>
          <a:lstStyle/>
          <a:p>
            <a:pPr marL="0" indent="0" algn="ctr">
              <a:buNone/>
            </a:pPr>
            <a:r>
              <a:rPr lang="en-US" sz="2200" b="1" dirty="0">
                <a:solidFill>
                  <a:srgbClr val="6D4C41"/>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3424428" y="3794760"/>
            <a:ext cx="2464308" cy="1051560"/>
          </a:xfrm>
          <a:prstGeom prst="roundRect">
            <a:avLst/>
          </a:prstGeom>
          <a:solidFill>
            <a:srgbClr val="EFEBE9"/>
          </a:solidFill>
          <a:ln w="15875">
            <a:solidFill>
              <a:srgbClr val="6D4C41"/>
            </a:solidFill>
            <a:prstDash val="solid"/>
          </a:ln>
        </p:spPr>
        <p:txBody>
          <a:bodyPr/>
          <a:lstStyle/>
          <a:p>
            <a:endParaRPr lang="es-ES"/>
          </a:p>
        </p:txBody>
      </p:sp>
      <p:sp>
        <p:nvSpPr>
          <p:cNvPr id="9" name="Text 7"/>
          <p:cNvSpPr/>
          <p:nvPr/>
        </p:nvSpPr>
        <p:spPr>
          <a:xfrm>
            <a:off x="3470148" y="3840480"/>
            <a:ext cx="2372868" cy="96012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 Exchange</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mira la dirección</a:t>
            </a:r>
            <a:endParaRPr lang="en-US" sz="1400" dirty="0"/>
          </a:p>
        </p:txBody>
      </p:sp>
      <p:sp>
        <p:nvSpPr>
          <p:cNvPr id="10" name="Text 8"/>
          <p:cNvSpPr/>
          <p:nvPr/>
        </p:nvSpPr>
        <p:spPr>
          <a:xfrm>
            <a:off x="5843016" y="3794760"/>
            <a:ext cx="502920" cy="1051560"/>
          </a:xfrm>
          <a:prstGeom prst="rect">
            <a:avLst/>
          </a:prstGeom>
          <a:noFill/>
          <a:ln/>
        </p:spPr>
        <p:txBody>
          <a:bodyPr wrap="square" rtlCol="0" anchor="ctr"/>
          <a:lstStyle/>
          <a:p>
            <a:pPr marL="0" indent="0" algn="ctr">
              <a:buNone/>
            </a:pPr>
            <a:r>
              <a:rPr lang="en-US" sz="2200" b="1" dirty="0">
                <a:solidFill>
                  <a:srgbClr val="6D4C41"/>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6300216" y="3794760"/>
            <a:ext cx="2464308" cy="1051560"/>
          </a:xfrm>
          <a:prstGeom prst="roundRect">
            <a:avLst/>
          </a:prstGeom>
          <a:solidFill>
            <a:srgbClr val="EFEBE9"/>
          </a:solidFill>
          <a:ln w="15875">
            <a:solidFill>
              <a:srgbClr val="6D4C41"/>
            </a:solidFill>
            <a:prstDash val="solid"/>
          </a:ln>
        </p:spPr>
        <p:txBody>
          <a:bodyPr/>
          <a:lstStyle/>
          <a:p>
            <a:endParaRPr lang="es-ES"/>
          </a:p>
        </p:txBody>
      </p:sp>
      <p:sp>
        <p:nvSpPr>
          <p:cNvPr id="12" name="Text 10"/>
          <p:cNvSpPr/>
          <p:nvPr/>
        </p:nvSpPr>
        <p:spPr>
          <a:xfrm>
            <a:off x="6345936" y="3840480"/>
            <a:ext cx="2372868" cy="96012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 Cola</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mensajes pendientes</a:t>
            </a:r>
            <a:endParaRPr lang="en-US" sz="1400" dirty="0"/>
          </a:p>
        </p:txBody>
      </p:sp>
      <p:sp>
        <p:nvSpPr>
          <p:cNvPr id="13" name="Text 11"/>
          <p:cNvSpPr/>
          <p:nvPr/>
        </p:nvSpPr>
        <p:spPr>
          <a:xfrm>
            <a:off x="8718804" y="3794760"/>
            <a:ext cx="502920" cy="1051560"/>
          </a:xfrm>
          <a:prstGeom prst="rect">
            <a:avLst/>
          </a:prstGeom>
          <a:noFill/>
          <a:ln/>
        </p:spPr>
        <p:txBody>
          <a:bodyPr wrap="square" rtlCol="0" anchor="ctr"/>
          <a:lstStyle/>
          <a:p>
            <a:pPr marL="0" indent="0" algn="ctr">
              <a:buNone/>
            </a:pPr>
            <a:r>
              <a:rPr lang="en-US" sz="2200" b="1" dirty="0">
                <a:solidFill>
                  <a:srgbClr val="6D4C41"/>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9176004" y="3794760"/>
            <a:ext cx="2464308" cy="1051560"/>
          </a:xfrm>
          <a:prstGeom prst="roundRect">
            <a:avLst/>
          </a:prstGeom>
          <a:solidFill>
            <a:srgbClr val="EFEBE9"/>
          </a:solidFill>
          <a:ln w="15875">
            <a:solidFill>
              <a:srgbClr val="6D4C41"/>
            </a:solidFill>
            <a:prstDash val="solid"/>
          </a:ln>
        </p:spPr>
        <p:txBody>
          <a:bodyPr/>
          <a:lstStyle/>
          <a:p>
            <a:endParaRPr lang="es-ES"/>
          </a:p>
        </p:txBody>
      </p:sp>
      <p:sp>
        <p:nvSpPr>
          <p:cNvPr id="15" name="Text 13"/>
          <p:cNvSpPr/>
          <p:nvPr/>
        </p:nvSpPr>
        <p:spPr>
          <a:xfrm>
            <a:off x="9221724" y="3840480"/>
            <a:ext cx="2372868" cy="96012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 @RabbitListener</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consumidor, otro hilo</a:t>
            </a:r>
            <a:endParaRPr lang="en-US" sz="1400" dirty="0"/>
          </a:p>
        </p:txBody>
      </p:sp>
      <p:sp>
        <p:nvSpPr>
          <p:cNvPr id="16" name="Text 14"/>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binding: la ficha del clasificador</a:t>
            </a:r>
            <a:endParaRPr lang="en-US" sz="2500" dirty="0"/>
          </a:p>
        </p:txBody>
      </p:sp>
      <p:sp>
        <p:nvSpPr>
          <p:cNvPr id="4" name="Text 2"/>
          <p:cNvSpPr/>
          <p:nvPr/>
        </p:nvSpPr>
        <p:spPr>
          <a:xfrm>
            <a:off x="548640" y="1097280"/>
            <a:ext cx="11091672" cy="68580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El publicador solo conoce el exchange; el listener solo conoce la cola. El binding es la regla que asocia ambos bajo un patrón de routing key.</a:t>
            </a:r>
            <a:endParaRPr lang="en-US" sz="1800" dirty="0"/>
          </a:p>
        </p:txBody>
      </p:sp>
      <p:sp>
        <p:nvSpPr>
          <p:cNvPr id="5" name="Shape 3"/>
          <p:cNvSpPr/>
          <p:nvPr/>
        </p:nvSpPr>
        <p:spPr>
          <a:xfrm>
            <a:off x="548640" y="1874520"/>
            <a:ext cx="11091672" cy="356616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874520"/>
            <a:ext cx="73152" cy="3566160"/>
          </a:xfrm>
          <a:prstGeom prst="rect">
            <a:avLst/>
          </a:prstGeom>
          <a:solidFill>
            <a:srgbClr val="FFA000"/>
          </a:solidFill>
          <a:ln w="12700">
            <a:solidFill>
              <a:srgbClr val="FFA000"/>
            </a:solidFill>
            <a:prstDash val="solid"/>
          </a:ln>
        </p:spPr>
        <p:txBody>
          <a:bodyPr/>
          <a:lstStyle/>
          <a:p>
            <a:endParaRPr lang="es-ES"/>
          </a:p>
        </p:txBody>
      </p:sp>
      <p:sp>
        <p:nvSpPr>
          <p:cNvPr id="7" name="Text 5"/>
          <p:cNvSpPr/>
          <p:nvPr/>
        </p:nvSpPr>
        <p:spPr>
          <a:xfrm>
            <a:off x="822960" y="1984248"/>
            <a:ext cx="10588752" cy="334670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@Bean</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public TopicExchange catalogoExchange()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return new TopicExchange(CATALOGO_EXCHANGE);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@Bean</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public Queue actividadLibroQueue()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return new Queue(ACTIVIDAD_LIBRO_QUEUE);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@Bean</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public Binding actividadBinding(Queue q, TopicExchange ex)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return BindingBuilder.bind(q).to(ex).with("libro.*");</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p:txBody>
      </p:sp>
      <p:sp>
        <p:nvSpPr>
          <p:cNvPr id="8"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mensaje y quién lo publica</a:t>
            </a:r>
            <a:endParaRPr lang="en-US" sz="2500" dirty="0"/>
          </a:p>
        </p:txBody>
      </p:sp>
      <p:sp>
        <p:nvSpPr>
          <p:cNvPr id="4" name="Shape 2"/>
          <p:cNvSpPr/>
          <p:nvPr/>
        </p:nvSpPr>
        <p:spPr>
          <a:xfrm>
            <a:off x="548640" y="1097280"/>
            <a:ext cx="11091672" cy="685800"/>
          </a:xfrm>
          <a:prstGeom prst="rect">
            <a:avLst/>
          </a:prstGeom>
          <a:solidFill>
            <a:srgbClr val="ECEFF1"/>
          </a:solidFill>
          <a:ln w="12700">
            <a:solidFill>
              <a:srgbClr val="EEEEEE"/>
            </a:solidFill>
            <a:prstDash val="solid"/>
          </a:ln>
        </p:spPr>
        <p:txBody>
          <a:bodyPr/>
          <a:lstStyle/>
          <a:p>
            <a:endParaRPr lang="es-ES"/>
          </a:p>
        </p:txBody>
      </p:sp>
      <p:sp>
        <p:nvSpPr>
          <p:cNvPr id="5" name="Shape 3"/>
          <p:cNvSpPr/>
          <p:nvPr/>
        </p:nvSpPr>
        <p:spPr>
          <a:xfrm>
            <a:off x="548640" y="1097280"/>
            <a:ext cx="73152" cy="685800"/>
          </a:xfrm>
          <a:prstGeom prst="rect">
            <a:avLst/>
          </a:prstGeom>
          <a:solidFill>
            <a:srgbClr val="FFA000"/>
          </a:solidFill>
          <a:ln w="12700">
            <a:solidFill>
              <a:srgbClr val="FFA000"/>
            </a:solidFill>
            <a:prstDash val="solid"/>
          </a:ln>
        </p:spPr>
        <p:txBody>
          <a:bodyPr/>
          <a:lstStyle/>
          <a:p>
            <a:endParaRPr lang="es-ES"/>
          </a:p>
        </p:txBody>
      </p:sp>
      <p:sp>
        <p:nvSpPr>
          <p:cNvPr id="6" name="Text 4"/>
          <p:cNvSpPr/>
          <p:nvPr/>
        </p:nvSpPr>
        <p:spPr>
          <a:xfrm>
            <a:off x="822960" y="1207008"/>
            <a:ext cx="10588752" cy="46634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public record LibroEvent(String tipo, Long libroId) {}</a:t>
            </a:r>
            <a:endParaRPr lang="en-US" sz="1600" dirty="0"/>
          </a:p>
        </p:txBody>
      </p:sp>
      <p:sp>
        <p:nvSpPr>
          <p:cNvPr id="7" name="Shape 5"/>
          <p:cNvSpPr/>
          <p:nvPr/>
        </p:nvSpPr>
        <p:spPr>
          <a:xfrm>
            <a:off x="548640" y="2011680"/>
            <a:ext cx="11091672" cy="1737360"/>
          </a:xfrm>
          <a:prstGeom prst="rect">
            <a:avLst/>
          </a:prstGeom>
          <a:solidFill>
            <a:srgbClr val="ECEFF1"/>
          </a:solidFill>
          <a:ln w="12700">
            <a:solidFill>
              <a:srgbClr val="EEEEEE"/>
            </a:solidFill>
            <a:prstDash val="solid"/>
          </a:ln>
        </p:spPr>
        <p:txBody>
          <a:bodyPr/>
          <a:lstStyle/>
          <a:p>
            <a:endParaRPr lang="es-ES"/>
          </a:p>
        </p:txBody>
      </p:sp>
      <p:sp>
        <p:nvSpPr>
          <p:cNvPr id="8" name="Shape 6"/>
          <p:cNvSpPr/>
          <p:nvPr/>
        </p:nvSpPr>
        <p:spPr>
          <a:xfrm>
            <a:off x="548640" y="2011680"/>
            <a:ext cx="73152" cy="1737360"/>
          </a:xfrm>
          <a:prstGeom prst="rect">
            <a:avLst/>
          </a:prstGeom>
          <a:solidFill>
            <a:srgbClr val="FFA000"/>
          </a:solidFill>
          <a:ln w="12700">
            <a:solidFill>
              <a:srgbClr val="FFA000"/>
            </a:solidFill>
            <a:prstDash val="solid"/>
          </a:ln>
        </p:spPr>
        <p:txBody>
          <a:bodyPr/>
          <a:lstStyle/>
          <a:p>
            <a:endParaRPr lang="es-ES"/>
          </a:p>
        </p:txBody>
      </p:sp>
      <p:sp>
        <p:nvSpPr>
          <p:cNvPr id="9" name="Text 7"/>
          <p:cNvSpPr/>
          <p:nvPr/>
        </p:nvSpPr>
        <p:spPr>
          <a:xfrm>
            <a:off x="822960" y="2121408"/>
            <a:ext cx="10588752" cy="151790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public void publicar(String tipo, Long libroId)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String payload = jsonMapper.writeValueAsString(</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new LibroEvent(tipo, libroId));</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rabbitTemplate.convertAndSend(CATALOGO_EXCHANGE,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"libro." + tipo.toLowerCase(), payload);</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p:txBody>
      </p:sp>
      <p:sp>
        <p:nvSpPr>
          <p:cNvPr id="10" name="Text 8"/>
          <p:cNvSpPr/>
          <p:nvPr/>
        </p:nvSpPr>
        <p:spPr>
          <a:xfrm>
            <a:off x="548640" y="3977640"/>
            <a:ext cx="11091672" cy="640080"/>
          </a:xfrm>
          <a:prstGeom prst="rect">
            <a:avLst/>
          </a:prstGeom>
          <a:noFill/>
          <a:ln/>
        </p:spPr>
        <p:txBody>
          <a:bodyPr wrap="square" rtlCol="0" anchor="t"/>
          <a:lstStyle/>
          <a:p>
            <a:pPr marL="0" indent="0">
              <a:buNone/>
            </a:pPr>
            <a:r>
              <a:rPr lang="en-US" sz="1700" dirty="0">
                <a:solidFill>
                  <a:srgbClr val="212121"/>
                </a:solidFill>
                <a:latin typeface="Arial" pitchFamily="34" charset="0"/>
                <a:ea typeface="Arial" pitchFamily="34" charset="-122"/>
                <a:cs typeface="Arial" pitchFamily="34" charset="-120"/>
              </a:rPr>
              <a:t>LibroService.create() llama ahora a publicar(...) en vez de invocar directamente a actividadService.registrar(...), y responde al cliente sin esperar.</a:t>
            </a:r>
            <a:endParaRPr lang="en-US" sz="1700" dirty="0"/>
          </a:p>
        </p:txBody>
      </p:sp>
      <p:sp>
        <p:nvSpPr>
          <p:cNvPr id="11" name="Text 9"/>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flujo completo: dos hilos distintos</a:t>
            </a:r>
            <a:endParaRPr lang="en-US" sz="2500" dirty="0"/>
          </a:p>
        </p:txBody>
      </p:sp>
      <p:sp>
        <p:nvSpPr>
          <p:cNvPr id="4" name="Shape 2"/>
          <p:cNvSpPr/>
          <p:nvPr/>
        </p:nvSpPr>
        <p:spPr>
          <a:xfrm>
            <a:off x="548640" y="1097280"/>
            <a:ext cx="11091672" cy="1737360"/>
          </a:xfrm>
          <a:prstGeom prst="rect">
            <a:avLst/>
          </a:prstGeom>
          <a:solidFill>
            <a:srgbClr val="ECEFF1"/>
          </a:solidFill>
          <a:ln w="12700">
            <a:solidFill>
              <a:srgbClr val="EEEEEE"/>
            </a:solidFill>
            <a:prstDash val="solid"/>
          </a:ln>
        </p:spPr>
        <p:txBody>
          <a:bodyPr/>
          <a:lstStyle/>
          <a:p>
            <a:endParaRPr lang="es-ES"/>
          </a:p>
        </p:txBody>
      </p:sp>
      <p:sp>
        <p:nvSpPr>
          <p:cNvPr id="5" name="Shape 3"/>
          <p:cNvSpPr/>
          <p:nvPr/>
        </p:nvSpPr>
        <p:spPr>
          <a:xfrm>
            <a:off x="548640" y="1097280"/>
            <a:ext cx="73152" cy="1737360"/>
          </a:xfrm>
          <a:prstGeom prst="rect">
            <a:avLst/>
          </a:prstGeom>
          <a:solidFill>
            <a:srgbClr val="FFA000"/>
          </a:solidFill>
          <a:ln w="12700">
            <a:solidFill>
              <a:srgbClr val="FFA000"/>
            </a:solidFill>
            <a:prstDash val="solid"/>
          </a:ln>
        </p:spPr>
        <p:txBody>
          <a:bodyPr/>
          <a:lstStyle/>
          <a:p>
            <a:endParaRPr lang="es-ES"/>
          </a:p>
        </p:txBody>
      </p:sp>
      <p:sp>
        <p:nvSpPr>
          <p:cNvPr id="6" name="Text 4"/>
          <p:cNvSpPr/>
          <p:nvPr/>
        </p:nvSpPr>
        <p:spPr>
          <a:xfrm>
            <a:off x="822960" y="1207008"/>
            <a:ext cx="10588752" cy="151790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@RabbitListener(queues = ACTIVIDAD_LIBRO_QUEUE)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public void recibir(String payload)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LibroEvent event = jsonMapper.readValue(payload, LibroEvent.class);</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actividadService.registrar(event.tipo(), "Libro",</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event.libroId().toString());</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p:txBody>
      </p:sp>
      <p:sp>
        <p:nvSpPr>
          <p:cNvPr id="7" name="Shape 5"/>
          <p:cNvSpPr/>
          <p:nvPr/>
        </p:nvSpPr>
        <p:spPr>
          <a:xfrm>
            <a:off x="548640" y="3154680"/>
            <a:ext cx="2464308" cy="1097280"/>
          </a:xfrm>
          <a:prstGeom prst="roundRect">
            <a:avLst/>
          </a:prstGeom>
          <a:solidFill>
            <a:srgbClr val="EFEBE9"/>
          </a:solidFill>
          <a:ln w="15875">
            <a:solidFill>
              <a:srgbClr val="6D4C41"/>
            </a:solidFill>
            <a:prstDash val="solid"/>
          </a:ln>
        </p:spPr>
        <p:txBody>
          <a:bodyPr/>
          <a:lstStyle/>
          <a:p>
            <a:endParaRPr lang="es-ES"/>
          </a:p>
        </p:txBody>
      </p:sp>
      <p:sp>
        <p:nvSpPr>
          <p:cNvPr id="8" name="Text 6"/>
          <p:cNvSpPr/>
          <p:nvPr/>
        </p:nvSpPr>
        <p:spPr>
          <a:xfrm>
            <a:off x="594360" y="3200400"/>
            <a:ext cx="2372868" cy="100584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 Petición HTTP</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(hilo A, pool Tomcat)</a:t>
            </a:r>
            <a:endParaRPr lang="en-US" sz="1300" dirty="0"/>
          </a:p>
        </p:txBody>
      </p:sp>
      <p:sp>
        <p:nvSpPr>
          <p:cNvPr id="9" name="Text 7"/>
          <p:cNvSpPr/>
          <p:nvPr/>
        </p:nvSpPr>
        <p:spPr>
          <a:xfrm>
            <a:off x="2967228" y="3154680"/>
            <a:ext cx="502920" cy="1097280"/>
          </a:xfrm>
          <a:prstGeom prst="rect">
            <a:avLst/>
          </a:prstGeom>
          <a:noFill/>
          <a:ln/>
        </p:spPr>
        <p:txBody>
          <a:bodyPr wrap="square" rtlCol="0" anchor="ctr"/>
          <a:lstStyle/>
          <a:p>
            <a:pPr marL="0" indent="0" algn="ctr">
              <a:buNone/>
            </a:pPr>
            <a:r>
              <a:rPr lang="en-US" sz="2200" b="1" dirty="0">
                <a:solidFill>
                  <a:srgbClr val="6D4C41"/>
                </a:solidFill>
                <a:latin typeface="Arial" pitchFamily="34" charset="0"/>
                <a:ea typeface="Arial" pitchFamily="34" charset="-122"/>
                <a:cs typeface="Arial" pitchFamily="34" charset="-120"/>
              </a:rPr>
              <a:t>→</a:t>
            </a:r>
            <a:endParaRPr lang="en-US" sz="2200" dirty="0"/>
          </a:p>
        </p:txBody>
      </p:sp>
      <p:sp>
        <p:nvSpPr>
          <p:cNvPr id="10" name="Shape 8"/>
          <p:cNvSpPr/>
          <p:nvPr/>
        </p:nvSpPr>
        <p:spPr>
          <a:xfrm>
            <a:off x="3424428" y="3154680"/>
            <a:ext cx="2464308" cy="1097280"/>
          </a:xfrm>
          <a:prstGeom prst="roundRect">
            <a:avLst/>
          </a:prstGeom>
          <a:solidFill>
            <a:srgbClr val="EFEBE9"/>
          </a:solidFill>
          <a:ln w="15875">
            <a:solidFill>
              <a:srgbClr val="6D4C41"/>
            </a:solidFill>
            <a:prstDash val="solid"/>
          </a:ln>
        </p:spPr>
        <p:txBody>
          <a:bodyPr/>
          <a:lstStyle/>
          <a:p>
            <a:endParaRPr lang="es-ES"/>
          </a:p>
        </p:txBody>
      </p:sp>
      <p:sp>
        <p:nvSpPr>
          <p:cNvPr id="11" name="Text 9"/>
          <p:cNvSpPr/>
          <p:nvPr/>
        </p:nvSpPr>
        <p:spPr>
          <a:xfrm>
            <a:off x="3470148" y="3200400"/>
            <a:ext cx="2372868" cy="100584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LibroService</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.create()</a:t>
            </a:r>
            <a:endParaRPr lang="en-US" sz="1300" dirty="0"/>
          </a:p>
        </p:txBody>
      </p:sp>
      <p:sp>
        <p:nvSpPr>
          <p:cNvPr id="12" name="Text 10"/>
          <p:cNvSpPr/>
          <p:nvPr/>
        </p:nvSpPr>
        <p:spPr>
          <a:xfrm>
            <a:off x="5843016" y="3154680"/>
            <a:ext cx="502920" cy="1097280"/>
          </a:xfrm>
          <a:prstGeom prst="rect">
            <a:avLst/>
          </a:prstGeom>
          <a:noFill/>
          <a:ln/>
        </p:spPr>
        <p:txBody>
          <a:bodyPr wrap="square" rtlCol="0" anchor="ctr"/>
          <a:lstStyle/>
          <a:p>
            <a:pPr marL="0" indent="0" algn="ctr">
              <a:buNone/>
            </a:pPr>
            <a:r>
              <a:rPr lang="en-US" sz="2200" b="1" dirty="0">
                <a:solidFill>
                  <a:srgbClr val="6D4C41"/>
                </a:solidFill>
                <a:latin typeface="Arial" pitchFamily="34" charset="0"/>
                <a:ea typeface="Arial" pitchFamily="34" charset="-122"/>
                <a:cs typeface="Arial" pitchFamily="34" charset="-120"/>
              </a:rPr>
              <a:t>→</a:t>
            </a:r>
            <a:endParaRPr lang="en-US" sz="2200" dirty="0"/>
          </a:p>
        </p:txBody>
      </p:sp>
      <p:sp>
        <p:nvSpPr>
          <p:cNvPr id="13" name="Shape 11"/>
          <p:cNvSpPr/>
          <p:nvPr/>
        </p:nvSpPr>
        <p:spPr>
          <a:xfrm>
            <a:off x="6300216" y="3154680"/>
            <a:ext cx="2464308" cy="1097280"/>
          </a:xfrm>
          <a:prstGeom prst="roundRect">
            <a:avLst/>
          </a:prstGeom>
          <a:solidFill>
            <a:srgbClr val="EFEBE9"/>
          </a:solidFill>
          <a:ln w="15875">
            <a:solidFill>
              <a:srgbClr val="6D4C41"/>
            </a:solidFill>
            <a:prstDash val="solid"/>
          </a:ln>
        </p:spPr>
        <p:txBody>
          <a:bodyPr/>
          <a:lstStyle/>
          <a:p>
            <a:endParaRPr lang="es-ES"/>
          </a:p>
        </p:txBody>
      </p:sp>
      <p:sp>
        <p:nvSpPr>
          <p:cNvPr id="14" name="Text 12"/>
          <p:cNvSpPr/>
          <p:nvPr/>
        </p:nvSpPr>
        <p:spPr>
          <a:xfrm>
            <a:off x="6345936" y="3200400"/>
            <a:ext cx="2372868" cy="100584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LibroEventPublisher</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publica en RabbitMQ</a:t>
            </a:r>
            <a:endParaRPr lang="en-US" sz="1300" dirty="0"/>
          </a:p>
        </p:txBody>
      </p:sp>
      <p:sp>
        <p:nvSpPr>
          <p:cNvPr id="15" name="Text 13"/>
          <p:cNvSpPr/>
          <p:nvPr/>
        </p:nvSpPr>
        <p:spPr>
          <a:xfrm>
            <a:off x="8718804" y="3154680"/>
            <a:ext cx="502920" cy="1097280"/>
          </a:xfrm>
          <a:prstGeom prst="rect">
            <a:avLst/>
          </a:prstGeom>
          <a:noFill/>
          <a:ln/>
        </p:spPr>
        <p:txBody>
          <a:bodyPr wrap="square" rtlCol="0" anchor="ctr"/>
          <a:lstStyle/>
          <a:p>
            <a:pPr marL="0" indent="0" algn="ctr">
              <a:buNone/>
            </a:pPr>
            <a:r>
              <a:rPr lang="en-US" sz="2200" b="1" dirty="0">
                <a:solidFill>
                  <a:srgbClr val="6D4C41"/>
                </a:solidFill>
                <a:latin typeface="Arial" pitchFamily="34" charset="0"/>
                <a:ea typeface="Arial" pitchFamily="34" charset="-122"/>
                <a:cs typeface="Arial" pitchFamily="34" charset="-120"/>
              </a:rPr>
              <a:t>→</a:t>
            </a:r>
            <a:endParaRPr lang="en-US" sz="2200" dirty="0"/>
          </a:p>
        </p:txBody>
      </p:sp>
      <p:sp>
        <p:nvSpPr>
          <p:cNvPr id="16" name="Shape 14"/>
          <p:cNvSpPr/>
          <p:nvPr/>
        </p:nvSpPr>
        <p:spPr>
          <a:xfrm>
            <a:off x="9176004" y="3154680"/>
            <a:ext cx="2464308" cy="1097280"/>
          </a:xfrm>
          <a:prstGeom prst="roundRect">
            <a:avLst/>
          </a:prstGeom>
          <a:solidFill>
            <a:srgbClr val="EFEBE9"/>
          </a:solidFill>
          <a:ln w="15875">
            <a:solidFill>
              <a:srgbClr val="6D4C41"/>
            </a:solidFill>
            <a:prstDash val="solid"/>
          </a:ln>
        </p:spPr>
        <p:txBody>
          <a:bodyPr/>
          <a:lstStyle/>
          <a:p>
            <a:endParaRPr lang="es-ES"/>
          </a:p>
        </p:txBody>
      </p:sp>
      <p:sp>
        <p:nvSpPr>
          <p:cNvPr id="17" name="Text 15"/>
          <p:cNvSpPr/>
          <p:nvPr/>
        </p:nvSpPr>
        <p:spPr>
          <a:xfrm>
            <a:off x="9221724" y="3200400"/>
            <a:ext cx="2372868" cy="100584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ActividadLibroEventConsumer</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@RabbitListener (hilo B)</a:t>
            </a:r>
            <a:endParaRPr lang="en-US" sz="1300" dirty="0"/>
          </a:p>
        </p:txBody>
      </p:sp>
      <p:sp>
        <p:nvSpPr>
          <p:cNvPr id="18" name="Text 1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Ideas clave</a:t>
            </a:r>
            <a:endParaRPr lang="en-US" sz="2500" dirty="0"/>
          </a:p>
        </p:txBody>
      </p:sp>
      <p:sp>
        <p:nvSpPr>
          <p:cNvPr id="4" name="Text 2"/>
          <p:cNvSpPr/>
          <p:nvPr/>
        </p:nvSpPr>
        <p:spPr>
          <a:xfrm>
            <a:off x="548640" y="1097280"/>
            <a:ext cx="11091672" cy="4572000"/>
          </a:xfrm>
          <a:prstGeom prst="rect">
            <a:avLst/>
          </a:prstGeom>
          <a:noFill/>
          <a:ln/>
        </p:spPr>
        <p:txBody>
          <a:bodyPr wrap="square" rtlCol="0" anchor="t"/>
          <a:lstStyle/>
          <a:p>
            <a:pPr marL="342900" indent="-342900">
              <a:spcAft>
                <a:spcPts val="800"/>
              </a:spcAft>
              <a:buSzPct val="100000"/>
              <a:buChar char="•"/>
            </a:pPr>
            <a:r>
              <a:rPr lang="en-US" sz="1600" dirty="0">
                <a:solidFill>
                  <a:srgbClr val="212121"/>
                </a:solidFill>
                <a:latin typeface="Arial" pitchFamily="34" charset="0"/>
                <a:ea typeface="Arial" pitchFamily="34" charset="-122"/>
                <a:cs typeface="Arial" pitchFamily="34" charset="-120"/>
              </a:rPr>
              <a:t>Proceso: memoria propia. Hilo: línea de ejecución dentro de un proceso, compartiendo su memoria.</a:t>
            </a:r>
            <a:endParaRPr lang="en-US" sz="1600" dirty="0"/>
          </a:p>
          <a:p>
            <a:pPr marL="342900" indent="-342900">
              <a:spcAft>
                <a:spcPts val="800"/>
              </a:spcAft>
              <a:buSzPct val="100000"/>
              <a:buChar char="•"/>
            </a:pPr>
            <a:r>
              <a:rPr lang="en-US" sz="1600" dirty="0">
                <a:solidFill>
                  <a:srgbClr val="212121"/>
                </a:solidFill>
                <a:latin typeface="Arial" pitchFamily="34" charset="0"/>
                <a:ea typeface="Arial" pitchFamily="34" charset="-122"/>
                <a:cs typeface="Arial" pitchFamily="34" charset="-120"/>
              </a:rPr>
              <a:t>Concurrencia (turnarse) vs. paralelismo (a la vez, en núcleos distintos) — decide el planificador del SO.</a:t>
            </a:r>
            <a:endParaRPr lang="en-US" sz="1600" dirty="0"/>
          </a:p>
          <a:p>
            <a:pPr marL="342900" indent="-342900">
              <a:spcAft>
                <a:spcPts val="800"/>
              </a:spcAft>
              <a:buSzPct val="100000"/>
              <a:buChar char="•"/>
            </a:pPr>
            <a:r>
              <a:rPr lang="en-US" sz="1600" dirty="0">
                <a:solidFill>
                  <a:srgbClr val="212121"/>
                </a:solidFill>
                <a:latin typeface="Arial" pitchFamily="34" charset="0"/>
                <a:ea typeface="Arial" pitchFamily="34" charset="-122"/>
                <a:cs typeface="Arial" pitchFamily="34" charset="-120"/>
              </a:rPr>
              <a:t>new Thread(runnable).start() arranca un hilo real; run() directamente NO crea ningún hilo nuevo.</a:t>
            </a:r>
            <a:endParaRPr lang="en-US" sz="1600" dirty="0"/>
          </a:p>
          <a:p>
            <a:pPr marL="342900" indent="-342900">
              <a:spcAft>
                <a:spcPts val="800"/>
              </a:spcAft>
              <a:buSzPct val="100000"/>
              <a:buChar char="•"/>
            </a:pPr>
            <a:r>
              <a:rPr lang="en-US" sz="1600" dirty="0">
                <a:solidFill>
                  <a:srgbClr val="212121"/>
                </a:solidFill>
                <a:latin typeface="Arial" pitchFamily="34" charset="0"/>
                <a:ea typeface="Arial" pitchFamily="34" charset="-122"/>
                <a:cs typeface="Arial" pitchFamily="34" charset="-120"/>
              </a:rPr>
              <a:t>Condición de carrera: varios hilos modifican el mismo dato sin coordinación. synchronized la resuelve con un lock — en exceso, puede causar deadlock.</a:t>
            </a:r>
            <a:endParaRPr lang="en-US" sz="1600" dirty="0"/>
          </a:p>
          <a:p>
            <a:pPr marL="342900" indent="-342900">
              <a:spcAft>
                <a:spcPts val="800"/>
              </a:spcAft>
              <a:buSzPct val="100000"/>
              <a:buChar char="•"/>
            </a:pPr>
            <a:r>
              <a:rPr lang="en-US" sz="1600" dirty="0">
                <a:solidFill>
                  <a:srgbClr val="212121"/>
                </a:solidFill>
                <a:latin typeface="Arial" pitchFamily="34" charset="0"/>
                <a:ea typeface="Arial" pitchFamily="34" charset="-122"/>
                <a:cs typeface="Arial" pitchFamily="34" charset="-120"/>
              </a:rPr>
              <a:t>Ciclo de vida: NEW → RUNNABLE → BLOCKED / WAITING / TIMED_WAITING → TERMINATED.</a:t>
            </a:r>
            <a:endParaRPr lang="en-US" sz="1600" dirty="0"/>
          </a:p>
          <a:p>
            <a:pPr marL="342900" indent="-342900">
              <a:spcAft>
                <a:spcPts val="800"/>
              </a:spcAft>
              <a:buSzPct val="100000"/>
              <a:buChar char="•"/>
            </a:pPr>
            <a:r>
              <a:rPr lang="en-US" sz="1600" dirty="0">
                <a:solidFill>
                  <a:srgbClr val="212121"/>
                </a:solidFill>
                <a:latin typeface="Arial" pitchFamily="34" charset="0"/>
                <a:ea typeface="Arial" pitchFamily="34" charset="-122"/>
                <a:cs typeface="Arial" pitchFamily="34" charset="-120"/>
              </a:rPr>
              <a:t>RabbitMQ: broker con colas y exchanges; @RabbitListener procesa en un hilo aparte. El binding conecta publicador y consumidor, que no se conocen entre sí.</a:t>
            </a:r>
            <a:endParaRPr lang="en-US" sz="1600" dirty="0"/>
          </a:p>
          <a:p>
            <a:pPr marL="342900" indent="-342900">
              <a:spcAft>
                <a:spcPts val="800"/>
              </a:spcAft>
              <a:buSzPct val="100000"/>
              <a:buChar char="•"/>
            </a:pPr>
            <a:r>
              <a:rPr lang="en-US" sz="1600" dirty="0">
                <a:solidFill>
                  <a:srgbClr val="212121"/>
                </a:solidFill>
                <a:latin typeface="Arial" pitchFamily="34" charset="0"/>
                <a:ea typeface="Arial" pitchFamily="34" charset="-122"/>
                <a:cs typeface="Arial" pitchFamily="34" charset="-120"/>
              </a:rPr>
              <a:t>Tu aplicación ya es multihilo: el pool de Tomcat ya lo tienes; el listener de RabbitMQ sigue el mismo patrón.</a:t>
            </a:r>
            <a:endParaRPr lang="en-US" sz="1600" dirty="0"/>
          </a:p>
        </p:txBody>
      </p:sp>
      <p:sp>
        <p:nvSpPr>
          <p:cNvPr id="5" name="Text 3"/>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Hilos en una aplicación real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2198</Words>
  <Application>Microsoft Office PowerPoint</Application>
  <PresentationFormat>Panorámica</PresentationFormat>
  <Paragraphs>286</Paragraphs>
  <Slides>23</Slides>
  <Notes>23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23</vt:i4>
      </vt:variant>
    </vt:vector>
  </HeadingPairs>
  <TitlesOfParts>
    <vt:vector size="26"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Hilos en una aplicación real</dc:title>
  <dc:subject>PptxGenJS Presentation</dc:subject>
  <dc:creator>Programación de Servicios y Procesos</dc:creator>
  <cp:lastModifiedBy>VENTURA EDO, AITOR</cp:lastModifiedBy>
  <cp:revision>2</cp:revision>
  <dcterms:created xsi:type="dcterms:W3CDTF">2026-08-10T17:37:35Z</dcterms:created>
  <dcterms:modified xsi:type="dcterms:W3CDTF">2026-08-10T21:37:59Z</dcterms:modified>
</cp:coreProperties>
</file>