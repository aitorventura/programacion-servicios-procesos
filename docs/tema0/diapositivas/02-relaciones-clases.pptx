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189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3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C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 —  TEMA 0: REPASO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 entre clases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Asociación, herencia, polimorfismo, abstracción e interfaces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Asociación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Relaciones entre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50164" y="1293876"/>
            <a:ext cx="11091672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4484" y="1385316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asociación es una relación entre clases cuyos objetos interactúan entre sí: tiene navegabilidad (uni/bidireccional) y multiplicidad (1-1, 1-N, N-N).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50164" y="2528316"/>
            <a:ext cx="11091672" cy="25603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50164" y="2528316"/>
            <a:ext cx="73152" cy="256032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4484" y="2638044"/>
            <a:ext cx="10588752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Estudiante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Curso[] cursos;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addCurso(Curso c) { /* ... */ 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Curso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Estudiante[] estudiantes;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addEstudiante(Estudiante e) { /* ... */ 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0164" y="540867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bidireccional N-N: si solo Estudiante conociera sus Curso, sería unidireccional.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Agregación vs composición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Relaciones entre clases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91672" cy="2852928"/>
        </p:xfrm>
        <a:graphic>
          <a:graphicData uri="http://schemas.openxmlformats.org/drawingml/2006/table">
            <a:tbl>
              <a:tblPr/>
              <a:tblGrid>
                <a:gridCol w="332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2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2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Agregación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Composición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¿Obligatoria?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¿Existe sin el contenedor?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 y su Docente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Docente y sus datos de contacto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041648"/>
            <a:ext cx="5340096" cy="96012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94360" y="4087368"/>
            <a:ext cx="52486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 ⋄──  Docente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(agregación)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00216" y="4041648"/>
            <a:ext cx="5340096" cy="96012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345936" y="4087368"/>
            <a:ext cx="52486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 ◆──  DatosContacto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(composición)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5321808"/>
            <a:ext cx="11091672" cy="8229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22960" y="5413248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objeto contenido no puede existir sin su contenedor, es composición; si puede existir de forma independiente, es agregación.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Herencia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Relaciones entre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herencia crea una subclase a partir de una superclase, conservando sus miembros no privados e incorporando otros propios.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1672" cy="31089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73152" cy="31089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2258568"/>
            <a:ext cx="10588752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Persona {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String nombre;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mostrar() { return nombre; }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Estudiante extends Persona {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mostrar() { return "Estudiante " + super.mostrar(); }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saludar() { return "Hola, " + nombre; }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Herencia (cont.)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Relaciones entre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22960"/>
          </a:xfrm>
          <a:prstGeom prst="roundRect">
            <a:avLst/>
          </a:prstGeom>
          <a:solidFill>
            <a:srgbClr val="EFEBE9"/>
          </a:solidFill>
          <a:ln w="19050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(superclase)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094476" y="1691640"/>
            <a:ext cx="914" cy="18288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91672" cy="82296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110002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 (subclase, extends)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4476" y="1874520"/>
            <a:ext cx="914" cy="18288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 hereda el atributo nombre y sobrescribe mostrar() con @Override, además de añadir su propio método saludar().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091672" cy="10515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confundas sobrescribir (override: misma firma heredada) con sobrecargar (overload: mismo nombre, distintos parámetros, sin relación con la herencia).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Polimorfismo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Relaciones entre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68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variable declarada del tipo de una superclase puede referenciar un objeto de cualquiera de sus subclases.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1672" cy="1920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3152" cy="192024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10588752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 estudiante = new Estudiante();     // asignación polimorfa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System.out.println(estudiante.mostrar());  // ejecución polimorfa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System.out.println(((Estudiante) estudiante).saludar()); // casting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1091672" cy="10058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estudiante.saludar() no compila sin casting: el compilador solo ve el tipo declarado (Persona), no el objeto real.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Clases abstractas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Relaciones entre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9601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clase abstracta no se puede instanciar. Puede declarar métodos abstractos, sin cuerpo, que las subclases están obligadas a implementar.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91672" cy="2743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73152" cy="27432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2304288"/>
            <a:ext cx="10588752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abstract class Vehiculo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String marca;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abstract double calcularConsumo(); // cada subclase decide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arrancar() { return marca + " arrancando..."; 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Coche extends Vehiculo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double calcularConsumo() { return 6.5; 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Clases abstractas (cont.)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Relaciones entre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40407" y="868680"/>
            <a:ext cx="7508138" cy="777240"/>
          </a:xfrm>
          <a:prstGeom prst="roundRect">
            <a:avLst/>
          </a:prstGeom>
          <a:solidFill>
            <a:srgbClr val="EFEBE9"/>
          </a:solidFill>
          <a:ln w="19050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340407" y="868680"/>
            <a:ext cx="75081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Vehiculo (abstracta)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094476" y="1645920"/>
            <a:ext cx="914" cy="18288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62956" cy="7772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52715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30118" y="1828800"/>
            <a:ext cx="914" cy="18288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277356" y="2011680"/>
            <a:ext cx="5362956" cy="7772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323076" y="2011680"/>
            <a:ext cx="52715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958834" y="1828800"/>
            <a:ext cx="914" cy="18288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30118" y="1828800"/>
            <a:ext cx="5728716" cy="914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Vehiculo() no compilaría: solo se pueden crear objetos de subclases concretas, como Coche o Moto.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91672" cy="10515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Vehiculo mezcla los dos tipos de métodos: calcularConsumo() es abstracto y arrancar() ya viene implementado. Una clase abstracta no está obligada a ser 100% abstracta.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Interfaces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Relaciones entre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9601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interfaz define un contrato de comportamiento. A diferencia de la herencia, la pueden implementar clases sin ninguna relación entre sí.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91672" cy="2743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73152" cy="27432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2304288"/>
            <a:ext cx="10588752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Notificable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enviar(String mensaje);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NotificadorEmail implements Notificable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void enviar(String mensaje) { /* ... */ 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NotificadorSMS implements Notificable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void enviar(String mensaje) { /* ... */ 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Interfaces (cont.) — métodos default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Relaciones entre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40407" y="868680"/>
            <a:ext cx="7508138" cy="685800"/>
          </a:xfrm>
          <a:prstGeom prst="roundRect">
            <a:avLst/>
          </a:prstGeom>
          <a:solidFill>
            <a:srgbClr val="EFEBE9"/>
          </a:solidFill>
          <a:ln w="19050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340407" y="868680"/>
            <a:ext cx="75081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Notificable (interfaz)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4476" y="1554480"/>
            <a:ext cx="914" cy="16002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362956" cy="68580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5271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NotificadorEmail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30118" y="1714500"/>
            <a:ext cx="914" cy="16002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277356" y="1874520"/>
            <a:ext cx="5362956" cy="68580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323076" y="1874520"/>
            <a:ext cx="5271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NotificadorSMS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58834" y="1714500"/>
            <a:ext cx="914" cy="16002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30118" y="1714500"/>
            <a:ext cx="5728716" cy="914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11091672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73152" cy="15544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22960" y="2944368"/>
            <a:ext cx="105887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Notificable {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enviar(String mensaje);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 void enviarConAviso(String mensaje) { // ya trae implementación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enviar(mensaje);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91672" cy="7315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no permite herencia múltiple de clases, pero sí implementar varias interfaces a la vez.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 Interfaces funcionales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Relaciones entre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interfaz es funcional si declara un único método abstracto. Comparable define compareTo, que compara this con otro objeto 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1672" cy="18288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3152" cy="18288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10588752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Estudiante implements Comparable&lt;Estudiante&gt;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compareTo(Estudiante o)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o.edad - this.edad; // ordenación descendente por edad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091672" cy="2267712"/>
        </p:xfrm>
        <a:graphic>
          <a:graphicData uri="http://schemas.openxmlformats.org/drawingml/2006/table">
            <a:tbl>
              <a:tblPr/>
              <a:tblGrid>
                <a:gridCol w="354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devuelto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Significado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es menor que 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es igual a 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es mayor que 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del apartado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Relaciones entre clases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91672" cy="4572000"/>
        </p:xfrm>
        <a:graphic>
          <a:graphicData uri="http://schemas.openxmlformats.org/drawingml/2006/table">
            <a:tbl>
              <a:tblPr/>
              <a:tblGrid>
                <a:gridCol w="2551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6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¿Obligatoria?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¿Cuántas puede tener una clase?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Palabra clave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Asociación / Agregación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normal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Composición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creado dentro de la clase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Herencia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mucho una superclase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extends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Interfaz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Varias a la vez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</Words>
  <Application>Microsoft Office PowerPoint</Application>
  <PresentationFormat>Panorámica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Programación de Servicios y Procesos</dc:creator>
  <cp:lastModifiedBy>VENTURA EDO, AITOR</cp:lastModifiedBy>
  <cp:revision>2</cp:revision>
  <dcterms:created xsi:type="dcterms:W3CDTF">2026-07-07T16:41:39Z</dcterms:created>
  <dcterms:modified xsi:type="dcterms:W3CDTF">2026-07-07T18:28:36Z</dcterms:modified>
</cp:coreProperties>
</file>