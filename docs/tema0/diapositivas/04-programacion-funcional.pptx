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8" r:id="rId11"/>
    <p:sldId id="269" r:id="rId12"/>
    <p:sldId id="270" r:id="rId13"/>
    <p:sldId id="271" r:id="rId14"/>
    <p:sldId id="272" r:id="rId15"/>
    <p:sldId id="274" r:id="rId16"/>
    <p:sldId id="275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0847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3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CA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 —  TEMA 0: REPASO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funcional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Lambdas, métodos de referencia y streams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¿Qué es la programación funcional?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le pides a un compañero que te avise cuando lleguen pedidos de más de 50€, no le explicas paso a paso cómo mirar la lista: le das una regla ("que supere los 50€") y él la aplica. </a:t>
            </a:r>
          </a:p>
          <a:p>
            <a:pPr marL="0" indent="0">
              <a:buNone/>
            </a:pPr>
            <a:endParaRPr lang="en-US" sz="2100" dirty="0">
              <a:solidFill>
                <a:srgbClr val="21212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lo que vas a hacer aquí: en vez de escribir tú el bucle, le das a Java la regla.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838378"/>
            <a:ext cx="11091672" cy="10515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929818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 paradigma que se apoya en dos ideas: los datos no cambian de valor una vez creados (inmutabilidad) y las funciones se tratan como datos, encadenando la salida de una como entrada de la siguiente.</a:t>
            </a:r>
            <a:endParaRPr lang="en-US" sz="2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7E771250-AC15-6577-0762-7716C7097A38}"/>
              </a:ext>
            </a:extLst>
          </p:cNvPr>
          <p:cNvSpPr/>
          <p:nvPr/>
        </p:nvSpPr>
        <p:spPr>
          <a:xfrm>
            <a:off x="548640" y="4255693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filtras o transformas una lista con estas herramientas, la lista original no se toca: se genera un resultado nuevo, y personas sigue teniendo los mismos elementos que antes.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Imperativo vs funcional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las dos formas de resolver el mismo problema: dada una lista de personas, obtener solo las mayores de edad.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Imperativo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Funcional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31536" cy="22860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3152" cy="22860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928616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List&lt;Persona&gt; adultos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ArrayList&lt;&gt;();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i &lt; personas.size(); i++)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(personas.get(i)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adultos.add(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personas.get(i));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8776" y="2194560"/>
            <a:ext cx="5431536" cy="22860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194560"/>
            <a:ext cx="73152" cy="22860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304288"/>
            <a:ext cx="4928616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List&lt;Persona&gt; adultos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.toList();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versión funcional es más compacta y encadena operaciones, a costa de ser más propensa a errores si no tienes claro qué hace cada pieza.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Funciones lambda — sintaxis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61990"/>
            <a:ext cx="11091672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05343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función lambda (o anónima) es una función sin nombre y sin clase propia, pensada para operaciones simples que se usan una sola vez.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059270"/>
            <a:ext cx="11091672" cy="914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2059270"/>
            <a:ext cx="731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2168998"/>
            <a:ext cx="105887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 a, int b) -&gt; a +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parámetros van antes de la flecha -&gt; (sin indicar el tipo, Java lo deduce solo) y el código de la función va después. Nos ahorra crear una clase entera solo para pasar un trozo de comportamiento.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1672" cy="13716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(int a, int b)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-&gt;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+ 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parámetros de entrada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 parámetros y cuerpo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cuerpo: lo que devuelve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Cuidado: una lambda no tiene tipo fijo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2533"/>
            <a:ext cx="11091672" cy="15544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463973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necesita saber qué interfaz funcional estás implementando (cuántos parámetros, de qué tipo, qué debe devolver) para darle sentido a la lambda. Esa información la saca del contexto: el tipo de la variable, o el tipo que espera el método al que se la pasas.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7053"/>
            <a:ext cx="11091672" cy="822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3247053"/>
            <a:ext cx="73152" cy="8229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3356781"/>
            <a:ext cx="105887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Comparator&lt;Persona&gt; comp = (p1, p2) -&gt; p2.getEdad() - p1.getEdad();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48640" y="4344333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una lambda nunca aparece "sola": siempre va asignada a algo o pasada como argumento a algo.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Ejemplo: ordenar personas por edad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las lambdas, ordenar con un criterio propio exigía implementar Comparator en una clase aparte: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Antes de las lambdas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64592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Con una lambda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5431536" cy="2834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73152" cy="283464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167128"/>
            <a:ext cx="4928616" cy="2615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ComparadorPersona implements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Comparator&lt;Persona&gt;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@Override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compare(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Persona p1, Persona p2)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p2.getEdad()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- p1.getEdad();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personas.sort(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ComparadorPersona());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08776" y="2057400"/>
            <a:ext cx="5431536" cy="2834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057400"/>
            <a:ext cx="73152" cy="283464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167128"/>
            <a:ext cx="4928616" cy="2615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personas.sort((p1, p2) -&gt;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p2.getEdad() - p1.getEdad());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Métodos de referencia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07217"/>
            <a:ext cx="11091672" cy="8686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398657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método de referencia es una forma abreviada de escribir una lambda que se limita a llamar a un método que ya existe, con la sintaxis Clase::metodo.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82003"/>
              </p:ext>
            </p:extLst>
          </p:nvPr>
        </p:nvGraphicFramePr>
        <p:xfrm>
          <a:off x="548640" y="2450217"/>
          <a:ext cx="11091672" cy="3108960"/>
        </p:xfrm>
        <a:graphic>
          <a:graphicData uri="http://schemas.openxmlformats.org/drawingml/2006/table">
            <a:tbl>
              <a:tblPr/>
              <a:tblGrid>
                <a:gridCol w="3993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Equivale 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estático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String::toUpperCase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-&gt; s.toUpperCase()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instancia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Persona::getNombre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-&gt; p.getNombre()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un objeto arbitrario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Integer::sum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(a, b) -&gt; a + 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Ejemplo de métodos de referencia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tipos de la tabla, usados dentro de un stream real: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4114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73152" cy="41148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1664208"/>
            <a:ext cx="10588752" cy="3895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nombres = List.of("ana", "Luis", "MARÍA");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Estático: String::toUpperCase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nombres.stream().map(String::toUpperCase)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.forEach(System.out::println); // ANA, LUIS, MARÍA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 instancia: Persona::getNombre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soloNombres = personas.stream()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.map(Persona::getNombre).toList();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 un objeto arbitrario: Integer::sum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total = List.of(10, 20, 30).stream()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.reduce(0, Integer::sum); // 60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Streams — la cadena de montaje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stream es un envoltorio sobre una colección que encadena operaciones sin modificar la colección original. Piensa en él como una cadena de montaje: personas entra por un lado, cada estación le hace algo, y al final sale un resultado.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889150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7977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.stream()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346350" y="1965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03550" y="1965960"/>
            <a:ext cx="1889150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849270" y="2011680"/>
            <a:ext cx="17977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(elige)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46981" y="1965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4181" y="1965960"/>
            <a:ext cx="1889150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149901" y="2011680"/>
            <a:ext cx="17977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(transforma)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47611" y="1965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04811" y="1965960"/>
            <a:ext cx="1889150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7450531" y="2011680"/>
            <a:ext cx="17977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(ordena)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248242" y="19659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4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05442" y="1965960"/>
            <a:ext cx="1889150" cy="1005840"/>
          </a:xfrm>
          <a:prstGeom prst="roundRect">
            <a:avLst/>
          </a:prstGeom>
          <a:solidFill>
            <a:srgbClr val="EFEBE9"/>
          </a:solidFill>
          <a:ln w="15875">
            <a:solidFill>
              <a:srgbClr val="6D4C4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751162" y="2011680"/>
            <a:ext cx="179771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/ forEach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(final)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75686"/>
              </p:ext>
            </p:extLst>
          </p:nvPr>
        </p:nvGraphicFramePr>
        <p:xfrm>
          <a:off x="502920" y="3246120"/>
          <a:ext cx="11091672" cy="1783080"/>
        </p:xfrm>
        <a:graphic>
          <a:graphicData uri="http://schemas.openxmlformats.org/drawingml/2006/table">
            <a:tbl>
              <a:tblPr/>
              <a:tblGrid>
                <a:gridCol w="1774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7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recibe un stream y devuelve otro, para seguir encadenando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filter, map, sorted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cierra el stream y devuelve un resultado que ya no es un stream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collect, forEach, reduce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3">
            <a:extLst>
              <a:ext uri="{FF2B5EF4-FFF2-40B4-BE49-F238E27FC236}">
                <a16:creationId xmlns:a16="http://schemas.microsoft.com/office/drawing/2014/main" id="{2ED32F0C-F23F-D55A-48FE-B2654C16EED2}"/>
              </a:ext>
            </a:extLst>
          </p:cNvPr>
          <p:cNvSpPr/>
          <p:nvPr/>
        </p:nvSpPr>
        <p:spPr>
          <a:xfrm>
            <a:off x="365760" y="5242694"/>
            <a:ext cx="11091672" cy="1114644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692F7070-4476-3D4D-158D-5AD3ADFD474A}"/>
              </a:ext>
            </a:extLst>
          </p:cNvPr>
          <p:cNvSpPr/>
          <p:nvPr/>
        </p:nvSpPr>
        <p:spPr>
          <a:xfrm>
            <a:off x="643513" y="5288413"/>
            <a:ext cx="10543032" cy="10232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cuanto llamas a una operación final (collect, forEach, reduce...) el stream se cierra. Si intentas reutilizar esa misma variable, Java lanza IllegalStateException. Si necesitas recorrer los datos de dos formas, vuelve a llamar a .stream() sobre la colección original.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filter — filtrar por un criterio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queda solo con los elementos que cumplen la condición indicada, igual que haría un if dentro de un bucle, pero sin bucle.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Imperativo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Funcional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List&lt;Persona&gt; adultos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ArrayList&lt;&gt;();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(Persona p : personas)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(p.getEdad() &gt;= 18)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adultos.add(p);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8776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Stream&lt;Persona&gt; adultos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p.getEdad() &gt;= 18);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map — transformar cada elemento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una función a cada elemento y devuelve un stream con los resultados, no con las personas originales.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Imperativo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Funcional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edades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ArrayList&lt;&gt;();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(Persona p : personas)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(p.getEdad() &gt;= 18)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edades.add(p.getEdad());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8776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Stream&lt;Integer&gt; edades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.map(Persona::getEdad);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sorted — ordenar los elementos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 el stream según el Comparator que le pases, igual que hacía sort en el apartado anterior.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Imperativo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78308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Funcional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List&lt;Persona&gt; adultos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ArrayList&lt;&gt;();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(Persona p : personas)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adultos.add(p);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Collections.sort(adultos,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(p1, p2)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p2.getEdad() - p1.getEdad());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8776" y="2194560"/>
            <a:ext cx="5431536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194560"/>
            <a:ext cx="73152" cy="26517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304288"/>
            <a:ext cx="4928616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Stream&lt;Persona&gt; ordenadas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.sorted((p1, p2)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p2.getEdad() - p1.getEdad());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collect y forEach — operaciones finales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collect() → convierte el resultado en una lista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11091672" cy="10515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73152" cy="10515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1344168"/>
            <a:ext cx="10588752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edades =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 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.map(Persona::getEdad)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.toList(); // atajo de .collect(Collectors.toList())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collect() → une el resultado en un texto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91672" cy="914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731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22960" y="2944368"/>
            <a:ext cx="105887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texto = 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.map(Persona::getEdad)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.collect(Collectors.joining(", ", "Adultos: ", ""));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forEach() → recorre el resultado para hacer algo con él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091672" cy="914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731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822960" y="4407408"/>
            <a:ext cx="105887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 p.getEdad() &gt;= 18)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.forEach(System.out::println);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reduce — reducir a un solo valor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 todos los elementos en uno solo usando una función de acumulación. Es el equivalente funcional de un acumulador que actualizas dentro de un bucle: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Imperativo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08776" y="1965960"/>
            <a:ext cx="5431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Funcional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5431536" cy="24688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73152" cy="24688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2487168"/>
            <a:ext cx="4928616" cy="2249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edades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Arrays.asList(20, 30, 40);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suma = 0;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edad : edades)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suma += edad;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8776" y="2377440"/>
            <a:ext cx="5431536" cy="24688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6208776" y="2377440"/>
            <a:ext cx="73152" cy="24688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483096" y="2487168"/>
            <a:ext cx="4928616" cy="2249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edades 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Arrays.asList(20, 30, 40);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suma = edades.stream()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.reduce(0, Integer::sum); // 90</a:t>
            </a:r>
            <a:endParaRPr lang="en-US" sz="14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FD8CD7C8-C6C8-CC98-14DE-6C93931CFE7A}"/>
              </a:ext>
            </a:extLst>
          </p:cNvPr>
          <p:cNvSpPr/>
          <p:nvPr/>
        </p:nvSpPr>
        <p:spPr>
          <a:xfrm>
            <a:off x="662940" y="4966778"/>
            <a:ext cx="11091672" cy="14173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DF2EB66D-7A22-40C3-72C9-0572CFB6520F}"/>
              </a:ext>
            </a:extLst>
          </p:cNvPr>
          <p:cNvSpPr/>
          <p:nvPr/>
        </p:nvSpPr>
        <p:spPr>
          <a:xfrm>
            <a:off x="937260" y="4991971"/>
            <a:ext cx="1054303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valor inicial debe ser el que no cambia el resultado al combinarlo: 0 para sumar, 1 si multiplicaras. Además sirve de resultado por defecto si el stream estuviera vacío. Por eso existe una versión sin valor inicial, que devuelve un Optional en vez de un int.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average — la media de un stream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91672" cy="1554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73152" cy="155448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89888"/>
            <a:ext cx="105887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mediaEdadAdultos = personas.stream()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.filter(p -&gt; p.getEdad() &gt;= 18)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.mapToInt(Persona::getEdad)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.average()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.getAsDouble();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11091672" cy="9601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average() no devuelve un double, sino un OptionalDouble: si el stream estuviera vacío no habría media que calcular, y getAsDouble() lanzaría una excepción.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1091672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22960" y="438912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memorizar todas las operaciones de golpe: con filter, map, sorted, collect y forEach resuelves la mayoría de los casos.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encajan todas las piezas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Programación funcional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50164" y="1247130"/>
            <a:ext cx="11091672" cy="3081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lambda es una función sin nombre que escribes donde antes hacía falta una clase entera.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interfaz funcional (Comparator, Predicate, Function...) es el "molde" que le dice a Java qué forma debe tener esa lambda.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método de referencia es un atajo para cuando la lambda solo llama a un método que ya existe.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stream encadena lambdas, interfaces funcionales y métodos de referencia para procesar una colección sin bucles.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800600"/>
            <a:ext cx="11091672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48920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te pierdes con una lambda concreta, vuelve a esta lista: casi siempre el bloqueo está en no tener claro cuál de estas cuatro piezas estás mirando.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1955</Words>
  <Application>Microsoft Office PowerPoint</Application>
  <PresentationFormat>Panorámica</PresentationFormat>
  <Paragraphs>240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Programación de Servicios y Procesos</dc:creator>
  <cp:lastModifiedBy>VENTURA EDO, AITOR</cp:lastModifiedBy>
  <cp:revision>2</cp:revision>
  <dcterms:created xsi:type="dcterms:W3CDTF">2026-07-07T18:00:18Z</dcterms:created>
  <dcterms:modified xsi:type="dcterms:W3CDTF">2026-07-07T18:25:23Z</dcterms:modified>
</cp:coreProperties>
</file>