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76" r:id="rId4"/>
    <p:sldId id="277" r:id="rId5"/>
    <p:sldId id="261" r:id="rId6"/>
    <p:sldId id="262" r:id="rId7"/>
    <p:sldId id="264" r:id="rId8"/>
    <p:sldId id="265" r:id="rId9"/>
    <p:sldId id="266" r:id="rId10"/>
    <p:sldId id="268" r:id="rId11"/>
    <p:sldId id="269" r:id="rId12"/>
    <p:sldId id="270" r:id="rId13"/>
    <p:sldId id="271" r:id="rId14"/>
    <p:sldId id="272" r:id="rId15"/>
    <p:sldId id="274" r:id="rId16"/>
    <p:sldId id="275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13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0847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296F8-85E7-C669-27BF-E92E61AE9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F2A6D4-073D-057F-B229-DEA8639234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2B9BEC-8395-18A3-F4D0-92FA3D35B9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4651EF-DC53-BFD3-969B-C8F2436C1F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6179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30564-500F-7884-CFE6-1C157B0A5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288445-289B-2435-9AF8-34D37746B1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E1060D-D79C-8CBF-01FF-A5C6102A60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B7E88C-AC09-0D77-6EE9-69D446117E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304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E34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CAA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 —  TEMA 0: REPASO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funcional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Lambdas, métodos de referencia y streams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 ¿Qué es la programación funcional?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Programación funcional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le pides a un compañero que te avise cuando lleguen pedidos de más de 50€, no le explicas paso a paso cómo mirar la lista: le das una regla ("que supere los 50€") y él la aplica. </a:t>
            </a:r>
          </a:p>
          <a:p>
            <a:pPr marL="0" indent="0">
              <a:buNone/>
            </a:pPr>
            <a:endParaRPr lang="en-US" sz="2100" dirty="0">
              <a:solidFill>
                <a:srgbClr val="21212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Eso es lo que vas a hacer aquí: en vez de escribir tú el bucle, le das a Java la regla.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2838378"/>
            <a:ext cx="11091672" cy="105156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22960" y="2929818"/>
            <a:ext cx="10543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un paradigma que se apoya en dos ideas: los datos no cambian de valor una vez creados (inmutabilidad) y las funciones se tratan como datos, encadenando la salida de una como entrada de la siguiente.</a:t>
            </a:r>
            <a:endParaRPr lang="en-US" sz="20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7E771250-AC15-6577-0762-7716C7097A38}"/>
              </a:ext>
            </a:extLst>
          </p:cNvPr>
          <p:cNvSpPr/>
          <p:nvPr/>
        </p:nvSpPr>
        <p:spPr>
          <a:xfrm>
            <a:off x="548640" y="4255693"/>
            <a:ext cx="110916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filtras o transformas una lista con estas herramientas, la lista original no se toca: se genera un resultado nuevo, y personas sigue teniendo los mismos elementos que antes.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8B501-6BE5-0454-083F-2B3366A06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BA24194-E251-0040-A59F-6946C2144E21}"/>
              </a:ext>
            </a:extLst>
          </p:cNvPr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37E84D1-F72B-63BC-DD0E-AF2DD6D9529A}"/>
              </a:ext>
            </a:extLst>
          </p:cNvPr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 Imperativo vs funcional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70BEBC2-4734-783B-84E3-D531E763D9E7}"/>
              </a:ext>
            </a:extLst>
          </p:cNvPr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Programación funcional</a:t>
            </a:r>
            <a:endParaRPr lang="en-US" sz="110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2A977E0E-D61A-B1B4-D684-DDF0E93D5A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047"/>
          <a:stretch>
            <a:fillRect/>
          </a:stretch>
        </p:blipFill>
        <p:spPr>
          <a:xfrm>
            <a:off x="1114693" y="805289"/>
            <a:ext cx="9959565" cy="564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552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EDD42-0FD8-FF1A-4709-15B696962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75FCEF5-5671-C8B1-2B29-92869F7E35AE}"/>
              </a:ext>
            </a:extLst>
          </p:cNvPr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F43696F-0731-69CB-BCD8-E2C7F9DA5F09}"/>
              </a:ext>
            </a:extLst>
          </p:cNvPr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 Funciones lambda — sintaxis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5FE6537-43C2-2578-C5CD-743AA586EA88}"/>
              </a:ext>
            </a:extLst>
          </p:cNvPr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Programación funcional</a:t>
            </a:r>
            <a:endParaRPr lang="en-US" sz="11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82B4794C-407C-C9DC-DFF6-C5AE51A5C3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43" b="3457"/>
          <a:stretch>
            <a:fillRect/>
          </a:stretch>
        </p:blipFill>
        <p:spPr>
          <a:xfrm>
            <a:off x="2239572" y="849086"/>
            <a:ext cx="7709807" cy="5435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103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 Cuidado: una lambda no tiene tipo fijo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Programación funcional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72533"/>
            <a:ext cx="11091672" cy="15544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1463973"/>
            <a:ext cx="10543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necesita saber qué interfaz funcional estás implementando (cuántos parámetros, de qué tipo, qué debe devolver) para darle sentido a la lambda. Esa información la saca del contexto: el tipo de la variable, o el tipo que espera el método al que se la pasas.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48640" y="3247053"/>
            <a:ext cx="11091672" cy="8229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48640" y="3247053"/>
            <a:ext cx="73152" cy="82296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822960" y="3356781"/>
            <a:ext cx="1058875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Comparator&lt;Persona&gt; comp = (p1, p2) -&gt; p2.getEdad() - p1.getEdad();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48640" y="4344333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eso una lambda nunca aparece "sola": siempre va asignada a algo o pasada como argumento a algo.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 Ejemplo: ordenar personas por edad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Programación funcional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las lambdas, ordenar con un criterio propio </a:t>
            </a: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exigía</a:t>
            </a: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implementar Comparator en una clase aparte: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543153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Antes de las lambdas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08776" y="1645920"/>
            <a:ext cx="543153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Con una lambda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48640" y="2057399"/>
            <a:ext cx="5431536" cy="3355521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548640" y="2057399"/>
            <a:ext cx="73152" cy="3355521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822960" y="2167128"/>
            <a:ext cx="4928616" cy="2615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</a:t>
            </a:r>
            <a:r>
              <a:rPr lang="en-US" sz="1600" dirty="0" err="1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ComparadorPersona</a:t>
            </a:r>
            <a:endParaRPr lang="en-US" sz="1600" dirty="0">
              <a:solidFill>
                <a:srgbClr val="263238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implements Comparator&lt;Persona&gt;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int compare(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Persona p1,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Persona p2)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p2.getEdad()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- p1.getEdad();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personas.sort(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ComparadorPersona());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08776" y="2057399"/>
            <a:ext cx="5431536" cy="3355521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6208776" y="2057399"/>
            <a:ext cx="73152" cy="3355521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483096" y="2167128"/>
            <a:ext cx="4928616" cy="2615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personas.sort((p1, p2) -&gt;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p2.getEdad() - p1.getEdad());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 Métodos de referencia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Programación funcional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07217"/>
            <a:ext cx="11091672" cy="8686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1398657"/>
            <a:ext cx="105430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método de referencia es una forma abreviada de escribir una lambda que se limita a llamar a un método que ya existe, con la sintaxis Clase::metodo.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682003"/>
              </p:ext>
            </p:extLst>
          </p:nvPr>
        </p:nvGraphicFramePr>
        <p:xfrm>
          <a:off x="548640" y="2450217"/>
          <a:ext cx="11091672" cy="3108960"/>
        </p:xfrm>
        <a:graphic>
          <a:graphicData uri="http://schemas.openxmlformats.org/drawingml/2006/table">
            <a:tbl>
              <a:tblPr/>
              <a:tblGrid>
                <a:gridCol w="39930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9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93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Ejemplo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Equivale a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Método estático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String::toUpperCase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 -&gt; s.toUpperCase()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Método de instancia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Persona::getNombre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 -&gt; p.getNombre()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Método de un objeto arbitrario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Integer::sum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(a, b) -&gt; a + b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 Ejemplo de métodos de referencia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Programación funcional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tres tipos de la tabla, usados dentro de un stream real: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91672" cy="41148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73152" cy="411480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22960" y="1664208"/>
            <a:ext cx="10588752" cy="3895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List&lt;String&gt; nombres = </a:t>
            </a:r>
            <a:r>
              <a:rPr lang="en-US" sz="1600" dirty="0" err="1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List.of</a:t>
            </a: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("ANA", "LUIS", "MARÍA");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Estático: String::toUpperCase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nombres.stream().map(String::toUpperCase)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.forEach(System.out::println); // ANA, LUIS, MARÍA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 instancia: Persona::getNombre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List&lt;String&gt; soloNombres = personas.stream()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.map(Persona::getNombre).toList();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 un objeto arbitrario: Integer::sum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total = List.of(10, 20, 30).stream()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.reduce(0, Integer::sum); // 60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 Streams — la cadena de montaje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Programación funcional</a:t>
            </a:r>
            <a:endParaRPr lang="en-US" sz="1100" dirty="0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A23F040A-D3AF-6B58-041C-841A47A0E7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072" b="19882"/>
          <a:stretch>
            <a:fillRect/>
          </a:stretch>
        </p:blipFill>
        <p:spPr>
          <a:xfrm>
            <a:off x="1138917" y="889906"/>
            <a:ext cx="9914165" cy="550590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 filter — filtrar por un criterio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Programación funcional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queda solo con los elementos que cumplen la condición indicada, igual que haría un if dentro de un bucle, pero sin bucle.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543153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Imperativo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208776" y="1783080"/>
            <a:ext cx="543153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Funcional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5431536" cy="26517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73152" cy="265176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822960" y="2304288"/>
            <a:ext cx="4928616" cy="2432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List&lt;Persona&gt; </a:t>
            </a:r>
            <a:r>
              <a:rPr lang="en-US" sz="1600" dirty="0" err="1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adultos</a:t>
            </a: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</a:t>
            </a:r>
            <a:r>
              <a:rPr lang="en-US" sz="1600" dirty="0" err="1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&lt;&gt;();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(Persona p : personas)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(p.getEdad() &gt;= 18)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adultos.add(p);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08776" y="2194560"/>
            <a:ext cx="5431536" cy="26517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6208776" y="2194560"/>
            <a:ext cx="73152" cy="265176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483096" y="2304288"/>
            <a:ext cx="4928616" cy="2432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Stream&lt;Persona&gt; adultos =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personas.stream()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.filter(p -&gt;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p.getEdad() &gt;= 18);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 map — transformar cada elemento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Programación funcional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 una función a cada elemento y devuelve un stream con los resultados, no con las personas originales.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543153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Imperativo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208776" y="1783080"/>
            <a:ext cx="543153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Funcional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5431536" cy="26517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73152" cy="265176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822960" y="2304288"/>
            <a:ext cx="4928616" cy="2432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List&lt;Integer&gt; edades =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ArrayList&lt;&gt;();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(Persona p : personas)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(p.getEdad() &gt;= 18)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edades.add(p.getEdad());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08776" y="2194560"/>
            <a:ext cx="5431536" cy="26517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6208776" y="2194560"/>
            <a:ext cx="73152" cy="265176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483096" y="2304288"/>
            <a:ext cx="4928616" cy="2432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Stream&lt;Integer&gt; edades =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personas.stream()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.filter(p -&gt;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p.getEdad() &gt;= 18)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.map(Persona::getEdad);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 sorted — ordenar los elementos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Programación funcional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Ordena el stream según el Comparator que le pases, igual que hacía sort en el apartado anterior.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543153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Imperativo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208776" y="1783080"/>
            <a:ext cx="543153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Funcional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5431536" cy="26517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73152" cy="265176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822960" y="2304288"/>
            <a:ext cx="4928616" cy="2432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List&lt;Persona&gt; adultos =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ArrayList&lt;&gt;();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(Persona p : personas)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(p.getEdad() &gt;= 18)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adultos.add(p);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Collections.sort(adultos,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(p1, p2) -&gt;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p2.getEdad() - p1.getEdad());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08776" y="2194560"/>
            <a:ext cx="5431536" cy="26517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6208776" y="2194560"/>
            <a:ext cx="73152" cy="265176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483096" y="2304288"/>
            <a:ext cx="5340096" cy="2432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Stream&lt;Persona&gt; ordenadas =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personas.stream()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.filter(p -&gt;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p.getEdad() &gt;= 18)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.sorted((p1, p2) -&gt;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p2.getEdad() - p1.getEdad());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 collect y forEach — operaciones finales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Programación funcional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toList</a:t>
            </a: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() → convierte el resultado en una lista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91672" cy="12344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73152" cy="123444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22960" y="1344168"/>
            <a:ext cx="10588752" cy="9768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List&lt;Integer&gt; edades = personas.stream()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.filter(p -&gt; p.getEdad() &gt;= 18)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.map(Persona::getEdad)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.toList(); // atajo de .collect(Collectors.toList())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55052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collect() → une el resultado en un texto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11091672" cy="1073426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73152" cy="1073426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822960" y="3026008"/>
            <a:ext cx="10588752" cy="8158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texto = personas.stream()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.map(Persona::getEdad)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.collect(Collectors.joining(", ", "Adultos: ", ""));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40952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forEach() → recorre el resultado para hacer algo con él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379320"/>
            <a:ext cx="11091672" cy="1073426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548640" y="4379320"/>
            <a:ext cx="73152" cy="1073426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822960" y="4570688"/>
            <a:ext cx="10588752" cy="8158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personas.stream()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.filter(p -&gt; p.getEdad() &gt;= 18)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.forEach(System.out::println);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 reduce — reducir a un solo valor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Programación funcional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 todos los elementos en uno solo usando una función de acumulación. Es el equivalente funcional de un acumulador que actualizas dentro de un bucle: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543153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Imperativo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208776" y="1965960"/>
            <a:ext cx="543153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Funcional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5431536" cy="246888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73152" cy="246888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822960" y="2487168"/>
            <a:ext cx="4997196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List&lt;Integer&gt; edades =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Arrays.asList(20, 30, 40);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suma = 0;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edad : edades)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suma += edad;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08776" y="2377440"/>
            <a:ext cx="5431536" cy="246888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6208776" y="2377440"/>
            <a:ext cx="73152" cy="246888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483096" y="2487168"/>
            <a:ext cx="4997196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List&lt;Integer&gt; edades =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Arrays.asList(20, 30, 40);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suma = edades.stream()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.reduce(0, Integer::sum); // 90</a:t>
            </a:r>
            <a:endParaRPr lang="en-US" sz="1600" dirty="0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FD8CD7C8-C6C8-CC98-14DE-6C93931CFE7A}"/>
              </a:ext>
            </a:extLst>
          </p:cNvPr>
          <p:cNvSpPr/>
          <p:nvPr/>
        </p:nvSpPr>
        <p:spPr>
          <a:xfrm>
            <a:off x="662940" y="4966778"/>
            <a:ext cx="11091672" cy="141732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DF2EB66D-7A22-40C3-72C9-0572CFB6520F}"/>
              </a:ext>
            </a:extLst>
          </p:cNvPr>
          <p:cNvSpPr/>
          <p:nvPr/>
        </p:nvSpPr>
        <p:spPr>
          <a:xfrm>
            <a:off x="937260" y="4991971"/>
            <a:ext cx="1054303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valor inicial debe ser el que no cambia el resultado al combinarlo: 0 para sumar, 1 si multiplicaras. Además sirve de resultado por defecto si el stream estuviera vacío. Por eso existe una versión sin valor inicial, que devuelve un Optional en vez de un int.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 average — la media de un stream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Programación funcional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155448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73152" cy="155448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22960" y="1389888"/>
            <a:ext cx="1058875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mediaEdadAdultos = personas.stream()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.filter(p -&gt; p.getEdad() &gt;= 18)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.mapToInt(Persona::getEdad)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.average()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.getAsDouble();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11091672" cy="96012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10543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average() no devuelve un double, sino un OptionalDouble: si el stream estuviera vacío no habría media que calcular, y getAsDouble() lanzaría una excepción.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4297680"/>
            <a:ext cx="11091672" cy="82296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822960" y="4389120"/>
            <a:ext cx="10543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hace falta memorizar todas las operaciones de golpe: con filter, map, sorted, collect y forEach resuelves la mayoría de los casos.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encajan todas las piezas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Programación funcional</a:t>
            </a:r>
            <a:endParaRPr lang="en-US" sz="11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0D85A20-A6FB-6512-D7C4-B1404D36B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948" y="873579"/>
            <a:ext cx="10053056" cy="56578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1438</Words>
  <Application>Microsoft Office PowerPoint</Application>
  <PresentationFormat>Panorámica</PresentationFormat>
  <Paragraphs>184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19" baseType="lpstr"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Programación de Servicios y Procesos</dc:creator>
  <cp:lastModifiedBy>ROIG AGUILAR, ALEJANDRO</cp:lastModifiedBy>
  <cp:revision>4</cp:revision>
  <dcterms:created xsi:type="dcterms:W3CDTF">2026-07-07T18:00:18Z</dcterms:created>
  <dcterms:modified xsi:type="dcterms:W3CDTF">2026-09-20T19:37:03Z</dcterms:modified>
</cp:coreProperties>
</file>