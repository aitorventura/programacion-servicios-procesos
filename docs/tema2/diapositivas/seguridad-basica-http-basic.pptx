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8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BC912-E386-4F9F-B8A1-AA8F1FDE50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7965E2-6B60-45B0-B082-5F68F0E37B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78686-B7A6-4D2F-81CD-72976B3CABA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E52A-6177-4D3E-B983-F35BD04E11E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64641-00F3-4462-B7CB-9784A1E35D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EBD7C-7D38-427E-80B1-B143077CD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A885B-891B-4A23-A33B-FB9630538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2DFD0-12AF-4C27-9858-9D1B8EC7C05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6D13E-880E-47D3-B94E-24DFB4C2F8A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3CD4-769B-4320-980C-1FFF8FA1AE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ECEF8-DFEA-47E8-AD43-FBA14671F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FF2088-56FB-4BF2-ABFF-0AFC65A74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E5CD0-EABA-48AA-8A11-5C3E926D519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9EA9D-9377-4FD4-B65B-44DABD36AD3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D1F8F-7100-497B-BAA7-FC1534CE1F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6034A-7908-4FA4-9A36-02E543049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72CEF-4A8A-46D1-A3F1-A5B059387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036B81-EF11-4A45-B4AB-A441CD55D26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D023CA-F13F-4961-80E9-2B759E45FB7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20/10/2026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A52573-D3ED-4FEE-AE43-3E355A69C4C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3C60B5-80B7-48B9-B87C-920EE7209D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FAA2D-81E9-4DE8-8982-C2BB79E3D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1082D-19C7-4D7C-B15E-6FDA82608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1F9E76-722B-4366-B1AC-B936CC3E756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2F8AAA-09B4-48AE-8F07-977A2BC596FA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957B15-02A9-4380-A687-4DD5DED9AD10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F2A335-C3DB-483B-93F9-ACAD5325CDE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20/10/2026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D9DCB1-B097-4823-802F-F15A9FDD7BE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6E5905-1469-4AA6-A6BB-43F27427BC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04736-9C82-4192-8878-3AC28144C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729A48-3B95-4397-9B9F-78354C90583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20/10/2026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450EC2-5652-48DE-B0A4-C7BDB166B54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1DDE86-7A6C-4071-BA0E-2F4D412BD2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9DE6EE-5ABE-4090-986C-BFEBDA9B766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20/10/2026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1FD2F8-D037-43FB-95A3-A5B70B3EEC3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78A98-5337-4E45-9694-B37A719855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CF1E4-2D3E-49AB-A90A-029FDC59C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95B9C-4425-4276-A2B5-882DD47D5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CDF1FE-EC38-4862-A5C6-1AE4F5BBE56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0543F3-2365-4694-9D27-3A46375333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20/10/2026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09F02-BA1D-489A-AC21-3921FBE83FA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3E442-F542-4997-936E-E6DA65D9AC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B9885-4F23-4E51-AF41-B7F013F6C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9851E6-6B39-4128-B9AD-E5FCE2CA16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EC9AEB-2BE1-49B8-94CA-A366F0E4765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D44000-1FBA-4C76-A179-C85FB6368A8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20/10/2026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9D6119-DF49-444C-9D6E-7C3F6FAC80C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E5CEF-6666-4486-9CF1-2500F92F8B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D80CD-0D74-4920-BF3E-24C2C4D29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5ACE89-329D-4E65-B55A-FB9E9A98CC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98F25-2E0A-49D2-9DB1-EB121A20995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2C14A-B378-4897-BE27-18427B23A69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24823-1533-4396-AA81-5536D3D7C2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381D76-180D-479A-9F73-1CC7D4643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E982B7-94C9-4F19-B870-478D86ED6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31C33-4955-40DA-AB6A-EEF76847F25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8BF63-92D9-46B0-B0B0-CD7317333C0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5DA74-69E5-4331-B4A0-8F7E891493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0B8F30-C594-4A1B-AD18-5425118D2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167BE-1E4D-47EB-868C-49725399D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16849-A894-449C-BF17-CAC3EA6C584E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20/10/2026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E8EE2-CA20-4AEA-8E47-F1298A993AC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967F6-3818-4A1F-98A6-AF400BDDC46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38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571C4C-2DC9-4D67-BE74-2583B185F3D8}"/>
              </a:ext>
            </a:extLst>
          </p:cNvPr>
          <p:cNvSpPr>
            <a:spLocks noGrp="1"/>
          </p:cNvSpPr>
          <p:nvPr/>
        </p:nvSpPr>
        <p:spPr>
          <a:xfrm>
            <a:off x="621792" y="566928"/>
            <a:ext cx="10881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1600" b="0" i="0">
                <a:solidFill>
                  <a:srgbClr val="D2C9C5"/>
                </a:solidFill>
                <a:latin typeface="Arial"/>
                <a:ea typeface="Arial"/>
                <a:cs typeface="Arial"/>
              </a:rPr>
              <a:t>PROGRAMACIÓN DE SERVICIOS Y PROCESOS  —  TEMA 2: PROGRAMACIÓN SEGURA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2BC0C-653D-43ED-AB02-92710A6F54AF}"/>
              </a:ext>
            </a:extLst>
          </p:cNvPr>
          <p:cNvSpPr>
            <a:spLocks noGrp="1"/>
          </p:cNvSpPr>
          <p:nvPr/>
        </p:nvSpPr>
        <p:spPr>
          <a:xfrm>
            <a:off x="621792" y="1874519"/>
            <a:ext cx="9418320" cy="1463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3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Seguridad básica: usuarios en</a:t>
            </a:r>
            <a:br>
              <a:rPr sz="3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3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memoria y HTTP Basic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52B636-1A8D-477D-A5BC-BB202BC00442}"/>
              </a:ext>
            </a:extLst>
          </p:cNvPr>
          <p:cNvSpPr>
            <a:spLocks noGrp="1"/>
          </p:cNvSpPr>
          <p:nvPr/>
        </p:nvSpPr>
        <p:spPr>
          <a:xfrm>
            <a:off x="0" y="5102352"/>
            <a:ext cx="12191999" cy="9326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750AA8-E5F5-4E28-AF2A-7FB608B2B6B6}"/>
              </a:ext>
            </a:extLst>
          </p:cNvPr>
          <p:cNvSpPr>
            <a:spLocks noGrp="1"/>
          </p:cNvSpPr>
          <p:nvPr/>
        </p:nvSpPr>
        <p:spPr>
          <a:xfrm>
            <a:off x="621792" y="5376672"/>
            <a:ext cx="10058400" cy="3749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2100" b="0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2. HTTP Basic y usuarios en memoria</a:t>
            </a:r>
          </a:p>
        </p:txBody>
      </p:sp>
    </p:spTree>
    <p:extLst>
      <p:ext uri="{BB962C8B-B14F-4D97-AF65-F5344CB8AC3E}">
        <p14:creationId xmlns:p14="http://schemas.microsoft.com/office/powerpoint/2010/main" val="1993615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31E211-3582-49D4-826B-7D3499AED8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786384"/>
          </a:xfrm>
          <a:prstGeom prst="rect">
            <a:avLst/>
          </a:prstGeom>
          <a:solidFill>
            <a:srgbClr val="523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84DEA4-5625-4DEF-9D7A-FC3BBA85F5A4}"/>
              </a:ext>
            </a:extLst>
          </p:cNvPr>
          <p:cNvSpPr>
            <a:spLocks noGrp="1"/>
          </p:cNvSpPr>
          <p:nvPr/>
        </p:nvSpPr>
        <p:spPr>
          <a:xfrm>
            <a:off x="347472" y="146304"/>
            <a:ext cx="114300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2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Objetivo de la sesión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45C298-00D6-406D-A316-703C4871D529}"/>
              </a:ext>
            </a:extLst>
          </p:cNvPr>
          <p:cNvSpPr>
            <a:spLocks noGrp="1"/>
          </p:cNvSpPr>
          <p:nvPr/>
        </p:nvSpPr>
        <p:spPr>
          <a:xfrm>
            <a:off x="548640" y="6446520"/>
            <a:ext cx="1106424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787878"/>
                </a:solidFill>
                <a:latin typeface="Arial"/>
                <a:ea typeface="Arial"/>
                <a:cs typeface="Arial"/>
              </a:rPr>
              <a:t>Programación de Servicios y Procesos — Tema 2: Principios de programación segura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563BD5-5F12-468B-9865-6C9B8BA717D9}"/>
              </a:ext>
            </a:extLst>
          </p:cNvPr>
          <p:cNvSpPr>
            <a:spLocks noGrp="1"/>
          </p:cNvSpPr>
          <p:nvPr/>
        </p:nvSpPr>
        <p:spPr>
          <a:xfrm>
            <a:off x="868680" y="1024128"/>
            <a:ext cx="104698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2700" b="1" i="0">
                <a:solidFill>
                  <a:srgbClr val="523832"/>
                </a:solidFill>
                <a:latin typeface="Arial"/>
                <a:ea typeface="Arial"/>
                <a:cs typeface="Arial"/>
              </a:rPr>
              <a:t>Entender qué hace Spring Security antes de llegar al controller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86AFFA1-98F2-4735-8248-DBA7FD68C393}"/>
              </a:ext>
            </a:extLst>
          </p:cNvPr>
          <p:cNvSpPr>
            <a:spLocks noGrp="1"/>
          </p:cNvSpPr>
          <p:nvPr/>
        </p:nvSpPr>
        <p:spPr>
          <a:xfrm>
            <a:off x="777240" y="1874519"/>
            <a:ext cx="3337560" cy="2880360"/>
          </a:xfrm>
          <a:prstGeom prst="roundRect">
            <a:avLst/>
          </a:prstGeom>
          <a:solidFill>
            <a:srgbClr val="E8F2FC"/>
          </a:solidFill>
          <a:ln w="15240">
            <a:solidFill>
              <a:srgbClr val="266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81422F-C7A9-490B-99D5-4AF6D77550E9}"/>
              </a:ext>
            </a:extLst>
          </p:cNvPr>
          <p:cNvSpPr>
            <a:spLocks noGrp="1"/>
          </p:cNvSpPr>
          <p:nvPr/>
        </p:nvSpPr>
        <p:spPr>
          <a:xfrm>
            <a:off x="1097280" y="2121408"/>
            <a:ext cx="26974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2000" b="1" i="0">
                <a:solidFill>
                  <a:srgbClr val="2668B6"/>
                </a:solidFill>
                <a:latin typeface="Arial"/>
                <a:ea typeface="Arial"/>
                <a:cs typeface="Arial"/>
              </a:rPr>
              <a:t>FILTRAR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61BCC1-D7AE-474A-B498-33B135EE65C1}"/>
              </a:ext>
            </a:extLst>
          </p:cNvPr>
          <p:cNvSpPr>
            <a:spLocks noGrp="1"/>
          </p:cNvSpPr>
          <p:nvPr/>
        </p:nvSpPr>
        <p:spPr>
          <a:xfrm>
            <a:off x="1051560" y="2743200"/>
            <a:ext cx="2788920" cy="11430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buNone/>
            </a:pPr>
            <a:r>
              <a:rPr sz="220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Interponer una primera barrera</a:t>
            </a:r>
            <a:br>
              <a:rPr sz="220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</a:br>
            <a:r>
              <a:rPr sz="220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delante de Spring MVC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85E2E17-A412-4A61-863D-4FF0F2071B10}"/>
              </a:ext>
            </a:extLst>
          </p:cNvPr>
          <p:cNvSpPr>
            <a:spLocks noGrp="1"/>
          </p:cNvSpPr>
          <p:nvPr/>
        </p:nvSpPr>
        <p:spPr>
          <a:xfrm>
            <a:off x="4434840" y="1874519"/>
            <a:ext cx="3337560" cy="2880360"/>
          </a:xfrm>
          <a:prstGeom prst="roundRect">
            <a:avLst/>
          </a:prstGeom>
          <a:solidFill>
            <a:srgbClr val="EAF6EB"/>
          </a:solidFill>
          <a:ln w="15240">
            <a:solidFill>
              <a:srgbClr val="2D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59ED81-13CD-4F65-B68D-BF6D940CF654}"/>
              </a:ext>
            </a:extLst>
          </p:cNvPr>
          <p:cNvSpPr>
            <a:spLocks noGrp="1"/>
          </p:cNvSpPr>
          <p:nvPr/>
        </p:nvSpPr>
        <p:spPr>
          <a:xfrm>
            <a:off x="4754879" y="2121408"/>
            <a:ext cx="26974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2000" b="1" i="0">
                <a:solidFill>
                  <a:srgbClr val="2D823C"/>
                </a:solidFill>
                <a:latin typeface="Arial"/>
                <a:ea typeface="Arial"/>
                <a:cs typeface="Arial"/>
              </a:rPr>
              <a:t>IDENTIFICAR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2CFCB3-F146-4DB4-843B-77E0A1821D3D}"/>
              </a:ext>
            </a:extLst>
          </p:cNvPr>
          <p:cNvSpPr>
            <a:spLocks noGrp="1"/>
          </p:cNvSpPr>
          <p:nvPr/>
        </p:nvSpPr>
        <p:spPr>
          <a:xfrm>
            <a:off x="4709159" y="2743200"/>
            <a:ext cx="2788920" cy="11430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buNone/>
            </a:pPr>
            <a:r>
              <a:rPr sz="220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Separar autenticación</a:t>
            </a:r>
            <a:br>
              <a:rPr sz="220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</a:br>
            <a:r>
              <a:rPr sz="220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y autorización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4D57188-95CC-40EF-A453-150A1508A8D8}"/>
              </a:ext>
            </a:extLst>
          </p:cNvPr>
          <p:cNvSpPr>
            <a:spLocks noGrp="1"/>
          </p:cNvSpPr>
          <p:nvPr/>
        </p:nvSpPr>
        <p:spPr>
          <a:xfrm>
            <a:off x="8092440" y="1874519"/>
            <a:ext cx="3337560" cy="2880360"/>
          </a:xfrm>
          <a:prstGeom prst="roundRect">
            <a:avLst/>
          </a:prstGeom>
          <a:solidFill>
            <a:srgbClr val="FDECEC"/>
          </a:solidFill>
          <a:ln w="15240">
            <a:solidFill>
              <a:srgbClr val="B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8FC9A6-8208-41EA-9A4E-CECE1B2B52D9}"/>
              </a:ext>
            </a:extLst>
          </p:cNvPr>
          <p:cNvSpPr>
            <a:spLocks noGrp="1"/>
          </p:cNvSpPr>
          <p:nvPr/>
        </p:nvSpPr>
        <p:spPr>
          <a:xfrm>
            <a:off x="8412480" y="2121408"/>
            <a:ext cx="26974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2000" b="1" i="0">
                <a:solidFill>
                  <a:srgbClr val="BC3333"/>
                </a:solidFill>
                <a:latin typeface="Arial"/>
                <a:ea typeface="Arial"/>
                <a:cs typeface="Arial"/>
              </a:rPr>
              <a:t>RESPONDER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AFE684-9829-463D-9A74-F4A05B749E74}"/>
              </a:ext>
            </a:extLst>
          </p:cNvPr>
          <p:cNvSpPr>
            <a:spLocks noGrp="1"/>
          </p:cNvSpPr>
          <p:nvPr/>
        </p:nvSpPr>
        <p:spPr>
          <a:xfrm>
            <a:off x="8366760" y="2743200"/>
            <a:ext cx="2788920" cy="11430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buNone/>
            </a:pPr>
            <a:r>
              <a:rPr sz="220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Dar al 401 el mismo formato</a:t>
            </a:r>
            <a:br>
              <a:rPr sz="220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</a:br>
            <a:r>
              <a:rPr sz="220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que al resto de la API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01FCC5B-EA54-4243-9CA4-4AB38D4F69EE}"/>
              </a:ext>
            </a:extLst>
          </p:cNvPr>
          <p:cNvSpPr>
            <a:spLocks noGrp="1"/>
          </p:cNvSpPr>
          <p:nvPr/>
        </p:nvSpPr>
        <p:spPr>
          <a:xfrm>
            <a:off x="777240" y="5138928"/>
            <a:ext cx="10652760" cy="585216"/>
          </a:xfrm>
          <a:prstGeom prst="roundRect">
            <a:avLst/>
          </a:prstGeom>
          <a:solidFill>
            <a:srgbClr val="523832"/>
          </a:solidFill>
          <a:ln w="15240">
            <a:solidFill>
              <a:srgbClr val="523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704E2C-3B39-40D4-9ADF-1687F5BDE8ED}"/>
              </a:ext>
            </a:extLst>
          </p:cNvPr>
          <p:cNvSpPr>
            <a:spLocks noGrp="1"/>
          </p:cNvSpPr>
          <p:nvPr/>
        </p:nvSpPr>
        <p:spPr>
          <a:xfrm>
            <a:off x="1051560" y="5303520"/>
            <a:ext cx="10104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Estado intermedio deliberado: usuarios en memoria + HTTP Basic → PostgreSQL + BCrypt → JWT</a:t>
            </a:r>
          </a:p>
        </p:txBody>
      </p:sp>
    </p:spTree>
    <p:extLst>
      <p:ext uri="{BB962C8B-B14F-4D97-AF65-F5344CB8AC3E}">
        <p14:creationId xmlns:p14="http://schemas.microsoft.com/office/powerpoint/2010/main" val="1556028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670AF3-F6F4-4028-A02B-5F54C1E347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786384"/>
          </a:xfrm>
          <a:prstGeom prst="rect">
            <a:avLst/>
          </a:prstGeom>
          <a:solidFill>
            <a:srgbClr val="523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920D5F-502E-4AA8-B048-76C8FE7DAD5F}"/>
              </a:ext>
            </a:extLst>
          </p:cNvPr>
          <p:cNvSpPr>
            <a:spLocks noGrp="1"/>
          </p:cNvSpPr>
          <p:nvPr/>
        </p:nvSpPr>
        <p:spPr>
          <a:xfrm>
            <a:off x="347472" y="146304"/>
            <a:ext cx="114300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2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Spring Security actúa antes de Spring MVC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8E4274-AAB5-4514-B137-4B8D7FC6DD2C}"/>
              </a:ext>
            </a:extLst>
          </p:cNvPr>
          <p:cNvSpPr>
            <a:spLocks noGrp="1"/>
          </p:cNvSpPr>
          <p:nvPr/>
        </p:nvSpPr>
        <p:spPr>
          <a:xfrm>
            <a:off x="548640" y="6446520"/>
            <a:ext cx="1106424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787878"/>
                </a:solidFill>
                <a:latin typeface="Arial"/>
                <a:ea typeface="Arial"/>
                <a:cs typeface="Arial"/>
              </a:rPr>
              <a:t>Programación de Servicios y Procesos — Tema 2: Principios de programación segura</a:t>
            </a:r>
          </a:p>
        </p:txBody>
      </p:sp>
      <p:pic>
        <p:nvPicPr>
          <p:cNvPr id="17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516810"/>
            <a:ext cx="7315200" cy="41169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A46072-62A9-416B-9339-523E60D169BD}"/>
              </a:ext>
            </a:extLst>
          </p:cNvPr>
          <p:cNvSpPr>
            <a:spLocks noGrp="1"/>
          </p:cNvSpPr>
          <p:nvPr/>
        </p:nvSpPr>
        <p:spPr>
          <a:xfrm>
            <a:off x="8028431" y="1115568"/>
            <a:ext cx="35204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2300" b="1" i="0">
                <a:solidFill>
                  <a:srgbClr val="523832"/>
                </a:solidFill>
                <a:latin typeface="Arial"/>
                <a:ea typeface="Arial"/>
                <a:cs typeface="Arial"/>
              </a:rPr>
              <a:t>Efecto inmediato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A5C7F9B-EC20-4559-AD3B-51A25AE8D35D}"/>
              </a:ext>
            </a:extLst>
          </p:cNvPr>
          <p:cNvSpPr>
            <a:spLocks noGrp="1"/>
          </p:cNvSpPr>
          <p:nvPr/>
        </p:nvSpPr>
        <p:spPr>
          <a:xfrm>
            <a:off x="8001000" y="1645920"/>
            <a:ext cx="3566160" cy="749808"/>
          </a:xfrm>
          <a:prstGeom prst="roundRect">
            <a:avLst/>
          </a:prstGeom>
          <a:solidFill>
            <a:srgbClr val="F8F9FB"/>
          </a:solidFill>
          <a:ln w="1524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F873C9-B27E-4D3C-BDDB-20E8C9DC5B9F}"/>
              </a:ext>
            </a:extLst>
          </p:cNvPr>
          <p:cNvSpPr>
            <a:spLocks noGrp="1"/>
          </p:cNvSpPr>
          <p:nvPr/>
        </p:nvSpPr>
        <p:spPr>
          <a:xfrm>
            <a:off x="8165591" y="1783080"/>
            <a:ext cx="3337559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12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curl -</a:t>
            </a:r>
            <a:r>
              <a:rPr sz="12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i</a:t>
            </a:r>
            <a:r>
              <a:rPr sz="12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http://localhost:8080/api/v1/libros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00ACE26-7FF2-4BFC-A3DB-46BCBD1E17D1}"/>
              </a:ext>
            </a:extLst>
          </p:cNvPr>
          <p:cNvSpPr>
            <a:spLocks noGrp="1"/>
          </p:cNvSpPr>
          <p:nvPr/>
        </p:nvSpPr>
        <p:spPr>
          <a:xfrm>
            <a:off x="8001000" y="2651760"/>
            <a:ext cx="3566160" cy="914400"/>
          </a:xfrm>
          <a:prstGeom prst="roundRect">
            <a:avLst/>
          </a:prstGeom>
          <a:solidFill>
            <a:srgbClr val="FDECEC"/>
          </a:solidFill>
          <a:ln w="15240">
            <a:solidFill>
              <a:srgbClr val="B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3D6215-569A-4E8E-9D51-049105A62A12}"/>
              </a:ext>
            </a:extLst>
          </p:cNvPr>
          <p:cNvSpPr>
            <a:spLocks noGrp="1"/>
          </p:cNvSpPr>
          <p:nvPr/>
        </p:nvSpPr>
        <p:spPr>
          <a:xfrm>
            <a:off x="8321040" y="2889504"/>
            <a:ext cx="29260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2200" b="1" i="0">
                <a:solidFill>
                  <a:srgbClr val="BC3333"/>
                </a:solidFill>
                <a:latin typeface="Arial"/>
                <a:ea typeface="Arial"/>
                <a:cs typeface="Arial"/>
              </a:rPr>
              <a:t>401 Unauthorized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6BFC4A-4254-470F-A4B2-D584B79BB73D}"/>
              </a:ext>
            </a:extLst>
          </p:cNvPr>
          <p:cNvSpPr>
            <a:spLocks noGrp="1"/>
          </p:cNvSpPr>
          <p:nvPr/>
        </p:nvSpPr>
        <p:spPr>
          <a:xfrm>
            <a:off x="8028431" y="3977639"/>
            <a:ext cx="347472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b="1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Por </a:t>
            </a:r>
            <a:r>
              <a:rPr b="1" i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defecto</a:t>
            </a:r>
            <a:r>
              <a:rPr b="1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, Spring Security </a:t>
            </a:r>
            <a:r>
              <a:rPr b="1" i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exige</a:t>
            </a:r>
            <a:r>
              <a:rPr b="1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</a:t>
            </a:r>
            <a:r>
              <a:rPr b="1" i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autenticación</a:t>
            </a:r>
            <a:r>
              <a:rPr b="1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salvo </a:t>
            </a:r>
            <a:r>
              <a:rPr b="1" i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que</a:t>
            </a:r>
            <a:r>
              <a:rPr b="1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abras </a:t>
            </a:r>
            <a:r>
              <a:rPr b="1" i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explícitamente</a:t>
            </a:r>
            <a:r>
              <a:rPr b="1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</a:t>
            </a:r>
            <a:r>
              <a:rPr b="1" i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una</a:t>
            </a:r>
            <a:r>
              <a:rPr b="1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</a:t>
            </a:r>
            <a:r>
              <a:rPr b="1" i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ruta</a:t>
            </a:r>
            <a:r>
              <a:rPr b="1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2B8BD6-735C-4C7A-9381-7959F40FC061}"/>
              </a:ext>
            </a:extLst>
          </p:cNvPr>
          <p:cNvSpPr>
            <a:spLocks noGrp="1"/>
          </p:cNvSpPr>
          <p:nvPr/>
        </p:nvSpPr>
        <p:spPr>
          <a:xfrm>
            <a:off x="8046720" y="5166360"/>
            <a:ext cx="342900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1700" b="0" i="0">
                <a:solidFill>
                  <a:srgbClr val="686868"/>
                </a:solidFill>
                <a:latin typeface="Arial"/>
                <a:ea typeface="Arial"/>
                <a:cs typeface="Arial"/>
              </a:rPr>
              <a:t>Una petición puede ser rechazada sin que ningún controller llegue a ejecutarse.</a:t>
            </a:r>
          </a:p>
        </p:txBody>
      </p:sp>
    </p:spTree>
    <p:extLst>
      <p:ext uri="{BB962C8B-B14F-4D97-AF65-F5344CB8AC3E}">
        <p14:creationId xmlns:p14="http://schemas.microsoft.com/office/powerpoint/2010/main" val="1971153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8A8CD7-35D5-4036-9696-9AD8C016A5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786384"/>
          </a:xfrm>
          <a:prstGeom prst="rect">
            <a:avLst/>
          </a:prstGeom>
          <a:solidFill>
            <a:srgbClr val="523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3FCA83-754E-41EB-A1C7-EFC99954A208}"/>
              </a:ext>
            </a:extLst>
          </p:cNvPr>
          <p:cNvSpPr>
            <a:spLocks noGrp="1"/>
          </p:cNvSpPr>
          <p:nvPr/>
        </p:nvSpPr>
        <p:spPr>
          <a:xfrm>
            <a:off x="347472" y="146304"/>
            <a:ext cx="114300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2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Tres recorridos por la cadena de seguridad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C700-B730-42D6-9C6A-D67FF4D77A9C}"/>
              </a:ext>
            </a:extLst>
          </p:cNvPr>
          <p:cNvSpPr>
            <a:spLocks noGrp="1"/>
          </p:cNvSpPr>
          <p:nvPr/>
        </p:nvSpPr>
        <p:spPr>
          <a:xfrm>
            <a:off x="548640" y="6446520"/>
            <a:ext cx="1106424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787878"/>
                </a:solidFill>
                <a:latin typeface="Arial"/>
                <a:ea typeface="Arial"/>
                <a:cs typeface="Arial"/>
              </a:rPr>
              <a:t>Programación de Servicios y Procesos — Tema 2: Principios de programación segura</a:t>
            </a:r>
          </a:p>
        </p:txBody>
      </p:sp>
      <p:pic>
        <p:nvPicPr>
          <p:cNvPr id="9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420" y="932688"/>
            <a:ext cx="9797159" cy="551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043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989DFF-5DCA-4B74-AB3F-3B1990BCAC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786384"/>
          </a:xfrm>
          <a:prstGeom prst="rect">
            <a:avLst/>
          </a:prstGeom>
          <a:solidFill>
            <a:srgbClr val="523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1D2FDB-298A-403D-A694-6DD51D77A5B0}"/>
              </a:ext>
            </a:extLst>
          </p:cNvPr>
          <p:cNvSpPr>
            <a:spLocks noGrp="1"/>
          </p:cNvSpPr>
          <p:nvPr/>
        </p:nvSpPr>
        <p:spPr>
          <a:xfrm>
            <a:off x="347472" y="146304"/>
            <a:ext cx="114300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2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Autenticación ≠ autorización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775470-10F5-4A41-B2AF-27C6F68B86FE}"/>
              </a:ext>
            </a:extLst>
          </p:cNvPr>
          <p:cNvSpPr>
            <a:spLocks noGrp="1"/>
          </p:cNvSpPr>
          <p:nvPr/>
        </p:nvSpPr>
        <p:spPr>
          <a:xfrm>
            <a:off x="548640" y="6446520"/>
            <a:ext cx="1106424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787878"/>
                </a:solidFill>
                <a:latin typeface="Arial"/>
                <a:ea typeface="Arial"/>
                <a:cs typeface="Arial"/>
              </a:rPr>
              <a:t>Programación de Servicios y Procesos — Tema 2: Principios de programación segura</a:t>
            </a:r>
          </a:p>
        </p:txBody>
      </p:sp>
      <p:pic>
        <p:nvPicPr>
          <p:cNvPr id="9" name="Picture 4"/>
          <p:cNvPicPr>
            <a:picLocks noChangeAspect="1"/>
          </p:cNvPicPr>
          <p:nvPr/>
        </p:nvPicPr>
        <p:blipFill>
          <a:blip r:embed="rId3"/>
          <a:srcRect b="3685"/>
          <a:stretch>
            <a:fillRect/>
          </a:stretch>
        </p:blipFill>
        <p:spPr>
          <a:xfrm>
            <a:off x="1009996" y="932688"/>
            <a:ext cx="10172008" cy="551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716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4C6572-CF53-4712-ABB0-8514E09501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786384"/>
          </a:xfrm>
          <a:prstGeom prst="rect">
            <a:avLst/>
          </a:prstGeom>
          <a:solidFill>
            <a:srgbClr val="523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2CE036-1231-4E1E-AE93-33A08322406D}"/>
              </a:ext>
            </a:extLst>
          </p:cNvPr>
          <p:cNvSpPr>
            <a:spLocks noGrp="1"/>
          </p:cNvSpPr>
          <p:nvPr/>
        </p:nvSpPr>
        <p:spPr>
          <a:xfrm>
            <a:off x="347472" y="146304"/>
            <a:ext cx="114300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2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HTTP Basic: codificar no es cifrar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2F69FA-EE9C-4313-9535-6431D58AD33F}"/>
              </a:ext>
            </a:extLst>
          </p:cNvPr>
          <p:cNvSpPr>
            <a:spLocks noGrp="1"/>
          </p:cNvSpPr>
          <p:nvPr/>
        </p:nvSpPr>
        <p:spPr>
          <a:xfrm>
            <a:off x="548640" y="6446520"/>
            <a:ext cx="1106424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787878"/>
                </a:solidFill>
                <a:latin typeface="Arial"/>
                <a:ea typeface="Arial"/>
                <a:cs typeface="Arial"/>
              </a:rPr>
              <a:t>Programación de Servicios y Procesos — Tema 2: Principios de programación segura</a:t>
            </a:r>
          </a:p>
        </p:txBody>
      </p:sp>
      <p:pic>
        <p:nvPicPr>
          <p:cNvPr id="9" name="Picture 4"/>
          <p:cNvPicPr>
            <a:picLocks noChangeAspect="1"/>
          </p:cNvPicPr>
          <p:nvPr/>
        </p:nvPicPr>
        <p:blipFill>
          <a:blip r:embed="rId3"/>
          <a:srcRect b="681"/>
          <a:stretch>
            <a:fillRect/>
          </a:stretch>
        </p:blipFill>
        <p:spPr>
          <a:xfrm>
            <a:off x="1130283" y="932688"/>
            <a:ext cx="9864378" cy="551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597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25B41A-EE64-4E60-936D-D1BA84B305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786384"/>
          </a:xfrm>
          <a:prstGeom prst="rect">
            <a:avLst/>
          </a:prstGeom>
          <a:solidFill>
            <a:srgbClr val="523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7ED0A0-8C16-46B9-827F-1EA043B5909F}"/>
              </a:ext>
            </a:extLst>
          </p:cNvPr>
          <p:cNvSpPr>
            <a:spLocks noGrp="1"/>
          </p:cNvSpPr>
          <p:nvPr/>
        </p:nvSpPr>
        <p:spPr>
          <a:xfrm>
            <a:off x="347472" y="146304"/>
            <a:ext cx="114300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2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Usuarios en memoria: una solución provisional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21FFD3-C207-407A-8EF6-72AE8C3A8578}"/>
              </a:ext>
            </a:extLst>
          </p:cNvPr>
          <p:cNvSpPr>
            <a:spLocks noGrp="1"/>
          </p:cNvSpPr>
          <p:nvPr/>
        </p:nvSpPr>
        <p:spPr>
          <a:xfrm>
            <a:off x="548640" y="6446520"/>
            <a:ext cx="1106424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buNone/>
            </a:pPr>
            <a:r>
              <a:rPr sz="1000" b="0" i="0" dirty="0" err="1">
                <a:solidFill>
                  <a:srgbClr val="787878"/>
                </a:solidFill>
                <a:latin typeface="Arial"/>
                <a:ea typeface="Arial"/>
                <a:cs typeface="Arial"/>
              </a:rPr>
              <a:t>Programación</a:t>
            </a:r>
            <a:r>
              <a:rPr sz="1000" b="0" i="0" dirty="0">
                <a:solidFill>
                  <a:srgbClr val="787878"/>
                </a:solidFill>
                <a:latin typeface="Arial"/>
                <a:ea typeface="Arial"/>
                <a:cs typeface="Arial"/>
              </a:rPr>
              <a:t> de </a:t>
            </a:r>
            <a:r>
              <a:rPr sz="1000" b="0" i="0" dirty="0" err="1">
                <a:solidFill>
                  <a:srgbClr val="787878"/>
                </a:solidFill>
                <a:latin typeface="Arial"/>
                <a:ea typeface="Arial"/>
                <a:cs typeface="Arial"/>
              </a:rPr>
              <a:t>Servicios</a:t>
            </a:r>
            <a:r>
              <a:rPr sz="1000" b="0" i="0" dirty="0">
                <a:solidFill>
                  <a:srgbClr val="787878"/>
                </a:solidFill>
                <a:latin typeface="Arial"/>
                <a:ea typeface="Arial"/>
                <a:cs typeface="Arial"/>
              </a:rPr>
              <a:t> y </a:t>
            </a:r>
            <a:r>
              <a:rPr sz="1000" b="0" i="0" dirty="0" err="1">
                <a:solidFill>
                  <a:srgbClr val="787878"/>
                </a:solidFill>
                <a:latin typeface="Arial"/>
                <a:ea typeface="Arial"/>
                <a:cs typeface="Arial"/>
              </a:rPr>
              <a:t>Procesos</a:t>
            </a:r>
            <a:r>
              <a:rPr sz="1000" b="0" i="0" dirty="0">
                <a:solidFill>
                  <a:srgbClr val="787878"/>
                </a:solidFill>
                <a:latin typeface="Arial"/>
                <a:ea typeface="Arial"/>
                <a:cs typeface="Arial"/>
              </a:rPr>
              <a:t> — Tema 2: </a:t>
            </a:r>
            <a:r>
              <a:rPr sz="1000" b="0" i="0" dirty="0" err="1">
                <a:solidFill>
                  <a:srgbClr val="787878"/>
                </a:solidFill>
                <a:latin typeface="Arial"/>
                <a:ea typeface="Arial"/>
                <a:cs typeface="Arial"/>
              </a:rPr>
              <a:t>Principios</a:t>
            </a:r>
            <a:r>
              <a:rPr sz="1000" b="0" i="0" dirty="0">
                <a:solidFill>
                  <a:srgbClr val="787878"/>
                </a:solidFill>
                <a:latin typeface="Arial"/>
                <a:ea typeface="Arial"/>
                <a:cs typeface="Arial"/>
              </a:rPr>
              <a:t> de </a:t>
            </a:r>
            <a:r>
              <a:rPr sz="1000" b="0" i="0" dirty="0" err="1">
                <a:solidFill>
                  <a:srgbClr val="787878"/>
                </a:solidFill>
                <a:latin typeface="Arial"/>
                <a:ea typeface="Arial"/>
                <a:cs typeface="Arial"/>
              </a:rPr>
              <a:t>programación</a:t>
            </a:r>
            <a:r>
              <a:rPr sz="1000" b="0" i="0" dirty="0">
                <a:solidFill>
                  <a:srgbClr val="787878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0" i="0" dirty="0" err="1">
                <a:solidFill>
                  <a:srgbClr val="787878"/>
                </a:solidFill>
                <a:latin typeface="Arial"/>
                <a:ea typeface="Arial"/>
                <a:cs typeface="Arial"/>
              </a:rPr>
              <a:t>segura</a:t>
            </a:r>
            <a:endParaRPr sz="1000" b="0" i="0" dirty="0">
              <a:solidFill>
                <a:srgbClr val="7878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A74EE30-20CE-4DC4-B025-96890012E85A}"/>
              </a:ext>
            </a:extLst>
          </p:cNvPr>
          <p:cNvSpPr>
            <a:spLocks noGrp="1"/>
          </p:cNvSpPr>
          <p:nvPr/>
        </p:nvSpPr>
        <p:spPr>
          <a:xfrm>
            <a:off x="658368" y="1060704"/>
            <a:ext cx="6675120" cy="4974336"/>
          </a:xfrm>
          <a:prstGeom prst="roundRect">
            <a:avLst/>
          </a:prstGeom>
          <a:solidFill>
            <a:srgbClr val="F8F9FB"/>
          </a:solidFill>
          <a:ln w="1524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90BD65-FDF8-4BD1-A3BB-ED77B53707C0}"/>
              </a:ext>
            </a:extLst>
          </p:cNvPr>
          <p:cNvSpPr>
            <a:spLocks noGrp="1"/>
          </p:cNvSpPr>
          <p:nvPr/>
        </p:nvSpPr>
        <p:spPr>
          <a:xfrm>
            <a:off x="822960" y="1493949"/>
            <a:ext cx="6345936" cy="4700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@Bean</a:t>
            </a:r>
            <a:b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public </a:t>
            </a:r>
            <a:r>
              <a:rPr sz="14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UserDetailsService</a:t>
            </a: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userDetailsService</a:t>
            </a: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() {</a:t>
            </a:r>
            <a:b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4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UserDetails</a:t>
            </a: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user = </a:t>
            </a:r>
            <a:r>
              <a:rPr sz="14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User.withUsername</a:t>
            </a: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("user")</a:t>
            </a:r>
            <a:b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        .password("{</a:t>
            </a:r>
            <a:r>
              <a:rPr sz="14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noop</a:t>
            </a: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}user123")</a:t>
            </a:r>
            <a:b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        .roles("USER")</a:t>
            </a:r>
            <a:b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        .build();</a:t>
            </a:r>
            <a:b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b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4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UserDetails</a:t>
            </a: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admin = </a:t>
            </a:r>
            <a:r>
              <a:rPr sz="14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User.withUsername</a:t>
            </a: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("admin")</a:t>
            </a:r>
            <a:b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        .password("{</a:t>
            </a:r>
            <a:r>
              <a:rPr sz="14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noop</a:t>
            </a: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}admin123")</a:t>
            </a:r>
            <a:b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        .roles("ADMIN")</a:t>
            </a:r>
            <a:b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        .build();</a:t>
            </a:r>
            <a:b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b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return new </a:t>
            </a:r>
            <a:r>
              <a:rPr sz="14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InMemoryUserDetailsManager</a:t>
            </a: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(user, admin);</a:t>
            </a:r>
            <a:b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4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69C7A1-4D63-4AFC-BF03-FE1D9F65BF0C}"/>
              </a:ext>
            </a:extLst>
          </p:cNvPr>
          <p:cNvSpPr>
            <a:spLocks noGrp="1"/>
          </p:cNvSpPr>
          <p:nvPr/>
        </p:nvSpPr>
        <p:spPr>
          <a:xfrm>
            <a:off x="7635240" y="1207008"/>
            <a:ext cx="3749039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2300" b="1" i="0">
                <a:solidFill>
                  <a:srgbClr val="523832"/>
                </a:solidFill>
                <a:latin typeface="Arial"/>
                <a:ea typeface="Arial"/>
                <a:cs typeface="Arial"/>
              </a:rPr>
              <a:t>Qué debes entender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41FE18-10C3-42BD-A20B-34394FF296FC}"/>
              </a:ext>
            </a:extLst>
          </p:cNvPr>
          <p:cNvSpPr>
            <a:spLocks noGrp="1"/>
          </p:cNvSpPr>
          <p:nvPr/>
        </p:nvSpPr>
        <p:spPr>
          <a:xfrm>
            <a:off x="7607808" y="1828800"/>
            <a:ext cx="3794760" cy="3063240"/>
          </a:xfrm>
          <a:prstGeom prst="rect">
            <a:avLst/>
          </a:prstGeom>
          <a:noFill/>
        </p:spPr>
        <p:txBody>
          <a:bodyPr wrap="square" lIns="36576" tIns="18288" rIns="18288" bIns="18288">
            <a:spAutoFit/>
          </a:bodyPr>
          <a:lstStyle/>
          <a:p>
            <a:pPr>
              <a:spcAft>
                <a:spcPts val="800"/>
              </a:spcAft>
              <a:buNone/>
              <a:defRPr sz="18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dirty="0"/>
              <a:t>• </a:t>
            </a:r>
            <a:r>
              <a:rPr dirty="0" err="1"/>
              <a:t>InMemoryUserDetailsManager</a:t>
            </a:r>
            <a:r>
              <a:rPr dirty="0"/>
              <a:t> </a:t>
            </a:r>
            <a:r>
              <a:rPr dirty="0" err="1"/>
              <a:t>implementa</a:t>
            </a:r>
            <a:r>
              <a:rPr dirty="0"/>
              <a:t> </a:t>
            </a:r>
            <a:r>
              <a:rPr dirty="0" err="1"/>
              <a:t>UserDetailsService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buNone/>
              <a:defRPr sz="18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dirty="0"/>
              <a:t>• {</a:t>
            </a:r>
            <a:r>
              <a:rPr dirty="0" err="1"/>
              <a:t>noop</a:t>
            </a:r>
            <a:r>
              <a:rPr dirty="0"/>
              <a:t>} </a:t>
            </a:r>
            <a:r>
              <a:rPr dirty="0" err="1"/>
              <a:t>significa</a:t>
            </a:r>
            <a:r>
              <a:rPr dirty="0"/>
              <a:t> </a:t>
            </a:r>
            <a:r>
              <a:rPr dirty="0" err="1"/>
              <a:t>contraseña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texto</a:t>
            </a:r>
            <a:r>
              <a:rPr dirty="0"/>
              <a:t> claro: solo para </a:t>
            </a:r>
            <a:r>
              <a:rPr dirty="0" err="1"/>
              <a:t>aprender</a:t>
            </a:r>
            <a:r>
              <a:rPr dirty="0"/>
              <a:t> el </a:t>
            </a:r>
            <a:r>
              <a:rPr dirty="0" err="1"/>
              <a:t>mecanismo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buNone/>
              <a:defRPr sz="18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dirty="0"/>
              <a:t>• .roles("USER") </a:t>
            </a:r>
            <a:r>
              <a:rPr dirty="0" err="1"/>
              <a:t>crea</a:t>
            </a:r>
            <a:r>
              <a:rPr dirty="0"/>
              <a:t> </a:t>
            </a:r>
            <a:r>
              <a:rPr dirty="0" err="1"/>
              <a:t>internamente</a:t>
            </a:r>
            <a:r>
              <a:rPr dirty="0"/>
              <a:t> ROLE_USER.</a:t>
            </a:r>
          </a:p>
          <a:p>
            <a:pPr>
              <a:spcAft>
                <a:spcPts val="800"/>
              </a:spcAft>
              <a:buNone/>
              <a:defRPr sz="18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dirty="0"/>
              <a:t>• Los </a:t>
            </a:r>
            <a:r>
              <a:rPr dirty="0" err="1"/>
              <a:t>usuarios</a:t>
            </a:r>
            <a:r>
              <a:rPr dirty="0"/>
              <a:t> </a:t>
            </a:r>
            <a:r>
              <a:rPr dirty="0" err="1"/>
              <a:t>desaparecen</a:t>
            </a:r>
            <a:r>
              <a:rPr dirty="0"/>
              <a:t> al </a:t>
            </a:r>
            <a:r>
              <a:rPr dirty="0" err="1"/>
              <a:t>reiniciar</a:t>
            </a:r>
            <a:r>
              <a:rPr dirty="0"/>
              <a:t>: </a:t>
            </a:r>
            <a:r>
              <a:rPr dirty="0" err="1"/>
              <a:t>todavía</a:t>
            </a:r>
            <a:r>
              <a:rPr dirty="0"/>
              <a:t> no </a:t>
            </a:r>
            <a:r>
              <a:rPr dirty="0" err="1"/>
              <a:t>existe</a:t>
            </a:r>
            <a:r>
              <a:rPr dirty="0"/>
              <a:t> </a:t>
            </a:r>
            <a:r>
              <a:rPr dirty="0" err="1"/>
              <a:t>persistencia</a:t>
            </a:r>
            <a:r>
              <a:rPr dirty="0"/>
              <a:t>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47761FC-3C8F-47FA-9E08-9CC4BD868654}"/>
              </a:ext>
            </a:extLst>
          </p:cNvPr>
          <p:cNvSpPr>
            <a:spLocks noGrp="1"/>
          </p:cNvSpPr>
          <p:nvPr/>
        </p:nvSpPr>
        <p:spPr>
          <a:xfrm>
            <a:off x="7708392" y="5074920"/>
            <a:ext cx="3566160" cy="658368"/>
          </a:xfrm>
          <a:prstGeom prst="roundRect">
            <a:avLst/>
          </a:prstGeom>
          <a:solidFill>
            <a:srgbClr val="FFF5DF"/>
          </a:solidFill>
          <a:ln w="15240">
            <a:solidFill>
              <a:srgbClr val="D98D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3A599E-C1F2-4336-98A5-93950A56A075}"/>
              </a:ext>
            </a:extLst>
          </p:cNvPr>
          <p:cNvSpPr>
            <a:spLocks noGrp="1"/>
          </p:cNvSpPr>
          <p:nvPr/>
        </p:nvSpPr>
        <p:spPr>
          <a:xfrm>
            <a:off x="7708392" y="5285232"/>
            <a:ext cx="3566160" cy="2708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1400" b="1" i="0" dirty="0" err="1">
                <a:solidFill>
                  <a:srgbClr val="D98D08"/>
                </a:solidFill>
                <a:latin typeface="Arial"/>
                <a:ea typeface="Arial"/>
                <a:cs typeface="Arial"/>
              </a:rPr>
              <a:t>Siguiente</a:t>
            </a:r>
            <a:r>
              <a:rPr sz="1400" b="1" i="0" dirty="0">
                <a:solidFill>
                  <a:srgbClr val="D98D08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1" i="0" dirty="0" err="1">
                <a:solidFill>
                  <a:srgbClr val="D98D08"/>
                </a:solidFill>
                <a:latin typeface="Arial"/>
                <a:ea typeface="Arial"/>
                <a:cs typeface="Arial"/>
              </a:rPr>
              <a:t>sesión</a:t>
            </a:r>
            <a:r>
              <a:rPr sz="1400" b="1" i="0" dirty="0">
                <a:solidFill>
                  <a:srgbClr val="D98D08"/>
                </a:solidFill>
                <a:latin typeface="Arial"/>
                <a:ea typeface="Arial"/>
                <a:cs typeface="Arial"/>
              </a:rPr>
              <a:t>: PostgreSQL + </a:t>
            </a:r>
            <a:r>
              <a:rPr sz="1400" b="1" i="0" dirty="0" err="1">
                <a:solidFill>
                  <a:srgbClr val="D98D08"/>
                </a:solidFill>
                <a:latin typeface="Arial"/>
                <a:ea typeface="Arial"/>
                <a:cs typeface="Arial"/>
              </a:rPr>
              <a:t>BCrypt</a:t>
            </a:r>
            <a:endParaRPr sz="1400" b="1" i="0" dirty="0">
              <a:solidFill>
                <a:srgbClr val="D98D08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8200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F8A4F7-5975-41BC-BBEA-FB3F22DADD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786384"/>
          </a:xfrm>
          <a:prstGeom prst="rect">
            <a:avLst/>
          </a:prstGeom>
          <a:solidFill>
            <a:srgbClr val="523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242A55-9179-46C5-95B0-CD826E3BA7DF}"/>
              </a:ext>
            </a:extLst>
          </p:cNvPr>
          <p:cNvSpPr>
            <a:spLocks noGrp="1"/>
          </p:cNvSpPr>
          <p:nvPr/>
        </p:nvSpPr>
        <p:spPr>
          <a:xfrm>
            <a:off x="347472" y="146304"/>
            <a:ext cx="114300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2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Una primera política de rutas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47724-9945-4D0F-8084-BE6982A47976}"/>
              </a:ext>
            </a:extLst>
          </p:cNvPr>
          <p:cNvSpPr>
            <a:spLocks noGrp="1"/>
          </p:cNvSpPr>
          <p:nvPr/>
        </p:nvSpPr>
        <p:spPr>
          <a:xfrm>
            <a:off x="548640" y="6446520"/>
            <a:ext cx="1106424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787878"/>
                </a:solidFill>
                <a:latin typeface="Arial"/>
                <a:ea typeface="Arial"/>
                <a:cs typeface="Arial"/>
              </a:rPr>
              <a:t>Programación de Servicios y Procesos — Tema 2: Principios de programación segura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46A85DF-2405-4C65-8272-8E8DFBE0C278}"/>
              </a:ext>
            </a:extLst>
          </p:cNvPr>
          <p:cNvSpPr>
            <a:spLocks noGrp="1"/>
          </p:cNvSpPr>
          <p:nvPr/>
        </p:nvSpPr>
        <p:spPr>
          <a:xfrm>
            <a:off x="640080" y="1078992"/>
            <a:ext cx="6720840" cy="4919472"/>
          </a:xfrm>
          <a:prstGeom prst="roundRect">
            <a:avLst/>
          </a:prstGeom>
          <a:solidFill>
            <a:srgbClr val="F8F9FB"/>
          </a:solidFill>
          <a:ln w="1524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52F1F8-8FB3-4B1C-9C2D-A583DB46756E}"/>
              </a:ext>
            </a:extLst>
          </p:cNvPr>
          <p:cNvSpPr>
            <a:spLocks noGrp="1"/>
          </p:cNvSpPr>
          <p:nvPr/>
        </p:nvSpPr>
        <p:spPr>
          <a:xfrm>
            <a:off x="804672" y="1536192"/>
            <a:ext cx="6391655" cy="46451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135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@Bean</a:t>
            </a:r>
            <a:br>
              <a:rPr sz="135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35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public </a:t>
            </a:r>
            <a:r>
              <a:rPr sz="135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SecurityFilterChain</a:t>
            </a:r>
            <a:r>
              <a:rPr sz="135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35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securityFilterChain</a:t>
            </a:r>
            <a:r>
              <a:rPr sz="135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35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HttpSecurity</a:t>
            </a:r>
            <a:r>
              <a:rPr sz="135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http)</a:t>
            </a:r>
            <a:br>
              <a:rPr sz="135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35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    throws Exception {</a:t>
            </a:r>
            <a:br>
              <a:rPr sz="135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35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return http</a:t>
            </a:r>
            <a:br>
              <a:rPr sz="135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35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    .</a:t>
            </a:r>
            <a:r>
              <a:rPr sz="135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authorizeHttpRequests</a:t>
            </a:r>
            <a:r>
              <a:rPr sz="135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(auth -&gt; auth</a:t>
            </a:r>
            <a:br>
              <a:rPr sz="135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35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        .</a:t>
            </a:r>
            <a:r>
              <a:rPr sz="135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requestMatchers</a:t>
            </a:r>
            <a:r>
              <a:rPr sz="135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35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HttpMethod.GET</a:t>
            </a:r>
            <a:r>
              <a:rPr sz="135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, "/</a:t>
            </a:r>
            <a:r>
              <a:rPr sz="135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api</a:t>
            </a:r>
            <a:r>
              <a:rPr sz="135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/v1/</a:t>
            </a:r>
            <a:r>
              <a:rPr sz="135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libros</a:t>
            </a:r>
            <a:r>
              <a:rPr sz="135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/**")</a:t>
            </a:r>
            <a:br>
              <a:rPr sz="135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35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            .</a:t>
            </a:r>
            <a:r>
              <a:rPr sz="135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permitAll</a:t>
            </a:r>
            <a:r>
              <a:rPr sz="135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()</a:t>
            </a:r>
            <a:br>
              <a:rPr sz="135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35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        .</a:t>
            </a:r>
            <a:r>
              <a:rPr sz="135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anyRequest</a:t>
            </a:r>
            <a:r>
              <a:rPr sz="135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()</a:t>
            </a:r>
            <a:br>
              <a:rPr sz="135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35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            .authenticated()</a:t>
            </a:r>
            <a:br>
              <a:rPr sz="135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35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    )</a:t>
            </a:r>
            <a:br>
              <a:rPr sz="135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35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    .</a:t>
            </a:r>
            <a:r>
              <a:rPr sz="135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csrf</a:t>
            </a:r>
            <a:r>
              <a:rPr sz="135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35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AbstractHttpConfigurer</a:t>
            </a:r>
            <a:r>
              <a:rPr sz="135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::disable)</a:t>
            </a:r>
            <a:br>
              <a:rPr sz="135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35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    .</a:t>
            </a:r>
            <a:r>
              <a:rPr sz="135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httpBasic</a:t>
            </a:r>
            <a:r>
              <a:rPr sz="135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35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Customizer.withDefaults</a:t>
            </a:r>
            <a:r>
              <a:rPr sz="135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())</a:t>
            </a:r>
            <a:br>
              <a:rPr sz="135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35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    .build();</a:t>
            </a:r>
            <a:br>
              <a:rPr sz="135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35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B2EAF4-AD6E-4925-8784-8A899D43FD76}"/>
              </a:ext>
            </a:extLst>
          </p:cNvPr>
          <p:cNvSpPr>
            <a:spLocks noGrp="1"/>
          </p:cNvSpPr>
          <p:nvPr/>
        </p:nvSpPr>
        <p:spPr>
          <a:xfrm>
            <a:off x="7635240" y="1170432"/>
            <a:ext cx="384048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2300" b="1" i="0">
                <a:solidFill>
                  <a:srgbClr val="523832"/>
                </a:solidFill>
                <a:latin typeface="Arial"/>
                <a:ea typeface="Arial"/>
                <a:cs typeface="Arial"/>
              </a:rPr>
              <a:t>Léela de arriba abajo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313B7F3-8CD5-43D4-AEB1-7C3594DB55F9}"/>
              </a:ext>
            </a:extLst>
          </p:cNvPr>
          <p:cNvSpPr>
            <a:spLocks noGrp="1"/>
          </p:cNvSpPr>
          <p:nvPr/>
        </p:nvSpPr>
        <p:spPr>
          <a:xfrm>
            <a:off x="7635240" y="1783080"/>
            <a:ext cx="3703320" cy="777240"/>
          </a:xfrm>
          <a:prstGeom prst="roundRect">
            <a:avLst/>
          </a:prstGeom>
          <a:solidFill>
            <a:srgbClr val="EAF6EB"/>
          </a:solidFill>
          <a:ln w="15240">
            <a:solidFill>
              <a:srgbClr val="2D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D16529-416B-478A-B17E-F0D47ACF4529}"/>
              </a:ext>
            </a:extLst>
          </p:cNvPr>
          <p:cNvSpPr>
            <a:spLocks noGrp="1"/>
          </p:cNvSpPr>
          <p:nvPr/>
        </p:nvSpPr>
        <p:spPr>
          <a:xfrm>
            <a:off x="7845552" y="1929384"/>
            <a:ext cx="14173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2D823C"/>
                </a:solidFill>
                <a:latin typeface="Courier New"/>
                <a:ea typeface="Courier New"/>
                <a:cs typeface="Courier New"/>
              </a:rPr>
              <a:t>GET /libros/**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04DA82-0DEB-4356-9477-A373864CEB7D}"/>
              </a:ext>
            </a:extLst>
          </p:cNvPr>
          <p:cNvSpPr>
            <a:spLocks noGrp="1"/>
          </p:cNvSpPr>
          <p:nvPr/>
        </p:nvSpPr>
        <p:spPr>
          <a:xfrm>
            <a:off x="9281160" y="1901952"/>
            <a:ext cx="182880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buNone/>
            </a:pPr>
            <a:r>
              <a:rPr sz="170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Público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A82A28F-BD72-4493-86A0-21ACED576114}"/>
              </a:ext>
            </a:extLst>
          </p:cNvPr>
          <p:cNvSpPr>
            <a:spLocks noGrp="1"/>
          </p:cNvSpPr>
          <p:nvPr/>
        </p:nvSpPr>
        <p:spPr>
          <a:xfrm>
            <a:off x="7635240" y="2788920"/>
            <a:ext cx="3703320" cy="777240"/>
          </a:xfrm>
          <a:prstGeom prst="roundRect">
            <a:avLst/>
          </a:prstGeom>
          <a:solidFill>
            <a:srgbClr val="E8F2FC"/>
          </a:solidFill>
          <a:ln w="15240">
            <a:solidFill>
              <a:srgbClr val="266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67041D-49EF-4124-BC9A-94F4C916CB13}"/>
              </a:ext>
            </a:extLst>
          </p:cNvPr>
          <p:cNvSpPr>
            <a:spLocks noGrp="1"/>
          </p:cNvSpPr>
          <p:nvPr/>
        </p:nvSpPr>
        <p:spPr>
          <a:xfrm>
            <a:off x="7845552" y="2935224"/>
            <a:ext cx="14173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2668B6"/>
                </a:solidFill>
                <a:latin typeface="Courier New"/>
                <a:ea typeface="Courier New"/>
                <a:cs typeface="Courier New"/>
              </a:rPr>
              <a:t>cualquier otra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39BC97-AC02-48C1-BAE9-46FAABB843DE}"/>
              </a:ext>
            </a:extLst>
          </p:cNvPr>
          <p:cNvSpPr>
            <a:spLocks noGrp="1"/>
          </p:cNvSpPr>
          <p:nvPr/>
        </p:nvSpPr>
        <p:spPr>
          <a:xfrm>
            <a:off x="9281160" y="2907791"/>
            <a:ext cx="182880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buNone/>
            </a:pPr>
            <a:r>
              <a:rPr sz="170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Usuario autenticado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D6C25FB-57DF-4031-B3C9-0C3CD1655659}"/>
              </a:ext>
            </a:extLst>
          </p:cNvPr>
          <p:cNvSpPr>
            <a:spLocks noGrp="1"/>
          </p:cNvSpPr>
          <p:nvPr/>
        </p:nvSpPr>
        <p:spPr>
          <a:xfrm>
            <a:off x="7635240" y="3794760"/>
            <a:ext cx="3703320" cy="777240"/>
          </a:xfrm>
          <a:prstGeom prst="roundRect">
            <a:avLst/>
          </a:prstGeom>
          <a:solidFill>
            <a:srgbClr val="F0ECFC"/>
          </a:solidFill>
          <a:ln w="15240">
            <a:solidFill>
              <a:srgbClr val="674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9735A9-8AD8-4FDE-88A9-8C4C60E6B265}"/>
              </a:ext>
            </a:extLst>
          </p:cNvPr>
          <p:cNvSpPr>
            <a:spLocks noGrp="1"/>
          </p:cNvSpPr>
          <p:nvPr/>
        </p:nvSpPr>
        <p:spPr>
          <a:xfrm>
            <a:off x="7845552" y="3941064"/>
            <a:ext cx="14173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674DB8"/>
                </a:solidFill>
                <a:latin typeface="Courier New"/>
                <a:ea typeface="Courier New"/>
                <a:cs typeface="Courier New"/>
              </a:rPr>
              <a:t>httpBasic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8DF795-731B-47B2-8E67-7ABF30D0ADB8}"/>
              </a:ext>
            </a:extLst>
          </p:cNvPr>
          <p:cNvSpPr>
            <a:spLocks noGrp="1"/>
          </p:cNvSpPr>
          <p:nvPr/>
        </p:nvSpPr>
        <p:spPr>
          <a:xfrm>
            <a:off x="9281160" y="3913632"/>
            <a:ext cx="182880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buNone/>
            </a:pPr>
            <a:r>
              <a:rPr sz="170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Mecanismo de autenticación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807ECC6-9C14-45BD-875E-8E9A73FA7171}"/>
              </a:ext>
            </a:extLst>
          </p:cNvPr>
          <p:cNvSpPr>
            <a:spLocks noGrp="1"/>
          </p:cNvSpPr>
          <p:nvPr/>
        </p:nvSpPr>
        <p:spPr>
          <a:xfrm>
            <a:off x="7653527" y="4828032"/>
            <a:ext cx="3657600" cy="868680"/>
          </a:xfrm>
          <a:prstGeom prst="roundRect">
            <a:avLst/>
          </a:prstGeom>
          <a:solidFill>
            <a:srgbClr val="FDECEC"/>
          </a:solidFill>
          <a:ln w="15240">
            <a:solidFill>
              <a:srgbClr val="B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46D179-C537-4EE4-BDB3-2ECFD3B69521}"/>
              </a:ext>
            </a:extLst>
          </p:cNvPr>
          <p:cNvSpPr>
            <a:spLocks noGrp="1"/>
          </p:cNvSpPr>
          <p:nvPr/>
        </p:nvSpPr>
        <p:spPr>
          <a:xfrm>
            <a:off x="7882127" y="4946903"/>
            <a:ext cx="320040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1700" b="1" i="0" dirty="0">
                <a:solidFill>
                  <a:srgbClr val="BC3333"/>
                </a:solidFill>
                <a:latin typeface="Arial"/>
                <a:ea typeface="Arial"/>
                <a:cs typeface="Arial"/>
              </a:rPr>
              <a:t>El </a:t>
            </a:r>
            <a:r>
              <a:rPr sz="1700" b="1" i="0" dirty="0" err="1">
                <a:solidFill>
                  <a:srgbClr val="BC3333"/>
                </a:solidFill>
                <a:latin typeface="Arial"/>
                <a:ea typeface="Arial"/>
                <a:cs typeface="Arial"/>
              </a:rPr>
              <a:t>orden</a:t>
            </a:r>
            <a:r>
              <a:rPr sz="1700" b="1" i="0" dirty="0">
                <a:solidFill>
                  <a:srgbClr val="BC3333"/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i="0" dirty="0" err="1">
                <a:solidFill>
                  <a:srgbClr val="BC3333"/>
                </a:solidFill>
                <a:latin typeface="Arial"/>
                <a:ea typeface="Arial"/>
                <a:cs typeface="Arial"/>
              </a:rPr>
              <a:t>importa</a:t>
            </a:r>
            <a:r>
              <a:rPr sz="1700" b="1" i="0" dirty="0">
                <a:solidFill>
                  <a:srgbClr val="BC3333"/>
                </a:solidFill>
                <a:latin typeface="Arial"/>
                <a:ea typeface="Arial"/>
                <a:cs typeface="Arial"/>
              </a:rPr>
              <a:t>: </a:t>
            </a:r>
            <a:r>
              <a:rPr sz="1700" b="1" i="0" dirty="0" err="1">
                <a:solidFill>
                  <a:srgbClr val="BC3333"/>
                </a:solidFill>
                <a:latin typeface="Arial"/>
                <a:ea typeface="Arial"/>
                <a:cs typeface="Arial"/>
              </a:rPr>
              <a:t>gana</a:t>
            </a:r>
            <a:r>
              <a:rPr sz="1700" b="1" i="0" dirty="0">
                <a:solidFill>
                  <a:srgbClr val="BC3333"/>
                </a:solidFill>
                <a:latin typeface="Arial"/>
                <a:ea typeface="Arial"/>
                <a:cs typeface="Arial"/>
              </a:rPr>
              <a:t> la </a:t>
            </a:r>
            <a:r>
              <a:rPr sz="1700" b="1" i="0" dirty="0" err="1">
                <a:solidFill>
                  <a:srgbClr val="BC3333"/>
                </a:solidFill>
                <a:latin typeface="Arial"/>
                <a:ea typeface="Arial"/>
                <a:cs typeface="Arial"/>
              </a:rPr>
              <a:t>primera</a:t>
            </a:r>
            <a:r>
              <a:rPr sz="1700" b="1" i="0" dirty="0">
                <a:solidFill>
                  <a:srgbClr val="BC3333"/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i="0" dirty="0" err="1">
                <a:solidFill>
                  <a:srgbClr val="BC3333"/>
                </a:solidFill>
                <a:latin typeface="Arial"/>
                <a:ea typeface="Arial"/>
                <a:cs typeface="Arial"/>
              </a:rPr>
              <a:t>regla</a:t>
            </a:r>
            <a:r>
              <a:rPr sz="1700" b="1" i="0" dirty="0">
                <a:solidFill>
                  <a:srgbClr val="BC3333"/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i="0" dirty="0" err="1">
                <a:solidFill>
                  <a:srgbClr val="BC3333"/>
                </a:solidFill>
                <a:latin typeface="Arial"/>
                <a:ea typeface="Arial"/>
                <a:cs typeface="Arial"/>
              </a:rPr>
              <a:t>que</a:t>
            </a:r>
            <a:r>
              <a:rPr sz="1700" b="1" i="0" dirty="0">
                <a:solidFill>
                  <a:srgbClr val="BC3333"/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i="0" dirty="0" err="1">
                <a:solidFill>
                  <a:srgbClr val="BC3333"/>
                </a:solidFill>
                <a:latin typeface="Arial"/>
                <a:ea typeface="Arial"/>
                <a:cs typeface="Arial"/>
              </a:rPr>
              <a:t>encaja</a:t>
            </a:r>
            <a:r>
              <a:rPr sz="1700" b="1" i="0" dirty="0">
                <a:solidFill>
                  <a:srgbClr val="BC333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542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6462E8-E4DE-425A-91B9-5A9BBB2359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786384"/>
          </a:xfrm>
          <a:prstGeom prst="rect">
            <a:avLst/>
          </a:prstGeom>
          <a:solidFill>
            <a:srgbClr val="523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FE3300-B1B9-424A-AA50-2197771D4D7B}"/>
              </a:ext>
            </a:extLst>
          </p:cNvPr>
          <p:cNvSpPr>
            <a:spLocks noGrp="1"/>
          </p:cNvSpPr>
          <p:nvPr/>
        </p:nvSpPr>
        <p:spPr>
          <a:xfrm>
            <a:off x="347472" y="146304"/>
            <a:ext cx="114300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2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Dos decisiones que conviene entender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CAF95C-FF8A-4190-B593-C9BD972F09CE}"/>
              </a:ext>
            </a:extLst>
          </p:cNvPr>
          <p:cNvSpPr>
            <a:spLocks noGrp="1"/>
          </p:cNvSpPr>
          <p:nvPr/>
        </p:nvSpPr>
        <p:spPr>
          <a:xfrm>
            <a:off x="548640" y="6446520"/>
            <a:ext cx="1106424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787878"/>
                </a:solidFill>
                <a:latin typeface="Arial"/>
                <a:ea typeface="Arial"/>
                <a:cs typeface="Arial"/>
              </a:rPr>
              <a:t>Programación de Servicios y Procesos — Tema 2: Principios de programación segura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4D01EF1-EAE7-4F5D-8A45-F890BDC9C8E3}"/>
              </a:ext>
            </a:extLst>
          </p:cNvPr>
          <p:cNvSpPr>
            <a:spLocks noGrp="1"/>
          </p:cNvSpPr>
          <p:nvPr/>
        </p:nvSpPr>
        <p:spPr>
          <a:xfrm>
            <a:off x="658368" y="1143000"/>
            <a:ext cx="5440680" cy="4480560"/>
          </a:xfrm>
          <a:prstGeom prst="roundRect">
            <a:avLst/>
          </a:prstGeom>
          <a:solidFill>
            <a:srgbClr val="E8F2FC"/>
          </a:solidFill>
          <a:ln w="15240">
            <a:solidFill>
              <a:srgbClr val="266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608AC4-67E4-4A3D-9F76-A6AC20E5AD26}"/>
              </a:ext>
            </a:extLst>
          </p:cNvPr>
          <p:cNvSpPr>
            <a:spLocks noGrp="1"/>
          </p:cNvSpPr>
          <p:nvPr/>
        </p:nvSpPr>
        <p:spPr>
          <a:xfrm>
            <a:off x="914400" y="1417320"/>
            <a:ext cx="493776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2000" b="1" i="0" dirty="0">
                <a:solidFill>
                  <a:srgbClr val="2668B6"/>
                </a:solidFill>
                <a:latin typeface="Arial"/>
                <a:ea typeface="Arial"/>
                <a:cs typeface="Arial"/>
              </a:rPr>
              <a:t>1. El </a:t>
            </a:r>
            <a:r>
              <a:rPr sz="2000" b="1" i="0" dirty="0" err="1">
                <a:solidFill>
                  <a:srgbClr val="2668B6"/>
                </a:solidFill>
                <a:latin typeface="Arial"/>
                <a:ea typeface="Arial"/>
                <a:cs typeface="Arial"/>
              </a:rPr>
              <a:t>orden</a:t>
            </a:r>
            <a:r>
              <a:rPr sz="2000" b="1" i="0" dirty="0">
                <a:solidFill>
                  <a:srgbClr val="2668B6"/>
                </a:solidFill>
                <a:latin typeface="Arial"/>
                <a:ea typeface="Arial"/>
                <a:cs typeface="Arial"/>
              </a:rPr>
              <a:t> de las </a:t>
            </a:r>
            <a:r>
              <a:rPr sz="2000" b="1" i="0" dirty="0" err="1">
                <a:solidFill>
                  <a:srgbClr val="2668B6"/>
                </a:solidFill>
                <a:latin typeface="Arial"/>
                <a:ea typeface="Arial"/>
                <a:cs typeface="Arial"/>
              </a:rPr>
              <a:t>reglas</a:t>
            </a:r>
            <a:endParaRPr sz="2000" b="1" i="0" dirty="0">
              <a:solidFill>
                <a:srgbClr val="2668B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AB933D-2AA6-4083-8C2C-9D72E460B8F5}"/>
              </a:ext>
            </a:extLst>
          </p:cNvPr>
          <p:cNvSpPr>
            <a:spLocks noGrp="1"/>
          </p:cNvSpPr>
          <p:nvPr/>
        </p:nvSpPr>
        <p:spPr>
          <a:xfrm>
            <a:off x="914400" y="2011680"/>
            <a:ext cx="484632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Spring Security evalúa authorizeHttpRequests de arriba abajo.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B30939B-9AB9-45BA-BCAD-11627BCD75AF}"/>
              </a:ext>
            </a:extLst>
          </p:cNvPr>
          <p:cNvSpPr>
            <a:spLocks noGrp="1"/>
          </p:cNvSpPr>
          <p:nvPr/>
        </p:nvSpPr>
        <p:spPr>
          <a:xfrm>
            <a:off x="914400" y="2788920"/>
            <a:ext cx="4754880" cy="1097280"/>
          </a:xfrm>
          <a:prstGeom prst="roundRect">
            <a:avLst/>
          </a:prstGeom>
          <a:solidFill>
            <a:srgbClr val="F8F9FB"/>
          </a:solidFill>
          <a:ln w="1524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E299A1-6992-4B28-9F87-606F1DEAD46B}"/>
              </a:ext>
            </a:extLst>
          </p:cNvPr>
          <p:cNvSpPr>
            <a:spLocks noGrp="1"/>
          </p:cNvSpPr>
          <p:nvPr/>
        </p:nvSpPr>
        <p:spPr>
          <a:xfrm>
            <a:off x="1078992" y="2926079"/>
            <a:ext cx="4425696" cy="82295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15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5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requestMatchers</a:t>
            </a:r>
            <a:r>
              <a:rPr sz="15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(GET,</a:t>
            </a:r>
            <a:r>
              <a:rPr lang="es-ES" sz="15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5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"/</a:t>
            </a:r>
            <a:r>
              <a:rPr sz="15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api</a:t>
            </a:r>
            <a:r>
              <a:rPr sz="15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/v1/</a:t>
            </a:r>
            <a:r>
              <a:rPr sz="15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libros</a:t>
            </a:r>
            <a:r>
              <a:rPr sz="15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/**").</a:t>
            </a:r>
            <a:r>
              <a:rPr sz="15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permitAll</a:t>
            </a:r>
            <a:r>
              <a:rPr sz="15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()</a:t>
            </a:r>
            <a:br>
              <a:rPr sz="15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5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5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anyRequest</a:t>
            </a:r>
            <a:r>
              <a:rPr sz="15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().authenticated()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63886D-7EAC-4547-913B-1B096F129A58}"/>
              </a:ext>
            </a:extLst>
          </p:cNvPr>
          <p:cNvSpPr>
            <a:spLocks noGrp="1"/>
          </p:cNvSpPr>
          <p:nvPr/>
        </p:nvSpPr>
        <p:spPr>
          <a:xfrm>
            <a:off x="932688" y="4233672"/>
            <a:ext cx="4736592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1900" b="1" i="0">
                <a:solidFill>
                  <a:srgbClr val="2668B6"/>
                </a:solidFill>
                <a:latin typeface="Arial"/>
                <a:ea typeface="Arial"/>
                <a:cs typeface="Arial"/>
              </a:rPr>
              <a:t>Reglas concretas primero; reglas generales al final.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BA5A2A4-4F53-468E-8A33-8C7A42284790}"/>
              </a:ext>
            </a:extLst>
          </p:cNvPr>
          <p:cNvSpPr>
            <a:spLocks noGrp="1"/>
          </p:cNvSpPr>
          <p:nvPr/>
        </p:nvSpPr>
        <p:spPr>
          <a:xfrm>
            <a:off x="6355080" y="1143000"/>
            <a:ext cx="5166360" cy="4480560"/>
          </a:xfrm>
          <a:prstGeom prst="roundRect">
            <a:avLst/>
          </a:prstGeom>
          <a:solidFill>
            <a:srgbClr val="FFF5DF"/>
          </a:solidFill>
          <a:ln w="15240">
            <a:solidFill>
              <a:srgbClr val="D98D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89269E-850A-4DF8-91E2-4D63292FD3AB}"/>
              </a:ext>
            </a:extLst>
          </p:cNvPr>
          <p:cNvSpPr>
            <a:spLocks noGrp="1"/>
          </p:cNvSpPr>
          <p:nvPr/>
        </p:nvSpPr>
        <p:spPr>
          <a:xfrm>
            <a:off x="6611112" y="1417320"/>
            <a:ext cx="470916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2000" b="1" i="0" dirty="0">
                <a:solidFill>
                  <a:srgbClr val="D98D08"/>
                </a:solidFill>
                <a:latin typeface="Arial"/>
                <a:ea typeface="Arial"/>
                <a:cs typeface="Arial"/>
              </a:rPr>
              <a:t>2. Por </a:t>
            </a:r>
            <a:r>
              <a:rPr sz="2000" b="1" i="0" dirty="0" err="1">
                <a:solidFill>
                  <a:srgbClr val="D98D08"/>
                </a:solidFill>
                <a:latin typeface="Arial"/>
                <a:ea typeface="Arial"/>
                <a:cs typeface="Arial"/>
              </a:rPr>
              <a:t>qué</a:t>
            </a:r>
            <a:r>
              <a:rPr sz="2000" b="1" i="0" dirty="0">
                <a:solidFill>
                  <a:srgbClr val="D98D08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i="0" dirty="0" err="1">
                <a:solidFill>
                  <a:srgbClr val="D98D08"/>
                </a:solidFill>
                <a:latin typeface="Arial"/>
                <a:ea typeface="Arial"/>
                <a:cs typeface="Arial"/>
              </a:rPr>
              <a:t>desactivamos</a:t>
            </a:r>
            <a:r>
              <a:rPr sz="2000" b="1" i="0" dirty="0">
                <a:solidFill>
                  <a:srgbClr val="D98D08"/>
                </a:solidFill>
                <a:latin typeface="Arial"/>
                <a:ea typeface="Arial"/>
                <a:cs typeface="Arial"/>
              </a:rPr>
              <a:t> CSRF </a:t>
            </a:r>
            <a:r>
              <a:rPr sz="2000" b="1" i="0" dirty="0" err="1">
                <a:solidFill>
                  <a:srgbClr val="D98D08"/>
                </a:solidFill>
                <a:latin typeface="Arial"/>
                <a:ea typeface="Arial"/>
                <a:cs typeface="Arial"/>
              </a:rPr>
              <a:t>aquí</a:t>
            </a:r>
            <a:endParaRPr sz="2000" b="1" i="0" dirty="0">
              <a:solidFill>
                <a:srgbClr val="D98D0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FB2C62-991C-43BC-ACCC-DBD73CBD546A}"/>
              </a:ext>
            </a:extLst>
          </p:cNvPr>
          <p:cNvSpPr>
            <a:spLocks noGrp="1"/>
          </p:cNvSpPr>
          <p:nvPr/>
        </p:nvSpPr>
        <p:spPr>
          <a:xfrm>
            <a:off x="6611112" y="2011680"/>
            <a:ext cx="461772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1900" b="1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En </a:t>
            </a:r>
            <a:r>
              <a:rPr sz="1900" b="1" i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esta</a:t>
            </a:r>
            <a:r>
              <a:rPr sz="1900" b="1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API las </a:t>
            </a:r>
            <a:r>
              <a:rPr sz="1900" b="1" i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credenciales</a:t>
            </a:r>
            <a:r>
              <a:rPr sz="1900" b="1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se </a:t>
            </a:r>
            <a:r>
              <a:rPr sz="1900" b="1" i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envían</a:t>
            </a:r>
            <a:r>
              <a:rPr sz="1900" b="1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i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explícitamente</a:t>
            </a:r>
            <a:r>
              <a:rPr sz="1900" b="1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i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en</a:t>
            </a:r>
            <a:r>
              <a:rPr sz="1900" b="1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Authorization y no </a:t>
            </a:r>
            <a:r>
              <a:rPr sz="1900" b="1" i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mediante</a:t>
            </a:r>
            <a:r>
              <a:rPr sz="1900" b="1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cookies de </a:t>
            </a:r>
            <a:r>
              <a:rPr sz="1900" b="1" i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sesión</a:t>
            </a:r>
            <a:r>
              <a:rPr sz="1900" b="1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1F7518E-7A8B-4771-8D62-CBD5E517536C}"/>
              </a:ext>
            </a:extLst>
          </p:cNvPr>
          <p:cNvSpPr>
            <a:spLocks noGrp="1"/>
          </p:cNvSpPr>
          <p:nvPr/>
        </p:nvSpPr>
        <p:spPr>
          <a:xfrm>
            <a:off x="6903720" y="3127248"/>
            <a:ext cx="4069080" cy="685800"/>
          </a:xfrm>
          <a:prstGeom prst="roundRect">
            <a:avLst/>
          </a:prstGeom>
          <a:solidFill>
            <a:srgbClr val="F8F9FB"/>
          </a:solidFill>
          <a:ln w="1524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1AA4E2-7A26-4357-BB69-8A2676D2052A}"/>
              </a:ext>
            </a:extLst>
          </p:cNvPr>
          <p:cNvSpPr>
            <a:spLocks noGrp="1"/>
          </p:cNvSpPr>
          <p:nvPr/>
        </p:nvSpPr>
        <p:spPr>
          <a:xfrm>
            <a:off x="7068312" y="3264408"/>
            <a:ext cx="3739896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1500" b="0" i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.csrf(AbstractHttpConfigurer::disable)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1AE924-F8F1-4EDF-937F-015369CFE65F}"/>
              </a:ext>
            </a:extLst>
          </p:cNvPr>
          <p:cNvSpPr>
            <a:spLocks noGrp="1"/>
          </p:cNvSpPr>
          <p:nvPr/>
        </p:nvSpPr>
        <p:spPr>
          <a:xfrm>
            <a:off x="6629400" y="4224528"/>
            <a:ext cx="4572000" cy="658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1800" b="1" i="0">
                <a:solidFill>
                  <a:srgbClr val="BC3333"/>
                </a:solidFill>
                <a:latin typeface="Arial"/>
                <a:ea typeface="Arial"/>
                <a:cs typeface="Arial"/>
              </a:rPr>
              <a:t>No es una regla universal: depende de cómo se transporten las credenciales.</a:t>
            </a:r>
          </a:p>
        </p:txBody>
      </p:sp>
    </p:spTree>
    <p:extLst>
      <p:ext uri="{BB962C8B-B14F-4D97-AF65-F5344CB8AC3E}">
        <p14:creationId xmlns:p14="http://schemas.microsoft.com/office/powerpoint/2010/main" val="1532286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EC568C-2741-4099-922E-6076AB9C6E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786384"/>
          </a:xfrm>
          <a:prstGeom prst="rect">
            <a:avLst/>
          </a:prstGeom>
          <a:solidFill>
            <a:srgbClr val="523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389E34-7ACF-4533-94D9-B8EDE16C4274}"/>
              </a:ext>
            </a:extLst>
          </p:cNvPr>
          <p:cNvSpPr>
            <a:spLocks noGrp="1"/>
          </p:cNvSpPr>
          <p:nvPr/>
        </p:nvSpPr>
        <p:spPr>
          <a:xfrm>
            <a:off x="347472" y="146304"/>
            <a:ext cx="114300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2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¿Por qué GlobalExceptionHandler no ve el 401?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080D15-2D3A-404B-A114-DCD31269ABE5}"/>
              </a:ext>
            </a:extLst>
          </p:cNvPr>
          <p:cNvSpPr>
            <a:spLocks noGrp="1"/>
          </p:cNvSpPr>
          <p:nvPr/>
        </p:nvSpPr>
        <p:spPr>
          <a:xfrm>
            <a:off x="548640" y="6446520"/>
            <a:ext cx="1106424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787878"/>
                </a:solidFill>
                <a:latin typeface="Arial"/>
                <a:ea typeface="Arial"/>
                <a:cs typeface="Arial"/>
              </a:rPr>
              <a:t>Programación de Servicios y Procesos — Tema 2: Principios de programación segura</a:t>
            </a:r>
          </a:p>
        </p:txBody>
      </p:sp>
      <p:pic>
        <p:nvPicPr>
          <p:cNvPr id="9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420" y="932688"/>
            <a:ext cx="9797159" cy="551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27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03D973-1BCF-453E-9BAF-F41065A17D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786384"/>
          </a:xfrm>
          <a:prstGeom prst="rect">
            <a:avLst/>
          </a:prstGeom>
          <a:solidFill>
            <a:srgbClr val="523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EAF05E-93B2-4581-BBC9-4C25A27C438D}"/>
              </a:ext>
            </a:extLst>
          </p:cNvPr>
          <p:cNvSpPr>
            <a:spLocks noGrp="1"/>
          </p:cNvSpPr>
          <p:nvPr/>
        </p:nvSpPr>
        <p:spPr>
          <a:xfrm>
            <a:off x="347472" y="146304"/>
            <a:ext cx="114300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2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AuthenticationEntryPoint: el 401 antes de Spring MVC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76B67A-1A17-48E9-BB44-557E1D859C53}"/>
              </a:ext>
            </a:extLst>
          </p:cNvPr>
          <p:cNvSpPr>
            <a:spLocks noGrp="1"/>
          </p:cNvSpPr>
          <p:nvPr/>
        </p:nvSpPr>
        <p:spPr>
          <a:xfrm>
            <a:off x="548640" y="6446520"/>
            <a:ext cx="1106424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787878"/>
                </a:solidFill>
                <a:latin typeface="Arial"/>
                <a:ea typeface="Arial"/>
                <a:cs typeface="Arial"/>
              </a:rPr>
              <a:t>Programación de Servicios y Procesos — Tema 2: Principios de programación segura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6F452B-7C83-4183-A09F-1F265D7D9028}"/>
              </a:ext>
            </a:extLst>
          </p:cNvPr>
          <p:cNvSpPr>
            <a:spLocks noGrp="1"/>
          </p:cNvSpPr>
          <p:nvPr/>
        </p:nvSpPr>
        <p:spPr>
          <a:xfrm>
            <a:off x="594360" y="1051560"/>
            <a:ext cx="6995160" cy="4983480"/>
          </a:xfrm>
          <a:prstGeom prst="roundRect">
            <a:avLst/>
          </a:prstGeom>
          <a:solidFill>
            <a:srgbClr val="F8F9FB"/>
          </a:solidFill>
          <a:ln w="1524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607C79-349E-4205-AF8A-6825ACF34BBD}"/>
              </a:ext>
            </a:extLst>
          </p:cNvPr>
          <p:cNvSpPr>
            <a:spLocks noGrp="1"/>
          </p:cNvSpPr>
          <p:nvPr/>
        </p:nvSpPr>
        <p:spPr>
          <a:xfrm>
            <a:off x="835153" y="1531620"/>
            <a:ext cx="6665976" cy="47091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@Component</a:t>
            </a:r>
            <a:b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@RequiredArgsConstructor</a:t>
            </a:r>
            <a:b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public class </a:t>
            </a:r>
            <a:r>
              <a:rPr sz="13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ErrorResponseAuthenticationEntryPoint</a:t>
            </a:r>
            <a:b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    implements </a:t>
            </a:r>
            <a:r>
              <a:rPr sz="13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AuthenticationEntryPoint</a:t>
            </a:r>
            <a: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{</a:t>
            </a:r>
            <a:b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b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private final </a:t>
            </a:r>
            <a:r>
              <a:rPr sz="13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JsonMapper</a:t>
            </a:r>
            <a: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3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jsonMapper</a:t>
            </a:r>
            <a: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;</a:t>
            </a:r>
            <a:b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b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@Override</a:t>
            </a:r>
            <a:b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public void commence(</a:t>
            </a:r>
            <a:r>
              <a:rPr sz="13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HttpServletRequest</a:t>
            </a:r>
            <a: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request,</a:t>
            </a:r>
            <a:b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                     </a:t>
            </a:r>
            <a:r>
              <a:rPr sz="13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HttpServletResponse</a:t>
            </a:r>
            <a: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response,</a:t>
            </a:r>
            <a:b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                     </a:t>
            </a:r>
            <a:r>
              <a:rPr sz="13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AuthenticationException</a:t>
            </a:r>
            <a: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ex) throws </a:t>
            </a:r>
            <a:r>
              <a:rPr sz="13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IOException</a:t>
            </a:r>
            <a: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{</a:t>
            </a:r>
            <a:b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sz="13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ErrorResponse</a:t>
            </a:r>
            <a: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error = new </a:t>
            </a:r>
            <a:r>
              <a:rPr sz="13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ErrorResponse</a:t>
            </a:r>
            <a: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(...);</a:t>
            </a:r>
            <a:b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sz="13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response.setStatus</a:t>
            </a:r>
            <a: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(401);</a:t>
            </a:r>
            <a:b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sz="13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response.setContentType</a:t>
            </a:r>
            <a: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("application/</a:t>
            </a:r>
            <a:r>
              <a:rPr sz="13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json</a:t>
            </a:r>
            <a: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");</a:t>
            </a:r>
            <a:b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sz="13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response.getWriter</a:t>
            </a:r>
            <a: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().write(</a:t>
            </a:r>
            <a:b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            </a:t>
            </a:r>
            <a:r>
              <a:rPr sz="13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jsonMapper.writeValueAsString</a:t>
            </a:r>
            <a: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(error));</a:t>
            </a:r>
            <a:b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}</a:t>
            </a:r>
            <a:b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3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CB2762-8959-4315-9105-6365CA050F24}"/>
              </a:ext>
            </a:extLst>
          </p:cNvPr>
          <p:cNvSpPr>
            <a:spLocks noGrp="1"/>
          </p:cNvSpPr>
          <p:nvPr/>
        </p:nvSpPr>
        <p:spPr>
          <a:xfrm>
            <a:off x="7882127" y="1234440"/>
            <a:ext cx="34747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2300" b="1" i="0" dirty="0">
                <a:solidFill>
                  <a:srgbClr val="523832"/>
                </a:solidFill>
                <a:latin typeface="Arial"/>
                <a:ea typeface="Arial"/>
                <a:cs typeface="Arial"/>
              </a:rPr>
              <a:t>No </a:t>
            </a:r>
            <a:r>
              <a:rPr sz="2300" b="1" i="0" dirty="0" err="1">
                <a:solidFill>
                  <a:srgbClr val="523832"/>
                </a:solidFill>
                <a:latin typeface="Arial"/>
                <a:ea typeface="Arial"/>
                <a:cs typeface="Arial"/>
              </a:rPr>
              <a:t>memorices</a:t>
            </a:r>
            <a:r>
              <a:rPr sz="2300" b="1" i="0" dirty="0">
                <a:solidFill>
                  <a:srgbClr val="523832"/>
                </a:solidFill>
                <a:latin typeface="Arial"/>
                <a:ea typeface="Arial"/>
                <a:cs typeface="Arial"/>
              </a:rPr>
              <a:t> la </a:t>
            </a:r>
            <a:r>
              <a:rPr sz="2300" b="1" i="0" dirty="0" err="1">
                <a:solidFill>
                  <a:srgbClr val="523832"/>
                </a:solidFill>
                <a:latin typeface="Arial"/>
                <a:ea typeface="Arial"/>
                <a:cs typeface="Arial"/>
              </a:rPr>
              <a:t>mecánica</a:t>
            </a:r>
            <a:endParaRPr sz="2300" b="1" i="0" dirty="0">
              <a:solidFill>
                <a:srgbClr val="52383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1F5477-937E-417B-B87B-F31F939D5825}"/>
              </a:ext>
            </a:extLst>
          </p:cNvPr>
          <p:cNvSpPr>
            <a:spLocks noGrp="1"/>
          </p:cNvSpPr>
          <p:nvPr/>
        </p:nvSpPr>
        <p:spPr>
          <a:xfrm>
            <a:off x="7845552" y="2130552"/>
            <a:ext cx="3611880" cy="2971800"/>
          </a:xfrm>
          <a:prstGeom prst="rect">
            <a:avLst/>
          </a:prstGeom>
          <a:noFill/>
        </p:spPr>
        <p:txBody>
          <a:bodyPr wrap="square" lIns="36576" tIns="18288" rIns="18288" bIns="18288">
            <a:spAutoFit/>
          </a:bodyPr>
          <a:lstStyle/>
          <a:p>
            <a:pPr>
              <a:spcAft>
                <a:spcPts val="800"/>
              </a:spcAft>
              <a:buNone/>
              <a:defRPr sz="175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dirty="0"/>
              <a:t>• </a:t>
            </a:r>
            <a:r>
              <a:rPr dirty="0" err="1"/>
              <a:t>Existe</a:t>
            </a:r>
            <a:r>
              <a:rPr dirty="0"/>
              <a:t> </a:t>
            </a:r>
            <a:r>
              <a:rPr dirty="0" err="1"/>
              <a:t>porque</a:t>
            </a:r>
            <a:r>
              <a:rPr dirty="0"/>
              <a:t> el error </a:t>
            </a:r>
            <a:r>
              <a:rPr dirty="0" err="1"/>
              <a:t>ocurre</a:t>
            </a:r>
            <a:r>
              <a:rPr dirty="0"/>
              <a:t> antes del </a:t>
            </a:r>
            <a:r>
              <a:rPr dirty="0" err="1"/>
              <a:t>DispatcherServlet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buNone/>
              <a:defRPr sz="175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dirty="0"/>
              <a:t>• No </a:t>
            </a:r>
            <a:r>
              <a:rPr dirty="0" err="1"/>
              <a:t>devuelve</a:t>
            </a:r>
            <a:r>
              <a:rPr dirty="0"/>
              <a:t> </a:t>
            </a:r>
            <a:r>
              <a:rPr dirty="0" err="1"/>
              <a:t>ResponseEntity</a:t>
            </a:r>
            <a:r>
              <a:rPr dirty="0"/>
              <a:t>: escribe </a:t>
            </a:r>
            <a:r>
              <a:rPr dirty="0" err="1"/>
              <a:t>directamente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HttpServletResponse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buNone/>
              <a:defRPr sz="175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dirty="0"/>
              <a:t>• </a:t>
            </a:r>
            <a:r>
              <a:rPr dirty="0" err="1"/>
              <a:t>Reutiliza</a:t>
            </a:r>
            <a:r>
              <a:rPr dirty="0"/>
              <a:t> el </a:t>
            </a:r>
            <a:r>
              <a:rPr dirty="0" err="1"/>
              <a:t>mismo</a:t>
            </a:r>
            <a:r>
              <a:rPr dirty="0"/>
              <a:t> </a:t>
            </a:r>
            <a:r>
              <a:rPr dirty="0" err="1"/>
              <a:t>ErrorResponse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 API.</a:t>
            </a:r>
          </a:p>
          <a:p>
            <a:pPr>
              <a:spcAft>
                <a:spcPts val="800"/>
              </a:spcAft>
              <a:buNone/>
              <a:defRPr sz="175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dirty="0"/>
              <a:t>• </a:t>
            </a:r>
            <a:r>
              <a:rPr dirty="0" err="1"/>
              <a:t>JsonMapper</a:t>
            </a:r>
            <a:r>
              <a:rPr dirty="0"/>
              <a:t> </a:t>
            </a:r>
            <a:r>
              <a:rPr dirty="0" err="1"/>
              <a:t>convierte</a:t>
            </a:r>
            <a:r>
              <a:rPr dirty="0"/>
              <a:t> ese </a:t>
            </a:r>
            <a:r>
              <a:rPr dirty="0" err="1"/>
              <a:t>objeto</a:t>
            </a:r>
            <a:r>
              <a:rPr dirty="0"/>
              <a:t> a JSON.</a:t>
            </a:r>
          </a:p>
        </p:txBody>
      </p:sp>
    </p:spTree>
    <p:extLst>
      <p:ext uri="{BB962C8B-B14F-4D97-AF65-F5344CB8AC3E}">
        <p14:creationId xmlns:p14="http://schemas.microsoft.com/office/powerpoint/2010/main" val="1137803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6FAD77-CEDD-461B-9CF5-7E11EB3E49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786384"/>
          </a:xfrm>
          <a:prstGeom prst="rect">
            <a:avLst/>
          </a:prstGeom>
          <a:solidFill>
            <a:srgbClr val="523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B55DEC-CAE3-494C-BE1D-A90AA79A0E1B}"/>
              </a:ext>
            </a:extLst>
          </p:cNvPr>
          <p:cNvSpPr>
            <a:spLocks noGrp="1"/>
          </p:cNvSpPr>
          <p:nvPr/>
        </p:nvSpPr>
        <p:spPr>
          <a:xfrm>
            <a:off x="347472" y="146304"/>
            <a:ext cx="114300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2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Registrar el handler sin ligarlo a HTTP Basic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155962-2E8A-41C8-813D-733B3AA85F82}"/>
              </a:ext>
            </a:extLst>
          </p:cNvPr>
          <p:cNvSpPr>
            <a:spLocks noGrp="1"/>
          </p:cNvSpPr>
          <p:nvPr/>
        </p:nvSpPr>
        <p:spPr>
          <a:xfrm>
            <a:off x="548640" y="6446520"/>
            <a:ext cx="1106424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787878"/>
                </a:solidFill>
                <a:latin typeface="Arial"/>
                <a:ea typeface="Arial"/>
                <a:cs typeface="Arial"/>
              </a:rPr>
              <a:t>Programación de Servicios y Procesos — Tema 2: Principios de programación segura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17A08C3-B1EA-49BD-8DE6-2B4E8A977267}"/>
              </a:ext>
            </a:extLst>
          </p:cNvPr>
          <p:cNvSpPr>
            <a:spLocks noGrp="1"/>
          </p:cNvSpPr>
          <p:nvPr/>
        </p:nvSpPr>
        <p:spPr>
          <a:xfrm>
            <a:off x="822960" y="1325880"/>
            <a:ext cx="5577840" cy="2302844"/>
          </a:xfrm>
          <a:prstGeom prst="roundRect">
            <a:avLst/>
          </a:prstGeom>
          <a:solidFill>
            <a:srgbClr val="F8F9FB"/>
          </a:solidFill>
          <a:ln w="1524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6E2FBB-9253-45EA-A27A-EC9A267D9366}"/>
              </a:ext>
            </a:extLst>
          </p:cNvPr>
          <p:cNvSpPr>
            <a:spLocks noGrp="1"/>
          </p:cNvSpPr>
          <p:nvPr/>
        </p:nvSpPr>
        <p:spPr>
          <a:xfrm>
            <a:off x="987552" y="1463039"/>
            <a:ext cx="5248655" cy="1737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16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6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exceptionHandling</a:t>
            </a:r>
            <a:r>
              <a:rPr sz="16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(exceptions -&gt; exceptions</a:t>
            </a:r>
            <a:br>
              <a:rPr sz="16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6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        .</a:t>
            </a:r>
            <a:r>
              <a:rPr sz="16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authenticationEntryPoint</a:t>
            </a:r>
            <a:r>
              <a:rPr sz="16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6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customAuthenticationEntryPoint</a:t>
            </a:r>
            <a:r>
              <a:rPr sz="16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)</a:t>
            </a:r>
            <a:br>
              <a:rPr sz="16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6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)</a:t>
            </a:r>
            <a:br>
              <a:rPr sz="16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6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6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csrf</a:t>
            </a:r>
            <a:r>
              <a:rPr sz="16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6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AbstractHttpConfigurer</a:t>
            </a:r>
            <a:r>
              <a:rPr sz="16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::disable)</a:t>
            </a:r>
            <a:br>
              <a:rPr sz="16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</a:br>
            <a:r>
              <a:rPr sz="16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6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httpBasic</a:t>
            </a:r>
            <a:r>
              <a:rPr sz="16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600" b="0" i="0" dirty="0" err="1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Customizer.withDefaults</a:t>
            </a:r>
            <a:r>
              <a:rPr sz="1600" b="0" i="0" dirty="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())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36B912-EE7B-4C73-BA92-EDF48352F982}"/>
              </a:ext>
            </a:extLst>
          </p:cNvPr>
          <p:cNvSpPr>
            <a:spLocks noGrp="1"/>
          </p:cNvSpPr>
          <p:nvPr/>
        </p:nvSpPr>
        <p:spPr>
          <a:xfrm>
            <a:off x="868680" y="3703320"/>
            <a:ext cx="54864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2200" b="1" i="0" dirty="0">
                <a:solidFill>
                  <a:srgbClr val="523832"/>
                </a:solidFill>
                <a:latin typeface="Arial"/>
                <a:ea typeface="Arial"/>
                <a:cs typeface="Arial"/>
              </a:rPr>
              <a:t>¿Por </a:t>
            </a:r>
            <a:r>
              <a:rPr sz="2200" b="1" i="0" dirty="0" err="1">
                <a:solidFill>
                  <a:srgbClr val="523832"/>
                </a:solidFill>
                <a:latin typeface="Arial"/>
                <a:ea typeface="Arial"/>
                <a:cs typeface="Arial"/>
              </a:rPr>
              <a:t>qué</a:t>
            </a:r>
            <a:r>
              <a:rPr sz="2200" b="1" i="0" dirty="0">
                <a:solidFill>
                  <a:srgbClr val="523832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 i="0" dirty="0" err="1">
                <a:solidFill>
                  <a:srgbClr val="523832"/>
                </a:solidFill>
                <a:latin typeface="Arial"/>
                <a:ea typeface="Arial"/>
                <a:cs typeface="Arial"/>
              </a:rPr>
              <a:t>exceptionHandling</a:t>
            </a:r>
            <a:r>
              <a:rPr sz="2200" b="1" i="0" dirty="0">
                <a:solidFill>
                  <a:srgbClr val="523832"/>
                </a:solidFill>
                <a:latin typeface="Arial"/>
                <a:ea typeface="Arial"/>
                <a:cs typeface="Arial"/>
              </a:rPr>
              <a:t>(...) </a:t>
            </a:r>
            <a:r>
              <a:rPr sz="2200" b="1" i="0" dirty="0" err="1">
                <a:solidFill>
                  <a:srgbClr val="523832"/>
                </a:solidFill>
                <a:latin typeface="Arial"/>
                <a:ea typeface="Arial"/>
                <a:cs typeface="Arial"/>
              </a:rPr>
              <a:t>separado</a:t>
            </a:r>
            <a:r>
              <a:rPr sz="2200" b="1" i="0" dirty="0">
                <a:solidFill>
                  <a:srgbClr val="523832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307E07-6975-4CEE-8E04-B5DDFCF33061}"/>
              </a:ext>
            </a:extLst>
          </p:cNvPr>
          <p:cNvSpPr>
            <a:spLocks noGrp="1"/>
          </p:cNvSpPr>
          <p:nvPr/>
        </p:nvSpPr>
        <p:spPr>
          <a:xfrm>
            <a:off x="914399" y="4534702"/>
            <a:ext cx="5394960" cy="10058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1900" b="0" i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Porque</a:t>
            </a:r>
            <a:r>
              <a:rPr sz="1900" b="0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el </a:t>
            </a:r>
            <a:r>
              <a:rPr sz="1900" b="0" i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formato</a:t>
            </a:r>
            <a:r>
              <a:rPr sz="1900" b="0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del 401 no </a:t>
            </a:r>
            <a:r>
              <a:rPr sz="1900" b="0" i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tiene</a:t>
            </a:r>
            <a:r>
              <a:rPr sz="1900" b="0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i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por</a:t>
            </a:r>
            <a:r>
              <a:rPr sz="1900" b="0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i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qué</a:t>
            </a:r>
            <a:r>
              <a:rPr sz="1900" b="0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i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depender</a:t>
            </a:r>
            <a:r>
              <a:rPr sz="1900" b="0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del </a:t>
            </a:r>
            <a:r>
              <a:rPr sz="1900" b="0" i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mecanismo</a:t>
            </a:r>
            <a:r>
              <a:rPr sz="1900" b="0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de </a:t>
            </a:r>
            <a:r>
              <a:rPr sz="1900" b="0" i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autenticación</a:t>
            </a:r>
            <a:r>
              <a:rPr sz="1900" b="0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. Cuando HTTP Basic </a:t>
            </a:r>
            <a:r>
              <a:rPr sz="1900" b="0" i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desaparezca</a:t>
            </a:r>
            <a:r>
              <a:rPr sz="1900" b="0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y </a:t>
            </a:r>
            <a:r>
              <a:rPr sz="1900" b="0" i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llegue</a:t>
            </a:r>
            <a:r>
              <a:rPr sz="1900" b="0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JWT, </a:t>
            </a:r>
            <a:r>
              <a:rPr sz="1900" b="0" i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esta</a:t>
            </a:r>
            <a:r>
              <a:rPr sz="1900" b="0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i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pieza</a:t>
            </a:r>
            <a:r>
              <a:rPr sz="1900" b="0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i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seguirá</a:t>
            </a:r>
            <a:r>
              <a:rPr sz="1900" b="0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i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teniendo</a:t>
            </a:r>
            <a:r>
              <a:rPr sz="1900" b="0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0" i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sentido</a:t>
            </a:r>
            <a:r>
              <a:rPr sz="1900" b="0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7DBC7E1-A675-4E06-97DB-3F007A64DF90}"/>
              </a:ext>
            </a:extLst>
          </p:cNvPr>
          <p:cNvSpPr>
            <a:spLocks noGrp="1"/>
          </p:cNvSpPr>
          <p:nvPr/>
        </p:nvSpPr>
        <p:spPr>
          <a:xfrm>
            <a:off x="6858000" y="1325880"/>
            <a:ext cx="4389120" cy="4297680"/>
          </a:xfrm>
          <a:prstGeom prst="roundRect">
            <a:avLst/>
          </a:prstGeom>
          <a:solidFill>
            <a:srgbClr val="FDECEC"/>
          </a:solidFill>
          <a:ln w="15240">
            <a:solidFill>
              <a:srgbClr val="B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9F04E8-BCD3-44A3-A56C-1504B50A739B}"/>
              </a:ext>
            </a:extLst>
          </p:cNvPr>
          <p:cNvSpPr>
            <a:spLocks noGrp="1"/>
          </p:cNvSpPr>
          <p:nvPr/>
        </p:nvSpPr>
        <p:spPr>
          <a:xfrm>
            <a:off x="7178040" y="1645920"/>
            <a:ext cx="3749039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2700" b="1" i="0">
                <a:solidFill>
                  <a:srgbClr val="BC3333"/>
                </a:solidFill>
                <a:latin typeface="Arial"/>
                <a:ea typeface="Arial"/>
                <a:cs typeface="Arial"/>
              </a:rPr>
              <a:t>403 Forbidden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373884-2431-4A93-9D01-FE6DFB9F48FE}"/>
              </a:ext>
            </a:extLst>
          </p:cNvPr>
          <p:cNvSpPr>
            <a:spLocks noGrp="1"/>
          </p:cNvSpPr>
          <p:nvPr/>
        </p:nvSpPr>
        <p:spPr>
          <a:xfrm>
            <a:off x="7178040" y="2359152"/>
            <a:ext cx="3749039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220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Usuario autenticado</a:t>
            </a:r>
            <a:br>
              <a:rPr sz="220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</a:br>
            <a:r>
              <a:rPr sz="2200" b="1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pero sin permisos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3E04D8-C938-4C2C-A4D0-92611FBBBB1E}"/>
              </a:ext>
            </a:extLst>
          </p:cNvPr>
          <p:cNvSpPr>
            <a:spLocks noGrp="1"/>
          </p:cNvSpPr>
          <p:nvPr/>
        </p:nvSpPr>
        <p:spPr>
          <a:xfrm>
            <a:off x="7178040" y="3429000"/>
            <a:ext cx="3749039" cy="7772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2200" b="1" i="0">
                <a:solidFill>
                  <a:srgbClr val="674DB8"/>
                </a:solidFill>
                <a:latin typeface="Arial"/>
                <a:ea typeface="Arial"/>
                <a:cs typeface="Arial"/>
              </a:rPr>
              <a:t>La pieza equivalente es</a:t>
            </a:r>
            <a:br>
              <a:rPr sz="2200" b="1" i="0">
                <a:solidFill>
                  <a:srgbClr val="674DB8"/>
                </a:solidFill>
                <a:latin typeface="Arial"/>
                <a:ea typeface="Arial"/>
                <a:cs typeface="Arial"/>
              </a:rPr>
            </a:br>
            <a:r>
              <a:rPr sz="2200" b="1" i="0">
                <a:solidFill>
                  <a:srgbClr val="674DB8"/>
                </a:solidFill>
                <a:latin typeface="Arial"/>
                <a:ea typeface="Arial"/>
                <a:cs typeface="Arial"/>
              </a:rPr>
              <a:t>AccessDeniedHandler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30929A-3875-40FC-9B6E-CE577DFEA1B8}"/>
              </a:ext>
            </a:extLst>
          </p:cNvPr>
          <p:cNvSpPr>
            <a:spLocks noGrp="1"/>
          </p:cNvSpPr>
          <p:nvPr/>
        </p:nvSpPr>
        <p:spPr>
          <a:xfrm>
            <a:off x="7223760" y="4736592"/>
            <a:ext cx="365760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1700" b="0" i="0">
                <a:solidFill>
                  <a:srgbClr val="686868"/>
                </a:solidFill>
                <a:latin typeface="Arial"/>
                <a:ea typeface="Arial"/>
                <a:cs typeface="Arial"/>
              </a:rPr>
              <a:t>La implementaremos más adelante.</a:t>
            </a:r>
          </a:p>
        </p:txBody>
      </p:sp>
    </p:spTree>
    <p:extLst>
      <p:ext uri="{BB962C8B-B14F-4D97-AF65-F5344CB8AC3E}">
        <p14:creationId xmlns:p14="http://schemas.microsoft.com/office/powerpoint/2010/main" val="2103819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8A5849-0D84-4B0B-87B2-7C4E58D6AA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786384"/>
          </a:xfrm>
          <a:prstGeom prst="rect">
            <a:avLst/>
          </a:prstGeom>
          <a:solidFill>
            <a:srgbClr val="523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92C2D8-54F2-4F1D-9D4E-72391545ABB2}"/>
              </a:ext>
            </a:extLst>
          </p:cNvPr>
          <p:cNvSpPr>
            <a:spLocks noGrp="1"/>
          </p:cNvSpPr>
          <p:nvPr/>
        </p:nvSpPr>
        <p:spPr>
          <a:xfrm>
            <a:off x="347472" y="146304"/>
            <a:ext cx="114300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2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 estado intermedio con dos problemas deliberados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2E26EE-D0A4-4127-88E7-1B415FAA49F7}"/>
              </a:ext>
            </a:extLst>
          </p:cNvPr>
          <p:cNvSpPr>
            <a:spLocks noGrp="1"/>
          </p:cNvSpPr>
          <p:nvPr/>
        </p:nvSpPr>
        <p:spPr>
          <a:xfrm>
            <a:off x="548640" y="6446520"/>
            <a:ext cx="1106424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787878"/>
                </a:solidFill>
                <a:latin typeface="Arial"/>
                <a:ea typeface="Arial"/>
                <a:cs typeface="Arial"/>
              </a:rPr>
              <a:t>Programación de Servicios y Procesos — Tema 2: Principios de programación segura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909F2CC-6DC8-440A-9AC0-69C9BC872661}"/>
              </a:ext>
            </a:extLst>
          </p:cNvPr>
          <p:cNvSpPr>
            <a:spLocks noGrp="1"/>
          </p:cNvSpPr>
          <p:nvPr/>
        </p:nvSpPr>
        <p:spPr>
          <a:xfrm>
            <a:off x="685800" y="1234440"/>
            <a:ext cx="5394960" cy="3429000"/>
          </a:xfrm>
          <a:prstGeom prst="roundRect">
            <a:avLst/>
          </a:prstGeom>
          <a:solidFill>
            <a:srgbClr val="FDECEC"/>
          </a:solidFill>
          <a:ln w="15240">
            <a:solidFill>
              <a:srgbClr val="B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9A145D-FE0B-47B1-894E-57E304C8D7DD}"/>
              </a:ext>
            </a:extLst>
          </p:cNvPr>
          <p:cNvSpPr>
            <a:spLocks noGrp="1"/>
          </p:cNvSpPr>
          <p:nvPr/>
        </p:nvSpPr>
        <p:spPr>
          <a:xfrm>
            <a:off x="960120" y="1554480"/>
            <a:ext cx="48463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2300" b="1" i="0">
                <a:solidFill>
                  <a:srgbClr val="BC3333"/>
                </a:solidFill>
                <a:latin typeface="Arial"/>
                <a:ea typeface="Arial"/>
                <a:cs typeface="Arial"/>
              </a:rPr>
              <a:t>1. Usuarios en el código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7AF233-679F-4FB8-BF11-3E7B3F00727D}"/>
              </a:ext>
            </a:extLst>
          </p:cNvPr>
          <p:cNvSpPr>
            <a:spLocks noGrp="1"/>
          </p:cNvSpPr>
          <p:nvPr/>
        </p:nvSpPr>
        <p:spPr>
          <a:xfrm>
            <a:off x="1005840" y="2331720"/>
            <a:ext cx="4754880" cy="1737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20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user y admin se reconstruyen en cada arranque.</a:t>
            </a:r>
            <a:br>
              <a:rPr sz="20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</a:br>
            <a:br>
              <a:rPr sz="20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</a:br>
            <a:r>
              <a:rPr sz="20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Las contraseñas con {noop} están en texto claro.</a:t>
            </a:r>
            <a:br>
              <a:rPr sz="20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</a:br>
            <a:br>
              <a:rPr sz="20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</a:br>
            <a:r>
              <a:rPr sz="20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No hay persistencia real.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118A3D0-8BE8-45BC-BEF2-44144AC0F03C}"/>
              </a:ext>
            </a:extLst>
          </p:cNvPr>
          <p:cNvSpPr>
            <a:spLocks noGrp="1"/>
          </p:cNvSpPr>
          <p:nvPr/>
        </p:nvSpPr>
        <p:spPr>
          <a:xfrm>
            <a:off x="6355080" y="1234440"/>
            <a:ext cx="5120640" cy="3429000"/>
          </a:xfrm>
          <a:prstGeom prst="roundRect">
            <a:avLst/>
          </a:prstGeom>
          <a:solidFill>
            <a:srgbClr val="FFF5DF"/>
          </a:solidFill>
          <a:ln w="15240">
            <a:solidFill>
              <a:srgbClr val="D98D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73B87D-6414-4574-A103-E80B042F6AED}"/>
              </a:ext>
            </a:extLst>
          </p:cNvPr>
          <p:cNvSpPr>
            <a:spLocks noGrp="1"/>
          </p:cNvSpPr>
          <p:nvPr/>
        </p:nvSpPr>
        <p:spPr>
          <a:xfrm>
            <a:off x="6629400" y="1554480"/>
            <a:ext cx="457200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2300" b="1" i="0">
                <a:solidFill>
                  <a:srgbClr val="D98D08"/>
                </a:solidFill>
                <a:latin typeface="Arial"/>
                <a:ea typeface="Arial"/>
                <a:cs typeface="Arial"/>
              </a:rPr>
              <a:t>2. Credenciales en cada petición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8B1359-DCD7-4204-B0B8-418AE70B9EE1}"/>
              </a:ext>
            </a:extLst>
          </p:cNvPr>
          <p:cNvSpPr>
            <a:spLocks noGrp="1"/>
          </p:cNvSpPr>
          <p:nvPr/>
        </p:nvSpPr>
        <p:spPr>
          <a:xfrm>
            <a:off x="6720840" y="2331720"/>
            <a:ext cx="4389120" cy="1737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20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HTTP Basic vuelve a mandar usuario + contraseña continuamente.</a:t>
            </a:r>
            <a:br>
              <a:rPr sz="20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</a:br>
            <a:br>
              <a:rPr sz="20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</a:br>
            <a:r>
              <a:rPr sz="20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Base64 no las oculta.</a:t>
            </a:r>
            <a:br>
              <a:rPr sz="20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</a:br>
            <a:br>
              <a:rPr sz="20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</a:br>
            <a:r>
              <a:rPr sz="20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Necesitamos otro mecanismo.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598C73-F38F-49D7-B245-368AD83D0752}"/>
              </a:ext>
            </a:extLst>
          </p:cNvPr>
          <p:cNvSpPr>
            <a:spLocks noGrp="1"/>
          </p:cNvSpPr>
          <p:nvPr/>
        </p:nvSpPr>
        <p:spPr>
          <a:xfrm>
            <a:off x="795528" y="5233384"/>
            <a:ext cx="237744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2000" b="1" i="0" dirty="0" err="1">
                <a:solidFill>
                  <a:srgbClr val="523832"/>
                </a:solidFill>
                <a:latin typeface="Arial"/>
                <a:ea typeface="Arial"/>
                <a:cs typeface="Arial"/>
              </a:rPr>
              <a:t>Evolución</a:t>
            </a:r>
            <a:r>
              <a:rPr sz="2000" b="1" i="0" dirty="0">
                <a:solidFill>
                  <a:srgbClr val="523832"/>
                </a:solidFill>
                <a:latin typeface="Arial"/>
                <a:ea typeface="Arial"/>
                <a:cs typeface="Arial"/>
              </a:rPr>
              <a:t> del </a:t>
            </a:r>
            <a:r>
              <a:rPr sz="2000" b="1" i="0" dirty="0" err="1">
                <a:solidFill>
                  <a:srgbClr val="523832"/>
                </a:solidFill>
                <a:latin typeface="Arial"/>
                <a:ea typeface="Arial"/>
                <a:cs typeface="Arial"/>
              </a:rPr>
              <a:t>tema</a:t>
            </a:r>
            <a:endParaRPr sz="2000" b="1" i="0" dirty="0">
              <a:solidFill>
                <a:srgbClr val="52383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F285025-CD87-4F0C-9293-A5BD40BB9C4E}"/>
              </a:ext>
            </a:extLst>
          </p:cNvPr>
          <p:cNvSpPr>
            <a:spLocks noGrp="1"/>
          </p:cNvSpPr>
          <p:nvPr/>
        </p:nvSpPr>
        <p:spPr>
          <a:xfrm>
            <a:off x="3337560" y="4996326"/>
            <a:ext cx="2423160" cy="879749"/>
          </a:xfrm>
          <a:prstGeom prst="roundRect">
            <a:avLst/>
          </a:prstGeom>
          <a:solidFill>
            <a:srgbClr val="FDECEC"/>
          </a:solidFill>
          <a:ln w="15240">
            <a:solidFill>
              <a:srgbClr val="B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06B171-4B8D-4F17-95D0-AABEACA70B7E}"/>
              </a:ext>
            </a:extLst>
          </p:cNvPr>
          <p:cNvSpPr>
            <a:spLocks noGrp="1"/>
          </p:cNvSpPr>
          <p:nvPr/>
        </p:nvSpPr>
        <p:spPr>
          <a:xfrm>
            <a:off x="3538728" y="5279791"/>
            <a:ext cx="2011680" cy="31701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BC3333"/>
                </a:solidFill>
                <a:latin typeface="Arial"/>
                <a:ea typeface="Arial"/>
                <a:cs typeface="Arial"/>
              </a:rPr>
              <a:t>Memoria + Basic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6AE2F0-8B02-4625-B7CD-FA3C65164347}"/>
              </a:ext>
            </a:extLst>
          </p:cNvPr>
          <p:cNvSpPr>
            <a:spLocks noGrp="1"/>
          </p:cNvSpPr>
          <p:nvPr/>
        </p:nvSpPr>
        <p:spPr>
          <a:xfrm>
            <a:off x="5824728" y="5124343"/>
            <a:ext cx="4114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2400" b="1" i="0">
                <a:solidFill>
                  <a:srgbClr val="52383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855DBB2-B8DF-4D08-8D37-70BE300382BC}"/>
              </a:ext>
            </a:extLst>
          </p:cNvPr>
          <p:cNvSpPr>
            <a:spLocks noGrp="1"/>
          </p:cNvSpPr>
          <p:nvPr/>
        </p:nvSpPr>
        <p:spPr>
          <a:xfrm>
            <a:off x="6217920" y="4996326"/>
            <a:ext cx="2423160" cy="879749"/>
          </a:xfrm>
          <a:prstGeom prst="roundRect">
            <a:avLst/>
          </a:prstGeom>
          <a:solidFill>
            <a:srgbClr val="EAF6EB"/>
          </a:solidFill>
          <a:ln w="15240">
            <a:solidFill>
              <a:srgbClr val="2D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52611B-65EC-4498-8EF3-47E844B06CF2}"/>
              </a:ext>
            </a:extLst>
          </p:cNvPr>
          <p:cNvSpPr>
            <a:spLocks noGrp="1"/>
          </p:cNvSpPr>
          <p:nvPr/>
        </p:nvSpPr>
        <p:spPr>
          <a:xfrm>
            <a:off x="6373368" y="5164375"/>
            <a:ext cx="2103120" cy="54784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buNone/>
            </a:pPr>
            <a:r>
              <a:rPr sz="1600" b="1" i="0" dirty="0">
                <a:solidFill>
                  <a:srgbClr val="2D823C"/>
                </a:solidFill>
                <a:latin typeface="Arial"/>
                <a:ea typeface="Arial"/>
                <a:cs typeface="Arial"/>
              </a:rPr>
              <a:t>PostgreSQL + </a:t>
            </a:r>
            <a:r>
              <a:rPr sz="1600" b="1" i="0" dirty="0" err="1">
                <a:solidFill>
                  <a:srgbClr val="2D823C"/>
                </a:solidFill>
                <a:latin typeface="Arial"/>
                <a:ea typeface="Arial"/>
                <a:cs typeface="Arial"/>
              </a:rPr>
              <a:t>BCrypt</a:t>
            </a:r>
            <a:endParaRPr sz="1600" b="1" i="0" dirty="0">
              <a:solidFill>
                <a:srgbClr val="2D823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EF52C1-1BA9-464C-AD3A-ED36131B25A5}"/>
              </a:ext>
            </a:extLst>
          </p:cNvPr>
          <p:cNvSpPr>
            <a:spLocks noGrp="1"/>
          </p:cNvSpPr>
          <p:nvPr/>
        </p:nvSpPr>
        <p:spPr>
          <a:xfrm>
            <a:off x="8714232" y="5124343"/>
            <a:ext cx="4114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2400" b="1" i="0">
                <a:solidFill>
                  <a:srgbClr val="52383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B6153A3-0730-4CED-8EE5-2F706A346E16}"/>
              </a:ext>
            </a:extLst>
          </p:cNvPr>
          <p:cNvSpPr>
            <a:spLocks noGrp="1"/>
          </p:cNvSpPr>
          <p:nvPr/>
        </p:nvSpPr>
        <p:spPr>
          <a:xfrm>
            <a:off x="9144000" y="4996326"/>
            <a:ext cx="2331720" cy="879749"/>
          </a:xfrm>
          <a:prstGeom prst="roundRect">
            <a:avLst/>
          </a:prstGeom>
          <a:solidFill>
            <a:srgbClr val="E8F2FC"/>
          </a:solidFill>
          <a:ln w="15240">
            <a:solidFill>
              <a:srgbClr val="266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E04154-0755-48C5-9FFC-310A850A0F3A}"/>
              </a:ext>
            </a:extLst>
          </p:cNvPr>
          <p:cNvSpPr>
            <a:spLocks noGrp="1"/>
          </p:cNvSpPr>
          <p:nvPr/>
        </p:nvSpPr>
        <p:spPr>
          <a:xfrm>
            <a:off x="9354312" y="5272097"/>
            <a:ext cx="1920240" cy="3323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buNone/>
            </a:pPr>
            <a:r>
              <a:rPr sz="1800" b="1" i="0" dirty="0">
                <a:solidFill>
                  <a:srgbClr val="2668B6"/>
                </a:solidFill>
                <a:latin typeface="Arial"/>
                <a:ea typeface="Arial"/>
                <a:cs typeface="Arial"/>
              </a:rPr>
              <a:t>JWT</a:t>
            </a:r>
          </a:p>
        </p:txBody>
      </p:sp>
    </p:spTree>
    <p:extLst>
      <p:ext uri="{BB962C8B-B14F-4D97-AF65-F5344CB8AC3E}">
        <p14:creationId xmlns:p14="http://schemas.microsoft.com/office/powerpoint/2010/main" val="670296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77C06D-08C3-45E2-9725-657339EBE9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786384"/>
          </a:xfrm>
          <a:prstGeom prst="rect">
            <a:avLst/>
          </a:prstGeom>
          <a:solidFill>
            <a:srgbClr val="523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9B10AE-7184-4119-8A44-AE83B8B63B25}"/>
              </a:ext>
            </a:extLst>
          </p:cNvPr>
          <p:cNvSpPr>
            <a:spLocks noGrp="1"/>
          </p:cNvSpPr>
          <p:nvPr/>
        </p:nvSpPr>
        <p:spPr>
          <a:xfrm>
            <a:off x="347472" y="146304"/>
            <a:ext cx="114300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buNone/>
            </a:pPr>
            <a:r>
              <a:rPr sz="2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Ideas clave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660B4E-3341-4093-BB7D-5BD20D77F9E9}"/>
              </a:ext>
            </a:extLst>
          </p:cNvPr>
          <p:cNvSpPr>
            <a:spLocks noGrp="1"/>
          </p:cNvSpPr>
          <p:nvPr/>
        </p:nvSpPr>
        <p:spPr>
          <a:xfrm>
            <a:off x="548640" y="6446520"/>
            <a:ext cx="1106424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787878"/>
                </a:solidFill>
                <a:latin typeface="Arial"/>
                <a:ea typeface="Arial"/>
                <a:cs typeface="Arial"/>
              </a:rPr>
              <a:t>Programación de Servicios y Procesos — Tema 2: Principios de programación segura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A0BF48-8CDF-4D8F-8456-64DCA4EF265E}"/>
              </a:ext>
            </a:extLst>
          </p:cNvPr>
          <p:cNvSpPr>
            <a:spLocks noGrp="1"/>
          </p:cNvSpPr>
          <p:nvPr/>
        </p:nvSpPr>
        <p:spPr>
          <a:xfrm>
            <a:off x="777240" y="1170432"/>
            <a:ext cx="10744200" cy="4343400"/>
          </a:xfrm>
          <a:prstGeom prst="rect">
            <a:avLst/>
          </a:prstGeom>
          <a:noFill/>
        </p:spPr>
        <p:txBody>
          <a:bodyPr wrap="square" lIns="36576" tIns="18288" rIns="18288" bIns="18288">
            <a:spAutoFit/>
          </a:bodyPr>
          <a:lstStyle/>
          <a:p>
            <a:pPr>
              <a:spcAft>
                <a:spcPts val="800"/>
              </a:spcAft>
              <a:buNone/>
              <a:defRPr sz="19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t>• Spring Security se sitúa antes de Spring MVC y protege las rutas por defecto.</a:t>
            </a:r>
          </a:p>
          <a:p>
            <a:pPr>
              <a:spcAft>
                <a:spcPts val="800"/>
              </a:spcAft>
              <a:buNone/>
              <a:defRPr sz="19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t>• Autenticación responde a “¿quién eres?”; autorización a “¿puedes hacer esto?”.</a:t>
            </a:r>
          </a:p>
          <a:p>
            <a:pPr>
              <a:spcAft>
                <a:spcPts val="800"/>
              </a:spcAft>
              <a:buNone/>
              <a:defRPr sz="19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t>• HTTP Basic envía usuario:contraseña en Base64 en cada petición: solo es aceptable sobre HTTPS.</a:t>
            </a:r>
          </a:p>
          <a:p>
            <a:pPr>
              <a:spcAft>
                <a:spcPts val="800"/>
              </a:spcAft>
              <a:buNone/>
              <a:defRPr sz="19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t>• InMemoryUserDetailsManager y {noop} sirven para entender el mecanismo, no como solución final.</a:t>
            </a:r>
          </a:p>
          <a:p>
            <a:pPr>
              <a:spcAft>
                <a:spcPts val="800"/>
              </a:spcAft>
              <a:buNone/>
              <a:defRPr sz="19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t>• Las reglas de authorizeHttpRequests se evalúan de arriba abajo.</a:t>
            </a:r>
          </a:p>
          <a:p>
            <a:pPr>
              <a:spcAft>
                <a:spcPts val="800"/>
              </a:spcAft>
              <a:buNone/>
              <a:defRPr sz="19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t>• Los 401 de seguridad no pasan por GlobalExceptionHandler: los formatea AuthenticationEntryPoint.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AD5484E-4B6E-4C97-A0FD-CDDA5B5AA642}"/>
              </a:ext>
            </a:extLst>
          </p:cNvPr>
          <p:cNvSpPr>
            <a:spLocks noGrp="1"/>
          </p:cNvSpPr>
          <p:nvPr/>
        </p:nvSpPr>
        <p:spPr>
          <a:xfrm>
            <a:off x="822960" y="5532120"/>
            <a:ext cx="10561320" cy="594360"/>
          </a:xfrm>
          <a:prstGeom prst="roundRect">
            <a:avLst/>
          </a:prstGeom>
          <a:solidFill>
            <a:srgbClr val="523832"/>
          </a:solidFill>
          <a:ln w="15240">
            <a:solidFill>
              <a:srgbClr val="523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64148E-5527-4986-9B74-348CAAB7C82C}"/>
              </a:ext>
            </a:extLst>
          </p:cNvPr>
          <p:cNvSpPr>
            <a:spLocks noGrp="1"/>
          </p:cNvSpPr>
          <p:nvPr/>
        </p:nvSpPr>
        <p:spPr>
          <a:xfrm>
            <a:off x="1051560" y="5696712"/>
            <a:ext cx="10104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Actividad 2.2: trasladar este estado intermedio a GameVault y comprobarlo con curl.</a:t>
            </a:r>
          </a:p>
        </p:txBody>
      </p:sp>
    </p:spTree>
    <p:extLst>
      <p:ext uri="{BB962C8B-B14F-4D97-AF65-F5344CB8AC3E}">
        <p14:creationId xmlns:p14="http://schemas.microsoft.com/office/powerpoint/2010/main" val="2064354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1126</Words>
  <Application>Microsoft Office PowerPoint</Application>
  <DocSecurity>0</DocSecurity>
  <PresentationFormat>Panorámica</PresentationFormat>
  <Paragraphs>96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ROIG AGUILAR, ALEJANDRO</cp:lastModifiedBy>
  <cp:revision>1</cp:revision>
  <dcterms:created xsi:type="dcterms:W3CDTF">2026-10-20T21:09:50Z</dcterms:created>
  <dcterms:modified xsi:type="dcterms:W3CDTF">2026-10-20T21:15:58Z</dcterms:modified>
</cp:coreProperties>
</file>