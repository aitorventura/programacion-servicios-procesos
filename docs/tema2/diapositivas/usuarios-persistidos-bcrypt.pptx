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8274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E342E"/>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BCAAA4"/>
                </a:solidFill>
                <a:latin typeface="Arial" pitchFamily="34" charset="0"/>
                <a:ea typeface="Arial" pitchFamily="34" charset="-122"/>
                <a:cs typeface="Arial" pitchFamily="34" charset="-120"/>
              </a:rPr>
              <a:t>PROGRAMACIÓN DE SERVICIOS Y PROCESOS  —  TEMA 2: SEGURIDAD Y AUTENTICACIÓN</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3800" b="1" dirty="0">
                <a:solidFill>
                  <a:srgbClr val="FFFFFF"/>
                </a:solidFill>
                <a:latin typeface="Arial" pitchFamily="34" charset="0"/>
                <a:ea typeface="Arial" pitchFamily="34" charset="-122"/>
                <a:cs typeface="Arial" pitchFamily="34" charset="-120"/>
              </a:rPr>
              <a:t>Usuarios persistidos</a:t>
            </a:r>
            <a:endParaRPr lang="en-US" sz="3800" dirty="0"/>
          </a:p>
          <a:p>
            <a:pPr marL="0" indent="0" algn="l">
              <a:buNone/>
            </a:pPr>
            <a:r>
              <a:rPr lang="en-US" sz="3800" b="1" dirty="0">
                <a:solidFill>
                  <a:srgbClr val="FFFFFF"/>
                </a:solidFill>
                <a:latin typeface="Arial" pitchFamily="34" charset="0"/>
                <a:ea typeface="Arial" pitchFamily="34" charset="-122"/>
                <a:cs typeface="Arial" pitchFamily="34" charset="-120"/>
              </a:rPr>
              <a:t>y BCrypt</a:t>
            </a:r>
            <a:endParaRPr lang="en-US" sz="3800" dirty="0"/>
          </a:p>
        </p:txBody>
      </p:sp>
      <p:sp>
        <p:nvSpPr>
          <p:cNvPr id="4" name="Shape 2"/>
          <p:cNvSpPr/>
          <p:nvPr/>
        </p:nvSpPr>
        <p:spPr>
          <a:xfrm>
            <a:off x="0" y="5120640"/>
            <a:ext cx="12188952" cy="914400"/>
          </a:xfrm>
          <a:prstGeom prst="rect">
            <a:avLst/>
          </a:prstGeom>
          <a:solidFill>
            <a:srgbClr val="FFA000"/>
          </a:solidFill>
          <a:ln w="12700">
            <a:solidFill>
              <a:srgbClr val="FFA000"/>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1900" i="1" dirty="0">
                <a:solidFill>
                  <a:srgbClr val="FFFFFF"/>
                </a:solidFill>
                <a:latin typeface="Arial" pitchFamily="34" charset="0"/>
                <a:ea typeface="Arial" pitchFamily="34" charset="-122"/>
                <a:cs typeface="Arial" pitchFamily="34" charset="-120"/>
              </a:rPr>
              <a:t>3. Usuarios persistidos y BCrypt</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De dónde partimos</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1371600"/>
            <a:ext cx="11091672" cy="137160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Al terminar el apartado anterior, tu API ya distinguía autenticación de autorización, pero utilizaba dos piezas deliberadamente provisionales: usuarios en InMemoryUserDetailsManager con contraseñas en texto claro ({noop}), y HTTP Basic enviándolas en cada petición, codificadas en Base64, no cifradas.</a:t>
            </a:r>
            <a:endParaRPr lang="en-US" sz="1900" dirty="0"/>
          </a:p>
        </p:txBody>
      </p:sp>
      <p:sp>
        <p:nvSpPr>
          <p:cNvPr id="6" name="Shape 4"/>
          <p:cNvSpPr/>
          <p:nvPr/>
        </p:nvSpPr>
        <p:spPr>
          <a:xfrm>
            <a:off x="548640" y="3063240"/>
            <a:ext cx="11091672" cy="1371600"/>
          </a:xfrm>
          <a:prstGeom prst="roundRect">
            <a:avLst/>
          </a:prstGeom>
          <a:solidFill>
            <a:srgbClr val="FFF3E0"/>
          </a:solidFill>
          <a:ln w="19050">
            <a:solidFill>
              <a:srgbClr val="FFA000"/>
            </a:solidFill>
            <a:prstDash val="solid"/>
          </a:ln>
        </p:spPr>
        <p:txBody>
          <a:bodyPr/>
          <a:lstStyle/>
          <a:p>
            <a:endParaRPr lang="es-ES"/>
          </a:p>
        </p:txBody>
      </p:sp>
      <p:sp>
        <p:nvSpPr>
          <p:cNvPr id="7" name="Text 5"/>
          <p:cNvSpPr/>
          <p:nvPr/>
        </p:nvSpPr>
        <p:spPr>
          <a:xfrm>
            <a:off x="822960" y="3154680"/>
            <a:ext cx="10543032" cy="1188720"/>
          </a:xfrm>
          <a:prstGeom prst="rect">
            <a:avLst/>
          </a:prstGeom>
          <a:noFill/>
          <a:ln/>
        </p:spPr>
        <p:txBody>
          <a:bodyPr wrap="square" rtlCol="0" anchor="ctr"/>
          <a:lstStyle/>
          <a:p>
            <a:pPr marL="0" indent="0">
              <a:buNone/>
            </a:pPr>
            <a:r>
              <a:rPr lang="en-US" sz="1850" dirty="0">
                <a:solidFill>
                  <a:srgbClr val="212121"/>
                </a:solidFill>
                <a:latin typeface="Arial" pitchFamily="34" charset="0"/>
                <a:ea typeface="Arial" pitchFamily="34" charset="-122"/>
                <a:cs typeface="Arial" pitchFamily="34" charset="-120"/>
              </a:rPr>
              <a:t>Hoy resuelves el primero: a partir de ahora los usuarios vivirán en PostgreSQL, con sus contraseñas protegidas mediante BCrypt. El segundo problema —las credenciales viajando en cada petición— lo resolverá JWT más adelante.</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Esta pieza sí se mantendrá</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2468880"/>
            <a:ext cx="11091672" cy="1463040"/>
          </a:xfrm>
          <a:prstGeom prst="roundRect">
            <a:avLst/>
          </a:prstGeom>
          <a:solidFill>
            <a:srgbClr val="FFF3E0"/>
          </a:solidFill>
          <a:ln w="19050">
            <a:solidFill>
              <a:srgbClr val="FFA000"/>
            </a:solidFill>
            <a:prstDash val="solid"/>
          </a:ln>
        </p:spPr>
        <p:txBody>
          <a:bodyPr/>
          <a:lstStyle/>
          <a:p>
            <a:endParaRPr lang="es-ES"/>
          </a:p>
        </p:txBody>
      </p:sp>
      <p:sp>
        <p:nvSpPr>
          <p:cNvPr id="6" name="Text 4"/>
          <p:cNvSpPr/>
          <p:nvPr/>
        </p:nvSpPr>
        <p:spPr>
          <a:xfrm>
            <a:off x="822960" y="2560320"/>
            <a:ext cx="10543032" cy="128016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A diferencia de los usuarios en memoria del apartado anterior, la persistencia en PostgreSQL y la protección de las contraseñas mediante BCrypt ya forman parte de la solución que mantendrás cuando sustituyas HTTP Basic por JWT.</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Cifrar vs. hashear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1" cy="2743200"/>
        </p:xfrm>
        <a:graphic>
          <a:graphicData uri="http://schemas.openxmlformats.org/drawingml/2006/table">
            <a:tbl>
              <a:tblPr/>
              <a:tblGrid>
                <a:gridCol w="2218334">
                  <a:extLst>
                    <a:ext uri="{9D8B030D-6E8A-4147-A177-3AD203B41FA5}">
                      <a16:colId xmlns:a16="http://schemas.microsoft.com/office/drawing/2014/main" val="20000"/>
                    </a:ext>
                  </a:extLst>
                </a:gridCol>
                <a:gridCol w="3882085">
                  <a:extLst>
                    <a:ext uri="{9D8B030D-6E8A-4147-A177-3AD203B41FA5}">
                      <a16:colId xmlns:a16="http://schemas.microsoft.com/office/drawing/2014/main" val="20001"/>
                    </a:ext>
                  </a:extLst>
                </a:gridCol>
                <a:gridCol w="4991252">
                  <a:extLst>
                    <a:ext uri="{9D8B030D-6E8A-4147-A177-3AD203B41FA5}">
                      <a16:colId xmlns:a16="http://schemas.microsoft.com/office/drawing/2014/main" val="20002"/>
                    </a:ext>
                  </a:extLst>
                </a:gridCol>
              </a:tblGrid>
              <a:tr h="914400">
                <a:tc>
                  <a:txBody>
                    <a:bodyPr/>
                    <a:lstStyle/>
                    <a:p>
                      <a:pPr marL="0" indent="0" algn="ctr">
                        <a:buNone/>
                      </a:pP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Cifrar</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Hashear</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extLst>
                  <a:ext uri="{0D108BD9-81ED-4DB2-BD59-A6C34878D82A}">
                    <a16:rowId xmlns:a16="http://schemas.microsoft.com/office/drawing/2014/main" val="10000"/>
                  </a:ext>
                </a:extLst>
              </a:tr>
              <a:tr h="914400">
                <a:tc>
                  <a:txBody>
                    <a:bodyPr/>
                    <a:lstStyle/>
                    <a:p>
                      <a:pPr marL="0" indent="0">
                        <a:buNone/>
                      </a:pPr>
                      <a:r>
                        <a:rPr lang="en-US" sz="1500" b="1" dirty="0">
                          <a:solidFill>
                            <a:srgbClr val="212121"/>
                          </a:solidFill>
                          <a:latin typeface="Arial" pitchFamily="34" charset="0"/>
                          <a:ea typeface="Arial" pitchFamily="34" charset="-122"/>
                          <a:cs typeface="Arial" pitchFamily="34" charset="-120"/>
                        </a:rPr>
                        <a:t>Reversible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Sí, con la clave correcta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No, nunca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buNone/>
                      </a:pPr>
                      <a:r>
                        <a:rPr lang="en-US" sz="1500" b="1" dirty="0">
                          <a:solidFill>
                            <a:srgbClr val="212121"/>
                          </a:solidFill>
                          <a:latin typeface="Arial" pitchFamily="34" charset="0"/>
                          <a:ea typeface="Arial" pitchFamily="34" charset="-122"/>
                          <a:cs typeface="Arial" pitchFamily="34" charset="-120"/>
                        </a:rPr>
                        <a:t>Para qué sirve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Proteger datos que necesitas recuperar tal cual</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Proteger datos que solo necesitas comparar, nunca leer de vuelta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bl>
          </a:graphicData>
        </a:graphic>
      </p:graphicFrame>
      <p:sp>
        <p:nvSpPr>
          <p:cNvPr id="6" name="Shape 3"/>
          <p:cNvSpPr/>
          <p:nvPr/>
        </p:nvSpPr>
        <p:spPr>
          <a:xfrm>
            <a:off x="548640" y="4663440"/>
            <a:ext cx="11091672" cy="1188720"/>
          </a:xfrm>
          <a:prstGeom prst="roundRect">
            <a:avLst/>
          </a:prstGeom>
          <a:solidFill>
            <a:srgbClr val="FFF3E0"/>
          </a:solidFill>
          <a:ln w="19050">
            <a:solidFill>
              <a:srgbClr val="FFA000"/>
            </a:solidFill>
            <a:prstDash val="solid"/>
          </a:ln>
        </p:spPr>
        <p:txBody>
          <a:bodyPr/>
          <a:lstStyle/>
          <a:p>
            <a:endParaRPr lang="es-ES"/>
          </a:p>
        </p:txBody>
      </p:sp>
      <p:sp>
        <p:nvSpPr>
          <p:cNvPr id="7" name="Text 4"/>
          <p:cNvSpPr/>
          <p:nvPr/>
        </p:nvSpPr>
        <p:spPr>
          <a:xfrm>
            <a:off x="822960" y="4754880"/>
            <a:ext cx="10543032" cy="1005840"/>
          </a:xfrm>
          <a:prstGeom prst="rect">
            <a:avLst/>
          </a:prstGeom>
          <a:noFill/>
          <a:ln/>
        </p:spPr>
        <p:txBody>
          <a:bodyPr wrap="square" rtlCol="0" anchor="ctr"/>
          <a:lstStyle/>
          <a:p>
            <a:pPr marL="0" indent="0">
              <a:buNone/>
            </a:pPr>
            <a:r>
              <a:rPr lang="en-US" sz="1650" dirty="0">
                <a:solidFill>
                  <a:srgbClr val="212121"/>
                </a:solidFill>
                <a:latin typeface="Arial" pitchFamily="34" charset="0"/>
                <a:ea typeface="Arial" pitchFamily="34" charset="-122"/>
                <a:cs typeface="Arial" pitchFamily="34" charset="-120"/>
              </a:rPr>
              <a:t>Una contraseña no necesitas nunca "leerla de vuelta": solo comprobar si coincide con la registrada. Por eso se hashean, no se cifran — ni siquiera tú, con acceso total a la base de datos, deberías poder recuperar la contraseña original.</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El problema de un hash sin sal</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920240"/>
            <a:ext cx="11091672" cy="1645920"/>
          </a:xfrm>
          <a:prstGeom prst="roundRect">
            <a:avLst/>
          </a:prstGeom>
          <a:solidFill>
            <a:srgbClr val="FFF3E0"/>
          </a:solidFill>
          <a:ln w="19050">
            <a:solidFill>
              <a:srgbClr val="FFA000"/>
            </a:solidFill>
            <a:prstDash val="solid"/>
          </a:ln>
        </p:spPr>
        <p:txBody>
          <a:bodyPr/>
          <a:lstStyle/>
          <a:p>
            <a:endParaRPr lang="es-ES"/>
          </a:p>
        </p:txBody>
      </p:sp>
      <p:sp>
        <p:nvSpPr>
          <p:cNvPr id="6" name="Text 4"/>
          <p:cNvSpPr/>
          <p:nvPr/>
        </p:nvSpPr>
        <p:spPr>
          <a:xfrm>
            <a:off x="822960" y="2011680"/>
            <a:ext cx="10543032" cy="146304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Si simplemente aplicaras una función hash (hash("miPassword123")) a cada contraseña, dos usuarios con la misma contraseña tendrían el mismo hash guardado. Eso permitiría detectar que comparten contraseña y facilitaría ataques basados en hashes precalculados, como las tablas arcoíris.</a:t>
            </a:r>
            <a:endParaRPr lang="en-US" sz="1900" dirty="0"/>
          </a:p>
        </p:txBody>
      </p:sp>
      <p:sp>
        <p:nvSpPr>
          <p:cNvPr id="7" name="Text 5"/>
          <p:cNvSpPr/>
          <p:nvPr/>
        </p:nvSpPr>
        <p:spPr>
          <a:xfrm>
            <a:off x="548640" y="3886200"/>
            <a:ext cx="11091672" cy="1005840"/>
          </a:xfrm>
          <a:prstGeom prst="rect">
            <a:avLst/>
          </a:prstGeom>
          <a:noFill/>
          <a:ln/>
        </p:spPr>
        <p:txBody>
          <a:bodyPr wrap="square" rtlCol="0" anchor="t"/>
          <a:lstStyle/>
          <a:p>
            <a:pPr marL="0" indent="0">
              <a:buNone/>
            </a:pPr>
            <a:r>
              <a:rPr lang="en-US" sz="1600" dirty="0">
                <a:solidFill>
                  <a:srgbClr val="757575"/>
                </a:solidFill>
                <a:latin typeface="Arial" pitchFamily="34" charset="0"/>
                <a:ea typeface="Arial" pitchFamily="34" charset="-122"/>
                <a:cs typeface="Arial" pitchFamily="34" charset="-120"/>
              </a:rPr>
              <a:t>Una tabla arcoíris es una colección precalculada que relaciona contraseñas habituales con los hashes que producen. Si un atacante roba una tabla de hashes, busca coincidencias directamente ahí, sin calcular cada contraseña desde cero.</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La sal: mismo password, hashes distintos</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1371600"/>
            <a:ext cx="11091672" cy="822960"/>
          </a:xfrm>
          <a:prstGeom prst="rect">
            <a:avLst/>
          </a:prstGeom>
          <a:noFill/>
          <a:ln/>
        </p:spPr>
        <p:txBody>
          <a:bodyPr wrap="square" rtlCol="0" anchor="t"/>
          <a:lstStyle/>
          <a:p>
            <a:pPr marL="0" indent="0">
              <a:buNone/>
            </a:pPr>
            <a:r>
              <a:rPr lang="en-US" sz="1750" dirty="0">
                <a:solidFill>
                  <a:srgbClr val="212121"/>
                </a:solidFill>
                <a:latin typeface="Arial" pitchFamily="34" charset="0"/>
                <a:ea typeface="Arial" pitchFamily="34" charset="-122"/>
                <a:cs typeface="Arial" pitchFamily="34" charset="-120"/>
              </a:rPr>
              <a:t>La sal es un valor aleatorio distinto para cada contraseña, que se combina con ella antes de calcular el hash. Dos usuarios con la misma contraseña obtienen hashes completamente distintos:</a:t>
            </a:r>
            <a:endParaRPr lang="en-US" sz="17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11091671" cy="2194560"/>
        </p:xfrm>
        <a:graphic>
          <a:graphicData uri="http://schemas.openxmlformats.org/drawingml/2006/table">
            <a:tbl>
              <a:tblPr/>
              <a:tblGrid>
                <a:gridCol w="1441917">
                  <a:extLst>
                    <a:ext uri="{9D8B030D-6E8A-4147-A177-3AD203B41FA5}">
                      <a16:colId xmlns:a16="http://schemas.microsoft.com/office/drawing/2014/main" val="20000"/>
                    </a:ext>
                  </a:extLst>
                </a:gridCol>
                <a:gridCol w="2440168">
                  <a:extLst>
                    <a:ext uri="{9D8B030D-6E8A-4147-A177-3AD203B41FA5}">
                      <a16:colId xmlns:a16="http://schemas.microsoft.com/office/drawing/2014/main" val="20001"/>
                    </a:ext>
                  </a:extLst>
                </a:gridCol>
                <a:gridCol w="2994751">
                  <a:extLst>
                    <a:ext uri="{9D8B030D-6E8A-4147-A177-3AD203B41FA5}">
                      <a16:colId xmlns:a16="http://schemas.microsoft.com/office/drawing/2014/main" val="20002"/>
                    </a:ext>
                  </a:extLst>
                </a:gridCol>
                <a:gridCol w="4214835">
                  <a:extLst>
                    <a:ext uri="{9D8B030D-6E8A-4147-A177-3AD203B41FA5}">
                      <a16:colId xmlns:a16="http://schemas.microsoft.com/office/drawing/2014/main" val="20003"/>
                    </a:ext>
                  </a:extLst>
                </a:gridCol>
              </a:tblGrid>
              <a:tr h="73152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Usuario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Contraseña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Sal</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Hash guardado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extLst>
                  <a:ext uri="{0D108BD9-81ED-4DB2-BD59-A6C34878D82A}">
                    <a16:rowId xmlns:a16="http://schemas.microsoft.com/office/drawing/2014/main" val="10000"/>
                  </a:ext>
                </a:extLst>
              </a:tr>
              <a:tr h="731520">
                <a:tc>
                  <a:txBody>
                    <a:bodyPr/>
                    <a:lstStyle/>
                    <a:p>
                      <a:pPr marL="0" indent="0">
                        <a:buNone/>
                      </a:pPr>
                      <a:r>
                        <a:rPr lang="en-US" sz="1300" b="1" dirty="0">
                          <a:solidFill>
                            <a:srgbClr val="212121"/>
                          </a:solidFill>
                          <a:latin typeface="Arial" pitchFamily="34" charset="0"/>
                          <a:ea typeface="Arial" pitchFamily="34" charset="-122"/>
                          <a:cs typeface="Arial" pitchFamily="34" charset="-120"/>
                        </a:rPr>
                        <a:t>ana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miPassword123</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aleatoria, propia de ana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{bcrypt}$2a$10$x7Ff…9kLp</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buNone/>
                      </a:pPr>
                      <a:r>
                        <a:rPr lang="en-US" sz="1300" b="1" dirty="0">
                          <a:solidFill>
                            <a:srgbClr val="212121"/>
                          </a:solidFill>
                          <a:latin typeface="Arial" pitchFamily="34" charset="0"/>
                          <a:ea typeface="Arial" pitchFamily="34" charset="-122"/>
                          <a:cs typeface="Arial" pitchFamily="34" charset="-120"/>
                        </a:rPr>
                        <a:t>luis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miPassword123</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aleatoria, propia de luis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{bcrypt}$2a$10$q2Rt…3mWx</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bl>
          </a:graphicData>
        </a:graphic>
      </p:graphicFrame>
      <p:sp>
        <p:nvSpPr>
          <p:cNvPr id="6" name="Text 4"/>
          <p:cNvSpPr/>
          <p:nvPr/>
        </p:nvSpPr>
        <p:spPr>
          <a:xfrm>
            <a:off x="548640" y="4983480"/>
            <a:ext cx="11091672" cy="457200"/>
          </a:xfrm>
          <a:prstGeom prst="rect">
            <a:avLst/>
          </a:prstGeom>
          <a:noFill/>
          <a:ln/>
        </p:spPr>
        <p:txBody>
          <a:bodyPr wrap="square" rtlCol="0" anchor="t"/>
          <a:lstStyle/>
          <a:p>
            <a:pPr marL="0" indent="0">
              <a:buNone/>
            </a:pPr>
            <a:r>
              <a:rPr lang="en-US" sz="1600" dirty="0">
                <a:solidFill>
                  <a:srgbClr val="757575"/>
                </a:solidFill>
                <a:latin typeface="Arial" pitchFamily="34" charset="0"/>
                <a:ea typeface="Arial" pitchFamily="34" charset="-122"/>
                <a:cs typeface="Arial" pitchFamily="34" charset="-120"/>
              </a:rPr>
              <a:t>Nadie que mire la tabla usuarios puede saber que ana y luis comparten contraseña.</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Por qué BCrypt y no un hash rápido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2103120"/>
            <a:ext cx="11091672" cy="109728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Podrías pensar en usar SHA-256 directamente. El problema es justo su virtud en otro contexto: es rápido, pensado para calcularse millones de veces por segundo. Aplicado a contraseñas, eso juega en tu contra.</a:t>
            </a:r>
            <a:endParaRPr lang="en-US" sz="2000" dirty="0"/>
          </a:p>
        </p:txBody>
      </p:sp>
      <p:sp>
        <p:nvSpPr>
          <p:cNvPr id="6" name="Shape 4"/>
          <p:cNvSpPr/>
          <p:nvPr/>
        </p:nvSpPr>
        <p:spPr>
          <a:xfrm>
            <a:off x="548640" y="3611880"/>
            <a:ext cx="11091672" cy="1234440"/>
          </a:xfrm>
          <a:prstGeom prst="roundRect">
            <a:avLst/>
          </a:prstGeom>
          <a:solidFill>
            <a:srgbClr val="FFF3E0"/>
          </a:solidFill>
          <a:ln w="19050">
            <a:solidFill>
              <a:srgbClr val="FFA000"/>
            </a:solidFill>
            <a:prstDash val="solid"/>
          </a:ln>
        </p:spPr>
        <p:txBody>
          <a:bodyPr/>
          <a:lstStyle/>
          <a:p>
            <a:endParaRPr lang="es-ES"/>
          </a:p>
        </p:txBody>
      </p:sp>
      <p:sp>
        <p:nvSpPr>
          <p:cNvPr id="7" name="Text 5"/>
          <p:cNvSpPr/>
          <p:nvPr/>
        </p:nvSpPr>
        <p:spPr>
          <a:xfrm>
            <a:off x="822960" y="3703320"/>
            <a:ext cx="10543032" cy="1051560"/>
          </a:xfrm>
          <a:prstGeom prst="rect">
            <a:avLst/>
          </a:prstGeom>
          <a:noFill/>
          <a:ln/>
        </p:spPr>
        <p:txBody>
          <a:bodyPr wrap="square" rtlCol="0" anchor="ctr"/>
          <a:lstStyle/>
          <a:p>
            <a:pPr marL="0" indent="0">
              <a:buNone/>
            </a:pPr>
            <a:r>
              <a:rPr lang="en-US" sz="2050" dirty="0">
                <a:solidFill>
                  <a:srgbClr val="212121"/>
                </a:solidFill>
                <a:latin typeface="Arial" pitchFamily="34" charset="0"/>
                <a:ea typeface="Arial" pitchFamily="34" charset="-122"/>
                <a:cs typeface="Arial" pitchFamily="34" charset="-120"/>
              </a:rPr>
              <a:t>Un atacante con acceso a una tabla de hashes robada puede probar miles de millones de contraseñas por segundo contra un hash SHA-256, por fuerza bruta.</a:t>
            </a:r>
            <a:endParaRPr lang="en-US" sz="2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BCrypt: lento, a propósito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1371600"/>
            <a:ext cx="11091672" cy="960120"/>
          </a:xfrm>
          <a:prstGeom prst="rect">
            <a:avLst/>
          </a:prstGeom>
          <a:noFill/>
          <a:ln/>
        </p:spPr>
        <p:txBody>
          <a:bodyPr wrap="square" rtlCol="0" anchor="t"/>
          <a:lstStyle/>
          <a:p>
            <a:pPr marL="0" indent="0">
              <a:buNone/>
            </a:pPr>
            <a:r>
              <a:rPr lang="en-US" sz="1750" dirty="0">
                <a:solidFill>
                  <a:srgbClr val="212121"/>
                </a:solidFill>
                <a:latin typeface="Arial" pitchFamily="34" charset="0"/>
                <a:ea typeface="Arial" pitchFamily="34" charset="-122"/>
                <a:cs typeface="Arial" pitchFamily="34" charset="-120"/>
              </a:rPr>
              <a:t>BCrypt está diseñado deliberadamente para ser lento, con un factor de coste configurable: insignificante para un login legítimo, pero devastador para un atacante que necesita probar millones de combinaciones.</a:t>
            </a:r>
            <a:endParaRPr lang="en-US" sz="17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11091672" cy="2267712"/>
        </p:xfrm>
        <a:graphic>
          <a:graphicData uri="http://schemas.openxmlformats.org/drawingml/2006/table">
            <a:tbl>
              <a:tblPr/>
              <a:tblGrid>
                <a:gridCol w="4436669">
                  <a:extLst>
                    <a:ext uri="{9D8B030D-6E8A-4147-A177-3AD203B41FA5}">
                      <a16:colId xmlns:a16="http://schemas.microsoft.com/office/drawing/2014/main" val="20000"/>
                    </a:ext>
                  </a:extLst>
                </a:gridCol>
                <a:gridCol w="6655003">
                  <a:extLst>
                    <a:ext uri="{9D8B030D-6E8A-4147-A177-3AD203B41FA5}">
                      <a16:colId xmlns:a16="http://schemas.microsoft.com/office/drawing/2014/main" val="20001"/>
                    </a:ext>
                  </a:extLst>
                </a:gridCol>
              </a:tblGrid>
              <a:tr h="566928">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Factor de coste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Tiempo aprox. por hash</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212121"/>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~1 ms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212121"/>
                          </a:solidFill>
                          <a:latin typeface="Arial" pitchFamily="34" charset="0"/>
                          <a:ea typeface="Arial" pitchFamily="34" charset="-122"/>
                          <a:cs typeface="Arial" pitchFamily="34" charset="-120"/>
                        </a:rPr>
                        <a:t>10 (valor por defecto)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~60-100 ms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66928">
                <a:tc>
                  <a:txBody>
                    <a:bodyPr/>
                    <a:lstStyle/>
                    <a:p>
                      <a:pPr marL="0" indent="0">
                        <a:buNone/>
                      </a:pPr>
                      <a:r>
                        <a:rPr lang="en-US" sz="1500" b="1" dirty="0">
                          <a:solidFill>
                            <a:srgbClr val="212121"/>
                          </a:solidFill>
                          <a:latin typeface="Arial" pitchFamily="34" charset="0"/>
                          <a:ea typeface="Arial" pitchFamily="34" charset="-122"/>
                          <a:cs typeface="Arial" pitchFamily="34" charset="-120"/>
                        </a:rPr>
                        <a:t>12</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~250-400 ms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p:nvPr/>
        </p:nvSpPr>
        <p:spPr>
          <a:xfrm>
            <a:off x="548640" y="5148072"/>
            <a:ext cx="11091672" cy="640080"/>
          </a:xfrm>
          <a:prstGeom prst="rect">
            <a:avLst/>
          </a:prstGeom>
          <a:noFill/>
          <a:ln/>
        </p:spPr>
        <p:txBody>
          <a:bodyPr wrap="square" rtlCol="0" anchor="t"/>
          <a:lstStyle/>
          <a:p>
            <a:pPr marL="0" indent="0">
              <a:buNone/>
            </a:pPr>
            <a:r>
              <a:rPr lang="en-US" sz="1450" dirty="0">
                <a:solidFill>
                  <a:srgbClr val="757575"/>
                </a:solidFill>
                <a:latin typeface="Arial" pitchFamily="34" charset="0"/>
                <a:ea typeface="Arial" pitchFamily="34" charset="-122"/>
                <a:cs typeface="Arial" pitchFamily="34" charset="-120"/>
              </a:rPr>
              <a:t>Cien milisegundos son imperceptibles para un login. Multiplicados por millones de intentos, la diferencia entre "factible" e "inviable" se cuenta en años de cómputo.</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La entidad Usuario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188720"/>
            <a:ext cx="11091672" cy="411480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188720"/>
            <a:ext cx="73152" cy="4114800"/>
          </a:xfrm>
          <a:prstGeom prst="rect">
            <a:avLst/>
          </a:prstGeom>
          <a:solidFill>
            <a:srgbClr val="FFA000"/>
          </a:solidFill>
          <a:ln w="12700">
            <a:solidFill>
              <a:srgbClr val="FFA000"/>
            </a:solidFill>
            <a:prstDash val="solid"/>
          </a:ln>
        </p:spPr>
        <p:txBody>
          <a:bodyPr/>
          <a:lstStyle/>
          <a:p>
            <a:endParaRPr lang="es-ES"/>
          </a:p>
        </p:txBody>
      </p:sp>
      <p:sp>
        <p:nvSpPr>
          <p:cNvPr id="7" name="Text 5"/>
          <p:cNvSpPr/>
          <p:nvPr/>
        </p:nvSpPr>
        <p:spPr>
          <a:xfrm>
            <a:off x="822960" y="1298448"/>
            <a:ext cx="10588752" cy="3895344"/>
          </a:xfrm>
          <a:prstGeom prst="rect">
            <a:avLst/>
          </a:prstGeom>
          <a:noFill/>
          <a:ln/>
        </p:spPr>
        <p:txBody>
          <a:bodyPr wrap="square" rtlCol="0" anchor="t"/>
          <a:lstStyle/>
          <a:p>
            <a:pPr marL="0" indent="0">
              <a:buNone/>
            </a:pPr>
            <a:r>
              <a:rPr lang="en-US" sz="1300" dirty="0">
                <a:solidFill>
                  <a:srgbClr val="263238"/>
                </a:solidFill>
                <a:latin typeface="Courier New" pitchFamily="34" charset="0"/>
                <a:ea typeface="Courier New" pitchFamily="34" charset="-122"/>
                <a:cs typeface="Courier New" pitchFamily="34" charset="-120"/>
              </a:rPr>
              <a:t>@Entity</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@Table(name = "usuarios")</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public class Usuario {</a:t>
            </a:r>
            <a:endParaRPr lang="en-US" sz="1300" dirty="0"/>
          </a:p>
          <a:p>
            <a:pPr marL="0" indent="0">
              <a:buNone/>
            </a:pP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@Id</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@GeneratedValue(strategy = GenerationType.IDENTITY)</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private Long id;</a:t>
            </a:r>
            <a:endParaRPr lang="en-US" sz="1300" dirty="0"/>
          </a:p>
          <a:p>
            <a:pPr marL="0" indent="0">
              <a:buNone/>
            </a:pP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@Column(nullable = false, unique = true)</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private String username;</a:t>
            </a:r>
            <a:endParaRPr lang="en-US" sz="1300" dirty="0"/>
          </a:p>
          <a:p>
            <a:pPr marL="0" indent="0">
              <a:buNone/>
            </a:pP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@Column(nullable = false)</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private String password;</a:t>
            </a:r>
            <a:endParaRPr lang="en-US" sz="1300" dirty="0"/>
          </a:p>
          <a:p>
            <a:pPr marL="0" indent="0">
              <a:buNone/>
            </a:pP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@Enumerated(EnumType.STRING)</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private RolUsuario rol;</a:t>
            </a:r>
            <a:endParaRPr lang="en-US" sz="1300" dirty="0"/>
          </a:p>
          <a:p>
            <a:pPr marL="0" indent="0">
              <a:buNone/>
            </a:pP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private boolean activo = true;</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El rol y la baja lógica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1280160"/>
            <a:ext cx="11091672" cy="914400"/>
          </a:xfrm>
          <a:prstGeom prst="rect">
            <a:avLst/>
          </a:prstGeom>
          <a:noFill/>
          <a:ln/>
        </p:spPr>
        <p:txBody>
          <a:bodyPr wrap="square" rtlCol="0" anchor="t"/>
          <a:lstStyle/>
          <a:p>
            <a:pPr marL="0" indent="0">
              <a:buNone/>
            </a:pPr>
            <a:r>
              <a:rPr lang="en-US" sz="1700" dirty="0">
                <a:solidFill>
                  <a:srgbClr val="212121"/>
                </a:solidFill>
                <a:latin typeface="Arial" pitchFamily="34" charset="0"/>
                <a:ea typeface="Arial" pitchFamily="34" charset="-122"/>
                <a:cs typeface="Arial" pitchFamily="34" charset="-120"/>
              </a:rPr>
              <a:t>Territorio ya conocido de Acceso a Datos: una entidad JPA más, con su repositorio (UsuarioRepository, con un findByUsername añadido). La novedad es password: nunca contiene texto legible, solo el hash BCrypt.</a:t>
            </a:r>
            <a:endParaRPr lang="en-US" sz="1700" dirty="0"/>
          </a:p>
        </p:txBody>
      </p:sp>
      <p:sp>
        <p:nvSpPr>
          <p:cNvPr id="6" name="Shape 4"/>
          <p:cNvSpPr/>
          <p:nvPr/>
        </p:nvSpPr>
        <p:spPr>
          <a:xfrm>
            <a:off x="548640" y="2423160"/>
            <a:ext cx="11091672" cy="123444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423160"/>
            <a:ext cx="73152" cy="1234440"/>
          </a:xfrm>
          <a:prstGeom prst="rect">
            <a:avLst/>
          </a:prstGeom>
          <a:solidFill>
            <a:srgbClr val="FFA000"/>
          </a:solidFill>
          <a:ln w="12700">
            <a:solidFill>
              <a:srgbClr val="FFA000"/>
            </a:solidFill>
            <a:prstDash val="solid"/>
          </a:ln>
        </p:spPr>
        <p:txBody>
          <a:bodyPr/>
          <a:lstStyle/>
          <a:p>
            <a:endParaRPr lang="es-ES"/>
          </a:p>
        </p:txBody>
      </p:sp>
      <p:sp>
        <p:nvSpPr>
          <p:cNvPr id="8" name="Text 6"/>
          <p:cNvSpPr/>
          <p:nvPr/>
        </p:nvSpPr>
        <p:spPr>
          <a:xfrm>
            <a:off x="822960" y="2532888"/>
            <a:ext cx="10588752" cy="101498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public enum RolUsuario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ADMIN,</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USER</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a:t>
            </a:r>
            <a:endParaRPr lang="en-US" sz="1600" dirty="0"/>
          </a:p>
        </p:txBody>
      </p:sp>
      <p:sp>
        <p:nvSpPr>
          <p:cNvPr id="9" name="Text 7"/>
          <p:cNvSpPr/>
          <p:nvPr/>
        </p:nvSpPr>
        <p:spPr>
          <a:xfrm>
            <a:off x="548640" y="3931920"/>
            <a:ext cx="11091672" cy="822960"/>
          </a:xfrm>
          <a:prstGeom prst="rect">
            <a:avLst/>
          </a:prstGeom>
          <a:noFill/>
          <a:ln/>
        </p:spPr>
        <p:txBody>
          <a:bodyPr wrap="square" rtlCol="0" anchor="t"/>
          <a:lstStyle/>
          <a:p>
            <a:pPr marL="0" indent="0">
              <a:buNone/>
            </a:pPr>
            <a:r>
              <a:rPr lang="en-US" sz="1550" dirty="0">
                <a:solidFill>
                  <a:srgbClr val="757575"/>
                </a:solidFill>
                <a:latin typeface="Arial" pitchFamily="34" charset="0"/>
                <a:ea typeface="Arial" pitchFamily="34" charset="-122"/>
                <a:cs typeface="Arial" pitchFamily="34" charset="-120"/>
              </a:rPr>
              <a:t>activo es una baja lógica, no física: en vez de borrar la fila, la marcas como activo = false y la conservas — así no pierdes el histórico de qué creó o modificó ese usuario mientras tuvo cuenta.</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El PasswordEncoder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554480"/>
            <a:ext cx="11091672" cy="132588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554480"/>
            <a:ext cx="73152" cy="1325880"/>
          </a:xfrm>
          <a:prstGeom prst="rect">
            <a:avLst/>
          </a:prstGeom>
          <a:solidFill>
            <a:srgbClr val="FFA000"/>
          </a:solidFill>
          <a:ln w="12700">
            <a:solidFill>
              <a:srgbClr val="FFA000"/>
            </a:solidFill>
            <a:prstDash val="solid"/>
          </a:ln>
        </p:spPr>
        <p:txBody>
          <a:bodyPr/>
          <a:lstStyle/>
          <a:p>
            <a:endParaRPr lang="es-ES"/>
          </a:p>
        </p:txBody>
      </p:sp>
      <p:sp>
        <p:nvSpPr>
          <p:cNvPr id="7" name="Text 5"/>
          <p:cNvSpPr/>
          <p:nvPr/>
        </p:nvSpPr>
        <p:spPr>
          <a:xfrm>
            <a:off x="822960" y="1664208"/>
            <a:ext cx="10588752" cy="1106424"/>
          </a:xfrm>
          <a:prstGeom prst="rect">
            <a:avLst/>
          </a:prstGeom>
          <a:noFill/>
          <a:ln/>
        </p:spPr>
        <p:txBody>
          <a:bodyPr wrap="square" rtlCol="0" anchor="t"/>
          <a:lstStyle/>
          <a:p>
            <a:pPr marL="0" indent="0">
              <a:buNone/>
            </a:pPr>
            <a:r>
              <a:rPr lang="en-US" sz="1800" dirty="0">
                <a:solidFill>
                  <a:srgbClr val="263238"/>
                </a:solidFill>
                <a:latin typeface="Courier New" pitchFamily="34" charset="0"/>
                <a:ea typeface="Courier New" pitchFamily="34" charset="-122"/>
                <a:cs typeface="Courier New" pitchFamily="34" charset="-120"/>
              </a:rPr>
              <a:t>@Bean</a:t>
            </a: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public PasswordEncoder passwordEncoder() {</a:t>
            </a: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    return PasswordEncoderFactories.createDelegatingPasswordEncoder();</a:t>
            </a: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a:t>
            </a:r>
            <a:endParaRPr lang="en-US" sz="1800" dirty="0"/>
          </a:p>
        </p:txBody>
      </p:sp>
      <p:sp>
        <p:nvSpPr>
          <p:cNvPr id="8" name="Shape 6"/>
          <p:cNvSpPr/>
          <p:nvPr/>
        </p:nvSpPr>
        <p:spPr>
          <a:xfrm>
            <a:off x="548640" y="3246120"/>
            <a:ext cx="11091672" cy="1371600"/>
          </a:xfrm>
          <a:prstGeom prst="roundRect">
            <a:avLst/>
          </a:prstGeom>
          <a:solidFill>
            <a:srgbClr val="FFF3E0"/>
          </a:solidFill>
          <a:ln w="19050">
            <a:solidFill>
              <a:srgbClr val="FFA000"/>
            </a:solidFill>
            <a:prstDash val="solid"/>
          </a:ln>
        </p:spPr>
        <p:txBody>
          <a:bodyPr/>
          <a:lstStyle/>
          <a:p>
            <a:endParaRPr lang="es-ES"/>
          </a:p>
        </p:txBody>
      </p:sp>
      <p:sp>
        <p:nvSpPr>
          <p:cNvPr id="9" name="Text 7"/>
          <p:cNvSpPr/>
          <p:nvPr/>
        </p:nvSpPr>
        <p:spPr>
          <a:xfrm>
            <a:off x="822960" y="3337560"/>
            <a:ext cx="10543032" cy="1188720"/>
          </a:xfrm>
          <a:prstGeom prst="rect">
            <a:avLst/>
          </a:prstGeom>
          <a:noFill/>
          <a:ln/>
        </p:spPr>
        <p:txBody>
          <a:bodyPr wrap="square" rtlCol="0" anchor="ctr"/>
          <a:lstStyle/>
          <a:p>
            <a:pPr marL="0" indent="0">
              <a:buNone/>
            </a:pPr>
            <a:r>
              <a:rPr lang="en-US" sz="1850" dirty="0">
                <a:solidFill>
                  <a:srgbClr val="212121"/>
                </a:solidFill>
                <a:latin typeface="Arial" pitchFamily="34" charset="0"/>
                <a:ea typeface="Arial" pitchFamily="34" charset="-122"/>
                <a:cs typeface="Arial" pitchFamily="34" charset="-120"/>
              </a:rPr>
              <a:t>Este mismo bean se usa tanto para codificar una contraseña al crear un usuario como para verificar una contraseña al hacer login (BCrypt no "descifra" el hash — vuelve a calcularlo con la contraseña recibida y compara).</a:t>
            </a:r>
            <a:endParaRPr lang="en-US" sz="1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DelegatingPasswordEncoder: un prefijo por algoritmo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2377440"/>
            <a:ext cx="11091672" cy="1828800"/>
          </a:xfrm>
          <a:prstGeom prst="roundRect">
            <a:avLst/>
          </a:prstGeom>
          <a:solidFill>
            <a:srgbClr val="FFF3E0"/>
          </a:solidFill>
          <a:ln w="19050">
            <a:solidFill>
              <a:srgbClr val="FFA000"/>
            </a:solidFill>
            <a:prstDash val="solid"/>
          </a:ln>
        </p:spPr>
        <p:txBody>
          <a:bodyPr/>
          <a:lstStyle/>
          <a:p>
            <a:endParaRPr lang="es-ES"/>
          </a:p>
        </p:txBody>
      </p:sp>
      <p:sp>
        <p:nvSpPr>
          <p:cNvPr id="6" name="Text 4"/>
          <p:cNvSpPr/>
          <p:nvPr/>
        </p:nvSpPr>
        <p:spPr>
          <a:xfrm>
            <a:off x="822960" y="2468880"/>
            <a:ext cx="10543032" cy="164592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createDelegatingPasswordEncoder() construye un DelegatingPasswordEncoder: antepone un prefijo al hash almacenado (por ejemplo, {bcrypt}) indicando qué algoritmo se usó — así, si en el futuro cambiaras de algoritmo, los hashes antiguos seguirían siendo reconocibles y verificables, sin migrar toda la tabla de golpe.</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Anatomía de un hash BCrypt real</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371600"/>
            <a:ext cx="11091672" cy="77724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371600"/>
            <a:ext cx="73152" cy="777240"/>
          </a:xfrm>
          <a:prstGeom prst="rect">
            <a:avLst/>
          </a:prstGeom>
          <a:solidFill>
            <a:srgbClr val="FFA000"/>
          </a:solidFill>
          <a:ln w="12700">
            <a:solidFill>
              <a:srgbClr val="FFA000"/>
            </a:solidFill>
            <a:prstDash val="solid"/>
          </a:ln>
        </p:spPr>
        <p:txBody>
          <a:bodyPr/>
          <a:lstStyle/>
          <a:p>
            <a:endParaRPr lang="es-ES"/>
          </a:p>
        </p:txBody>
      </p:sp>
      <p:sp>
        <p:nvSpPr>
          <p:cNvPr id="7" name="Text 5"/>
          <p:cNvSpPr/>
          <p:nvPr/>
        </p:nvSpPr>
        <p:spPr>
          <a:xfrm>
            <a:off x="822960" y="1481328"/>
            <a:ext cx="10588752" cy="557784"/>
          </a:xfrm>
          <a:prstGeom prst="rect">
            <a:avLst/>
          </a:prstGeom>
          <a:noFill/>
          <a:ln/>
        </p:spPr>
        <p:txBody>
          <a:bodyPr wrap="square" rtlCol="0" anchor="t"/>
          <a:lstStyle/>
          <a:p>
            <a:pPr marL="0" indent="0">
              <a:buNone/>
            </a:pPr>
            <a:r>
              <a:rPr lang="en-US" sz="1350" dirty="0">
                <a:solidFill>
                  <a:srgbClr val="263238"/>
                </a:solidFill>
                <a:latin typeface="Courier New" pitchFamily="34" charset="0"/>
                <a:ea typeface="Courier New" pitchFamily="34" charset="-122"/>
                <a:cs typeface="Courier New" pitchFamily="34" charset="-120"/>
              </a:rPr>
              <a:t>{bcrypt}$2a$10$N9qo8uLOickgx2ZMRZoMyeIjZAgcfl7p92ldGxad68LJZdL17lhWy</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514600"/>
          <a:ext cx="11091672" cy="2834640"/>
        </p:xfrm>
        <a:graphic>
          <a:graphicData uri="http://schemas.openxmlformats.org/drawingml/2006/table">
            <a:tbl>
              <a:tblPr/>
              <a:tblGrid>
                <a:gridCol w="2440168">
                  <a:extLst>
                    <a:ext uri="{9D8B030D-6E8A-4147-A177-3AD203B41FA5}">
                      <a16:colId xmlns:a16="http://schemas.microsoft.com/office/drawing/2014/main" val="20000"/>
                    </a:ext>
                  </a:extLst>
                </a:gridCol>
                <a:gridCol w="8651504">
                  <a:extLst>
                    <a:ext uri="{9D8B030D-6E8A-4147-A177-3AD203B41FA5}">
                      <a16:colId xmlns:a16="http://schemas.microsoft.com/office/drawing/2014/main" val="20001"/>
                    </a:ext>
                  </a:extLst>
                </a:gridCol>
              </a:tblGrid>
              <a:tr h="566928">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Parte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Qué es</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extLst>
                  <a:ext uri="{0D108BD9-81ED-4DB2-BD59-A6C34878D82A}">
                    <a16:rowId xmlns:a16="http://schemas.microsoft.com/office/drawing/2014/main" val="10000"/>
                  </a:ext>
                </a:extLst>
              </a:tr>
              <a:tr h="566928">
                <a:tc>
                  <a:txBody>
                    <a:bodyPr/>
                    <a:lstStyle/>
                    <a:p>
                      <a:pPr marL="0" indent="0">
                        <a:buNone/>
                      </a:pPr>
                      <a:r>
                        <a:rPr lang="en-US" sz="1450" b="1" dirty="0">
                          <a:solidFill>
                            <a:srgbClr val="212121"/>
                          </a:solidFill>
                          <a:latin typeface="Arial" pitchFamily="34" charset="0"/>
                          <a:ea typeface="Arial" pitchFamily="34" charset="-122"/>
                          <a:cs typeface="Arial" pitchFamily="34" charset="-120"/>
                        </a:rPr>
                        <a:t>{bcrypt}</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50" dirty="0">
                          <a:solidFill>
                            <a:srgbClr val="212121"/>
                          </a:solidFill>
                          <a:latin typeface="Arial" pitchFamily="34" charset="0"/>
                          <a:ea typeface="Arial" pitchFamily="34" charset="-122"/>
                          <a:cs typeface="Arial" pitchFamily="34" charset="-120"/>
                        </a:rPr>
                        <a:t>Prefijo añadido por DelegatingPasswordEncoder.</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450" b="1" dirty="0">
                          <a:solidFill>
                            <a:srgbClr val="212121"/>
                          </a:solidFill>
                          <a:latin typeface="Arial" pitchFamily="34" charset="0"/>
                          <a:ea typeface="Arial" pitchFamily="34" charset="-122"/>
                          <a:cs typeface="Arial" pitchFamily="34" charset="-120"/>
                        </a:rPr>
                        <a:t>$2a$</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50" dirty="0">
                          <a:solidFill>
                            <a:srgbClr val="212121"/>
                          </a:solidFill>
                          <a:latin typeface="Arial" pitchFamily="34" charset="0"/>
                          <a:ea typeface="Arial" pitchFamily="34" charset="-122"/>
                          <a:cs typeface="Arial" pitchFamily="34" charset="-120"/>
                        </a:rPr>
                        <a:t>Identifica la versión de BCrypt.</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66928">
                <a:tc>
                  <a:txBody>
                    <a:bodyPr/>
                    <a:lstStyle/>
                    <a:p>
                      <a:pPr marL="0" indent="0">
                        <a:buNone/>
                      </a:pPr>
                      <a:r>
                        <a:rPr lang="en-US" sz="1450" b="1" dirty="0">
                          <a:solidFill>
                            <a:srgbClr val="212121"/>
                          </a:solidFill>
                          <a:latin typeface="Arial" pitchFamily="34" charset="0"/>
                          <a:ea typeface="Arial" pitchFamily="34" charset="-122"/>
                          <a:cs typeface="Arial" pitchFamily="34" charset="-120"/>
                        </a:rPr>
                        <a:t>10$</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50" dirty="0">
                          <a:solidFill>
                            <a:srgbClr val="212121"/>
                          </a:solidFill>
                          <a:latin typeface="Arial" pitchFamily="34" charset="0"/>
                          <a:ea typeface="Arial" pitchFamily="34" charset="-122"/>
                          <a:cs typeface="Arial" pitchFamily="34" charset="-120"/>
                        </a:rPr>
                        <a:t>El factor de coste, cuyo trabajo aumenta exponencialmente.</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450" b="1" dirty="0">
                          <a:solidFill>
                            <a:srgbClr val="212121"/>
                          </a:solidFill>
                          <a:latin typeface="Arial" pitchFamily="34" charset="0"/>
                          <a:ea typeface="Arial" pitchFamily="34" charset="-122"/>
                          <a:cs typeface="Arial" pitchFamily="34" charset="-120"/>
                        </a:rPr>
                        <a:t>el resto</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50" dirty="0">
                          <a:solidFill>
                            <a:srgbClr val="212121"/>
                          </a:solidFill>
                          <a:latin typeface="Arial" pitchFamily="34" charset="0"/>
                          <a:ea typeface="Arial" pitchFamily="34" charset="-122"/>
                          <a:cs typeface="Arial" pitchFamily="34" charset="-120"/>
                        </a:rPr>
                        <a:t>Sal y hash codificados en una misma cadena — no hace falta guardar la sal aparte.</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Un UserDetailsService propio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188720"/>
            <a:ext cx="11091672" cy="411480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188720"/>
            <a:ext cx="73152" cy="4114800"/>
          </a:xfrm>
          <a:prstGeom prst="rect">
            <a:avLst/>
          </a:prstGeom>
          <a:solidFill>
            <a:srgbClr val="FFA000"/>
          </a:solidFill>
          <a:ln w="12700">
            <a:solidFill>
              <a:srgbClr val="FFA000"/>
            </a:solidFill>
            <a:prstDash val="solid"/>
          </a:ln>
        </p:spPr>
        <p:txBody>
          <a:bodyPr/>
          <a:lstStyle/>
          <a:p>
            <a:endParaRPr lang="es-ES"/>
          </a:p>
        </p:txBody>
      </p:sp>
      <p:sp>
        <p:nvSpPr>
          <p:cNvPr id="7" name="Text 5"/>
          <p:cNvSpPr/>
          <p:nvPr/>
        </p:nvSpPr>
        <p:spPr>
          <a:xfrm>
            <a:off x="822960" y="1298448"/>
            <a:ext cx="10588752" cy="3895344"/>
          </a:xfrm>
          <a:prstGeom prst="rect">
            <a:avLst/>
          </a:prstGeom>
          <a:noFill/>
          <a:ln/>
        </p:spPr>
        <p:txBody>
          <a:bodyPr wrap="square" rtlCol="0" anchor="t"/>
          <a:lstStyle/>
          <a:p>
            <a:pPr marL="0" indent="0">
              <a:buNone/>
            </a:pPr>
            <a:r>
              <a:rPr lang="en-US" sz="1200" dirty="0">
                <a:solidFill>
                  <a:srgbClr val="263238"/>
                </a:solidFill>
                <a:latin typeface="Courier New" pitchFamily="34" charset="0"/>
                <a:ea typeface="Courier New" pitchFamily="34" charset="-122"/>
                <a:cs typeface="Courier New" pitchFamily="34" charset="-120"/>
              </a:rPr>
              <a:t>@Service</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@RequiredArgsConstructor</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public class BdUserDetailsService implements UserDetailsService {</a:t>
            </a:r>
            <a:endParaRPr lang="en-US" sz="1200" dirty="0"/>
          </a:p>
          <a:p>
            <a:pPr marL="0" indent="0">
              <a:buNone/>
            </a:pP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private final UsuarioRepository usuarioRepository;</a:t>
            </a:r>
            <a:endParaRPr lang="en-US" sz="1200" dirty="0"/>
          </a:p>
          <a:p>
            <a:pPr marL="0" indent="0">
              <a:buNone/>
            </a:pP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@Override</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public UserDetails loadUserByUsername(String username) throws UsernameNotFoundException {</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Usuario usuario = usuarioRepository.findByUsername(username)</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.orElseThrow(() -&gt; new UsernameNotFoundException("Usuario no encontrado: " + username));</a:t>
            </a:r>
            <a:endParaRPr lang="en-US" sz="1200" dirty="0"/>
          </a:p>
          <a:p>
            <a:pPr marL="0" indent="0">
              <a:buNone/>
            </a:pP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return User.withUsername(usuario.getUsername())</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.password(usuario.getPassword())</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.roles(usuario.getRol().name())</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.disabled(!usuario.isActivo())</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.build();</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El reemplazo directo de InMemoryUserDetailsManager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1371600"/>
            <a:ext cx="11091672" cy="137160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Implementa UserDetailsService, y en vez de buscar en una lista fija en memoria, busca en UsuarioRepository. Spring Security llama a loadUserByUsername(...) automáticamente; tú solo dices dónde encontrar al usuario. .disabled(!usuario.isActivo()) es justo lo que usa el activo de la entidad.</a:t>
            </a:r>
            <a:endParaRPr lang="en-US" sz="1900" dirty="0"/>
          </a:p>
        </p:txBody>
      </p:sp>
      <p:sp>
        <p:nvSpPr>
          <p:cNvPr id="6" name="Shape 4"/>
          <p:cNvSpPr/>
          <p:nvPr/>
        </p:nvSpPr>
        <p:spPr>
          <a:xfrm>
            <a:off x="548640" y="3063240"/>
            <a:ext cx="11091672" cy="1554480"/>
          </a:xfrm>
          <a:prstGeom prst="roundRect">
            <a:avLst/>
          </a:prstGeom>
          <a:solidFill>
            <a:srgbClr val="FFF3E0"/>
          </a:solidFill>
          <a:ln w="28575">
            <a:solidFill>
              <a:srgbClr val="FFA000"/>
            </a:solidFill>
            <a:prstDash val="solid"/>
          </a:ln>
        </p:spPr>
        <p:txBody>
          <a:bodyPr/>
          <a:lstStyle/>
          <a:p>
            <a:endParaRPr lang="es-ES"/>
          </a:p>
        </p:txBody>
      </p:sp>
      <p:sp>
        <p:nvSpPr>
          <p:cNvPr id="7" name="Text 5"/>
          <p:cNvSpPr/>
          <p:nvPr/>
        </p:nvSpPr>
        <p:spPr>
          <a:xfrm>
            <a:off x="822960" y="3172968"/>
            <a:ext cx="10543032" cy="1335024"/>
          </a:xfrm>
          <a:prstGeom prst="rect">
            <a:avLst/>
          </a:prstGeom>
          <a:noFill/>
          <a:ln/>
        </p:spPr>
        <p:txBody>
          <a:bodyPr wrap="square" rtlCol="0" anchor="t"/>
          <a:lstStyle/>
          <a:p>
            <a:pPr marL="0" indent="0">
              <a:buNone/>
            </a:pPr>
            <a:r>
              <a:rPr lang="en-US" sz="1650" b="1" dirty="0">
                <a:solidFill>
                  <a:srgbClr val="4E342E"/>
                </a:solidFill>
                <a:latin typeface="Arial" pitchFamily="34" charset="0"/>
                <a:ea typeface="Arial" pitchFamily="34" charset="-122"/>
                <a:cs typeface="Arial" pitchFamily="34" charset="-120"/>
              </a:rPr>
              <a:t>💡 Cambiar el almacén de usuarios no obliga a modificar securityFilterChain
</a:t>
            </a:r>
            <a:endParaRPr lang="en-US" sz="1650" dirty="0"/>
          </a:p>
          <a:p>
            <a:pPr marL="0" indent="0">
              <a:buNone/>
            </a:pPr>
            <a:r>
              <a:rPr lang="en-US" sz="1550" dirty="0">
                <a:solidFill>
                  <a:srgbClr val="212121"/>
                </a:solidFill>
                <a:latin typeface="Arial" pitchFamily="34" charset="0"/>
                <a:ea typeface="Arial" pitchFamily="34" charset="-122"/>
                <a:cs typeface="Arial" pitchFamily="34" charset="-120"/>
              </a:rPr>
              <a:t>Sustituir InMemoryUserDetailsManager por BdUserDetailsService no obliga a tocar .csrf(...), .exceptionHandling(...), .httpBasic(...) ni las reglas ya existentes. Spring Security usa el UserDetailsService y el PasswordEncoder del contexto para autenticar.</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El registro: RegisterRequestDTO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2011680"/>
            <a:ext cx="11091672" cy="105156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Todo lo de arriba explica cómo se verifica un usuario que ya existe — pero no cómo llega a existir el primero. Hace falta un endpoint público que reciba usuario y contraseña, codifique la contraseña, y guarde el Usuario resultante:</a:t>
            </a:r>
            <a:endParaRPr lang="en-US" sz="1900" dirty="0"/>
          </a:p>
        </p:txBody>
      </p:sp>
      <p:sp>
        <p:nvSpPr>
          <p:cNvPr id="6" name="Shape 4"/>
          <p:cNvSpPr/>
          <p:nvPr/>
        </p:nvSpPr>
        <p:spPr>
          <a:xfrm>
            <a:off x="548640" y="3429000"/>
            <a:ext cx="11091672" cy="228600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3429000"/>
            <a:ext cx="73152" cy="2286000"/>
          </a:xfrm>
          <a:prstGeom prst="rect">
            <a:avLst/>
          </a:prstGeom>
          <a:solidFill>
            <a:srgbClr val="FFA000"/>
          </a:solidFill>
          <a:ln w="12700">
            <a:solidFill>
              <a:srgbClr val="FFA000"/>
            </a:solidFill>
            <a:prstDash val="solid"/>
          </a:ln>
        </p:spPr>
        <p:txBody>
          <a:bodyPr/>
          <a:lstStyle/>
          <a:p>
            <a:endParaRPr lang="es-ES"/>
          </a:p>
        </p:txBody>
      </p:sp>
      <p:sp>
        <p:nvSpPr>
          <p:cNvPr id="8" name="Text 6"/>
          <p:cNvSpPr/>
          <p:nvPr/>
        </p:nvSpPr>
        <p:spPr>
          <a:xfrm>
            <a:off x="822960" y="3538728"/>
            <a:ext cx="10588752" cy="2066544"/>
          </a:xfrm>
          <a:prstGeom prst="rect">
            <a:avLst/>
          </a:prstGeom>
          <a:noFill/>
          <a:ln/>
        </p:spPr>
        <p:txBody>
          <a:bodyPr wrap="square" rtlCol="0" anchor="t"/>
          <a:lstStyle/>
          <a:p>
            <a:pPr marL="0" indent="0">
              <a:buNone/>
            </a:pPr>
            <a:r>
              <a:rPr lang="en-US" sz="1650" dirty="0">
                <a:solidFill>
                  <a:srgbClr val="263238"/>
                </a:solidFill>
                <a:latin typeface="Courier New" pitchFamily="34" charset="0"/>
                <a:ea typeface="Courier New" pitchFamily="34" charset="-122"/>
                <a:cs typeface="Courier New" pitchFamily="34" charset="-120"/>
              </a:rPr>
              <a:t>public record RegisterRequestDTO(</a:t>
            </a:r>
            <a:endParaRPr lang="en-US" sz="1650" dirty="0"/>
          </a:p>
          <a:p>
            <a:pPr marL="0" indent="0">
              <a:buNone/>
            </a:pPr>
            <a:r>
              <a:rPr lang="en-US" sz="1650" dirty="0">
                <a:solidFill>
                  <a:srgbClr val="263238"/>
                </a:solidFill>
                <a:latin typeface="Courier New" pitchFamily="34" charset="0"/>
                <a:ea typeface="Courier New" pitchFamily="34" charset="-122"/>
                <a:cs typeface="Courier New" pitchFamily="34" charset="-120"/>
              </a:rPr>
              <a:t>        @NotBlank(message = "El nombre de usuario no puede estar vacío")</a:t>
            </a:r>
            <a:endParaRPr lang="en-US" sz="1650" dirty="0"/>
          </a:p>
          <a:p>
            <a:pPr marL="0" indent="0">
              <a:buNone/>
            </a:pPr>
            <a:r>
              <a:rPr lang="en-US" sz="1650" dirty="0">
                <a:solidFill>
                  <a:srgbClr val="263238"/>
                </a:solidFill>
                <a:latin typeface="Courier New" pitchFamily="34" charset="0"/>
                <a:ea typeface="Courier New" pitchFamily="34" charset="-122"/>
                <a:cs typeface="Courier New" pitchFamily="34" charset="-120"/>
              </a:rPr>
              <a:t>        String username,</a:t>
            </a:r>
            <a:endParaRPr lang="en-US" sz="1650" dirty="0"/>
          </a:p>
          <a:p>
            <a:pPr marL="0" indent="0">
              <a:buNone/>
            </a:pPr>
            <a:r>
              <a:rPr lang="en-US" sz="1650" dirty="0">
                <a:solidFill>
                  <a:srgbClr val="263238"/>
                </a:solidFill>
                <a:latin typeface="Courier New" pitchFamily="34" charset="0"/>
                <a:ea typeface="Courier New" pitchFamily="34" charset="-122"/>
                <a:cs typeface="Courier New" pitchFamily="34" charset="-120"/>
              </a:rPr>
              <a:t>        @NotBlank(message = "La contraseña no puede estar vacía")</a:t>
            </a:r>
            <a:endParaRPr lang="en-US" sz="1650" dirty="0"/>
          </a:p>
          <a:p>
            <a:pPr marL="0" indent="0">
              <a:buNone/>
            </a:pPr>
            <a:r>
              <a:rPr lang="en-US" sz="1650" dirty="0">
                <a:solidFill>
                  <a:srgbClr val="263238"/>
                </a:solidFill>
                <a:latin typeface="Courier New" pitchFamily="34" charset="0"/>
                <a:ea typeface="Courier New" pitchFamily="34" charset="-122"/>
                <a:cs typeface="Courier New" pitchFamily="34" charset="-120"/>
              </a:rPr>
              <a:t>        String password</a:t>
            </a:r>
            <a:endParaRPr lang="en-US" sz="1650" dirty="0"/>
          </a:p>
          <a:p>
            <a:pPr marL="0" indent="0">
              <a:buNone/>
            </a:pPr>
            <a:r>
              <a:rPr lang="en-US" sz="1650" dirty="0">
                <a:solidFill>
                  <a:srgbClr val="263238"/>
                </a:solidFill>
                <a:latin typeface="Courier New" pitchFamily="34" charset="0"/>
                <a:ea typeface="Courier New" pitchFamily="34" charset="-122"/>
                <a:cs typeface="Courier New" pitchFamily="34" charset="-120"/>
              </a:rPr>
              <a:t>) {}</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AuthController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188720"/>
            <a:ext cx="11091672" cy="411480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188720"/>
            <a:ext cx="73152" cy="4114800"/>
          </a:xfrm>
          <a:prstGeom prst="rect">
            <a:avLst/>
          </a:prstGeom>
          <a:solidFill>
            <a:srgbClr val="FFA000"/>
          </a:solidFill>
          <a:ln w="12700">
            <a:solidFill>
              <a:srgbClr val="FFA000"/>
            </a:solidFill>
            <a:prstDash val="solid"/>
          </a:ln>
        </p:spPr>
        <p:txBody>
          <a:bodyPr/>
          <a:lstStyle/>
          <a:p>
            <a:endParaRPr lang="es-ES"/>
          </a:p>
        </p:txBody>
      </p:sp>
      <p:sp>
        <p:nvSpPr>
          <p:cNvPr id="7" name="Text 5"/>
          <p:cNvSpPr/>
          <p:nvPr/>
        </p:nvSpPr>
        <p:spPr>
          <a:xfrm>
            <a:off x="822960" y="1298448"/>
            <a:ext cx="10588752" cy="3895344"/>
          </a:xfrm>
          <a:prstGeom prst="rect">
            <a:avLst/>
          </a:prstGeom>
          <a:noFill/>
          <a:ln/>
        </p:spPr>
        <p:txBody>
          <a:bodyPr wrap="square" rtlCol="0" anchor="t"/>
          <a:lstStyle/>
          <a:p>
            <a:pPr marL="0" indent="0">
              <a:buNone/>
            </a:pPr>
            <a:r>
              <a:rPr lang="en-US" sz="1200" dirty="0">
                <a:solidFill>
                  <a:srgbClr val="263238"/>
                </a:solidFill>
                <a:latin typeface="Courier New" pitchFamily="34" charset="0"/>
                <a:ea typeface="Courier New" pitchFamily="34" charset="-122"/>
                <a:cs typeface="Courier New" pitchFamily="34" charset="-120"/>
              </a:rPr>
              <a:t>@RestController</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@RequestMapping("/api/v1/auth")</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@RequiredArgsConstructor</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public class AuthController {</a:t>
            </a:r>
            <a:endParaRPr lang="en-US" sz="1200" dirty="0"/>
          </a:p>
          <a:p>
            <a:pPr marL="0" indent="0">
              <a:buNone/>
            </a:pP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private final UsuarioRepository usuarioRepository;</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private final PasswordEncoder passwordEncoder;</a:t>
            </a:r>
            <a:endParaRPr lang="en-US" sz="1200" dirty="0"/>
          </a:p>
          <a:p>
            <a:pPr marL="0" indent="0">
              <a:buNone/>
            </a:pP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@PostMapping("/register")</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public ResponseEntity&lt;Void&gt; register(@Valid @RequestBody RegisterRequestDTO dto) {</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Usuario usuario = new Usuario();</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usuario.setUsername(dto.username());</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usuario.setPassword(passwordEncoder.encode(dto.password()));</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usuario.setRol(RolUsuario.USER);</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usuarioRepository.save(usuario);</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return ResponseEntity.status(HttpStatus.CREATED).build();</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Quién codifica y quién compara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463040"/>
            <a:ext cx="11091672" cy="1554480"/>
          </a:xfrm>
          <a:prstGeom prst="roundRect">
            <a:avLst/>
          </a:prstGeom>
          <a:solidFill>
            <a:srgbClr val="FFF3E0"/>
          </a:solidFill>
          <a:ln w="19050">
            <a:solidFill>
              <a:srgbClr val="FFA000"/>
            </a:solidFill>
            <a:prstDash val="solid"/>
          </a:ln>
        </p:spPr>
        <p:txBody>
          <a:bodyPr/>
          <a:lstStyle/>
          <a:p>
            <a:endParaRPr lang="es-ES"/>
          </a:p>
        </p:txBody>
      </p:sp>
      <p:sp>
        <p:nvSpPr>
          <p:cNvPr id="6" name="Text 4"/>
          <p:cNvSpPr/>
          <p:nvPr/>
        </p:nvSpPr>
        <p:spPr>
          <a:xfrm>
            <a:off x="822960" y="1554480"/>
            <a:ext cx="10543032" cy="1371600"/>
          </a:xfrm>
          <a:prstGeom prst="rect">
            <a:avLst/>
          </a:prstGeom>
          <a:noFill/>
          <a:ln/>
        </p:spPr>
        <p:txBody>
          <a:bodyPr wrap="square" rtlCol="0" anchor="ctr"/>
          <a:lstStyle/>
          <a:p>
            <a:pPr marL="0" indent="0">
              <a:buNone/>
            </a:pPr>
            <a:r>
              <a:rPr lang="en-US" sz="1850" dirty="0">
                <a:solidFill>
                  <a:srgbClr val="212121"/>
                </a:solidFill>
                <a:latin typeface="Arial" pitchFamily="34" charset="0"/>
                <a:ea typeface="Arial" pitchFamily="34" charset="-122"/>
                <a:cs typeface="Arial" pitchFamily="34" charset="-120"/>
              </a:rPr>
              <a:t>passwordEncoder.encode(...) genera aquí el hash que se guarda. Durante el login, BdUserDetailsService solo carga el usuario y devuelve ese hash; es DaoAuthenticationProvider quien utiliza el mismo PasswordEncoder para comparar la contraseña recibida con el hash almacenado.</a:t>
            </a:r>
            <a:endParaRPr lang="en-US" sz="1850" dirty="0"/>
          </a:p>
        </p:txBody>
      </p:sp>
      <p:sp>
        <p:nvSpPr>
          <p:cNvPr id="7" name="Text 5"/>
          <p:cNvSpPr/>
          <p:nvPr/>
        </p:nvSpPr>
        <p:spPr>
          <a:xfrm>
            <a:off x="548640" y="3337560"/>
            <a:ext cx="11091672" cy="1005840"/>
          </a:xfrm>
          <a:prstGeom prst="rect">
            <a:avLst/>
          </a:prstGeom>
          <a:noFill/>
          <a:ln/>
        </p:spPr>
        <p:txBody>
          <a:bodyPr wrap="square" rtlCol="0" anchor="t"/>
          <a:lstStyle/>
          <a:p>
            <a:pPr marL="0" indent="0">
              <a:buNone/>
            </a:pPr>
            <a:r>
              <a:rPr lang="en-US" sz="1650" dirty="0">
                <a:solidFill>
                  <a:srgbClr val="757575"/>
                </a:solidFill>
                <a:latin typeface="Arial" pitchFamily="34" charset="0"/>
                <a:ea typeface="Arial" pitchFamily="34" charset="-122"/>
                <a:cs typeface="Arial" pitchFamily="34" charset="-120"/>
              </a:rPr>
              <a:t>Si alguien intenta registrar un username que ya existe, la restricción unique = true lo bloquea en la base de datos — el mismo DataIntegrityViolationException que tu GlobalExceptionHandler convierte en un 409 desde el primer apartado del tema.</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El rol nunca lo decide quien se registra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2194560"/>
            <a:ext cx="11091672" cy="1737360"/>
          </a:xfrm>
          <a:prstGeom prst="roundRect">
            <a:avLst/>
          </a:prstGeom>
          <a:solidFill>
            <a:srgbClr val="FFF3E0"/>
          </a:solidFill>
          <a:ln w="28575">
            <a:solidFill>
              <a:srgbClr val="FFA000"/>
            </a:solidFill>
            <a:prstDash val="solid"/>
          </a:ln>
        </p:spPr>
        <p:txBody>
          <a:bodyPr/>
          <a:lstStyle/>
          <a:p>
            <a:endParaRPr lang="es-ES"/>
          </a:p>
        </p:txBody>
      </p:sp>
      <p:sp>
        <p:nvSpPr>
          <p:cNvPr id="6" name="Text 4"/>
          <p:cNvSpPr/>
          <p:nvPr/>
        </p:nvSpPr>
        <p:spPr>
          <a:xfrm>
            <a:off x="822960" y="2304288"/>
            <a:ext cx="10543032" cy="1517904"/>
          </a:xfrm>
          <a:prstGeom prst="rect">
            <a:avLst/>
          </a:prstGeom>
          <a:noFill/>
          <a:ln/>
        </p:spPr>
        <p:txBody>
          <a:bodyPr wrap="square" rtlCol="0" anchor="t"/>
          <a:lstStyle/>
          <a:p>
            <a:pPr marL="0" indent="0">
              <a:buNone/>
            </a:pPr>
            <a:r>
              <a:rPr lang="en-US" sz="2000" b="1" dirty="0">
                <a:solidFill>
                  <a:srgbClr val="4E342E"/>
                </a:solidFill>
                <a:latin typeface="Arial" pitchFamily="34" charset="0"/>
                <a:ea typeface="Arial" pitchFamily="34" charset="-122"/>
                <a:cs typeface="Arial" pitchFamily="34" charset="-120"/>
              </a:rPr>
              <a:t>⚠ Nunca dejes que el cliente decida sus propios privilegios
</a:t>
            </a:r>
            <a:endParaRPr lang="en-US" sz="2000" dirty="0"/>
          </a:p>
          <a:p>
            <a:pPr marL="0" indent="0">
              <a:buNone/>
            </a:pPr>
            <a:r>
              <a:rPr lang="en-US" sz="1900" dirty="0">
                <a:solidFill>
                  <a:srgbClr val="212121"/>
                </a:solidFill>
                <a:latin typeface="Arial" pitchFamily="34" charset="0"/>
                <a:ea typeface="Arial" pitchFamily="34" charset="-122"/>
                <a:cs typeface="Arial" pitchFamily="34" charset="-120"/>
              </a:rPr>
              <a:t>RolUsuario.USER está fijado aquí mismo, en el servidor — no viene del DTO que manda el cliente. Si RegisterRequestDTO incluyera un campo rol y lo guardaras tal cual, cualquiera podría registrarse a sí mismo como ADMIN con solo añadirlo al JSON.</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Abriendo la ruta de registro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1554480"/>
            <a:ext cx="11091672" cy="914400"/>
          </a:xfrm>
          <a:prstGeom prst="rect">
            <a:avLst/>
          </a:prstGeom>
          <a:noFill/>
          <a:ln/>
        </p:spPr>
        <p:txBody>
          <a:bodyPr wrap="square" rtlCol="0" anchor="t"/>
          <a:lstStyle/>
          <a:p>
            <a:pPr marL="0" indent="0">
              <a:buNone/>
            </a:pPr>
            <a:r>
              <a:rPr lang="en-US" sz="1850" dirty="0">
                <a:solidFill>
                  <a:srgbClr val="212121"/>
                </a:solidFill>
                <a:latin typeface="Arial" pitchFamily="34" charset="0"/>
                <a:ea typeface="Arial" pitchFamily="34" charset="-122"/>
                <a:cs typeface="Arial" pitchFamily="34" charset="-120"/>
              </a:rPr>
              <a:t>Como cualquier otra ruta nueva, hay que abrirla explícitamente. Añade esta regla antes de anyRequest().authenticated(), porque esa regla final captura todo lo que no haya coincidido antes:</a:t>
            </a:r>
            <a:endParaRPr lang="en-US" sz="1850" dirty="0"/>
          </a:p>
        </p:txBody>
      </p:sp>
      <p:sp>
        <p:nvSpPr>
          <p:cNvPr id="6" name="Shape 4"/>
          <p:cNvSpPr/>
          <p:nvPr/>
        </p:nvSpPr>
        <p:spPr>
          <a:xfrm>
            <a:off x="548640" y="2834640"/>
            <a:ext cx="11091672" cy="77724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834640"/>
            <a:ext cx="73152" cy="777240"/>
          </a:xfrm>
          <a:prstGeom prst="rect">
            <a:avLst/>
          </a:prstGeom>
          <a:solidFill>
            <a:srgbClr val="FFA000"/>
          </a:solidFill>
          <a:ln w="12700">
            <a:solidFill>
              <a:srgbClr val="FFA000"/>
            </a:solidFill>
            <a:prstDash val="solid"/>
          </a:ln>
        </p:spPr>
        <p:txBody>
          <a:bodyPr/>
          <a:lstStyle/>
          <a:p>
            <a:endParaRPr lang="es-ES"/>
          </a:p>
        </p:txBody>
      </p:sp>
      <p:sp>
        <p:nvSpPr>
          <p:cNvPr id="8" name="Text 6"/>
          <p:cNvSpPr/>
          <p:nvPr/>
        </p:nvSpPr>
        <p:spPr>
          <a:xfrm>
            <a:off x="822960" y="2944368"/>
            <a:ext cx="10588752" cy="557784"/>
          </a:xfrm>
          <a:prstGeom prst="rect">
            <a:avLst/>
          </a:prstGeom>
          <a:noFill/>
          <a:ln/>
        </p:spPr>
        <p:txBody>
          <a:bodyPr wrap="square" rtlCol="0" anchor="t"/>
          <a:lstStyle/>
          <a:p>
            <a:pPr marL="0" indent="0">
              <a:buNone/>
            </a:pPr>
            <a:r>
              <a:rPr lang="en-US" sz="1550" dirty="0">
                <a:solidFill>
                  <a:srgbClr val="263238"/>
                </a:solidFill>
                <a:latin typeface="Courier New" pitchFamily="34" charset="0"/>
                <a:ea typeface="Courier New" pitchFamily="34" charset="-122"/>
                <a:cs typeface="Courier New" pitchFamily="34" charset="-120"/>
              </a:rPr>
              <a:t>.requestMatchers(HttpMethod.POST, "/api/v1/auth/register").permitAll()</a:t>
            </a:r>
            <a:endParaRPr lang="en-US" sz="1550" dirty="0"/>
          </a:p>
        </p:txBody>
      </p:sp>
      <p:sp>
        <p:nvSpPr>
          <p:cNvPr id="9" name="Text 7"/>
          <p:cNvSpPr/>
          <p:nvPr/>
        </p:nvSpPr>
        <p:spPr>
          <a:xfrm>
            <a:off x="548640" y="3977640"/>
            <a:ext cx="11091672" cy="640080"/>
          </a:xfrm>
          <a:prstGeom prst="rect">
            <a:avLst/>
          </a:prstGeom>
          <a:noFill/>
          <a:ln/>
        </p:spPr>
        <p:txBody>
          <a:bodyPr wrap="square" rtlCol="0" anchor="t"/>
          <a:lstStyle/>
          <a:p>
            <a:pPr marL="0" indent="0">
              <a:buNone/>
            </a:pPr>
            <a:r>
              <a:rPr lang="en-US" sz="1700" dirty="0">
                <a:solidFill>
                  <a:srgbClr val="757575"/>
                </a:solidFill>
                <a:latin typeface="Arial" pitchFamily="34" charset="0"/>
                <a:ea typeface="Arial" pitchFamily="34" charset="-122"/>
                <a:cs typeface="Arial" pitchFamily="34" charset="-120"/>
              </a:rPr>
              <a:t>Pero si nadie puede auto-asignarse ADMIN, ¿de dónde sale el primero? Ese usuario tiene que venir de fuera del propio flujo de registro.</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El primer ADMIN: un ApplicationRunner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188720"/>
            <a:ext cx="11091672" cy="420624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188720"/>
            <a:ext cx="73152" cy="4206240"/>
          </a:xfrm>
          <a:prstGeom prst="rect">
            <a:avLst/>
          </a:prstGeom>
          <a:solidFill>
            <a:srgbClr val="FFA000"/>
          </a:solidFill>
          <a:ln w="12700">
            <a:solidFill>
              <a:srgbClr val="FFA000"/>
            </a:solidFill>
            <a:prstDash val="solid"/>
          </a:ln>
        </p:spPr>
        <p:txBody>
          <a:bodyPr/>
          <a:lstStyle/>
          <a:p>
            <a:endParaRPr lang="es-ES"/>
          </a:p>
        </p:txBody>
      </p:sp>
      <p:sp>
        <p:nvSpPr>
          <p:cNvPr id="7" name="Text 5"/>
          <p:cNvSpPr/>
          <p:nvPr/>
        </p:nvSpPr>
        <p:spPr>
          <a:xfrm>
            <a:off x="822960" y="1298448"/>
            <a:ext cx="10588752" cy="3986784"/>
          </a:xfrm>
          <a:prstGeom prst="rect">
            <a:avLst/>
          </a:prstGeom>
          <a:noFill/>
          <a:ln/>
        </p:spPr>
        <p:txBody>
          <a:bodyPr wrap="square" rtlCol="0" anchor="t"/>
          <a:lstStyle/>
          <a:p>
            <a:pPr marL="0" indent="0">
              <a:buNone/>
            </a:pPr>
            <a:r>
              <a:rPr lang="en-US" sz="1150" dirty="0">
                <a:solidFill>
                  <a:srgbClr val="263238"/>
                </a:solidFill>
                <a:latin typeface="Courier New" pitchFamily="34" charset="0"/>
                <a:ea typeface="Courier New" pitchFamily="34" charset="-122"/>
                <a:cs typeface="Courier New" pitchFamily="34" charset="-120"/>
              </a:rPr>
              <a:t>@Component</a:t>
            </a:r>
            <a:endParaRPr lang="en-US" sz="1150" dirty="0"/>
          </a:p>
          <a:p>
            <a:pPr marL="0" indent="0">
              <a:buNone/>
            </a:pPr>
            <a:r>
              <a:rPr lang="en-US" sz="1150" dirty="0">
                <a:solidFill>
                  <a:srgbClr val="263238"/>
                </a:solidFill>
                <a:latin typeface="Courier New" pitchFamily="34" charset="0"/>
                <a:ea typeface="Courier New" pitchFamily="34" charset="-122"/>
                <a:cs typeface="Courier New" pitchFamily="34" charset="-120"/>
              </a:rPr>
              <a:t>@RequiredArgsConstructor</a:t>
            </a:r>
            <a:endParaRPr lang="en-US" sz="1150" dirty="0"/>
          </a:p>
          <a:p>
            <a:pPr marL="0" indent="0">
              <a:buNone/>
            </a:pPr>
            <a:r>
              <a:rPr lang="en-US" sz="1150" dirty="0">
                <a:solidFill>
                  <a:srgbClr val="263238"/>
                </a:solidFill>
                <a:latin typeface="Courier New" pitchFamily="34" charset="0"/>
                <a:ea typeface="Courier New" pitchFamily="34" charset="-122"/>
                <a:cs typeface="Courier New" pitchFamily="34" charset="-120"/>
              </a:rPr>
              <a:t>public class UsuariosSeed implements ApplicationRunner {</a:t>
            </a:r>
            <a:endParaRPr lang="en-US" sz="1150" dirty="0"/>
          </a:p>
          <a:p>
            <a:pPr marL="0" indent="0">
              <a:buNone/>
            </a:pPr>
            <a:endParaRPr lang="en-US" sz="1150" dirty="0"/>
          </a:p>
          <a:p>
            <a:pPr marL="0" indent="0">
              <a:buNone/>
            </a:pPr>
            <a:r>
              <a:rPr lang="en-US" sz="1150" dirty="0">
                <a:solidFill>
                  <a:srgbClr val="263238"/>
                </a:solidFill>
                <a:latin typeface="Courier New" pitchFamily="34" charset="0"/>
                <a:ea typeface="Courier New" pitchFamily="34" charset="-122"/>
                <a:cs typeface="Courier New" pitchFamily="34" charset="-120"/>
              </a:rPr>
              <a:t>    private final UsuarioRepository usuarioRepository;</a:t>
            </a:r>
            <a:endParaRPr lang="en-US" sz="1150" dirty="0"/>
          </a:p>
          <a:p>
            <a:pPr marL="0" indent="0">
              <a:buNone/>
            </a:pPr>
            <a:r>
              <a:rPr lang="en-US" sz="1150" dirty="0">
                <a:solidFill>
                  <a:srgbClr val="263238"/>
                </a:solidFill>
                <a:latin typeface="Courier New" pitchFamily="34" charset="0"/>
                <a:ea typeface="Courier New" pitchFamily="34" charset="-122"/>
                <a:cs typeface="Courier New" pitchFamily="34" charset="-120"/>
              </a:rPr>
              <a:t>    private final PasswordEncoder passwordEncoder;</a:t>
            </a:r>
            <a:endParaRPr lang="en-US" sz="1150" dirty="0"/>
          </a:p>
          <a:p>
            <a:pPr marL="0" indent="0">
              <a:buNone/>
            </a:pPr>
            <a:endParaRPr lang="en-US" sz="1150" dirty="0"/>
          </a:p>
          <a:p>
            <a:pPr marL="0" indent="0">
              <a:buNone/>
            </a:pPr>
            <a:r>
              <a:rPr lang="en-US" sz="1150" dirty="0">
                <a:solidFill>
                  <a:srgbClr val="263238"/>
                </a:solidFill>
                <a:latin typeface="Courier New" pitchFamily="34" charset="0"/>
                <a:ea typeface="Courier New" pitchFamily="34" charset="-122"/>
                <a:cs typeface="Courier New" pitchFamily="34" charset="-120"/>
              </a:rPr>
              <a:t>    @Value("${libreria.admin.password}")</a:t>
            </a:r>
            <a:endParaRPr lang="en-US" sz="1150" dirty="0"/>
          </a:p>
          <a:p>
            <a:pPr marL="0" indent="0">
              <a:buNone/>
            </a:pPr>
            <a:r>
              <a:rPr lang="en-US" sz="1150" dirty="0">
                <a:solidFill>
                  <a:srgbClr val="263238"/>
                </a:solidFill>
                <a:latin typeface="Courier New" pitchFamily="34" charset="0"/>
                <a:ea typeface="Courier New" pitchFamily="34" charset="-122"/>
                <a:cs typeface="Courier New" pitchFamily="34" charset="-120"/>
              </a:rPr>
              <a:t>    private String adminPassword;</a:t>
            </a:r>
            <a:endParaRPr lang="en-US" sz="1150" dirty="0"/>
          </a:p>
          <a:p>
            <a:pPr marL="0" indent="0">
              <a:buNone/>
            </a:pPr>
            <a:endParaRPr lang="en-US" sz="1150" dirty="0"/>
          </a:p>
          <a:p>
            <a:pPr marL="0" indent="0">
              <a:buNone/>
            </a:pPr>
            <a:r>
              <a:rPr lang="en-US" sz="1150" dirty="0">
                <a:solidFill>
                  <a:srgbClr val="263238"/>
                </a:solidFill>
                <a:latin typeface="Courier New" pitchFamily="34" charset="0"/>
                <a:ea typeface="Courier New" pitchFamily="34" charset="-122"/>
                <a:cs typeface="Courier New" pitchFamily="34" charset="-120"/>
              </a:rPr>
              <a:t>    @Override</a:t>
            </a:r>
            <a:endParaRPr lang="en-US" sz="1150" dirty="0"/>
          </a:p>
          <a:p>
            <a:pPr marL="0" indent="0">
              <a:buNone/>
            </a:pPr>
            <a:r>
              <a:rPr lang="en-US" sz="1150" dirty="0">
                <a:solidFill>
                  <a:srgbClr val="263238"/>
                </a:solidFill>
                <a:latin typeface="Courier New" pitchFamily="34" charset="0"/>
                <a:ea typeface="Courier New" pitchFamily="34" charset="-122"/>
                <a:cs typeface="Courier New" pitchFamily="34" charset="-120"/>
              </a:rPr>
              <a:t>    public void run(ApplicationArguments args) {</a:t>
            </a:r>
            <a:endParaRPr lang="en-US" sz="1150" dirty="0"/>
          </a:p>
          <a:p>
            <a:pPr marL="0" indent="0">
              <a:buNone/>
            </a:pPr>
            <a:r>
              <a:rPr lang="en-US" sz="1150" dirty="0">
                <a:solidFill>
                  <a:srgbClr val="263238"/>
                </a:solidFill>
                <a:latin typeface="Courier New" pitchFamily="34" charset="0"/>
                <a:ea typeface="Courier New" pitchFamily="34" charset="-122"/>
                <a:cs typeface="Courier New" pitchFamily="34" charset="-120"/>
              </a:rPr>
              <a:t>        if (usuarioRepository.findByUsername("admin").isEmpty()) {</a:t>
            </a:r>
            <a:endParaRPr lang="en-US" sz="1150" dirty="0"/>
          </a:p>
          <a:p>
            <a:pPr marL="0" indent="0">
              <a:buNone/>
            </a:pPr>
            <a:r>
              <a:rPr lang="en-US" sz="1150" dirty="0">
                <a:solidFill>
                  <a:srgbClr val="263238"/>
                </a:solidFill>
                <a:latin typeface="Courier New" pitchFamily="34" charset="0"/>
                <a:ea typeface="Courier New" pitchFamily="34" charset="-122"/>
                <a:cs typeface="Courier New" pitchFamily="34" charset="-120"/>
              </a:rPr>
              <a:t>            Usuario admin = new Usuario();</a:t>
            </a:r>
            <a:endParaRPr lang="en-US" sz="1150" dirty="0"/>
          </a:p>
          <a:p>
            <a:pPr marL="0" indent="0">
              <a:buNone/>
            </a:pPr>
            <a:r>
              <a:rPr lang="en-US" sz="1150" dirty="0">
                <a:solidFill>
                  <a:srgbClr val="263238"/>
                </a:solidFill>
                <a:latin typeface="Courier New" pitchFamily="34" charset="0"/>
                <a:ea typeface="Courier New" pitchFamily="34" charset="-122"/>
                <a:cs typeface="Courier New" pitchFamily="34" charset="-120"/>
              </a:rPr>
              <a:t>            admin.setUsername("admin");</a:t>
            </a:r>
            <a:endParaRPr lang="en-US" sz="1150" dirty="0"/>
          </a:p>
          <a:p>
            <a:pPr marL="0" indent="0">
              <a:buNone/>
            </a:pPr>
            <a:r>
              <a:rPr lang="en-US" sz="1150" dirty="0">
                <a:solidFill>
                  <a:srgbClr val="263238"/>
                </a:solidFill>
                <a:latin typeface="Courier New" pitchFamily="34" charset="0"/>
                <a:ea typeface="Courier New" pitchFamily="34" charset="-122"/>
                <a:cs typeface="Courier New" pitchFamily="34" charset="-120"/>
              </a:rPr>
              <a:t>            admin.setPassword(passwordEncoder.encode(adminPassword));</a:t>
            </a:r>
            <a:endParaRPr lang="en-US" sz="1150" dirty="0"/>
          </a:p>
          <a:p>
            <a:pPr marL="0" indent="0">
              <a:buNone/>
            </a:pPr>
            <a:r>
              <a:rPr lang="en-US" sz="1150" dirty="0">
                <a:solidFill>
                  <a:srgbClr val="263238"/>
                </a:solidFill>
                <a:latin typeface="Courier New" pitchFamily="34" charset="0"/>
                <a:ea typeface="Courier New" pitchFamily="34" charset="-122"/>
                <a:cs typeface="Courier New" pitchFamily="34" charset="-120"/>
              </a:rPr>
              <a:t>            admin.setRol(RolUsuario.ADMIN);</a:t>
            </a:r>
            <a:endParaRPr lang="en-US" sz="1150" dirty="0"/>
          </a:p>
          <a:p>
            <a:pPr marL="0" indent="0">
              <a:buNone/>
            </a:pPr>
            <a:r>
              <a:rPr lang="en-US" sz="1150" dirty="0">
                <a:solidFill>
                  <a:srgbClr val="263238"/>
                </a:solidFill>
                <a:latin typeface="Courier New" pitchFamily="34" charset="0"/>
                <a:ea typeface="Courier New" pitchFamily="34" charset="-122"/>
                <a:cs typeface="Courier New" pitchFamily="34" charset="-120"/>
              </a:rPr>
              <a:t>            usuarioRepository.save(admin);</a:t>
            </a:r>
            <a:endParaRPr lang="en-US" sz="1150" dirty="0"/>
          </a:p>
          <a:p>
            <a:pPr marL="0" indent="0">
              <a:buNone/>
            </a:pPr>
            <a:r>
              <a:rPr lang="en-US" sz="1150" dirty="0">
                <a:solidFill>
                  <a:srgbClr val="263238"/>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263238"/>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263238"/>
                </a:solidFill>
                <a:latin typeface="Courier New" pitchFamily="34" charset="0"/>
                <a:ea typeface="Courier New" pitchFamily="34" charset="-122"/>
                <a:cs typeface="Courier New" pitchFamily="34" charset="-120"/>
              </a:rPr>
              <a:t>}</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Una vez en cada arranque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554480"/>
            <a:ext cx="11091672" cy="1737360"/>
          </a:xfrm>
          <a:prstGeom prst="roundRect">
            <a:avLst/>
          </a:prstGeom>
          <a:solidFill>
            <a:srgbClr val="FFF3E0"/>
          </a:solidFill>
          <a:ln w="19050">
            <a:solidFill>
              <a:srgbClr val="FFA000"/>
            </a:solidFill>
            <a:prstDash val="solid"/>
          </a:ln>
        </p:spPr>
        <p:txBody>
          <a:bodyPr/>
          <a:lstStyle/>
          <a:p>
            <a:endParaRPr lang="es-ES"/>
          </a:p>
        </p:txBody>
      </p:sp>
      <p:sp>
        <p:nvSpPr>
          <p:cNvPr id="6" name="Text 4"/>
          <p:cNvSpPr/>
          <p:nvPr/>
        </p:nvSpPr>
        <p:spPr>
          <a:xfrm>
            <a:off x="822960" y="1645920"/>
            <a:ext cx="10543032" cy="1554480"/>
          </a:xfrm>
          <a:prstGeom prst="rect">
            <a:avLst/>
          </a:prstGeom>
          <a:noFill/>
          <a:ln/>
        </p:spPr>
        <p:txBody>
          <a:bodyPr wrap="square" rtlCol="0" anchor="ctr"/>
          <a:lstStyle/>
          <a:p>
            <a:pPr marL="0" indent="0">
              <a:buNone/>
            </a:pPr>
            <a:r>
              <a:rPr lang="en-US" sz="1850" dirty="0">
                <a:solidFill>
                  <a:srgbClr val="212121"/>
                </a:solidFill>
                <a:latin typeface="Arial" pitchFamily="34" charset="0"/>
                <a:ea typeface="Arial" pitchFamily="34" charset="-122"/>
                <a:cs typeface="Arial" pitchFamily="34" charset="-120"/>
              </a:rPr>
              <a:t>ApplicationRunner es una interfaz de Spring Boot con un único método, run(...), que el framework ejecuta automáticamente una vez en cada arranque, después de crear el contexto y antes de aceptar tráfico. Basta con anotar @Component e implementar la interfaz — Spring Boot la detecta y la ejecuta sola.</a:t>
            </a:r>
            <a:endParaRPr lang="en-US" sz="1850" dirty="0"/>
          </a:p>
        </p:txBody>
      </p:sp>
      <p:sp>
        <p:nvSpPr>
          <p:cNvPr id="7" name="Text 5"/>
          <p:cNvSpPr/>
          <p:nvPr/>
        </p:nvSpPr>
        <p:spPr>
          <a:xfrm>
            <a:off x="548640" y="3657600"/>
            <a:ext cx="11091672" cy="1005840"/>
          </a:xfrm>
          <a:prstGeom prst="rect">
            <a:avLst/>
          </a:prstGeom>
          <a:noFill/>
          <a:ln/>
        </p:spPr>
        <p:txBody>
          <a:bodyPr wrap="square" rtlCol="0" anchor="t"/>
          <a:lstStyle/>
          <a:p>
            <a:pPr marL="0" indent="0">
              <a:buNone/>
            </a:pPr>
            <a:r>
              <a:rPr lang="en-US" sz="1600" dirty="0">
                <a:solidFill>
                  <a:srgbClr val="757575"/>
                </a:solidFill>
                <a:latin typeface="Arial" pitchFamily="34" charset="0"/>
                <a:ea typeface="Arial" pitchFamily="34" charset="-122"/>
                <a:cs typeface="Arial" pitchFamily="34" charset="-120"/>
              </a:rPr>
              <a:t>El if (...isEmpty()) es imprescindible: run(...) se ejecuta en cada arranque, no solo la primera vez. Sin esa comprobación, intentarías insertar el mismo admin cada vez que reinicies, y chocarías con la restricción unique = true del username.</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Esa contraseña tampoco debería estar en tu repositorio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1920240"/>
            <a:ext cx="11091672" cy="100584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Aunque admin123 ya no viva en ningún .java, si la escribieras tal cual en application-dev.yml seguirías teniendo el mismo problema: ese fichero se sube a Git. La solución es un fichero de propiedades aparte, que nunca se versiona:</a:t>
            </a:r>
            <a:endParaRPr lang="en-US" sz="1900" dirty="0"/>
          </a:p>
        </p:txBody>
      </p:sp>
      <p:sp>
        <p:nvSpPr>
          <p:cNvPr id="6" name="Shape 4"/>
          <p:cNvSpPr/>
          <p:nvPr/>
        </p:nvSpPr>
        <p:spPr>
          <a:xfrm>
            <a:off x="548640" y="3291840"/>
            <a:ext cx="11091672" cy="164592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3291840"/>
            <a:ext cx="73152" cy="1645920"/>
          </a:xfrm>
          <a:prstGeom prst="rect">
            <a:avLst/>
          </a:prstGeom>
          <a:solidFill>
            <a:srgbClr val="FFA000"/>
          </a:solidFill>
          <a:ln w="12700">
            <a:solidFill>
              <a:srgbClr val="FFA000"/>
            </a:solidFill>
            <a:prstDash val="solid"/>
          </a:ln>
        </p:spPr>
        <p:txBody>
          <a:bodyPr/>
          <a:lstStyle/>
          <a:p>
            <a:endParaRPr lang="es-ES"/>
          </a:p>
        </p:txBody>
      </p:sp>
      <p:sp>
        <p:nvSpPr>
          <p:cNvPr id="8" name="Text 6"/>
          <p:cNvSpPr/>
          <p:nvPr/>
        </p:nvSpPr>
        <p:spPr>
          <a:xfrm>
            <a:off x="822960" y="3401568"/>
            <a:ext cx="10588752" cy="1426464"/>
          </a:xfrm>
          <a:prstGeom prst="rect">
            <a:avLst/>
          </a:prstGeom>
          <a:noFill/>
          <a:ln/>
        </p:spPr>
        <p:txBody>
          <a:bodyPr wrap="square" rtlCol="0" anchor="t"/>
          <a:lstStyle/>
          <a:p>
            <a:pPr marL="0" indent="0">
              <a:buNone/>
            </a:pPr>
            <a:r>
              <a:rPr lang="en-US" sz="1700" dirty="0">
                <a:solidFill>
                  <a:srgbClr val="263238"/>
                </a:solidFill>
                <a:latin typeface="Courier New" pitchFamily="34" charset="0"/>
                <a:ea typeface="Courier New" pitchFamily="34" charset="-122"/>
                <a:cs typeface="Courier New" pitchFamily="34" charset="-120"/>
              </a:rPr>
              <a:t># application-dev.yml (SÍ se sube a Git)</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spring:</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config:</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import: "optional:application-dev-local.yml"</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El fichero local, fuera de Git</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188720"/>
            <a:ext cx="11091672" cy="128016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188720"/>
            <a:ext cx="73152" cy="1280160"/>
          </a:xfrm>
          <a:prstGeom prst="rect">
            <a:avLst/>
          </a:prstGeom>
          <a:solidFill>
            <a:srgbClr val="FFA000"/>
          </a:solidFill>
          <a:ln w="12700">
            <a:solidFill>
              <a:srgbClr val="FFA000"/>
            </a:solidFill>
            <a:prstDash val="solid"/>
          </a:ln>
        </p:spPr>
        <p:txBody>
          <a:bodyPr/>
          <a:lstStyle/>
          <a:p>
            <a:endParaRPr lang="es-ES"/>
          </a:p>
        </p:txBody>
      </p:sp>
      <p:sp>
        <p:nvSpPr>
          <p:cNvPr id="7" name="Text 5"/>
          <p:cNvSpPr/>
          <p:nvPr/>
        </p:nvSpPr>
        <p:spPr>
          <a:xfrm>
            <a:off x="822960" y="1298448"/>
            <a:ext cx="10588752" cy="1060704"/>
          </a:xfrm>
          <a:prstGeom prst="rect">
            <a:avLst/>
          </a:prstGeom>
          <a:noFill/>
          <a:ln/>
        </p:spPr>
        <p:txBody>
          <a:bodyPr wrap="square" rtlCol="0" anchor="t"/>
          <a:lstStyle/>
          <a:p>
            <a:pPr marL="0" indent="0">
              <a:buNone/>
            </a:pPr>
            <a:r>
              <a:rPr lang="en-US" sz="1450" dirty="0">
                <a:solidFill>
                  <a:srgbClr val="263238"/>
                </a:solidFill>
                <a:latin typeface="Courier New" pitchFamily="34" charset="0"/>
                <a:ea typeface="Courier New" pitchFamily="34" charset="-122"/>
                <a:cs typeface="Courier New" pitchFamily="34" charset="-120"/>
              </a:rPr>
              <a:t># application-dev-local.yml (en .gitignore, NO se sube a Git)</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libreria:</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admin:</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password: admin123</a:t>
            </a:r>
            <a:endParaRPr lang="en-US" sz="1450" dirty="0"/>
          </a:p>
        </p:txBody>
      </p:sp>
      <p:sp>
        <p:nvSpPr>
          <p:cNvPr id="8" name="Shape 6"/>
          <p:cNvSpPr/>
          <p:nvPr/>
        </p:nvSpPr>
        <p:spPr>
          <a:xfrm>
            <a:off x="548640" y="2743200"/>
            <a:ext cx="11091672" cy="1280160"/>
          </a:xfrm>
          <a:prstGeom prst="rect">
            <a:avLst/>
          </a:prstGeom>
          <a:solidFill>
            <a:srgbClr val="ECEFF1"/>
          </a:solidFill>
          <a:ln w="12700">
            <a:solidFill>
              <a:srgbClr val="EEEEEE"/>
            </a:solidFill>
            <a:prstDash val="solid"/>
          </a:ln>
        </p:spPr>
        <p:txBody>
          <a:bodyPr/>
          <a:lstStyle/>
          <a:p>
            <a:endParaRPr lang="es-ES"/>
          </a:p>
        </p:txBody>
      </p:sp>
      <p:sp>
        <p:nvSpPr>
          <p:cNvPr id="9" name="Shape 7"/>
          <p:cNvSpPr/>
          <p:nvPr/>
        </p:nvSpPr>
        <p:spPr>
          <a:xfrm>
            <a:off x="548640" y="2743200"/>
            <a:ext cx="73152" cy="1280160"/>
          </a:xfrm>
          <a:prstGeom prst="rect">
            <a:avLst/>
          </a:prstGeom>
          <a:solidFill>
            <a:srgbClr val="FFA000"/>
          </a:solidFill>
          <a:ln w="12700">
            <a:solidFill>
              <a:srgbClr val="FFA000"/>
            </a:solidFill>
            <a:prstDash val="solid"/>
          </a:ln>
        </p:spPr>
        <p:txBody>
          <a:bodyPr/>
          <a:lstStyle/>
          <a:p>
            <a:endParaRPr lang="es-ES"/>
          </a:p>
        </p:txBody>
      </p:sp>
      <p:sp>
        <p:nvSpPr>
          <p:cNvPr id="10" name="Text 8"/>
          <p:cNvSpPr/>
          <p:nvPr/>
        </p:nvSpPr>
        <p:spPr>
          <a:xfrm>
            <a:off x="822960" y="2852928"/>
            <a:ext cx="10588752" cy="1060704"/>
          </a:xfrm>
          <a:prstGeom prst="rect">
            <a:avLst/>
          </a:prstGeom>
          <a:noFill/>
          <a:ln/>
        </p:spPr>
        <p:txBody>
          <a:bodyPr wrap="square" rtlCol="0" anchor="t"/>
          <a:lstStyle/>
          <a:p>
            <a:pPr marL="0" indent="0">
              <a:buNone/>
            </a:pPr>
            <a:r>
              <a:rPr lang="en-US" sz="1450" dirty="0">
                <a:solidFill>
                  <a:srgbClr val="263238"/>
                </a:solidFill>
                <a:latin typeface="Courier New" pitchFamily="34" charset="0"/>
                <a:ea typeface="Courier New" pitchFamily="34" charset="-122"/>
                <a:cs typeface="Courier New" pitchFamily="34" charset="-120"/>
              </a:rPr>
              <a:t># application-dev-local.yml.example (SÍ se sube a Git — sin valores reales)</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libreria:</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admin:</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password: pon-aqui-tu-propia-contraseña</a:t>
            </a:r>
            <a:endParaRPr lang="en-US" sz="1450" dirty="0"/>
          </a:p>
        </p:txBody>
      </p:sp>
      <p:sp>
        <p:nvSpPr>
          <p:cNvPr id="11" name="Text 9"/>
          <p:cNvSpPr/>
          <p:nvPr/>
        </p:nvSpPr>
        <p:spPr>
          <a:xfrm>
            <a:off x="548640" y="4297680"/>
            <a:ext cx="11091672" cy="640080"/>
          </a:xfrm>
          <a:prstGeom prst="rect">
            <a:avLst/>
          </a:prstGeom>
          <a:noFill/>
          <a:ln/>
        </p:spPr>
        <p:txBody>
          <a:bodyPr wrap="square" rtlCol="0" anchor="t"/>
          <a:lstStyle/>
          <a:p>
            <a:pPr marL="0" indent="0">
              <a:buNone/>
            </a:pPr>
            <a:r>
              <a:rPr lang="en-US" sz="1450" dirty="0">
                <a:solidFill>
                  <a:srgbClr val="757575"/>
                </a:solidFill>
                <a:latin typeface="Arial" pitchFamily="34" charset="0"/>
                <a:ea typeface="Arial" pitchFamily="34" charset="-122"/>
                <a:cs typeface="Arial" pitchFamily="34" charset="-120"/>
              </a:rPr>
              <a:t>El prefijo optional: indica que la ausencia del fichero no provoca un error por sí sola. Pero @Value("${libreria.admin.password}") exige que la propiedad exista en alguna fuente: si falta, la aplicación no arranca.</a:t>
            </a:r>
            <a:endParaRPr lang="en-US" sz="14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Ese fichero no existe fuera de tu máquina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463040"/>
            <a:ext cx="11091672" cy="2103120"/>
          </a:xfrm>
          <a:prstGeom prst="roundRect">
            <a:avLst/>
          </a:prstGeom>
          <a:solidFill>
            <a:srgbClr val="FFF3E0"/>
          </a:solidFill>
          <a:ln w="28575">
            <a:solidFill>
              <a:srgbClr val="FFA000"/>
            </a:solidFill>
            <a:prstDash val="solid"/>
          </a:ln>
        </p:spPr>
        <p:txBody>
          <a:bodyPr/>
          <a:lstStyle/>
          <a:p>
            <a:endParaRPr lang="es-ES"/>
          </a:p>
        </p:txBody>
      </p:sp>
      <p:sp>
        <p:nvSpPr>
          <p:cNvPr id="6" name="Text 4"/>
          <p:cNvSpPr/>
          <p:nvPr/>
        </p:nvSpPr>
        <p:spPr>
          <a:xfrm>
            <a:off x="822960" y="1572768"/>
            <a:ext cx="10543032" cy="1883664"/>
          </a:xfrm>
          <a:prstGeom prst="rect">
            <a:avLst/>
          </a:prstGeom>
          <a:noFill/>
          <a:ln/>
        </p:spPr>
        <p:txBody>
          <a:bodyPr wrap="square" rtlCol="0" anchor="t"/>
          <a:lstStyle/>
          <a:p>
            <a:pPr marL="0" indent="0">
              <a:buNone/>
            </a:pPr>
            <a:r>
              <a:rPr lang="en-US" sz="1850" b="1" dirty="0">
                <a:solidFill>
                  <a:srgbClr val="4E342E"/>
                </a:solidFill>
                <a:latin typeface="Arial" pitchFamily="34" charset="0"/>
                <a:ea typeface="Arial" pitchFamily="34" charset="-122"/>
                <a:cs typeface="Arial" pitchFamily="34" charset="-120"/>
              </a:rPr>
              <a:t>⚠ Piénsalo cuando montes CI o un despliegue
</a:t>
            </a:r>
            <a:endParaRPr lang="en-US" sz="1850" dirty="0"/>
          </a:p>
          <a:p>
            <a:pPr marL="0" indent="0">
              <a:buNone/>
            </a:pPr>
            <a:r>
              <a:rPr lang="en-US" sz="1750" dirty="0">
                <a:solidFill>
                  <a:srgbClr val="212121"/>
                </a:solidFill>
                <a:latin typeface="Arial" pitchFamily="34" charset="0"/>
                <a:ea typeface="Arial" pitchFamily="34" charset="-122"/>
                <a:cs typeface="Arial" pitchFamily="34" charset="-120"/>
              </a:rPr>
              <a:t>Si no se sube a Git, no llega a ningún sitio por Git. Cualquier entorno que arranque tu aplicación desde el repositorio limpio —un pipeline de CI, un servidor de despliegue, el ordenador de un compañero— no tiene ese fichero, y la aplicación no arranca. En esos entornos tienes que inyectar cada valor por otra vía: una variable de entorno, un parámetro, o un "secreto" del propio sistema de CI.</a:t>
            </a:r>
            <a:endParaRPr lang="en-US" sz="1850" dirty="0"/>
          </a:p>
        </p:txBody>
      </p:sp>
      <p:sp>
        <p:nvSpPr>
          <p:cNvPr id="7" name="Text 5"/>
          <p:cNvSpPr/>
          <p:nvPr/>
        </p:nvSpPr>
        <p:spPr>
          <a:xfrm>
            <a:off x="548640" y="3886200"/>
            <a:ext cx="11091672" cy="777240"/>
          </a:xfrm>
          <a:prstGeom prst="rect">
            <a:avLst/>
          </a:prstGeom>
          <a:noFill/>
          <a:ln/>
        </p:spPr>
        <p:txBody>
          <a:bodyPr wrap="square" rtlCol="0" anchor="t"/>
          <a:lstStyle/>
          <a:p>
            <a:pPr marL="0" indent="0">
              <a:buNone/>
            </a:pPr>
            <a:r>
              <a:rPr lang="en-US" sz="1550" dirty="0">
                <a:solidFill>
                  <a:srgbClr val="757575"/>
                </a:solidFill>
                <a:latin typeface="Arial" pitchFamily="34" charset="0"/>
                <a:ea typeface="Arial" pitchFamily="34" charset="-122"/>
                <a:cs typeface="Arial" pitchFamily="34" charset="-120"/>
              </a:rPr>
              <a:t>Cada persona que clona el repositorio copia el .example, rellena sus propios valores, y ese fichero final se queda solo en su máquina — el mismo patrón que reutilizarás para el secreto de JWT.</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Lo que aún falta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2286000"/>
            <a:ext cx="11091672" cy="1828800"/>
          </a:xfrm>
          <a:prstGeom prst="roundRect">
            <a:avLst/>
          </a:prstGeom>
          <a:solidFill>
            <a:srgbClr val="FFF3E0"/>
          </a:solidFill>
          <a:ln w="19050">
            <a:solidFill>
              <a:srgbClr val="FFA000"/>
            </a:solidFill>
            <a:prstDash val="solid"/>
          </a:ln>
        </p:spPr>
        <p:txBody>
          <a:bodyPr/>
          <a:lstStyle/>
          <a:p>
            <a:endParaRPr lang="es-ES"/>
          </a:p>
        </p:txBody>
      </p:sp>
      <p:sp>
        <p:nvSpPr>
          <p:cNvPr id="6" name="Text 4"/>
          <p:cNvSpPr/>
          <p:nvPr/>
        </p:nvSpPr>
        <p:spPr>
          <a:xfrm>
            <a:off x="822960" y="2377440"/>
            <a:ext cx="10543032" cy="164592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Los usuarios ya no están definidos directamente en el código: viven en PostgreSQL y sus contraseñas se almacenan mediante hashes que no permiten recuperar el texto original. Pero sigue quedando el segundo problema del apartado anterior: HTTP Basic envía las credenciales en cada petición. En el próximo apartado, JWT permitirá autenticarse una vez y presentar un token en las peticiones siguientes.</a:t>
            </a:r>
            <a:endParaRPr lang="en-US" sz="1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Ideas clave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1554480"/>
            <a:ext cx="11091672" cy="3931920"/>
          </a:xfrm>
          <a:prstGeom prst="rect">
            <a:avLst/>
          </a:prstGeom>
          <a:noFill/>
          <a:ln/>
        </p:spPr>
        <p:txBody>
          <a:bodyPr wrap="square" rtlCol="0" anchor="t"/>
          <a:lstStyle/>
          <a:p>
            <a:pPr marL="190500" indent="-190500">
              <a:spcAft>
                <a:spcPts val="1800"/>
              </a:spcAft>
              <a:buSzPct val="100000"/>
              <a:buChar char="•"/>
            </a:pPr>
            <a:r>
              <a:rPr lang="en-US" sz="1700" dirty="0">
                <a:solidFill>
                  <a:srgbClr val="212121"/>
                </a:solidFill>
                <a:latin typeface="Arial" pitchFamily="34" charset="0"/>
                <a:ea typeface="Arial" pitchFamily="34" charset="-122"/>
                <a:cs typeface="Arial" pitchFamily="34" charset="-120"/>
              </a:rPr>
              <a:t>Cifrar es reversible (con clave); hashear no lo es — las contraseñas se hashean, nunca se cifran.</a:t>
            </a:r>
            <a:endParaRPr lang="en-US" sz="1700" dirty="0"/>
          </a:p>
          <a:p>
            <a:pPr marL="190500" indent="-190500">
              <a:spcAft>
                <a:spcPts val="1800"/>
              </a:spcAft>
              <a:buSzPct val="100000"/>
              <a:buChar char="•"/>
            </a:pPr>
            <a:r>
              <a:rPr lang="en-US" sz="1700" dirty="0">
                <a:solidFill>
                  <a:srgbClr val="212121"/>
                </a:solidFill>
                <a:latin typeface="Arial" pitchFamily="34" charset="0"/>
                <a:ea typeface="Arial" pitchFamily="34" charset="-122"/>
                <a:cs typeface="Arial" pitchFamily="34" charset="-120"/>
              </a:rPr>
              <a:t>La sal hace que contraseñas iguales produzcan hashes distintos, evitando comparación directa y tablas arcoíris.</a:t>
            </a:r>
            <a:endParaRPr lang="en-US" sz="1700" dirty="0"/>
          </a:p>
          <a:p>
            <a:pPr marL="190500" indent="-190500">
              <a:spcAft>
                <a:spcPts val="1800"/>
              </a:spcAft>
              <a:buSzPct val="100000"/>
              <a:buChar char="•"/>
            </a:pPr>
            <a:r>
              <a:rPr lang="en-US" sz="1700" dirty="0">
                <a:solidFill>
                  <a:srgbClr val="212121"/>
                </a:solidFill>
                <a:latin typeface="Arial" pitchFamily="34" charset="0"/>
                <a:ea typeface="Arial" pitchFamily="34" charset="-122"/>
                <a:cs typeface="Arial" pitchFamily="34" charset="-120"/>
              </a:rPr>
              <a:t>BCrypt es deliberadamente lento (factor de coste configurable), resistente a fuerza bruta frente a un hash rápido como SHA-256 a secas.</a:t>
            </a:r>
            <a:endParaRPr lang="en-US" sz="1700" dirty="0"/>
          </a:p>
          <a:p>
            <a:pPr marL="190500" indent="-190500">
              <a:buSzPct val="100000"/>
              <a:buChar char="•"/>
            </a:pPr>
            <a:r>
              <a:rPr lang="en-US" sz="1700" dirty="0">
                <a:solidFill>
                  <a:srgbClr val="212121"/>
                </a:solidFill>
                <a:latin typeface="Arial" pitchFamily="34" charset="0"/>
                <a:ea typeface="Arial" pitchFamily="34" charset="-122"/>
                <a:cs typeface="Arial" pitchFamily="34" charset="-120"/>
              </a:rPr>
              <a:t>DelegatingPasswordEncoder antepone un prefijo ({bcrypt}) al hash, indicando el algoritmo usado — el mismo bean codifica y verifica.</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Ideas clave (cont.)</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1463040"/>
            <a:ext cx="11091672" cy="4297680"/>
          </a:xfrm>
          <a:prstGeom prst="rect">
            <a:avLst/>
          </a:prstGeom>
          <a:noFill/>
          <a:ln/>
        </p:spPr>
        <p:txBody>
          <a:bodyPr wrap="square" rtlCol="0" anchor="t"/>
          <a:lstStyle/>
          <a:p>
            <a:pPr marL="190500" indent="-190500">
              <a:spcAft>
                <a:spcPts val="1800"/>
              </a:spcAft>
              <a:buSzPct val="100000"/>
              <a:buChar char="•"/>
            </a:pPr>
            <a:r>
              <a:rPr lang="en-US" sz="1600" dirty="0">
                <a:solidFill>
                  <a:srgbClr val="212121"/>
                </a:solidFill>
                <a:latin typeface="Arial" pitchFamily="34" charset="0"/>
                <a:ea typeface="Arial" pitchFamily="34" charset="-122"/>
                <a:cs typeface="Arial" pitchFamily="34" charset="-120"/>
              </a:rPr>
              <a:t>Un UserDetailsService propio sustituye al InMemoryUserDetailsManager: busca los usuarios en la base de datos real; cambiar el almacén no obliga por sí mismo a modificar securityFilterChain.</a:t>
            </a:r>
            <a:endParaRPr lang="en-US" sz="1600" dirty="0"/>
          </a:p>
          <a:p>
            <a:pPr marL="190500" indent="-190500">
              <a:spcAft>
                <a:spcPts val="1800"/>
              </a:spcAft>
              <a:buSzPct val="100000"/>
              <a:buChar char="•"/>
            </a:pPr>
            <a:r>
              <a:rPr lang="en-US" sz="1600" dirty="0">
                <a:solidFill>
                  <a:srgbClr val="212121"/>
                </a:solidFill>
                <a:latin typeface="Arial" pitchFamily="34" charset="0"/>
                <a:ea typeface="Arial" pitchFamily="34" charset="-122"/>
                <a:cs typeface="Arial" pitchFamily="34" charset="-120"/>
              </a:rPr>
              <a:t>Un endpoint de registro público crea usuarios reales, siempre con rol USER fijado en el servidor. El primer ADMIN no puede salir de ahí: hace falta un seed aparte (ApplicationRunner).</a:t>
            </a:r>
            <a:endParaRPr lang="en-US" sz="1600" dirty="0"/>
          </a:p>
          <a:p>
            <a:pPr marL="190500" indent="-190500">
              <a:buSzPct val="100000"/>
              <a:buChar char="•"/>
            </a:pPr>
            <a:r>
              <a:rPr lang="en-US" sz="1600" dirty="0">
                <a:solidFill>
                  <a:srgbClr val="212121"/>
                </a:solidFill>
                <a:latin typeface="Arial" pitchFamily="34" charset="0"/>
                <a:ea typeface="Arial" pitchFamily="34" charset="-122"/>
                <a:cs typeface="Arial" pitchFamily="34" charset="-120"/>
              </a:rPr>
              <a:t>Ese seed no debe llevar la contraseña escrita en el código ni en un fichero versionado: va en application-dev-local.yml (en .gitignore), importado con spring.config.import: optional:..., acompañado de un .example sin valores reales que sí se sube a Git.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2802</Words>
  <Application>Microsoft Office PowerPoint</Application>
  <PresentationFormat>Panorámica</PresentationFormat>
  <Paragraphs>269</Paragraphs>
  <Slides>28</Slides>
  <Notes>28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28</vt:i4>
      </vt:variant>
    </vt:vector>
  </HeadingPairs>
  <TitlesOfParts>
    <vt:vector size="31"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Usuarios persistidos y BCrypt</dc:title>
  <dc:subject>PptxGenJS Presentation</dc:subject>
  <dc:creator>Programación de Servicios y Procesos</dc:creator>
  <cp:lastModifiedBy>VENTURA EDO, AITOR</cp:lastModifiedBy>
  <cp:revision>1</cp:revision>
  <dcterms:created xsi:type="dcterms:W3CDTF">2026-08-06T21:36:08Z</dcterms:created>
  <dcterms:modified xsi:type="dcterms:W3CDTF">2026-08-07T19:15:54Z</dcterms:modified>
</cp:coreProperties>
</file>