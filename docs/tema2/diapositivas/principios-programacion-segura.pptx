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993E-A52B-444F-B873-C7BABFD2A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D3615-F3B3-4A1E-9D73-38F25C2B4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12F34-D083-4BC3-A6EA-3F13BC7D0A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68567-2075-4819-926C-F0A0923B5B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B7BB4-BD6B-457B-A5F7-7FEC3235AF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58B1-10A7-4B47-AA0D-54963D1F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988E-39D7-45EF-AA0D-2CD13943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BBCC4-E3B5-4605-9024-420C97692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5EF2-E774-419A-8C78-39B87D0D3E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F9D3F-C4F8-4FE9-8141-F19157D568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932D-4BC9-4D03-B7FB-72005B12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1FEA0-BDA8-438C-AA35-EDF45CE8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28AB8-EB99-4778-A405-E255A32267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C9526-9530-4212-9AF1-5C5A542E4B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EFEC4-186C-4400-BF2A-7CE3F6ADC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544D-E0E7-4710-99CA-DE2D57DD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9488-C3DA-4849-81FE-B597FBAA9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6D2EE-A180-4389-BCF3-78724FAFA7A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6D701-AF67-475F-BA0E-BD607B5655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EF156-43E5-4756-8A83-47FA7FB190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24346-16FC-4F2B-B912-8CFD6CBDE1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05C2-01D3-4E0E-A3C5-51E870F3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3CA15-4A08-4933-85D4-88E5BE431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7A05F-2A53-4941-9892-F5F69E650FB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8EF32-C976-4D39-BC1E-83A733687D1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CC1D3-136F-4184-9E38-D56AF178AFC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E853A-E808-4F91-A6DF-0961DE4B86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1CDE0-3BDC-4B6C-8432-54E4D170F9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9A6B7-7074-4FD9-9FE5-DCE55D4418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58B8-B0A0-4BE7-91F1-A84A8808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68FA7-A55B-4B68-A0E4-CEA2C33273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41B2C-56A7-40FB-856D-D82BF167CD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8B8D8-0BBA-4309-994A-4A23CB11E2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A2080-3087-48F7-A160-01387EEBFC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7556D-58D1-4BA1-9856-226A8A9838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54D29-A3B2-4E6F-ADC0-D5CE3B8844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E277-D9DA-4396-9130-E2DC420A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2C22-DD55-437F-A342-B7F567431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C2FC0-723A-429E-949B-9ADD539D658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FB8EC-F4B9-4D97-926B-A5F61A7C91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4E478-A821-4AF2-BF7A-9256782128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1ADB8-8ED6-47DA-A6B7-6F54B18B3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0D4F-D708-4C15-A71B-B1580287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519DD1-D676-4E61-A397-80AEF79C0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9C3E2-06C7-4B3B-9927-F64990A6B1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4660B-D8A8-4DAD-8835-B9E00E27C3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8643D-E3DD-423F-8E75-025EC7CA3C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1D274-3358-4172-8906-0209AEBC00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754E-B9D7-45B3-B499-7C2637D4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59175-11EF-44DA-BF66-43C79CF6E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36C48-0D87-4157-AE55-F9D3ED3180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12A01-E4F7-4B6F-B098-CDA3040C81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1C9C6-78DD-4B6C-86B3-59CA519AEB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42550-2B0C-412F-9610-A146E3DFB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ABA55-549E-4DF9-AF05-21844F59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FBFBC-7913-4544-B05C-F5C73E90C2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243BF-9BB2-419D-9965-B518825BB3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58CB9-E37E-4D1C-9C5E-0393786440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5C7E6-1F76-49BC-8D23-CB0FA937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A7CB0-A76A-4ECA-BB35-9799D06EF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07550-4654-49F6-BD07-1B5B62B99CE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BB7A-15EE-4CAA-AB69-352BB6AD9E9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E0F7F-A169-4CAD-80B1-D7DB30CAECC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AFFB0-1024-4D11-8C1B-B692396967CE}"/>
              </a:ext>
            </a:extLst>
          </p:cNvPr>
          <p:cNvSpPr>
            <a:spLocks noGrp="1"/>
          </p:cNvSpPr>
          <p:nvPr/>
        </p:nvSpPr>
        <p:spPr>
          <a:xfrm>
            <a:off x="621792" y="56692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D2C9C5"/>
                </a:solidFill>
                <a:latin typeface="Arial"/>
                <a:ea typeface="Arial"/>
                <a:cs typeface="Arial"/>
              </a:rPr>
              <a:t>PROGRAMACIÓN DE SERVICIOS Y PROCESOS  —  TEMA 2: PROGRAMACIÓN SEGURA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08E64-C9F2-47DF-A16C-5B228BB6C8F4}"/>
              </a:ext>
            </a:extLst>
          </p:cNvPr>
          <p:cNvSpPr>
            <a:spLocks noGrp="1"/>
          </p:cNvSpPr>
          <p:nvPr/>
        </p:nvSpPr>
        <p:spPr>
          <a:xfrm>
            <a:off x="621792" y="1993392"/>
            <a:ext cx="777240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Principios de programación</a:t>
            </a:r>
            <a:b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B848ED-7152-4C62-BCB6-E76134161446}"/>
              </a:ext>
            </a:extLst>
          </p:cNvPr>
          <p:cNvSpPr>
            <a:spLocks noGrp="1"/>
          </p:cNvSpPr>
          <p:nvPr/>
        </p:nvSpPr>
        <p:spPr>
          <a:xfrm>
            <a:off x="0" y="5102352"/>
            <a:ext cx="12191695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414D1-B5D5-45DB-9779-AE7F0ECF3503}"/>
              </a:ext>
            </a:extLst>
          </p:cNvPr>
          <p:cNvSpPr>
            <a:spLocks noGrp="1"/>
          </p:cNvSpPr>
          <p:nvPr/>
        </p:nvSpPr>
        <p:spPr>
          <a:xfrm>
            <a:off x="621792" y="5376672"/>
            <a:ext cx="10058400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1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</a:t>
            </a:r>
            <a:r>
              <a:rPr lang="es-ES" sz="21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y gestión de errores</a:t>
            </a:r>
          </a:p>
        </p:txBody>
      </p:sp>
    </p:spTree>
    <p:extLst>
      <p:ext uri="{BB962C8B-B14F-4D97-AF65-F5344CB8AC3E}">
        <p14:creationId xmlns:p14="http://schemas.microsoft.com/office/powerpoint/2010/main" val="52701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150010-C247-4434-BAA6-6CA96DEDA5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FD69D-0C75-4270-B246-E80C30A5C1E0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4239D-CC7E-4866-9192-32C8D3C73F42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de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Servicios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y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Procesos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— Tema 2: </a:t>
            </a:r>
            <a:r>
              <a:rPr lang="es-ES"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Principios de p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rogramación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segura</a:t>
            </a:r>
            <a:endParaRPr sz="1000" b="0" i="0" dirty="0">
              <a:solidFill>
                <a:srgbClr val="787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7593A-72E8-4758-993C-90317C39D89C}"/>
              </a:ext>
            </a:extLst>
          </p:cNvPr>
          <p:cNvSpPr>
            <a:spLocks noGrp="1"/>
          </p:cNvSpPr>
          <p:nvPr/>
        </p:nvSpPr>
        <p:spPr>
          <a:xfrm>
            <a:off x="960120" y="1042415"/>
            <a:ext cx="10241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Controlar lo que entra y lo que sale de una API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173D405-B2C6-4BD9-A08E-8EF8B847DEC7}"/>
              </a:ext>
            </a:extLst>
          </p:cNvPr>
          <p:cNvSpPr>
            <a:spLocks noGrp="1"/>
          </p:cNvSpPr>
          <p:nvPr/>
        </p:nvSpPr>
        <p:spPr>
          <a:xfrm>
            <a:off x="777240" y="1874519"/>
            <a:ext cx="3337560" cy="297180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8699C-3738-4E9F-9DD1-B9BBA3FA1FD1}"/>
              </a:ext>
            </a:extLst>
          </p:cNvPr>
          <p:cNvSpPr>
            <a:spLocks noGrp="1"/>
          </p:cNvSpPr>
          <p:nvPr/>
        </p:nvSpPr>
        <p:spPr>
          <a:xfrm>
            <a:off x="1097280" y="2103120"/>
            <a:ext cx="2697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2668B6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7F82B-671D-43A0-AA83-AB86B1744545}"/>
              </a:ext>
            </a:extLst>
          </p:cNvPr>
          <p:cNvSpPr>
            <a:spLocks noGrp="1"/>
          </p:cNvSpPr>
          <p:nvPr/>
        </p:nvSpPr>
        <p:spPr>
          <a:xfrm>
            <a:off x="1097280" y="2743200"/>
            <a:ext cx="269748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Validar antes de ejecutar</a:t>
            </a:r>
            <a:b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la lógica de negocio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7C5F38-419A-4763-8BE0-A9D21516F708}"/>
              </a:ext>
            </a:extLst>
          </p:cNvPr>
          <p:cNvSpPr>
            <a:spLocks noGrp="1"/>
          </p:cNvSpPr>
          <p:nvPr/>
        </p:nvSpPr>
        <p:spPr>
          <a:xfrm>
            <a:off x="4434840" y="1874519"/>
            <a:ext cx="3337560" cy="2971800"/>
          </a:xfrm>
          <a:prstGeom prst="roundRect">
            <a:avLst/>
          </a:prstGeom>
          <a:solidFill>
            <a:srgbClr val="EAF6EB"/>
          </a:solidFill>
          <a:ln w="15240">
            <a:solidFill>
              <a:srgbClr val="2D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0C7C6-EFF3-4157-B097-044B65FD7562}"/>
              </a:ext>
            </a:extLst>
          </p:cNvPr>
          <p:cNvSpPr>
            <a:spLocks noGrp="1"/>
          </p:cNvSpPr>
          <p:nvPr/>
        </p:nvSpPr>
        <p:spPr>
          <a:xfrm>
            <a:off x="4754879" y="2103120"/>
            <a:ext cx="2697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2D823C"/>
                </a:solidFill>
                <a:latin typeface="Arial"/>
                <a:ea typeface="Arial"/>
                <a:cs typeface="Arial"/>
              </a:rPr>
              <a:t>ERRORES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4258C-B270-43D6-9AC9-0E72957EF00F}"/>
              </a:ext>
            </a:extLst>
          </p:cNvPr>
          <p:cNvSpPr>
            <a:spLocks noGrp="1"/>
          </p:cNvSpPr>
          <p:nvPr/>
        </p:nvSpPr>
        <p:spPr>
          <a:xfrm>
            <a:off x="4754879" y="2743200"/>
            <a:ext cx="269748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Convertir excepciones en</a:t>
            </a:r>
            <a:b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respuestas coherentes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2B977A-E58B-4AF3-9B56-BE97A34DB6C8}"/>
              </a:ext>
            </a:extLst>
          </p:cNvPr>
          <p:cNvSpPr>
            <a:spLocks noGrp="1"/>
          </p:cNvSpPr>
          <p:nvPr/>
        </p:nvSpPr>
        <p:spPr>
          <a:xfrm>
            <a:off x="8092440" y="1874519"/>
            <a:ext cx="3337560" cy="297180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2FFF0-A9DE-4D61-B3BD-D01279169C70}"/>
              </a:ext>
            </a:extLst>
          </p:cNvPr>
          <p:cNvSpPr>
            <a:spLocks noGrp="1"/>
          </p:cNvSpPr>
          <p:nvPr/>
        </p:nvSpPr>
        <p:spPr>
          <a:xfrm>
            <a:off x="8412480" y="2103120"/>
            <a:ext cx="2697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913A6-C574-4481-A213-15D2D91C286A}"/>
              </a:ext>
            </a:extLst>
          </p:cNvPr>
          <p:cNvSpPr>
            <a:spLocks noGrp="1"/>
          </p:cNvSpPr>
          <p:nvPr/>
        </p:nvSpPr>
        <p:spPr>
          <a:xfrm>
            <a:off x="8412480" y="2743200"/>
            <a:ext cx="2697480" cy="9144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filtrar detalles internos</a:t>
            </a:r>
            <a:b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3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 cliente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882458-96AE-4C29-A4BD-9D20ED55261A}"/>
              </a:ext>
            </a:extLst>
          </p:cNvPr>
          <p:cNvSpPr>
            <a:spLocks noGrp="1"/>
          </p:cNvSpPr>
          <p:nvPr/>
        </p:nvSpPr>
        <p:spPr>
          <a:xfrm>
            <a:off x="777240" y="5166360"/>
            <a:ext cx="10652760" cy="585216"/>
          </a:xfrm>
          <a:prstGeom prst="roundRect">
            <a:avLst/>
          </a:prstGeom>
          <a:solidFill>
            <a:srgbClr val="523832"/>
          </a:solidFill>
          <a:ln w="15240">
            <a:solidFill>
              <a:srgbClr val="523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E5429-A544-4EC0-BA5F-5FE705CE97DF}"/>
              </a:ext>
            </a:extLst>
          </p:cNvPr>
          <p:cNvSpPr>
            <a:spLocks noGrp="1"/>
          </p:cNvSpPr>
          <p:nvPr/>
        </p:nvSpPr>
        <p:spPr>
          <a:xfrm>
            <a:off x="1234440" y="5330952"/>
            <a:ext cx="969264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 clave: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API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no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confía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ciegamente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sus entradas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improvisa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sus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errores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277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EEAC31-525C-483D-8924-634AAD6733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25673-3AC4-4D21-BB45-B97C3F7597BF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significa que una aplicación sea segura?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BC7F4-4873-4853-A1C8-0B96259D613B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06382-2AB9-4A9D-9837-BF8FE8BC0F1B}"/>
              </a:ext>
            </a:extLst>
          </p:cNvPr>
          <p:cNvSpPr>
            <a:spLocks noGrp="1"/>
          </p:cNvSpPr>
          <p:nvPr/>
        </p:nvSpPr>
        <p:spPr>
          <a:xfrm>
            <a:off x="868680" y="100584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7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Tres propiedades que debemos proteger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E90CA9-3EB2-4330-A141-F8EF0295AEFC}"/>
              </a:ext>
            </a:extLst>
          </p:cNvPr>
          <p:cNvSpPr>
            <a:spLocks noGrp="1"/>
          </p:cNvSpPr>
          <p:nvPr/>
        </p:nvSpPr>
        <p:spPr>
          <a:xfrm>
            <a:off x="822960" y="1737360"/>
            <a:ext cx="3429000" cy="224028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DB3B1-074F-49CD-92CD-968E9E8798D3}"/>
              </a:ext>
            </a:extLst>
          </p:cNvPr>
          <p:cNvSpPr>
            <a:spLocks noGrp="1"/>
          </p:cNvSpPr>
          <p:nvPr/>
        </p:nvSpPr>
        <p:spPr>
          <a:xfrm>
            <a:off x="1005840" y="2011680"/>
            <a:ext cx="3063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2668B6"/>
                </a:solidFill>
                <a:latin typeface="Arial"/>
                <a:ea typeface="Arial"/>
                <a:cs typeface="Arial"/>
              </a:rPr>
              <a:t>Confidencialidad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ACC6F-FB2C-4845-BBCA-4712CE9E637F}"/>
              </a:ext>
            </a:extLst>
          </p:cNvPr>
          <p:cNvSpPr>
            <a:spLocks noGrp="1"/>
          </p:cNvSpPr>
          <p:nvPr/>
        </p:nvSpPr>
        <p:spPr>
          <a:xfrm>
            <a:off x="1097280" y="2697480"/>
            <a:ext cx="288036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 nadie lea</a:t>
            </a:r>
            <a:b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 que no debe.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EF1243-5D6D-4829-94DF-7F63922DF144}"/>
              </a:ext>
            </a:extLst>
          </p:cNvPr>
          <p:cNvSpPr>
            <a:spLocks noGrp="1"/>
          </p:cNvSpPr>
          <p:nvPr/>
        </p:nvSpPr>
        <p:spPr>
          <a:xfrm>
            <a:off x="4636008" y="1737360"/>
            <a:ext cx="3429000" cy="2240280"/>
          </a:xfrm>
          <a:prstGeom prst="roundRect">
            <a:avLst/>
          </a:prstGeom>
          <a:solidFill>
            <a:srgbClr val="EAF6EB"/>
          </a:solidFill>
          <a:ln w="15240">
            <a:solidFill>
              <a:srgbClr val="2D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48181-DF9F-40AE-A34D-FAB2E2D08DAB}"/>
              </a:ext>
            </a:extLst>
          </p:cNvPr>
          <p:cNvSpPr>
            <a:spLocks noGrp="1"/>
          </p:cNvSpPr>
          <p:nvPr/>
        </p:nvSpPr>
        <p:spPr>
          <a:xfrm>
            <a:off x="4818888" y="2011680"/>
            <a:ext cx="3063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2D823C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D87D24-DCC0-496B-BDBC-1D19C7E803BB}"/>
              </a:ext>
            </a:extLst>
          </p:cNvPr>
          <p:cNvSpPr>
            <a:spLocks noGrp="1"/>
          </p:cNvSpPr>
          <p:nvPr/>
        </p:nvSpPr>
        <p:spPr>
          <a:xfrm>
            <a:off x="4910328" y="2697480"/>
            <a:ext cx="288036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 nadie modifique</a:t>
            </a:r>
            <a:b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 que no debe.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9CB332-CFFC-490B-917E-65BBF61E442B}"/>
              </a:ext>
            </a:extLst>
          </p:cNvPr>
          <p:cNvSpPr>
            <a:spLocks noGrp="1"/>
          </p:cNvSpPr>
          <p:nvPr/>
        </p:nvSpPr>
        <p:spPr>
          <a:xfrm>
            <a:off x="8449056" y="1737360"/>
            <a:ext cx="3429000" cy="2240280"/>
          </a:xfrm>
          <a:prstGeom prst="roundRect">
            <a:avLst/>
          </a:prstGeom>
          <a:solidFill>
            <a:srgbClr val="FFF5E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27A7F-6213-42A1-BC88-2F1A08DDD358}"/>
              </a:ext>
            </a:extLst>
          </p:cNvPr>
          <p:cNvSpPr>
            <a:spLocks noGrp="1"/>
          </p:cNvSpPr>
          <p:nvPr/>
        </p:nvSpPr>
        <p:spPr>
          <a:xfrm>
            <a:off x="8631936" y="2011680"/>
            <a:ext cx="3063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EDD34-EC5D-436E-A32D-E0D8C35E369B}"/>
              </a:ext>
            </a:extLst>
          </p:cNvPr>
          <p:cNvSpPr>
            <a:spLocks noGrp="1"/>
          </p:cNvSpPr>
          <p:nvPr/>
        </p:nvSpPr>
        <p:spPr>
          <a:xfrm>
            <a:off x="8723376" y="2697480"/>
            <a:ext cx="288036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 el servicio siga</a:t>
            </a:r>
            <a:b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funcionando.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6349C-2E3E-4BC1-BA83-D813D2B55622}"/>
              </a:ext>
            </a:extLst>
          </p:cNvPr>
          <p:cNvSpPr>
            <a:spLocks noGrp="1"/>
          </p:cNvSpPr>
          <p:nvPr/>
        </p:nvSpPr>
        <p:spPr>
          <a:xfrm>
            <a:off x="914400" y="4389120"/>
            <a:ext cx="103327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La seguridad no empieza en el login: empieza en cada punto donde algo externo puede interactuar con el sistema.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F9002-23F4-4F87-886D-0523E2E25984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Superficie de ataque = endpoints + datos de entrada + errores + credenciales + configuración expuesta</a:t>
            </a:r>
          </a:p>
        </p:txBody>
      </p:sp>
    </p:spTree>
    <p:extLst>
      <p:ext uri="{BB962C8B-B14F-4D97-AF65-F5344CB8AC3E}">
        <p14:creationId xmlns:p14="http://schemas.microsoft.com/office/powerpoint/2010/main" val="1481515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4007BA-92D8-40CA-A0F1-2AE02C1B7C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E7A50-2236-4751-A256-8FDDEEDC3DDA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Superficie de ataque y defensa en profundidad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A7E32-75E1-4D49-92DD-66FB5845A6AA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 b="3193"/>
          <a:stretch>
            <a:fillRect/>
          </a:stretch>
        </p:blipFill>
        <p:spPr>
          <a:xfrm>
            <a:off x="1843799" y="960119"/>
            <a:ext cx="8504402" cy="548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9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593FB-7662-4F92-A124-A439E79DB6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F8D54-7B70-4BA6-9F55-98AE756050C5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Validar en la frontera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B22A3-29EB-460E-98C0-9AC6EB1B2BED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60352"/>
            <a:ext cx="6675120" cy="3756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2B73B0-6954-45C3-A0C4-6E95D15991D6}"/>
              </a:ext>
            </a:extLst>
          </p:cNvPr>
          <p:cNvSpPr>
            <a:spLocks noGrp="1"/>
          </p:cNvSpPr>
          <p:nvPr/>
        </p:nvSpPr>
        <p:spPr>
          <a:xfrm>
            <a:off x="7452360" y="1097280"/>
            <a:ext cx="397763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En código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E5F895-B8F3-467A-947C-FE8A1F02AACE}"/>
              </a:ext>
            </a:extLst>
          </p:cNvPr>
          <p:cNvSpPr>
            <a:spLocks noGrp="1"/>
          </p:cNvSpPr>
          <p:nvPr/>
        </p:nvSpPr>
        <p:spPr>
          <a:xfrm>
            <a:off x="7315200" y="1572768"/>
            <a:ext cx="4224528" cy="242316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35276-9CF3-4771-AC34-4CD46043EB20}"/>
              </a:ext>
            </a:extLst>
          </p:cNvPr>
          <p:cNvSpPr>
            <a:spLocks noGrp="1"/>
          </p:cNvSpPr>
          <p:nvPr/>
        </p:nvSpPr>
        <p:spPr>
          <a:xfrm>
            <a:off x="7498079" y="1810512"/>
            <a:ext cx="3703320" cy="18745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@NotBlank(message = "El título no puede estar vacío")</a:t>
            </a:r>
            <a:b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@PositiveOrZero(message = "El precio no puede ser negativo")</a:t>
            </a:r>
            <a:b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@PostMapping</a:t>
            </a:r>
            <a:b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create(@Valid @RequestBody LibroCreateDTO dto)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12701-BC72-43B2-8546-841FDBAF415E}"/>
              </a:ext>
            </a:extLst>
          </p:cNvPr>
          <p:cNvSpPr>
            <a:spLocks noGrp="1"/>
          </p:cNvSpPr>
          <p:nvPr/>
        </p:nvSpPr>
        <p:spPr>
          <a:xfrm>
            <a:off x="7424927" y="4315968"/>
            <a:ext cx="3794760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Si el DTO no cumple las reglas, la petición se detiene antes de entrar en la lógica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86524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144F06-31D2-4FEB-BD4D-CAA2B4809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A864D-7EC1-4E18-B824-3155BC383144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formato común para todos los errores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1DD93-DD91-44F6-9BA3-11D3F87A21BE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BB730AB-E520-8542-8772-64339857B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020" y="928330"/>
            <a:ext cx="9804904" cy="551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6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955EA-F134-457D-8BBD-75945565C8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6D1FE-3064-4133-88FE-6ED4FBC6CD69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Centralizar la gestión de errores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E61E6-70DB-4A43-ADAE-7B0A06288482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637" y="960120"/>
            <a:ext cx="9455964" cy="5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7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A6046-1DDE-46CE-B404-4278328BC2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0DE90-5AF2-4290-87CE-12ED2537C9B6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Handler 1 — errores de validación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C13A9-0BB0-4878-BBE1-ABC295E1AE62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F20AF9-5318-45EF-81E1-2D8B362B7C79}"/>
              </a:ext>
            </a:extLst>
          </p:cNvPr>
          <p:cNvSpPr>
            <a:spLocks noGrp="1"/>
          </p:cNvSpPr>
          <p:nvPr/>
        </p:nvSpPr>
        <p:spPr>
          <a:xfrm>
            <a:off x="685800" y="1078992"/>
            <a:ext cx="5486400" cy="4480560"/>
          </a:xfrm>
          <a:prstGeom prst="roundRect">
            <a:avLst/>
          </a:prstGeom>
          <a:solidFill>
            <a:srgbClr val="F9F9F9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89119-5EF4-4E0C-AD47-E467D6812937}"/>
              </a:ext>
            </a:extLst>
          </p:cNvPr>
          <p:cNvSpPr>
            <a:spLocks noGrp="1"/>
          </p:cNvSpPr>
          <p:nvPr/>
        </p:nvSpPr>
        <p:spPr>
          <a:xfrm>
            <a:off x="914400" y="1298448"/>
            <a:ext cx="5029200" cy="30716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@ExceptionHandler(MethodArgumentNotValidException.class)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public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ResponseEntity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&gt;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handleValidationExceptions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(...) {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Map&lt;String, List&lt;String&gt;&gt; fields =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ex.getBindingResult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().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getFieldErrors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.stream()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.collect(...);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return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ResponseEntity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.status(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HttpStatus.BAD_REQUEST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.body(response);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DDBB1-7646-4B48-B3BC-EC463D10501C}"/>
              </a:ext>
            </a:extLst>
          </p:cNvPr>
          <p:cNvSpPr>
            <a:spLocks noGrp="1"/>
          </p:cNvSpPr>
          <p:nvPr/>
        </p:nvSpPr>
        <p:spPr>
          <a:xfrm>
            <a:off x="6583680" y="1234440"/>
            <a:ext cx="44805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¿Qué hace?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F6071-D8BC-4EAA-8AA9-DB95FC4DCA08}"/>
              </a:ext>
            </a:extLst>
          </p:cNvPr>
          <p:cNvSpPr>
            <a:spLocks noGrp="1"/>
          </p:cNvSpPr>
          <p:nvPr/>
        </p:nvSpPr>
        <p:spPr>
          <a:xfrm>
            <a:off x="6629400" y="1828800"/>
            <a:ext cx="4572000" cy="256032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Recoge todos los campos que han fallado.</a:t>
            </a:r>
          </a:p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Agrupa campo → lista de mensajes.</a:t>
            </a:r>
          </a:p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Devuelve 400 Bad Request.</a:t>
            </a:r>
          </a:p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Mantiene el mismo ErrorResponse que el resto de errores.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EC708E-5EEE-4134-8FF6-A83301E79F36}"/>
              </a:ext>
            </a:extLst>
          </p:cNvPr>
          <p:cNvSpPr>
            <a:spLocks noGrp="1"/>
          </p:cNvSpPr>
          <p:nvPr/>
        </p:nvSpPr>
        <p:spPr>
          <a:xfrm>
            <a:off x="6675120" y="4617720"/>
            <a:ext cx="4526280" cy="640080"/>
          </a:xfrm>
          <a:prstGeom prst="roundRect">
            <a:avLst/>
          </a:prstGeom>
          <a:solidFill>
            <a:srgbClr val="EAF6EB"/>
          </a:solidFill>
          <a:ln w="15240">
            <a:solidFill>
              <a:srgbClr val="2D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18165-D46C-4837-9991-B40FB63AA92B}"/>
              </a:ext>
            </a:extLst>
          </p:cNvPr>
          <p:cNvSpPr>
            <a:spLocks noGrp="1"/>
          </p:cNvSpPr>
          <p:nvPr/>
        </p:nvSpPr>
        <p:spPr>
          <a:xfrm>
            <a:off x="6903720" y="4782312"/>
            <a:ext cx="41605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600" b="1" i="0" dirty="0" err="1">
                <a:solidFill>
                  <a:srgbClr val="2D823C"/>
                </a:solidFill>
                <a:latin typeface="Arial"/>
                <a:ea typeface="Arial"/>
                <a:cs typeface="Arial"/>
              </a:rPr>
              <a:t>Cliente</a:t>
            </a:r>
            <a:r>
              <a:rPr sz="1600" b="1" i="0" dirty="0">
                <a:solidFill>
                  <a:srgbClr val="2D823C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1" i="0" dirty="0" err="1">
                <a:solidFill>
                  <a:srgbClr val="2D823C"/>
                </a:solidFill>
                <a:latin typeface="Arial"/>
                <a:ea typeface="Arial"/>
                <a:cs typeface="Arial"/>
              </a:rPr>
              <a:t>qué</a:t>
            </a:r>
            <a:r>
              <a:rPr sz="1600" b="1" i="0" dirty="0">
                <a:solidFill>
                  <a:srgbClr val="2D823C"/>
                </a:solidFill>
                <a:latin typeface="Arial"/>
                <a:ea typeface="Arial"/>
                <a:cs typeface="Arial"/>
              </a:rPr>
              <a:t> campo ha </a:t>
            </a:r>
            <a:r>
              <a:rPr sz="1600" b="1" i="0" dirty="0" err="1">
                <a:solidFill>
                  <a:srgbClr val="2D823C"/>
                </a:solidFill>
                <a:latin typeface="Arial"/>
                <a:ea typeface="Arial"/>
                <a:cs typeface="Arial"/>
              </a:rPr>
              <a:t>fallado</a:t>
            </a:r>
            <a:r>
              <a:rPr sz="1600" b="1" i="0" dirty="0">
                <a:solidFill>
                  <a:srgbClr val="2D823C"/>
                </a:solidFill>
                <a:latin typeface="Arial"/>
                <a:ea typeface="Arial"/>
                <a:cs typeface="Arial"/>
              </a:rPr>
              <a:t> y </a:t>
            </a:r>
            <a:r>
              <a:rPr sz="1600" b="1" i="0" dirty="0" err="1">
                <a:solidFill>
                  <a:srgbClr val="2D823C"/>
                </a:solidFill>
                <a:latin typeface="Arial"/>
                <a:ea typeface="Arial"/>
                <a:cs typeface="Arial"/>
              </a:rPr>
              <a:t>por</a:t>
            </a:r>
            <a:r>
              <a:rPr sz="1600" b="1" i="0" dirty="0">
                <a:solidFill>
                  <a:srgbClr val="2D823C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2D823C"/>
                </a:solidFill>
                <a:latin typeface="Arial"/>
                <a:ea typeface="Arial"/>
                <a:cs typeface="Arial"/>
              </a:rPr>
              <a:t>qué</a:t>
            </a:r>
            <a:r>
              <a:rPr sz="1600" b="1" i="0" dirty="0">
                <a:solidFill>
                  <a:srgbClr val="2D823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48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1856B8-A383-40B0-855E-C806083B42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8935E-E40D-47D1-BAE5-0F997091C44B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todo error es un 500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A91FD-76C6-41A9-B486-560ECAB8E3AB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0106F-150C-413A-8B30-FFCE5C804861}"/>
              </a:ext>
            </a:extLst>
          </p:cNvPr>
          <p:cNvSpPr>
            <a:spLocks noGrp="1"/>
          </p:cNvSpPr>
          <p:nvPr/>
        </p:nvSpPr>
        <p:spPr>
          <a:xfrm>
            <a:off x="822960" y="987552"/>
            <a:ext cx="105613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Clasificar bien el problema produce respuestas más útiles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AE7817-F7BE-4127-B976-7D43FAC8202E}"/>
              </a:ext>
            </a:extLst>
          </p:cNvPr>
          <p:cNvSpPr>
            <a:spLocks noGrp="1"/>
          </p:cNvSpPr>
          <p:nvPr/>
        </p:nvSpPr>
        <p:spPr>
          <a:xfrm>
            <a:off x="960120" y="1691640"/>
            <a:ext cx="10195560" cy="100584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A957CC-3A1C-4027-BA8C-3A0CE4915D0A}"/>
              </a:ext>
            </a:extLst>
          </p:cNvPr>
          <p:cNvSpPr>
            <a:spLocks noGrp="1"/>
          </p:cNvSpPr>
          <p:nvPr/>
        </p:nvSpPr>
        <p:spPr>
          <a:xfrm>
            <a:off x="1143000" y="1856232"/>
            <a:ext cx="1143000" cy="658368"/>
          </a:xfrm>
          <a:prstGeom prst="roundRect">
            <a:avLst/>
          </a:prstGeom>
          <a:solidFill>
            <a:srgbClr val="2668B6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5E212-7A39-4609-BB48-B23220AE982C}"/>
              </a:ext>
            </a:extLst>
          </p:cNvPr>
          <p:cNvSpPr>
            <a:spLocks noGrp="1"/>
          </p:cNvSpPr>
          <p:nvPr/>
        </p:nvSpPr>
        <p:spPr>
          <a:xfrm>
            <a:off x="1261872" y="2002536"/>
            <a:ext cx="89611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CBA6C-AAEE-485E-A39C-7168C08AD995}"/>
              </a:ext>
            </a:extLst>
          </p:cNvPr>
          <p:cNvSpPr>
            <a:spLocks noGrp="1"/>
          </p:cNvSpPr>
          <p:nvPr/>
        </p:nvSpPr>
        <p:spPr>
          <a:xfrm>
            <a:off x="2542032" y="1874520"/>
            <a:ext cx="38862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2668B6"/>
                </a:solidFill>
                <a:latin typeface="Courier New"/>
                <a:ea typeface="Courier New"/>
                <a:cs typeface="Courier New"/>
              </a:rPr>
              <a:t>ResponseStatusException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8CD987-F25B-4A87-866D-5E2468AB5E00}"/>
              </a:ext>
            </a:extLst>
          </p:cNvPr>
          <p:cNvSpPr>
            <a:spLocks noGrp="1"/>
          </p:cNvSpPr>
          <p:nvPr/>
        </p:nvSpPr>
        <p:spPr>
          <a:xfrm>
            <a:off x="7025640" y="1824950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Recurso</a:t>
            </a:r>
            <a:r>
              <a:rPr sz="20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inexistente</a:t>
            </a:r>
            <a:endParaRPr sz="2000" b="1" i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25C81C-4ED1-4232-A471-48F098186EB2}"/>
              </a:ext>
            </a:extLst>
          </p:cNvPr>
          <p:cNvSpPr>
            <a:spLocks noGrp="1"/>
          </p:cNvSpPr>
          <p:nvPr/>
        </p:nvSpPr>
        <p:spPr>
          <a:xfrm>
            <a:off x="960120" y="3017520"/>
            <a:ext cx="10195560" cy="1005840"/>
          </a:xfrm>
          <a:prstGeom prst="roundRect">
            <a:avLst/>
          </a:prstGeom>
          <a:solidFill>
            <a:srgbClr val="FFF5E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C8ACBE-F1DC-4821-A07F-0EFF595FB20C}"/>
              </a:ext>
            </a:extLst>
          </p:cNvPr>
          <p:cNvSpPr>
            <a:spLocks noGrp="1"/>
          </p:cNvSpPr>
          <p:nvPr/>
        </p:nvSpPr>
        <p:spPr>
          <a:xfrm>
            <a:off x="1143000" y="3182112"/>
            <a:ext cx="1143000" cy="658368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D02E9-02D2-40A6-BDC2-4C8F28DBCB6D}"/>
              </a:ext>
            </a:extLst>
          </p:cNvPr>
          <p:cNvSpPr>
            <a:spLocks noGrp="1"/>
          </p:cNvSpPr>
          <p:nvPr/>
        </p:nvSpPr>
        <p:spPr>
          <a:xfrm>
            <a:off x="1261872" y="3328415"/>
            <a:ext cx="89611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47A9B-2308-4B4D-8DEB-0A33F7D520DC}"/>
              </a:ext>
            </a:extLst>
          </p:cNvPr>
          <p:cNvSpPr>
            <a:spLocks noGrp="1"/>
          </p:cNvSpPr>
          <p:nvPr/>
        </p:nvSpPr>
        <p:spPr>
          <a:xfrm>
            <a:off x="2542032" y="3200400"/>
            <a:ext cx="38862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PropertyReferenceException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8BB71C-CCAA-42E7-8628-162425EACBC8}"/>
              </a:ext>
            </a:extLst>
          </p:cNvPr>
          <p:cNvSpPr>
            <a:spLocks noGrp="1"/>
          </p:cNvSpPr>
          <p:nvPr/>
        </p:nvSpPr>
        <p:spPr>
          <a:xfrm>
            <a:off x="7025640" y="3150830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Parámetro de consulta inválido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A32BA-8282-47A2-B300-17DD3ABC18CB}"/>
              </a:ext>
            </a:extLst>
          </p:cNvPr>
          <p:cNvSpPr>
            <a:spLocks noGrp="1"/>
          </p:cNvSpPr>
          <p:nvPr/>
        </p:nvSpPr>
        <p:spPr>
          <a:xfrm>
            <a:off x="960120" y="4343400"/>
            <a:ext cx="10195560" cy="1005840"/>
          </a:xfrm>
          <a:prstGeom prst="roundRect">
            <a:avLst/>
          </a:prstGeom>
          <a:solidFill>
            <a:srgbClr val="F1EDFC"/>
          </a:solidFill>
          <a:ln w="15240">
            <a:solidFill>
              <a:srgbClr val="654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5243A49-7386-49AB-AA3F-7139479FC5AC}"/>
              </a:ext>
            </a:extLst>
          </p:cNvPr>
          <p:cNvSpPr>
            <a:spLocks noGrp="1"/>
          </p:cNvSpPr>
          <p:nvPr/>
        </p:nvSpPr>
        <p:spPr>
          <a:xfrm>
            <a:off x="1143000" y="4507992"/>
            <a:ext cx="1143000" cy="658368"/>
          </a:xfrm>
          <a:prstGeom prst="roundRect">
            <a:avLst/>
          </a:prstGeom>
          <a:solidFill>
            <a:srgbClr val="6548B4"/>
          </a:solidFill>
          <a:ln w="15240">
            <a:solidFill>
              <a:srgbClr val="654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EFD033-172C-40B0-8203-85E7C9D3AD8C}"/>
              </a:ext>
            </a:extLst>
          </p:cNvPr>
          <p:cNvSpPr>
            <a:spLocks noGrp="1"/>
          </p:cNvSpPr>
          <p:nvPr/>
        </p:nvSpPr>
        <p:spPr>
          <a:xfrm>
            <a:off x="1261872" y="4654296"/>
            <a:ext cx="89611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D79817-9F72-4FC7-AEE1-C26EEF7D9E80}"/>
              </a:ext>
            </a:extLst>
          </p:cNvPr>
          <p:cNvSpPr>
            <a:spLocks noGrp="1"/>
          </p:cNvSpPr>
          <p:nvPr/>
        </p:nvSpPr>
        <p:spPr>
          <a:xfrm>
            <a:off x="2542032" y="4526280"/>
            <a:ext cx="43555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800" b="1" i="0" dirty="0" err="1">
                <a:solidFill>
                  <a:srgbClr val="6548B4"/>
                </a:solidFill>
                <a:latin typeface="Courier New"/>
                <a:ea typeface="Courier New"/>
                <a:cs typeface="Courier New"/>
              </a:rPr>
              <a:t>DataIntegrityViolationException</a:t>
            </a:r>
            <a:endParaRPr sz="1800" b="1" i="0" dirty="0">
              <a:solidFill>
                <a:srgbClr val="6548B4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46685-A489-4153-BC85-F244F2345EFD}"/>
              </a:ext>
            </a:extLst>
          </p:cNvPr>
          <p:cNvSpPr>
            <a:spLocks noGrp="1"/>
          </p:cNvSpPr>
          <p:nvPr/>
        </p:nvSpPr>
        <p:spPr>
          <a:xfrm>
            <a:off x="7025640" y="4476710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Conflicto</a:t>
            </a:r>
            <a:r>
              <a:rPr sz="20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con el </a:t>
            </a:r>
            <a:r>
              <a:rPr sz="20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estado</a:t>
            </a:r>
            <a:r>
              <a:rPr sz="20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de </a:t>
            </a:r>
            <a:r>
              <a:rPr sz="20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los</a:t>
            </a:r>
            <a:r>
              <a:rPr sz="20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datos</a:t>
            </a:r>
            <a:endParaRPr sz="2000" b="1" i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4D15B0-999A-45BA-94D0-46227720C000}"/>
              </a:ext>
            </a:extLst>
          </p:cNvPr>
          <p:cNvSpPr>
            <a:spLocks noGrp="1"/>
          </p:cNvSpPr>
          <p:nvPr/>
        </p:nvSpPr>
        <p:spPr>
          <a:xfrm>
            <a:off x="1005840" y="5779008"/>
            <a:ext cx="10058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Pregunta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útil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: ¿el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cliente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ha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enviado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algo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incorrecto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, no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existe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el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recurso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o la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operación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entra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en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conflicto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con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los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F5F5F"/>
                </a:solidFill>
                <a:latin typeface="Arial"/>
                <a:ea typeface="Arial"/>
                <a:cs typeface="Arial"/>
              </a:rPr>
              <a:t>datos</a:t>
            </a:r>
            <a:r>
              <a:rPr sz="1800" b="0" i="0" dirty="0">
                <a:solidFill>
                  <a:srgbClr val="5F5F5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530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7F6EE7-B563-4A00-8D6F-9146AEFF26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6A695-35BB-4B15-82CF-706DF407D381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Handler 5 — la red de seguridad final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0074F-680E-4E43-B6B7-63DFCFCF1CBA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85E0B4-FC41-464F-BC63-E5D15274E7F0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5257800" cy="4526280"/>
          </a:xfrm>
          <a:prstGeom prst="roundRect">
            <a:avLst/>
          </a:prstGeom>
          <a:solidFill>
            <a:srgbClr val="F9F9F9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44C8E-1FB8-46BB-817A-B1A0BC5D3492}"/>
              </a:ext>
            </a:extLst>
          </p:cNvPr>
          <p:cNvSpPr>
            <a:spLocks noGrp="1"/>
          </p:cNvSpPr>
          <p:nvPr/>
        </p:nvSpPr>
        <p:spPr>
          <a:xfrm>
            <a:off x="960119" y="1298448"/>
            <a:ext cx="4795787" cy="32870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@ExceptionHandler(Exception.class)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public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ResponseEntity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&gt;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handleGenericException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(...) {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response =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new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..., 500,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"Error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interno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",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"Ha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ocurrido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un error</a:t>
            </a:r>
            <a:r>
              <a:rPr lang="es-ES"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inesperado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",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request.getRequestURI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return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ResponseEntity</a:t>
            </a:r>
            <a:r>
              <a:rPr lang="es-ES"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.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status(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HttpStatus.INTERNAL_SERVER_ERROR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.body(response);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F679AB-0648-43E6-B741-021505E907BC}"/>
              </a:ext>
            </a:extLst>
          </p:cNvPr>
          <p:cNvSpPr>
            <a:spLocks noGrp="1"/>
          </p:cNvSpPr>
          <p:nvPr/>
        </p:nvSpPr>
        <p:spPr>
          <a:xfrm>
            <a:off x="6400800" y="1371600"/>
            <a:ext cx="4572000" cy="114300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E1D2E-2793-4BC8-90BB-5B5CF04218EA}"/>
              </a:ext>
            </a:extLst>
          </p:cNvPr>
          <p:cNvSpPr>
            <a:spLocks noGrp="1"/>
          </p:cNvSpPr>
          <p:nvPr/>
        </p:nvSpPr>
        <p:spPr>
          <a:xfrm>
            <a:off x="6720840" y="1575896"/>
            <a:ext cx="3931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NO </a:t>
            </a:r>
            <a:r>
              <a:rPr sz="22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devolver</a:t>
            </a:r>
            <a:r>
              <a:rPr sz="22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ex.getMessage</a:t>
            </a:r>
            <a:r>
              <a:rPr sz="22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031DF-6E20-497C-B99F-B9683158068C}"/>
              </a:ext>
            </a:extLst>
          </p:cNvPr>
          <p:cNvSpPr>
            <a:spLocks noGrp="1"/>
          </p:cNvSpPr>
          <p:nvPr/>
        </p:nvSpPr>
        <p:spPr>
          <a:xfrm>
            <a:off x="6492240" y="2816352"/>
            <a:ext cx="4480560" cy="205740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Puede revelar clases, tablas o rutas internas.</a:t>
            </a:r>
          </a:p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El cliente necesita un mensaje seguro y estable.</a:t>
            </a:r>
          </a:p>
          <a:p>
            <a:pPr>
              <a:spcAft>
                <a:spcPts val="4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La excepción completa sí debe quedar en los logs del servidor.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342FE5-71BD-406A-A3C6-6A7577B5219C}"/>
              </a:ext>
            </a:extLst>
          </p:cNvPr>
          <p:cNvSpPr>
            <a:spLocks noGrp="1"/>
          </p:cNvSpPr>
          <p:nvPr/>
        </p:nvSpPr>
        <p:spPr>
          <a:xfrm>
            <a:off x="6492240" y="4983480"/>
            <a:ext cx="4343400" cy="877824"/>
          </a:xfrm>
          <a:prstGeom prst="roundRect">
            <a:avLst/>
          </a:prstGeom>
          <a:solidFill>
            <a:srgbClr val="523832"/>
          </a:solidFill>
          <a:ln w="15240">
            <a:solidFill>
              <a:srgbClr val="523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B0A02-CCBC-4502-9833-810E22828F6F}"/>
              </a:ext>
            </a:extLst>
          </p:cNvPr>
          <p:cNvSpPr>
            <a:spLocks noGrp="1"/>
          </p:cNvSpPr>
          <p:nvPr/>
        </p:nvSpPr>
        <p:spPr>
          <a:xfrm>
            <a:off x="6711696" y="5138928"/>
            <a:ext cx="3886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7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Respuesta </a:t>
            </a:r>
            <a:r>
              <a:rPr sz="17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pública</a:t>
            </a:r>
            <a:r>
              <a:rPr sz="17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≠ </a:t>
            </a:r>
            <a:r>
              <a:rPr sz="17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información</a:t>
            </a:r>
            <a:r>
              <a:rPr sz="17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 </a:t>
            </a:r>
            <a:r>
              <a:rPr sz="17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diagnóstico</a:t>
            </a:r>
            <a:endParaRPr sz="170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764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EF31BF-D1DC-40B5-8DEC-49131C4077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692FA-9131-4D21-9CE7-1B3389B83071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Cinco errores, cinco handlers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8B0B4-2DBE-4457-B3AE-DCAC2565AFA5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70" y="932688"/>
            <a:ext cx="9520954" cy="53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5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6471B-ED64-44E9-AA37-52A3166777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C9EFD-F070-419D-BED7-A19221EC1DD5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Ahora lo aplicas en GameVault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43E39-83FF-44EB-9B66-5122F6F75740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D9E0F-D4A8-4BBE-BF0A-F2EC164737D7}"/>
              </a:ext>
            </a:extLst>
          </p:cNvPr>
          <p:cNvSpPr>
            <a:spLocks noGrp="1"/>
          </p:cNvSpPr>
          <p:nvPr/>
        </p:nvSpPr>
        <p:spPr>
          <a:xfrm>
            <a:off x="777240" y="1042415"/>
            <a:ext cx="106070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La teoría usa una API genérica; la práctica exige transferir las mismas decisiones a tu proyecto.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9EFA69-5442-42CB-BDDE-24BEC04BD0D1}"/>
              </a:ext>
            </a:extLst>
          </p:cNvPr>
          <p:cNvSpPr>
            <a:spLocks noGrp="1"/>
          </p:cNvSpPr>
          <p:nvPr/>
        </p:nvSpPr>
        <p:spPr>
          <a:xfrm>
            <a:off x="685800" y="2011679"/>
            <a:ext cx="2514600" cy="2464067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50410F-533F-4547-960C-C23C92E2949A}"/>
              </a:ext>
            </a:extLst>
          </p:cNvPr>
          <p:cNvSpPr>
            <a:spLocks noGrp="1"/>
          </p:cNvSpPr>
          <p:nvPr/>
        </p:nvSpPr>
        <p:spPr>
          <a:xfrm>
            <a:off x="1527048" y="2176272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4535BD-D799-4ED9-ADA2-2BE95AFE7833}"/>
              </a:ext>
            </a:extLst>
          </p:cNvPr>
          <p:cNvSpPr>
            <a:spLocks noGrp="1"/>
          </p:cNvSpPr>
          <p:nvPr/>
        </p:nvSpPr>
        <p:spPr>
          <a:xfrm>
            <a:off x="1527048" y="2331720"/>
            <a:ext cx="822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CB042-AC33-4582-AD3F-70DA04F5A519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Provocar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2B3FFD-7DD8-493C-AD9F-4B32FCA65A2D}"/>
              </a:ext>
            </a:extLst>
          </p:cNvPr>
          <p:cNvSpPr>
            <a:spLocks noGrp="1"/>
          </p:cNvSpPr>
          <p:nvPr/>
        </p:nvSpPr>
        <p:spPr>
          <a:xfrm>
            <a:off x="914400" y="3593592"/>
            <a:ext cx="205740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4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Observar</a:t>
            </a:r>
            <a:r>
              <a:rPr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cinco</a:t>
            </a:r>
            <a:r>
              <a:rPr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errores</a:t>
            </a:r>
            <a:r>
              <a:rPr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antes de 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gestionarlos</a:t>
            </a:r>
            <a:endParaRPr sz="1400" b="0" i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C7BB59-C7CD-4F6C-B208-DCADCC24C63C}"/>
              </a:ext>
            </a:extLst>
          </p:cNvPr>
          <p:cNvSpPr>
            <a:spLocks noGrp="1"/>
          </p:cNvSpPr>
          <p:nvPr/>
        </p:nvSpPr>
        <p:spPr>
          <a:xfrm>
            <a:off x="3520440" y="2011679"/>
            <a:ext cx="2514600" cy="2464067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11C6D5-4311-4505-9158-68CAA9CCEB5C}"/>
              </a:ext>
            </a:extLst>
          </p:cNvPr>
          <p:cNvSpPr>
            <a:spLocks noGrp="1"/>
          </p:cNvSpPr>
          <p:nvPr/>
        </p:nvSpPr>
        <p:spPr>
          <a:xfrm>
            <a:off x="4361688" y="2176272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D501-D384-48FE-B8AB-6B08CB42C7C2}"/>
              </a:ext>
            </a:extLst>
          </p:cNvPr>
          <p:cNvSpPr>
            <a:spLocks noGrp="1"/>
          </p:cNvSpPr>
          <p:nvPr/>
        </p:nvSpPr>
        <p:spPr>
          <a:xfrm>
            <a:off x="4361688" y="2331720"/>
            <a:ext cx="822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811F26-DB5C-42C6-9696-9CB5FFB9C766}"/>
              </a:ext>
            </a:extLst>
          </p:cNvPr>
          <p:cNvSpPr>
            <a:spLocks noGrp="1"/>
          </p:cNvSpPr>
          <p:nvPr/>
        </p:nvSpPr>
        <p:spPr>
          <a:xfrm>
            <a:off x="3749039" y="3154680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Centralizar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E8A5B-BC2C-4797-8C4A-B39DD141F395}"/>
              </a:ext>
            </a:extLst>
          </p:cNvPr>
          <p:cNvSpPr>
            <a:spLocks noGrp="1"/>
          </p:cNvSpPr>
          <p:nvPr/>
        </p:nvSpPr>
        <p:spPr>
          <a:xfrm>
            <a:off x="3749039" y="3593592"/>
            <a:ext cx="205740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Construir ErrorResponse + GlobalExceptionHandler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E5843D1-0532-4C20-80DA-C0F4BE3C1AFA}"/>
              </a:ext>
            </a:extLst>
          </p:cNvPr>
          <p:cNvSpPr>
            <a:spLocks noGrp="1"/>
          </p:cNvSpPr>
          <p:nvPr/>
        </p:nvSpPr>
        <p:spPr>
          <a:xfrm>
            <a:off x="6355080" y="2011679"/>
            <a:ext cx="2514600" cy="2464067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AF840C-550A-4B5D-9715-5245BCB22C05}"/>
              </a:ext>
            </a:extLst>
          </p:cNvPr>
          <p:cNvSpPr>
            <a:spLocks noGrp="1"/>
          </p:cNvSpPr>
          <p:nvPr/>
        </p:nvSpPr>
        <p:spPr>
          <a:xfrm>
            <a:off x="7196328" y="2176272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040D27-36E3-42C1-B9F4-7EB21CB95F8B}"/>
              </a:ext>
            </a:extLst>
          </p:cNvPr>
          <p:cNvSpPr>
            <a:spLocks noGrp="1"/>
          </p:cNvSpPr>
          <p:nvPr/>
        </p:nvSpPr>
        <p:spPr>
          <a:xfrm>
            <a:off x="7196328" y="2331720"/>
            <a:ext cx="822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64D64B-2063-4739-88EF-9C15C9A7FA4C}"/>
              </a:ext>
            </a:extLst>
          </p:cNvPr>
          <p:cNvSpPr>
            <a:spLocks noGrp="1"/>
          </p:cNvSpPr>
          <p:nvPr/>
        </p:nvSpPr>
        <p:spPr>
          <a:xfrm>
            <a:off x="6583680" y="3154680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Repetir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CF25A-0937-4BF3-8C96-4360033E9038}"/>
              </a:ext>
            </a:extLst>
          </p:cNvPr>
          <p:cNvSpPr>
            <a:spLocks noGrp="1"/>
          </p:cNvSpPr>
          <p:nvPr/>
        </p:nvSpPr>
        <p:spPr>
          <a:xfrm>
            <a:off x="6583680" y="3593592"/>
            <a:ext cx="205740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Lanzar exactamente los mismos errores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DF132BD-FE9F-4B5B-861E-E8C41FC2FC23}"/>
              </a:ext>
            </a:extLst>
          </p:cNvPr>
          <p:cNvSpPr>
            <a:spLocks noGrp="1"/>
          </p:cNvSpPr>
          <p:nvPr/>
        </p:nvSpPr>
        <p:spPr>
          <a:xfrm>
            <a:off x="9189720" y="2011679"/>
            <a:ext cx="2514600" cy="2464067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CEDDE1-0891-47CD-832F-3C5CA7A90C0F}"/>
              </a:ext>
            </a:extLst>
          </p:cNvPr>
          <p:cNvSpPr>
            <a:spLocks noGrp="1"/>
          </p:cNvSpPr>
          <p:nvPr/>
        </p:nvSpPr>
        <p:spPr>
          <a:xfrm>
            <a:off x="10030968" y="2176272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8A05E1-B19C-4E02-A63A-C22C31FB0B8A}"/>
              </a:ext>
            </a:extLst>
          </p:cNvPr>
          <p:cNvSpPr>
            <a:spLocks noGrp="1"/>
          </p:cNvSpPr>
          <p:nvPr/>
        </p:nvSpPr>
        <p:spPr>
          <a:xfrm>
            <a:off x="10030968" y="2331720"/>
            <a:ext cx="822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95CD92-E435-477F-87F7-2018DCBB96FA}"/>
              </a:ext>
            </a:extLst>
          </p:cNvPr>
          <p:cNvSpPr>
            <a:spLocks noGrp="1"/>
          </p:cNvSpPr>
          <p:nvPr/>
        </p:nvSpPr>
        <p:spPr>
          <a:xfrm>
            <a:off x="9418320" y="3154680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1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Comparar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C9C873-472D-4C2C-B697-74789D2443E3}"/>
              </a:ext>
            </a:extLst>
          </p:cNvPr>
          <p:cNvSpPr>
            <a:spLocks noGrp="1"/>
          </p:cNvSpPr>
          <p:nvPr/>
        </p:nvSpPr>
        <p:spPr>
          <a:xfrm>
            <a:off x="9418320" y="3593592"/>
            <a:ext cx="205740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Código HTTP, formato y datos expuestos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F77EFF5-6CB2-4DB1-AF04-BBB6BADE512F}"/>
              </a:ext>
            </a:extLst>
          </p:cNvPr>
          <p:cNvSpPr>
            <a:spLocks noGrp="1"/>
          </p:cNvSpPr>
          <p:nvPr/>
        </p:nvSpPr>
        <p:spPr>
          <a:xfrm>
            <a:off x="1234440" y="4892040"/>
            <a:ext cx="9738360" cy="68580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551082-EE43-49D1-8611-18451F69DF97}"/>
              </a:ext>
            </a:extLst>
          </p:cNvPr>
          <p:cNvSpPr>
            <a:spLocks noGrp="1"/>
          </p:cNvSpPr>
          <p:nvPr/>
        </p:nvSpPr>
        <p:spPr>
          <a:xfrm>
            <a:off x="1481328" y="5102352"/>
            <a:ext cx="92354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Objetivo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que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un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mismo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produzca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una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coherente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comprensible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y </a:t>
            </a:r>
            <a:r>
              <a:rPr sz="16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segura</a:t>
            </a:r>
            <a:r>
              <a:rPr sz="16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001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F11A16-963F-40A4-B0DC-560D689C48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9AFCA-0A5E-473E-B39F-79B37BB90ECA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2C938-14F5-4616-8957-C2D1DAEFD3C4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s-ES" sz="100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81F3D-A50E-4F34-A3E0-95D6909C4718}"/>
              </a:ext>
            </a:extLst>
          </p:cNvPr>
          <p:cNvSpPr>
            <a:spLocks noGrp="1"/>
          </p:cNvSpPr>
          <p:nvPr/>
        </p:nvSpPr>
        <p:spPr>
          <a:xfrm>
            <a:off x="868680" y="1298448"/>
            <a:ext cx="10515600" cy="411480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8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Una API </a:t>
            </a:r>
            <a:r>
              <a:rPr dirty="0" err="1"/>
              <a:t>expuesta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superficie</a:t>
            </a:r>
            <a:r>
              <a:rPr dirty="0"/>
              <a:t> de </a:t>
            </a:r>
            <a:r>
              <a:rPr dirty="0" err="1"/>
              <a:t>ataque</a:t>
            </a:r>
            <a:r>
              <a:rPr dirty="0"/>
              <a:t>: no se </a:t>
            </a:r>
            <a:r>
              <a:rPr dirty="0" err="1"/>
              <a:t>confía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externo</a:t>
            </a:r>
            <a:r>
              <a:rPr dirty="0"/>
              <a:t> hasta </a:t>
            </a:r>
            <a:r>
              <a:rPr dirty="0" err="1"/>
              <a:t>validarlo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@Valid y Bean Validation </a:t>
            </a:r>
            <a:r>
              <a:rPr dirty="0" err="1"/>
              <a:t>rechazan</a:t>
            </a:r>
            <a:r>
              <a:rPr dirty="0"/>
              <a:t> entradas </a:t>
            </a:r>
            <a:r>
              <a:rPr dirty="0" err="1"/>
              <a:t>incorrectas</a:t>
            </a:r>
            <a:r>
              <a:rPr dirty="0"/>
              <a:t> antes de </a:t>
            </a:r>
            <a:r>
              <a:rPr dirty="0" err="1"/>
              <a:t>ejecutar</a:t>
            </a:r>
            <a:r>
              <a:rPr dirty="0"/>
              <a:t> la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</a:t>
            </a:r>
            <a:r>
              <a:rPr dirty="0" err="1"/>
              <a:t>ErrorResponse</a:t>
            </a:r>
            <a:r>
              <a:rPr dirty="0"/>
              <a:t> da un </a:t>
            </a:r>
            <a:r>
              <a:rPr dirty="0" err="1"/>
              <a:t>contrato</a:t>
            </a:r>
            <a:r>
              <a:rPr dirty="0"/>
              <a:t> </a:t>
            </a:r>
            <a:r>
              <a:rPr dirty="0" err="1"/>
              <a:t>común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 de la API.</a:t>
            </a:r>
          </a:p>
          <a:p>
            <a:pPr>
              <a:spcAft>
                <a:spcPts val="8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@RestControllerAdvice + @ExceptionHandler </a:t>
            </a:r>
            <a:r>
              <a:rPr dirty="0" err="1"/>
              <a:t>centralizan</a:t>
            </a:r>
            <a:r>
              <a:rPr dirty="0"/>
              <a:t> la </a:t>
            </a:r>
            <a:r>
              <a:rPr dirty="0" err="1"/>
              <a:t>conversión</a:t>
            </a:r>
            <a:r>
              <a:rPr dirty="0"/>
              <a:t> de </a:t>
            </a:r>
            <a:r>
              <a:rPr dirty="0" err="1"/>
              <a:t>excepciones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 HTTP.</a:t>
            </a:r>
          </a:p>
          <a:p>
            <a:pPr>
              <a:spcAft>
                <a:spcPts val="8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400, 404, 409 y 500 </a:t>
            </a:r>
            <a:r>
              <a:rPr dirty="0" err="1"/>
              <a:t>expresan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: </a:t>
            </a:r>
            <a:r>
              <a:rPr dirty="0" err="1"/>
              <a:t>clasificar</a:t>
            </a:r>
            <a:r>
              <a:rPr dirty="0"/>
              <a:t> bien el error </a:t>
            </a:r>
            <a:r>
              <a:rPr dirty="0" err="1"/>
              <a:t>importa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El handler </a:t>
            </a:r>
            <a:r>
              <a:rPr dirty="0" err="1"/>
              <a:t>genérico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inconsistentes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filtrar</a:t>
            </a:r>
            <a:r>
              <a:rPr dirty="0"/>
              <a:t> </a:t>
            </a:r>
            <a:r>
              <a:rPr dirty="0" err="1"/>
              <a:t>detalles</a:t>
            </a:r>
            <a:r>
              <a:rPr dirty="0"/>
              <a:t> </a:t>
            </a:r>
            <a:r>
              <a:rPr dirty="0" err="1"/>
              <a:t>internos</a:t>
            </a:r>
            <a:r>
              <a:rPr dirty="0"/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40187A-4DEA-4746-9C95-F3455364CBE1}"/>
              </a:ext>
            </a:extLst>
          </p:cNvPr>
          <p:cNvSpPr>
            <a:spLocks noGrp="1"/>
          </p:cNvSpPr>
          <p:nvPr/>
        </p:nvSpPr>
        <p:spPr>
          <a:xfrm>
            <a:off x="960120" y="5532120"/>
            <a:ext cx="10195560" cy="621792"/>
          </a:xfrm>
          <a:prstGeom prst="roundRect">
            <a:avLst/>
          </a:prstGeom>
          <a:solidFill>
            <a:srgbClr val="523832"/>
          </a:solidFill>
          <a:ln w="15240">
            <a:solidFill>
              <a:srgbClr val="523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3C2D4-50E9-49CB-9B1F-EA1FDD978406}"/>
              </a:ext>
            </a:extLst>
          </p:cNvPr>
          <p:cNvSpPr>
            <a:spLocks noGrp="1"/>
          </p:cNvSpPr>
          <p:nvPr/>
        </p:nvSpPr>
        <p:spPr>
          <a:xfrm>
            <a:off x="1161288" y="5687568"/>
            <a:ext cx="9784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paso: Spring Security —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autenticación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autorización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y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primera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política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 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</a:t>
            </a:r>
            <a:r>
              <a:rPr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30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908</Words>
  <Application>Microsoft Office PowerPoint</Application>
  <DocSecurity>0</DocSecurity>
  <PresentationFormat>Panorámica</PresentationFormat>
  <Paragraphs>92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1</cp:revision>
  <dcterms:created xsi:type="dcterms:W3CDTF">2026-10-20T13:18:51Z</dcterms:created>
  <dcterms:modified xsi:type="dcterms:W3CDTF">2026-10-20T21:10:07Z</dcterms:modified>
</cp:coreProperties>
</file>