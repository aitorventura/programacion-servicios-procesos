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E342E"/>
        </a:solidFill>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indent="0" marL="0">
              <a:buNone/>
            </a:pPr>
            <a:r>
              <a:rPr lang="en-US" sz="1400" dirty="0">
                <a:solidFill>
                  <a:srgbClr val="BCAAA4"/>
                </a:solidFill>
                <a:latin typeface="Arial" pitchFamily="34" charset="0"/>
                <a:ea typeface="Arial" pitchFamily="34" charset="-122"/>
                <a:cs typeface="Arial" pitchFamily="34" charset="-120"/>
              </a:rPr>
              <a:t>PROGRAMACIÓN DE SERVICIOS Y PROCESOS  —  TEMA 2: SEGURIDAD Y AUTENTICACIÓN</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algn="l" indent="0" marL="0">
              <a:buNone/>
            </a:pPr>
            <a:r>
              <a:rPr lang="en-US" sz="3800" b="1" dirty="0">
                <a:solidFill>
                  <a:srgbClr val="FFFFFF"/>
                </a:solidFill>
                <a:latin typeface="Arial" pitchFamily="34" charset="0"/>
                <a:ea typeface="Arial" pitchFamily="34" charset="-122"/>
                <a:cs typeface="Arial" pitchFamily="34" charset="-120"/>
              </a:rPr>
              <a:t>Roles y</a:t>
            </a:r>
            <a:endParaRPr lang="en-US" sz="3800" dirty="0"/>
          </a:p>
          <a:p>
            <a:pPr algn="l" indent="0" marL="0">
              <a:buNone/>
            </a:pPr>
            <a:r>
              <a:rPr lang="en-US" sz="3800" b="1" dirty="0">
                <a:solidFill>
                  <a:srgbClr val="FFFFFF"/>
                </a:solidFill>
                <a:latin typeface="Arial" pitchFamily="34" charset="0"/>
                <a:ea typeface="Arial" pitchFamily="34" charset="-122"/>
                <a:cs typeface="Arial" pitchFamily="34" charset="-120"/>
              </a:rPr>
              <a:t>rutas protegidas</a:t>
            </a:r>
            <a:endParaRPr lang="en-US" sz="3800" dirty="0"/>
          </a:p>
        </p:txBody>
      </p:sp>
      <p:sp>
        <p:nvSpPr>
          <p:cNvPr id="4" name="Shape 2"/>
          <p:cNvSpPr/>
          <p:nvPr/>
        </p:nvSpPr>
        <p:spPr>
          <a:xfrm>
            <a:off x="0" y="5120640"/>
            <a:ext cx="12188952" cy="914400"/>
          </a:xfrm>
          <a:prstGeom prst="rect">
            <a:avLst/>
          </a:prstGeom>
          <a:solidFill>
            <a:srgbClr val="FFA000"/>
          </a:solidFill>
          <a:ln w="12700">
            <a:solidFill>
              <a:srgbClr val="FFA000"/>
            </a:solidFill>
            <a:prstDash val="solid"/>
          </a:ln>
        </p:spPr>
      </p:sp>
      <p:sp>
        <p:nvSpPr>
          <p:cNvPr id="5" name="Text 3"/>
          <p:cNvSpPr/>
          <p:nvPr/>
        </p:nvSpPr>
        <p:spPr>
          <a:xfrm>
            <a:off x="548640" y="5120640"/>
            <a:ext cx="11091672" cy="914400"/>
          </a:xfrm>
          <a:prstGeom prst="rect">
            <a:avLst/>
          </a:prstGeom>
          <a:noFill/>
          <a:ln/>
        </p:spPr>
        <p:txBody>
          <a:bodyPr wrap="square" rtlCol="0" anchor="ctr"/>
          <a:lstStyle/>
          <a:p>
            <a:pPr indent="0" marL="0">
              <a:buNone/>
            </a:pPr>
            <a:r>
              <a:rPr lang="en-US" sz="1900" i="1" dirty="0">
                <a:solidFill>
                  <a:srgbClr val="FFFFFF"/>
                </a:solidFill>
                <a:latin typeface="Arial" pitchFamily="34" charset="0"/>
                <a:ea typeface="Arial" pitchFamily="34" charset="-122"/>
                <a:cs typeface="Arial" pitchFamily="34" charset="-120"/>
              </a:rPr>
              <a:t>5. Roles y rutas protegidas</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Roles y rutas protegidas</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sp>
        <p:nvSpPr>
          <p:cNvPr id="5" name="Shape 3"/>
          <p:cNvSpPr/>
          <p:nvPr/>
        </p:nvSpPr>
        <p:spPr>
          <a:xfrm>
            <a:off x="548640" y="1920240"/>
            <a:ext cx="11091672" cy="1828800"/>
          </a:xfrm>
          <a:prstGeom prst="roundRect">
            <a:avLst/>
          </a:prstGeom>
          <a:solidFill>
            <a:srgbClr val="FFF3E0"/>
          </a:solidFill>
          <a:ln w="19050">
            <a:solidFill>
              <a:srgbClr val="FFA000"/>
            </a:solidFill>
            <a:prstDash val="solid"/>
          </a:ln>
        </p:spPr>
      </p:sp>
      <p:sp>
        <p:nvSpPr>
          <p:cNvPr id="6" name="Text 4"/>
          <p:cNvSpPr/>
          <p:nvPr/>
        </p:nvSpPr>
        <p:spPr>
          <a:xfrm>
            <a:off x="822960" y="2011680"/>
            <a:ext cx="10543032" cy="164592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Al terminar el apartado anterior, tu API ya distinguía quién eres (JWT) de qué puedes hacer (roles) — pero solo lo habías comprobado sobre una ruta suelta, y ese 403 seguía saliendo con el formato por defecto de Spring. Hoy conviertes esa comprobación puntual en una política completa, ruta a ruta y cerrada por defecto.</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La política de autorización, leída como tabla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993002"/>
                <a:gridCol w="2662001"/>
                <a:gridCol w="4436669"/>
              </a:tblGrid>
              <a:tr h="621792">
                <a:tc>
                  <a:txBody>
                    <a:bodyPr/>
                    <a:lstStyle/>
                    <a:p>
                      <a:pPr algn="ctr" indent="0" marL="0">
                        <a:buNone/>
                      </a:pPr>
                      <a:r>
                        <a:rPr lang="en-US" sz="1550" b="1" dirty="0">
                          <a:solidFill>
                            <a:srgbClr val="FFFFFF"/>
                          </a:solidFill>
                          <a:latin typeface="Arial" pitchFamily="34" charset="0"/>
                          <a:ea typeface="Arial" pitchFamily="34" charset="-122"/>
                          <a:cs typeface="Arial" pitchFamily="34" charset="-120"/>
                        </a:rPr>
                        <a:t>Ruta</a:t>
                      </a:r>
                      <a:endParaRPr lang="en-US" sz="15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algn="ctr" indent="0" marL="0">
                        <a:buNone/>
                      </a:pPr>
                      <a:r>
                        <a:rPr lang="en-US" sz="1550" b="1" dirty="0">
                          <a:solidFill>
                            <a:srgbClr val="FFFFFF"/>
                          </a:solidFill>
                          <a:latin typeface="Arial" pitchFamily="34" charset="0"/>
                          <a:ea typeface="Arial" pitchFamily="34" charset="-122"/>
                          <a:cs typeface="Arial" pitchFamily="34" charset="-120"/>
                        </a:rPr>
                        <a:t>Verbo</a:t>
                      </a:r>
                      <a:endParaRPr lang="en-US" sz="15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algn="ctr" indent="0" marL="0">
                        <a:buNone/>
                      </a:pPr>
                      <a:r>
                        <a:rPr lang="en-US" sz="1550" b="1" dirty="0">
                          <a:solidFill>
                            <a:srgbClr val="FFFFFF"/>
                          </a:solidFill>
                          <a:latin typeface="Arial" pitchFamily="34" charset="0"/>
                          <a:ea typeface="Arial" pitchFamily="34" charset="-122"/>
                          <a:cs typeface="Arial" pitchFamily="34" charset="-120"/>
                        </a:rPr>
                        <a:t>Quién puede</a:t>
                      </a:r>
                      <a:endParaRPr lang="en-US" sz="15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r>
              <a:tr h="621792">
                <a:tc>
                  <a:txBody>
                    <a:bodyPr/>
                    <a:lstStyle/>
                    <a:p>
                      <a:pPr indent="0" marL="0">
                        <a:buNone/>
                      </a:pPr>
                      <a:r>
                        <a:rPr lang="en-US" sz="1350" b="1" dirty="0">
                          <a:solidFill>
                            <a:srgbClr val="212121"/>
                          </a:solidFill>
                          <a:latin typeface="Arial" pitchFamily="34" charset="0"/>
                          <a:ea typeface="Arial" pitchFamily="34" charset="-122"/>
                          <a:cs typeface="Arial" pitchFamily="34" charset="-120"/>
                        </a:rPr>
                        <a:t>/auth/register, /auth/login</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POST</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Cualquiera</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21792">
                <a:tc>
                  <a:txBody>
                    <a:bodyPr/>
                    <a:lstStyle/>
                    <a:p>
                      <a:pPr indent="0" marL="0">
                        <a:buNone/>
                      </a:pPr>
                      <a:r>
                        <a:rPr lang="en-US" sz="1350" b="1" dirty="0">
                          <a:solidFill>
                            <a:srgbClr val="212121"/>
                          </a:solidFill>
                          <a:latin typeface="Arial" pitchFamily="34" charset="0"/>
                          <a:ea typeface="Arial" pitchFamily="34" charset="-122"/>
                          <a:cs typeface="Arial" pitchFamily="34" charset="-120"/>
                        </a:rPr>
                        <a:t>/auth/me</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GET</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Cualquiera autenticado — cualquier rol vale</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621792">
                <a:tc>
                  <a:txBody>
                    <a:bodyPr/>
                    <a:lstStyle/>
                    <a:p>
                      <a:pPr indent="0" marL="0">
                        <a:buNone/>
                      </a:pPr>
                      <a:r>
                        <a:rPr lang="en-US" sz="1350" b="1" dirty="0">
                          <a:solidFill>
                            <a:srgbClr val="212121"/>
                          </a:solidFill>
                          <a:latin typeface="Arial" pitchFamily="34" charset="0"/>
                          <a:ea typeface="Arial" pitchFamily="34" charset="-122"/>
                          <a:cs typeface="Arial" pitchFamily="34" charset="-120"/>
                        </a:rPr>
                        <a:t>/libros, /editoriales</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GET</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Cualquiera</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21792">
                <a:tc>
                  <a:txBody>
                    <a:bodyPr/>
                    <a:lstStyle/>
                    <a:p>
                      <a:pPr indent="0" marL="0">
                        <a:buNone/>
                      </a:pPr>
                      <a:r>
                        <a:rPr lang="en-US" sz="1350" b="1" dirty="0">
                          <a:solidFill>
                            <a:srgbClr val="212121"/>
                          </a:solidFill>
                          <a:latin typeface="Arial" pitchFamily="34" charset="0"/>
                          <a:ea typeface="Arial" pitchFamily="34" charset="-122"/>
                          <a:cs typeface="Arial" pitchFamily="34" charset="-120"/>
                        </a:rPr>
                        <a:t>/libros, /editoriales</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POST/PUT/DELETE</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Solo ADMIN</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621792">
                <a:tc>
                  <a:txBody>
                    <a:bodyPr/>
                    <a:lstStyle/>
                    <a:p>
                      <a:pPr indent="0" marL="0">
                        <a:buNone/>
                      </a:pPr>
                      <a:r>
                        <a:rPr lang="en-US" sz="1350" b="1" dirty="0">
                          <a:solidFill>
                            <a:srgbClr val="212121"/>
                          </a:solidFill>
                          <a:latin typeface="Arial" pitchFamily="34" charset="0"/>
                          <a:ea typeface="Arial" pitchFamily="34" charset="-122"/>
                          <a:cs typeface="Arial" pitchFamily="34" charset="-120"/>
                        </a:rPr>
                        <a:t>/swagger-ui/**, /v3/api-docs/**, /error</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Cualquiera</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21792">
                <a:tc>
                  <a:txBody>
                    <a:bodyPr/>
                    <a:lstStyle/>
                    <a:p>
                      <a:pPr indent="0" marL="0">
                        <a:buNone/>
                      </a:pPr>
                      <a:r>
                        <a:rPr lang="en-US" sz="1350" b="1" dirty="0">
                          <a:solidFill>
                            <a:srgbClr val="212121"/>
                          </a:solidFill>
                          <a:latin typeface="Arial" pitchFamily="34" charset="0"/>
                          <a:ea typeface="Arial" pitchFamily="34" charset="-122"/>
                          <a:cs typeface="Arial" pitchFamily="34" charset="-120"/>
                        </a:rPr>
                        <a:t>Cualquier otra ruta no listada</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Nadie</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authorizeHttpRequests, ruta a ruta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sp>
        <p:nvSpPr>
          <p:cNvPr id="5" name="Shape 3"/>
          <p:cNvSpPr/>
          <p:nvPr/>
        </p:nvSpPr>
        <p:spPr>
          <a:xfrm>
            <a:off x="548640" y="1554480"/>
            <a:ext cx="11091672" cy="4297680"/>
          </a:xfrm>
          <a:prstGeom prst="rect">
            <a:avLst/>
          </a:prstGeom>
          <a:solidFill>
            <a:srgbClr val="ECEFF1"/>
          </a:solidFill>
          <a:ln w="12700">
            <a:solidFill>
              <a:srgbClr val="EEEEEE"/>
            </a:solidFill>
            <a:prstDash val="solid"/>
          </a:ln>
        </p:spPr>
      </p:sp>
      <p:sp>
        <p:nvSpPr>
          <p:cNvPr id="6" name="Shape 4"/>
          <p:cNvSpPr/>
          <p:nvPr/>
        </p:nvSpPr>
        <p:spPr>
          <a:xfrm>
            <a:off x="548640" y="1554480"/>
            <a:ext cx="73152" cy="4297680"/>
          </a:xfrm>
          <a:prstGeom prst="rect">
            <a:avLst/>
          </a:prstGeom>
          <a:solidFill>
            <a:srgbClr val="FFA000"/>
          </a:solidFill>
          <a:ln w="12700">
            <a:solidFill>
              <a:srgbClr val="FFA000"/>
            </a:solidFill>
            <a:prstDash val="solid"/>
          </a:ln>
        </p:spPr>
      </p:sp>
      <p:sp>
        <p:nvSpPr>
          <p:cNvPr id="7" name="Text 5"/>
          <p:cNvSpPr/>
          <p:nvPr/>
        </p:nvSpPr>
        <p:spPr>
          <a:xfrm>
            <a:off x="822960" y="1664208"/>
            <a:ext cx="10588752" cy="4078224"/>
          </a:xfrm>
          <a:prstGeom prst="rect">
            <a:avLst/>
          </a:prstGeom>
          <a:noFill/>
          <a:ln/>
        </p:spPr>
        <p:txBody>
          <a:bodyPr wrap="square" rtlCol="0" anchor="t"/>
          <a:lstStyle/>
          <a:p>
            <a:pPr indent="0" marL="0">
              <a:buNone/>
            </a:pPr>
            <a:r>
              <a:rPr lang="en-US" sz="1150" dirty="0">
                <a:solidFill>
                  <a:srgbClr val="263238"/>
                </a:solidFill>
                <a:latin typeface="Courier New" pitchFamily="34" charset="0"/>
                <a:ea typeface="Courier New" pitchFamily="34" charset="-122"/>
                <a:cs typeface="Courier New" pitchFamily="34" charset="-120"/>
              </a:rPr>
              <a:t>.authorizeHttpRequests(auth -&gt; auth</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.requestMatchers(POST, "/api/v1/auth/register", "/api/v1/auth/login").permitAll()</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.requestMatchers(GET, "/api/v1/auth/me").authenticated()</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.requestMatchers(GET, "/api/v1/libros", "/api/v1/libros/**").permitAll()</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.requestMatchers(GET, "/api/v1/editoriales", "/api/v1/editoriales/**").permitAll()</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.requestMatchers(POST, "/api/v1/libros").hasRole("ADMIN")</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.requestMatchers(PUT, "/api/v1/libros/*").hasRole("ADMIN")</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.requestMatchers(DELETE, "/api/v1/libros/*").hasRole("ADMIN")</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.requestMatchers(POST, "/api/v1/editoriales").hasRole("ADMIN")</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.requestMatchers(PUT, "/api/v1/editoriales/*").hasRole("ADMIN")</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.requestMatchers(DELETE, "/api/v1/editoriales/*").hasRole("ADMIN")</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.requestMatchers("/error").permitAll()</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.requestMatchers("/v3/api-docs/**", "/swagger-ui/**", "/swagger-ui.html").permitAll()</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.anyRequest().denyAll()</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Por qué /error va siempre en permitAll()</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sp>
        <p:nvSpPr>
          <p:cNvPr id="5" name="Shape 3"/>
          <p:cNvSpPr/>
          <p:nvPr/>
        </p:nvSpPr>
        <p:spPr>
          <a:xfrm>
            <a:off x="548640" y="1920240"/>
            <a:ext cx="11091672" cy="1828800"/>
          </a:xfrm>
          <a:prstGeom prst="roundRect">
            <a:avLst/>
          </a:prstGeom>
          <a:solidFill>
            <a:srgbClr val="FFF3E0"/>
          </a:solidFill>
          <a:ln w="19050">
            <a:solidFill>
              <a:srgbClr val="FFA000"/>
            </a:solidFill>
            <a:prstDash val="solid"/>
          </a:ln>
        </p:spPr>
      </p:sp>
      <p:sp>
        <p:nvSpPr>
          <p:cNvPr id="6" name="Text 4"/>
          <p:cNvSpPr/>
          <p:nvPr/>
        </p:nvSpPr>
        <p:spPr>
          <a:xfrm>
            <a:off x="822960" y="2011680"/>
            <a:ext cx="10543032" cy="164592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/error es la ruta interna que usa Spring Boot para construir la respuesta cuando una petición termina en un error que no ha capturado ningún @ExceptionHandler: Spring reenvía la petición, por dentro, a /error. Si esa ruta no es pública, ese reenvío también pasa por tu política de seguridad — y puedes acabar viendo un 401/403 de tu propia denyAll() en vez del error real.</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La línea más importante de todo el bloque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sp>
        <p:nvSpPr>
          <p:cNvPr id="5" name="Shape 3"/>
          <p:cNvSpPr/>
          <p:nvPr/>
        </p:nvSpPr>
        <p:spPr>
          <a:xfrm>
            <a:off x="548640" y="1463040"/>
            <a:ext cx="11091672" cy="731520"/>
          </a:xfrm>
          <a:prstGeom prst="rect">
            <a:avLst/>
          </a:prstGeom>
          <a:solidFill>
            <a:srgbClr val="ECEFF1"/>
          </a:solidFill>
          <a:ln w="12700">
            <a:solidFill>
              <a:srgbClr val="EEEEEE"/>
            </a:solidFill>
            <a:prstDash val="solid"/>
          </a:ln>
        </p:spPr>
      </p:sp>
      <p:sp>
        <p:nvSpPr>
          <p:cNvPr id="6" name="Shape 4"/>
          <p:cNvSpPr/>
          <p:nvPr/>
        </p:nvSpPr>
        <p:spPr>
          <a:xfrm>
            <a:off x="548640" y="1463040"/>
            <a:ext cx="73152" cy="731520"/>
          </a:xfrm>
          <a:prstGeom prst="rect">
            <a:avLst/>
          </a:prstGeom>
          <a:solidFill>
            <a:srgbClr val="FFA000"/>
          </a:solidFill>
          <a:ln w="12700">
            <a:solidFill>
              <a:srgbClr val="FFA000"/>
            </a:solidFill>
            <a:prstDash val="solid"/>
          </a:ln>
        </p:spPr>
      </p:sp>
      <p:sp>
        <p:nvSpPr>
          <p:cNvPr id="7" name="Text 5"/>
          <p:cNvSpPr/>
          <p:nvPr/>
        </p:nvSpPr>
        <p:spPr>
          <a:xfrm>
            <a:off x="822960" y="1572768"/>
            <a:ext cx="10588752" cy="512064"/>
          </a:xfrm>
          <a:prstGeom prst="rect">
            <a:avLst/>
          </a:prstGeom>
          <a:noFill/>
          <a:ln/>
        </p:spPr>
        <p:txBody>
          <a:bodyPr wrap="square" rtlCol="0" anchor="t"/>
          <a:lstStyle/>
          <a:p>
            <a:pPr indent="0" marL="0">
              <a:buNone/>
            </a:pPr>
            <a:r>
              <a:rPr lang="en-US" sz="2000" dirty="0">
                <a:solidFill>
                  <a:srgbClr val="263238"/>
                </a:solidFill>
                <a:latin typeface="Courier New" pitchFamily="34" charset="0"/>
                <a:ea typeface="Courier New" pitchFamily="34" charset="-122"/>
                <a:cs typeface="Courier New" pitchFamily="34" charset="-120"/>
              </a:rPr>
              <a:t>.anyRequest().denyAll()</a:t>
            </a:r>
            <a:endParaRPr lang="en-US" sz="2000" dirty="0"/>
          </a:p>
        </p:txBody>
      </p:sp>
      <p:sp>
        <p:nvSpPr>
          <p:cNvPr id="8" name="Shape 6"/>
          <p:cNvSpPr/>
          <p:nvPr/>
        </p:nvSpPr>
        <p:spPr>
          <a:xfrm>
            <a:off x="548640" y="2560320"/>
            <a:ext cx="11091672" cy="1463040"/>
          </a:xfrm>
          <a:prstGeom prst="roundRect">
            <a:avLst/>
          </a:prstGeom>
          <a:solidFill>
            <a:srgbClr val="FFF3E0"/>
          </a:solidFill>
          <a:ln w="19050">
            <a:solidFill>
              <a:srgbClr val="FFA000"/>
            </a:solidFill>
            <a:prstDash val="solid"/>
          </a:ln>
        </p:spPr>
      </p:sp>
      <p:sp>
        <p:nvSpPr>
          <p:cNvPr id="9" name="Text 7"/>
          <p:cNvSpPr/>
          <p:nvPr/>
        </p:nvSpPr>
        <p:spPr>
          <a:xfrm>
            <a:off x="822960" y="2651760"/>
            <a:ext cx="10543032" cy="128016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Cualquier ruta que no aparezca explícitamente en las reglas anteriores queda cerrada por defecto — es el principio de mínima exposición del primer apartado del tema, llevado hasta el final: nada se abre "por accidente" simplemente por existir.</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La tabla no es una ley universal</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sp>
        <p:nvSpPr>
          <p:cNvPr id="5" name="Text 3"/>
          <p:cNvSpPr/>
          <p:nvPr/>
        </p:nvSpPr>
        <p:spPr>
          <a:xfrm>
            <a:off x="548640" y="1371600"/>
            <a:ext cx="11091672" cy="914400"/>
          </a:xfrm>
          <a:prstGeom prst="rect">
            <a:avLst/>
          </a:prstGeom>
          <a:noFill/>
          <a:ln/>
        </p:spPr>
        <p:txBody>
          <a:bodyPr wrap="square" rtlCol="0" anchor="t"/>
          <a:lstStyle/>
          <a:p>
            <a:pPr indent="0" marL="0">
              <a:buNone/>
            </a:pPr>
            <a:r>
              <a:rPr lang="en-US" sz="1800" dirty="0">
                <a:solidFill>
                  <a:srgbClr val="212121"/>
                </a:solidFill>
                <a:latin typeface="Arial" pitchFamily="34" charset="0"/>
                <a:ea typeface="Arial" pitchFamily="34" charset="-122"/>
                <a:cs typeface="Arial" pitchFamily="34" charset="-120"/>
              </a:rPr>
              <a:t>Que POST/PUT/DELETE sobre /libros sean solo para ADMIN no es una regla fija de Spring Security: es la decisión correcta para este dominio, donde el catálogo lo gestiona el equipo, no los usuarios.</a:t>
            </a:r>
            <a:endParaRPr lang="en-US" sz="1800" dirty="0"/>
          </a:p>
        </p:txBody>
      </p:sp>
      <p:sp>
        <p:nvSpPr>
          <p:cNvPr id="6" name="Shape 4"/>
          <p:cNvSpPr/>
          <p:nvPr/>
        </p:nvSpPr>
        <p:spPr>
          <a:xfrm>
            <a:off x="548640" y="2560320"/>
            <a:ext cx="11091672" cy="1554480"/>
          </a:xfrm>
          <a:prstGeom prst="roundRect">
            <a:avLst/>
          </a:prstGeom>
          <a:solidFill>
            <a:srgbClr val="FFF3E0"/>
          </a:solidFill>
          <a:ln w="19050">
            <a:solidFill>
              <a:srgbClr val="FFA000"/>
            </a:solidFill>
            <a:prstDash val="solid"/>
          </a:ln>
        </p:spPr>
      </p:sp>
      <p:sp>
        <p:nvSpPr>
          <p:cNvPr id="7" name="Text 5"/>
          <p:cNvSpPr/>
          <p:nvPr/>
        </p:nvSpPr>
        <p:spPr>
          <a:xfrm>
            <a:off x="822960" y="2651760"/>
            <a:ext cx="10543032" cy="1371600"/>
          </a:xfrm>
          <a:prstGeom prst="rect">
            <a:avLst/>
          </a:prstGeom>
          <a:noFill/>
          <a:ln/>
        </p:spPr>
        <p:txBody>
          <a:bodyPr wrap="square" rtlCol="0" anchor="ctr"/>
          <a:lstStyle/>
          <a:p>
            <a:pPr indent="0" marL="0">
              <a:buNone/>
            </a:pPr>
            <a:r>
              <a:rPr lang="en-US" sz="1800" dirty="0">
                <a:solidFill>
                  <a:srgbClr val="212121"/>
                </a:solidFill>
                <a:latin typeface="Arial" pitchFamily="34" charset="0"/>
                <a:ea typeface="Arial" pitchFamily="34" charset="-122"/>
                <a:cs typeface="Arial" pitchFamily="34" charset="-120"/>
              </a:rPr>
              <a:t>En una red social, un DELETE sobre una publicación normalmente sí lo puede hacer un USER, siempre que sea el autor — algo que ni siquiera se resuelve con un rol, sino comprobando de quién es el recurso. La pregunta que importa no es "¿qué verbo es?", sino "¿qué tiene sentido para lo que hace este endpoint, en esta aplicación concreta?".</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Cada ruta nueva necesita su propia regla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sp>
        <p:nvSpPr>
          <p:cNvPr id="5" name="Shape 3"/>
          <p:cNvSpPr/>
          <p:nvPr/>
        </p:nvSpPr>
        <p:spPr>
          <a:xfrm>
            <a:off x="548640" y="1371600"/>
            <a:ext cx="11091672" cy="2377440"/>
          </a:xfrm>
          <a:prstGeom prst="roundRect">
            <a:avLst/>
          </a:prstGeom>
          <a:solidFill>
            <a:srgbClr val="FFF3E0"/>
          </a:solidFill>
          <a:ln w="28575">
            <a:solidFill>
              <a:srgbClr val="FFA000"/>
            </a:solidFill>
            <a:prstDash val="solid"/>
          </a:ln>
        </p:spPr>
      </p:sp>
      <p:sp>
        <p:nvSpPr>
          <p:cNvPr id="6" name="Text 4"/>
          <p:cNvSpPr/>
          <p:nvPr/>
        </p:nvSpPr>
        <p:spPr>
          <a:xfrm>
            <a:off x="822960" y="1481328"/>
            <a:ext cx="10543032" cy="2157984"/>
          </a:xfrm>
          <a:prstGeom prst="rect">
            <a:avLst/>
          </a:prstGeom>
          <a:noFill/>
          <a:ln/>
        </p:spPr>
        <p:txBody>
          <a:bodyPr wrap="square" rtlCol="0" anchor="t"/>
          <a:lstStyle/>
          <a:p>
            <a:pPr indent="0" marL="0">
              <a:buNone/>
            </a:pPr>
            <a:r>
              <a:rPr lang="en-US" sz="1900" b="1" dirty="0">
                <a:solidFill>
                  <a:srgbClr val="4E342E"/>
                </a:solidFill>
                <a:latin typeface="Arial" pitchFamily="34" charset="0"/>
                <a:ea typeface="Arial" pitchFamily="34" charset="-122"/>
                <a:cs typeface="Arial" pitchFamily="34" charset="-120"/>
              </a:rPr>
              <a:t>⚠ O denyAll() la bloquea
</a:t>
            </a:r>
            <a:endParaRPr lang="en-US" sz="1900" dirty="0"/>
          </a:p>
          <a:p>
            <a:pPr indent="0" marL="0">
              <a:buNone/>
            </a:pPr>
            <a:r>
              <a:rPr lang="en-US" sz="1800" dirty="0">
                <a:solidFill>
                  <a:srgbClr val="212121"/>
                </a:solidFill>
                <a:latin typeface="Arial" pitchFamily="34" charset="0"/>
                <a:ea typeface="Arial" pitchFamily="34" charset="-122"/>
                <a:cs typeface="Arial" pitchFamily="34" charset="-120"/>
              </a:rPr>
              <a:t>Con .anyRequest().authenticated() como tenías hasta ahora, cualquier ruta sin regla propia funcionaba con solo estar autenticado. Al cambiar el catch-all a denyAll(), eso deja de ser cierto: lo que no tenga su línea explícita queda bloqueado, aunque el endpoint funcione perfectamente y mandes un token válido — "me da 403/401 sin motivo aparente" casi siempre significa "me he dejado esta ruta sin regla".</a:t>
            </a:r>
            <a:endParaRPr lang="en-US" sz="1900" dirty="0"/>
          </a:p>
        </p:txBody>
      </p:sp>
      <p:sp>
        <p:nvSpPr>
          <p:cNvPr id="7" name="Text 5"/>
          <p:cNvSpPr/>
          <p:nvPr/>
        </p:nvSpPr>
        <p:spPr>
          <a:xfrm>
            <a:off x="548640" y="4069080"/>
            <a:ext cx="11091672" cy="822960"/>
          </a:xfrm>
          <a:prstGeom prst="rect">
            <a:avLst/>
          </a:prstGeom>
          <a:noFill/>
          <a:ln/>
        </p:spPr>
        <p:txBody>
          <a:bodyPr wrap="square" rtlCol="0" anchor="t"/>
          <a:lstStyle/>
          <a:p>
            <a:pPr indent="0" marL="0">
              <a:buNone/>
            </a:pPr>
            <a:r>
              <a:rPr lang="en-US" sz="1600" dirty="0">
                <a:solidFill>
                  <a:srgbClr val="757575"/>
                </a:solidFill>
                <a:latin typeface="Arial" pitchFamily="34" charset="0"/>
                <a:ea typeface="Arial" pitchFamily="34" charset="-122"/>
                <a:cs typeface="Arial" pitchFamily="34" charset="-120"/>
              </a:rPr>
              <a:t>Ojo también con subrutas de una acción concreta (POST /libros/5/aplicar-descuento): no coinciden con la regla de la ruta base y necesitan la suya propia.</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401 vs. 403 vs. 404, con criterio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218334"/>
                <a:gridCol w="4214835"/>
                <a:gridCol w="4658502"/>
              </a:tblGrid>
              <a:tr h="868680">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Código</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Significa</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Cuándo aparece</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r>
              <a:tr h="868680">
                <a:tc>
                  <a:txBody>
                    <a:bodyPr/>
                    <a:lstStyle/>
                    <a:p>
                      <a:pPr indent="0" marL="0">
                        <a:buNone/>
                      </a:pPr>
                      <a:r>
                        <a:rPr lang="en-US" sz="1400" b="1" dirty="0">
                          <a:solidFill>
                            <a:srgbClr val="212121"/>
                          </a:solidFill>
                          <a:latin typeface="Arial" pitchFamily="34" charset="0"/>
                          <a:ea typeface="Arial" pitchFamily="34" charset="-122"/>
                          <a:cs typeface="Arial" pitchFamily="34" charset="-120"/>
                        </a:rPr>
                        <a:t>401 Unauthorized</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No sabes quién eres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Falta el token, o es inválido/caducado.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212121"/>
                          </a:solidFill>
                          <a:latin typeface="Arial" pitchFamily="34" charset="0"/>
                          <a:ea typeface="Arial" pitchFamily="34" charset="-122"/>
                          <a:cs typeface="Arial" pitchFamily="34" charset="-120"/>
                        </a:rPr>
                        <a:t>403 Forbidden</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Sabemos quién eres, pero no puedes hacer esto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Token válido, pero rol insuficiente.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868680">
                <a:tc>
                  <a:txBody>
                    <a:bodyPr/>
                    <a:lstStyle/>
                    <a:p>
                      <a:pPr indent="0" marL="0">
                        <a:buNone/>
                      </a:pPr>
                      <a:r>
                        <a:rPr lang="en-US" sz="1400" b="1" dirty="0">
                          <a:solidFill>
                            <a:srgbClr val="212121"/>
                          </a:solidFill>
                          <a:latin typeface="Arial" pitchFamily="34" charset="0"/>
                          <a:ea typeface="Arial" pitchFamily="34" charset="-122"/>
                          <a:cs typeface="Arial" pitchFamily="34" charset="-120"/>
                        </a:rPr>
                        <a:t>404 Not Found</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La ruta pedida no corresponde a ningún endpoint</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Pasa tu política de seguridad, pero no hay controller que la atienda.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El mismo endpoint, dos respuestas distintas</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sp>
        <p:nvSpPr>
          <p:cNvPr id="5" name="Shape 3"/>
          <p:cNvSpPr/>
          <p:nvPr/>
        </p:nvSpPr>
        <p:spPr>
          <a:xfrm>
            <a:off x="548640" y="2286000"/>
            <a:ext cx="11091672" cy="1554480"/>
          </a:xfrm>
          <a:prstGeom prst="roundRect">
            <a:avLst/>
          </a:prstGeom>
          <a:solidFill>
            <a:srgbClr val="FFF3E0"/>
          </a:solidFill>
          <a:ln w="19050">
            <a:solidFill>
              <a:srgbClr val="FFA000"/>
            </a:solidFill>
            <a:prstDash val="solid"/>
          </a:ln>
        </p:spPr>
      </p:sp>
      <p:sp>
        <p:nvSpPr>
          <p:cNvPr id="6" name="Text 4"/>
          <p:cNvSpPr/>
          <p:nvPr/>
        </p:nvSpPr>
        <p:spPr>
          <a:xfrm>
            <a:off x="822960" y="2377440"/>
            <a:ext cx="10543032" cy="1371600"/>
          </a:xfrm>
          <a:prstGeom prst="rect">
            <a:avLst/>
          </a:prstGeom>
          <a:noFill/>
          <a:ln/>
        </p:spPr>
        <p:txBody>
          <a:bodyPr wrap="square" rtlCol="0" anchor="ctr"/>
          <a:lstStyle/>
          <a:p>
            <a:pPr indent="0" marL="0">
              <a:buNone/>
            </a:pPr>
            <a:r>
              <a:rPr lang="en-US" sz="1950" dirty="0">
                <a:solidFill>
                  <a:srgbClr val="212121"/>
                </a:solidFill>
                <a:latin typeface="Arial" pitchFamily="34" charset="0"/>
                <a:ea typeface="Arial" pitchFamily="34" charset="-122"/>
                <a:cs typeface="Arial" pitchFamily="34" charset="-120"/>
              </a:rPr>
              <a:t>Con la tabla de antes: un POST /api/v1/libros sin token da 401; el mismo POST con el token de un usuario USER (no ADMIN) da 403. El 404 es distinto a los otros dos: no depende de quién eres, sino de si ese endpoint existe de verdad.</a:t>
            </a:r>
            <a:endParaRPr lang="en-US"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denyAll() sin token también da 401, no 403</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sp>
        <p:nvSpPr>
          <p:cNvPr id="5" name="Shape 3"/>
          <p:cNvSpPr/>
          <p:nvPr/>
        </p:nvSpPr>
        <p:spPr>
          <a:xfrm>
            <a:off x="548640" y="2103120"/>
            <a:ext cx="11091672" cy="1554480"/>
          </a:xfrm>
          <a:prstGeom prst="roundRect">
            <a:avLst/>
          </a:prstGeom>
          <a:solidFill>
            <a:srgbClr val="FFF3E0"/>
          </a:solidFill>
          <a:ln w="19050">
            <a:solidFill>
              <a:srgbClr val="FFA000"/>
            </a:solidFill>
            <a:prstDash val="solid"/>
          </a:ln>
        </p:spPr>
      </p:sp>
      <p:sp>
        <p:nvSpPr>
          <p:cNvPr id="6" name="Text 4"/>
          <p:cNvSpPr/>
          <p:nvPr/>
        </p:nvSpPr>
        <p:spPr>
          <a:xfrm>
            <a:off x="822960" y="2194560"/>
            <a:ext cx="10543032" cy="1371600"/>
          </a:xfrm>
          <a:prstGeom prst="rect">
            <a:avLst/>
          </a:prstGeom>
          <a:noFill/>
          <a:ln/>
        </p:spPr>
        <p:txBody>
          <a:bodyPr wrap="square" rtlCol="0" anchor="ctr"/>
          <a:lstStyle/>
          <a:p>
            <a:pPr indent="0" marL="0">
              <a:buNone/>
            </a:pPr>
            <a:r>
              <a:rPr lang="en-US" sz="1850" dirty="0">
                <a:solidFill>
                  <a:srgbClr val="212121"/>
                </a:solidFill>
                <a:latin typeface="Arial" pitchFamily="34" charset="0"/>
                <a:ea typeface="Arial" pitchFamily="34" charset="-122"/>
                <a:cs typeface="Arial" pitchFamily="34" charset="-120"/>
              </a:rPr>
              <a:t>denyAll() rechaza siempre cualquier petición que llegue hasta esa regla. Después, Spring Security distingue quién ha hecho la petición: si no existe una autenticación válida, ExceptionTranslationFilter llama al AuthenticationEntryPoint y devuelve 401; si la petición lleva un token válido, delega en el AccessDeniedHandler y devuelve 403.</a:t>
            </a:r>
            <a:endParaRPr lang="en-US" sz="1850" dirty="0"/>
          </a:p>
        </p:txBody>
      </p:sp>
      <p:sp>
        <p:nvSpPr>
          <p:cNvPr id="7" name="Text 5"/>
          <p:cNvSpPr/>
          <p:nvPr/>
        </p:nvSpPr>
        <p:spPr>
          <a:xfrm>
            <a:off x="548640" y="3977640"/>
            <a:ext cx="11091672" cy="731520"/>
          </a:xfrm>
          <a:prstGeom prst="rect">
            <a:avLst/>
          </a:prstGeom>
          <a:noFill/>
          <a:ln/>
        </p:spPr>
        <p:txBody>
          <a:bodyPr wrap="square" rtlCol="0" anchor="t"/>
          <a:lstStyle/>
          <a:p>
            <a:pPr indent="0" marL="0">
              <a:buNone/>
            </a:pPr>
            <a:r>
              <a:rPr lang="en-US" sz="1600" dirty="0">
                <a:solidFill>
                  <a:srgbClr val="757575"/>
                </a:solidFill>
                <a:latin typeface="Arial" pitchFamily="34" charset="0"/>
                <a:ea typeface="Arial" pitchFamily="34" charset="-122"/>
                <a:cs typeface="Arial" pitchFamily="34" charset="-120"/>
              </a:rPr>
              <a:t>Por tanto, la misma regla denyAll() puede terminar en uno u otro código: la diferencia no está en la regla, sino en si el solicitante está autenticado.</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Cuando el 404 no es un 404</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sp>
        <p:nvSpPr>
          <p:cNvPr id="5" name="Text 3"/>
          <p:cNvSpPr/>
          <p:nvPr/>
        </p:nvSpPr>
        <p:spPr>
          <a:xfrm>
            <a:off x="548640" y="2103120"/>
            <a:ext cx="11091672" cy="1143000"/>
          </a:xfrm>
          <a:prstGeom prst="rect">
            <a:avLst/>
          </a:prstGeom>
          <a:noFill/>
          <a:ln/>
        </p:spPr>
        <p:txBody>
          <a:bodyPr wrap="square" rtlCol="0" anchor="t"/>
          <a:lstStyle/>
          <a:p>
            <a:pPr indent="0" marL="0">
              <a:buNone/>
            </a:pPr>
            <a:r>
              <a:rPr lang="en-US" sz="2000" dirty="0">
                <a:solidFill>
                  <a:srgbClr val="212121"/>
                </a:solidFill>
                <a:latin typeface="Arial" pitchFamily="34" charset="0"/>
                <a:ea typeface="Arial" pitchFamily="34" charset="-122"/>
                <a:cs typeface="Arial" pitchFamily="34" charset="-120"/>
              </a:rPr>
              <a:t>Pide una ruta que no existe pero coincide con una regla que la permite —GET /api/v1/libros/999/no-existe (dos segmentos tras la base, cae dentro de /api/v1/libros/**, que es pública)—. Deberías ver un 404...</a:t>
            </a:r>
            <a:endParaRPr lang="en-US" sz="2000" dirty="0"/>
          </a:p>
        </p:txBody>
      </p:sp>
      <p:sp>
        <p:nvSpPr>
          <p:cNvPr id="6" name="Shape 4"/>
          <p:cNvSpPr/>
          <p:nvPr/>
        </p:nvSpPr>
        <p:spPr>
          <a:xfrm>
            <a:off x="548640" y="3611880"/>
            <a:ext cx="11091672" cy="960120"/>
          </a:xfrm>
          <a:prstGeom prst="roundRect">
            <a:avLst/>
          </a:prstGeom>
          <a:solidFill>
            <a:srgbClr val="FFF3E0"/>
          </a:solidFill>
          <a:ln w="19050">
            <a:solidFill>
              <a:srgbClr val="FFA000"/>
            </a:solidFill>
            <a:prstDash val="solid"/>
          </a:ln>
        </p:spPr>
      </p:sp>
      <p:sp>
        <p:nvSpPr>
          <p:cNvPr id="7" name="Text 5"/>
          <p:cNvSpPr/>
          <p:nvPr/>
        </p:nvSpPr>
        <p:spPr>
          <a:xfrm>
            <a:off x="822960" y="3703320"/>
            <a:ext cx="10543032" cy="777240"/>
          </a:xfrm>
          <a:prstGeom prst="rect">
            <a:avLst/>
          </a:prstGeom>
          <a:noFill/>
          <a:ln/>
        </p:spPr>
        <p:txBody>
          <a:bodyPr wrap="square" rtlCol="0" anchor="ctr"/>
          <a:lstStyle/>
          <a:p>
            <a:pPr indent="0" marL="0">
              <a:buNone/>
            </a:pPr>
            <a:r>
              <a:rPr lang="en-US" sz="2100" dirty="0">
                <a:solidFill>
                  <a:srgbClr val="212121"/>
                </a:solidFill>
                <a:latin typeface="Arial" pitchFamily="34" charset="0"/>
                <a:ea typeface="Arial" pitchFamily="34" charset="-122"/>
                <a:cs typeface="Arial" pitchFamily="34" charset="-120"/>
              </a:rPr>
              <a:t>...pero lo que sale es un 500 Error interno, generado por tu propio GlobalExceptionHandler.</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No cualquier ruta "inexistente" sirve para este ejemplo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sp>
        <p:nvSpPr>
          <p:cNvPr id="5" name="Shape 3"/>
          <p:cNvSpPr/>
          <p:nvPr/>
        </p:nvSpPr>
        <p:spPr>
          <a:xfrm>
            <a:off x="548640" y="1554480"/>
            <a:ext cx="11091672" cy="2194560"/>
          </a:xfrm>
          <a:prstGeom prst="roundRect">
            <a:avLst/>
          </a:prstGeom>
          <a:solidFill>
            <a:srgbClr val="FFF3E0"/>
          </a:solidFill>
          <a:ln w="28575">
            <a:solidFill>
              <a:srgbClr val="FFA000"/>
            </a:solidFill>
            <a:prstDash val="solid"/>
          </a:ln>
        </p:spPr>
      </p:sp>
      <p:sp>
        <p:nvSpPr>
          <p:cNvPr id="6" name="Text 4"/>
          <p:cNvSpPr/>
          <p:nvPr/>
        </p:nvSpPr>
        <p:spPr>
          <a:xfrm>
            <a:off x="822960" y="1664208"/>
            <a:ext cx="10543032" cy="1975104"/>
          </a:xfrm>
          <a:prstGeom prst="rect">
            <a:avLst/>
          </a:prstGeom>
          <a:noFill/>
          <a:ln/>
        </p:spPr>
        <p:txBody>
          <a:bodyPr wrap="square" rtlCol="0" anchor="t"/>
          <a:lstStyle/>
          <a:p>
            <a:pPr indent="0" marL="0">
              <a:buNone/>
            </a:pPr>
            <a:r>
              <a:rPr lang="en-US" sz="1850" b="1" dirty="0">
                <a:solidFill>
                  <a:srgbClr val="4E342E"/>
                </a:solidFill>
                <a:latin typeface="Arial" pitchFamily="34" charset="0"/>
                <a:ea typeface="Arial" pitchFamily="34" charset="-122"/>
                <a:cs typeface="Arial" pitchFamily="34" charset="-120"/>
              </a:rPr>
              <a:t>⚠ Un solo segmento coincide con /{id}
</a:t>
            </a:r>
            <a:endParaRPr lang="en-US" sz="1850" dirty="0"/>
          </a:p>
          <a:p>
            <a:pPr indent="0" marL="0">
              <a:buNone/>
            </a:pPr>
            <a:r>
              <a:rPr lang="en-US" sz="1750" dirty="0">
                <a:solidFill>
                  <a:srgbClr val="212121"/>
                </a:solidFill>
                <a:latin typeface="Arial" pitchFamily="34" charset="0"/>
                <a:ea typeface="Arial" pitchFamily="34" charset="-122"/>
                <a:cs typeface="Arial" pitchFamily="34" charset="-120"/>
              </a:rPr>
              <a:t>Si en vez de dos segmentos pruebas con uno solo —GET /api/v1/libros/esto-no-existe—, esa ruta sí coincide con GET /api/v1/libros/{id}: Spring intenta convertir "esto-no-existe" al Long id, y lanza una excepción de conversión de tipo distinta (MethodArgumentTypeMismatchException), no NoResourceFoundException. Para provocar de verdad una ruta que no existe necesitas algo que no coincida con ningún patrón, ni por accidente.</a:t>
            </a:r>
            <a:endParaRPr lang="en-US" sz="1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NoResourceFoundException: un handler más específico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sp>
        <p:nvSpPr>
          <p:cNvPr id="5" name="Text 3"/>
          <p:cNvSpPr/>
          <p:nvPr/>
        </p:nvSpPr>
        <p:spPr>
          <a:xfrm>
            <a:off x="548640" y="1188720"/>
            <a:ext cx="11091672" cy="822960"/>
          </a:xfrm>
          <a:prstGeom prst="rect">
            <a:avLst/>
          </a:prstGeom>
          <a:noFill/>
          <a:ln/>
        </p:spPr>
        <p:txBody>
          <a:bodyPr wrap="square" rtlCol="0" anchor="t"/>
          <a:lstStyle/>
          <a:p>
            <a:pPr indent="0" marL="0">
              <a:buNone/>
            </a:pPr>
            <a:r>
              <a:rPr lang="en-US" sz="1650" dirty="0">
                <a:solidFill>
                  <a:srgbClr val="212121"/>
                </a:solidFill>
                <a:latin typeface="Arial" pitchFamily="34" charset="0"/>
                <a:ea typeface="Arial" pitchFamily="34" charset="-122"/>
                <a:cs typeface="Arial" pitchFamily="34" charset="-120"/>
              </a:rPr>
              <a:t>Cuando ninguna ruta coincide, Spring lanza NoResourceFoundException — y como también es una Exception, el Handler 5 genérico la atrapa antes de que Spring pueda darle su 404 correcto:</a:t>
            </a:r>
            <a:endParaRPr lang="en-US" sz="1650" dirty="0"/>
          </a:p>
        </p:txBody>
      </p:sp>
      <p:sp>
        <p:nvSpPr>
          <p:cNvPr id="6" name="Shape 4"/>
          <p:cNvSpPr/>
          <p:nvPr/>
        </p:nvSpPr>
        <p:spPr>
          <a:xfrm>
            <a:off x="548640" y="2240280"/>
            <a:ext cx="11091672" cy="2651760"/>
          </a:xfrm>
          <a:prstGeom prst="rect">
            <a:avLst/>
          </a:prstGeom>
          <a:solidFill>
            <a:srgbClr val="ECEFF1"/>
          </a:solidFill>
          <a:ln w="12700">
            <a:solidFill>
              <a:srgbClr val="EEEEEE"/>
            </a:solidFill>
            <a:prstDash val="solid"/>
          </a:ln>
        </p:spPr>
      </p:sp>
      <p:sp>
        <p:nvSpPr>
          <p:cNvPr id="7" name="Shape 5"/>
          <p:cNvSpPr/>
          <p:nvPr/>
        </p:nvSpPr>
        <p:spPr>
          <a:xfrm>
            <a:off x="548640" y="2240280"/>
            <a:ext cx="73152" cy="2651760"/>
          </a:xfrm>
          <a:prstGeom prst="rect">
            <a:avLst/>
          </a:prstGeom>
          <a:solidFill>
            <a:srgbClr val="FFA000"/>
          </a:solidFill>
          <a:ln w="12700">
            <a:solidFill>
              <a:srgbClr val="FFA000"/>
            </a:solidFill>
            <a:prstDash val="solid"/>
          </a:ln>
        </p:spPr>
      </p:sp>
      <p:sp>
        <p:nvSpPr>
          <p:cNvPr id="8" name="Text 6"/>
          <p:cNvSpPr/>
          <p:nvPr/>
        </p:nvSpPr>
        <p:spPr>
          <a:xfrm>
            <a:off x="822960" y="2350008"/>
            <a:ext cx="10588752" cy="2432304"/>
          </a:xfrm>
          <a:prstGeom prst="rect">
            <a:avLst/>
          </a:prstGeom>
          <a:noFill/>
          <a:ln/>
        </p:spPr>
        <p:txBody>
          <a:bodyPr wrap="square" rtlCol="0" anchor="t"/>
          <a:lstStyle/>
          <a:p>
            <a:pPr indent="0" marL="0">
              <a:buNone/>
            </a:pPr>
            <a:r>
              <a:rPr lang="en-US" sz="1300" dirty="0">
                <a:solidFill>
                  <a:srgbClr val="263238"/>
                </a:solidFill>
                <a:latin typeface="Courier New" pitchFamily="34" charset="0"/>
                <a:ea typeface="Courier New" pitchFamily="34" charset="-122"/>
                <a:cs typeface="Courier New" pitchFamily="34" charset="-120"/>
              </a:rPr>
              <a:t>@ExceptionHandler(NoResourceFoundException.class)</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public ResponseEntity&lt;ErrorResponse&gt; handleNoResourceFoundException(</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NoResourceFoundException ex, HttpServletRequest request) {</a:t>
            </a:r>
            <a:endParaRPr lang="en-US" sz="1300" dirty="0"/>
          </a:p>
          <a:p>
            <a:pPr indent="0" marL="0">
              <a:buNone/>
            </a:pP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ErrorResponse response = new ErrorResponse(</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LocalDateTime.now().toString(), 404, "Not Found",</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"El recurso solicitado no existe", request.getRequestURI());</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return ResponseEntity.status(HttpStatus.NOT_FOUND).body(response);</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p:txBody>
      </p:sp>
      <p:sp>
        <p:nvSpPr>
          <p:cNvPr id="9" name="Text 7"/>
          <p:cNvSpPr/>
          <p:nvPr/>
        </p:nvSpPr>
        <p:spPr>
          <a:xfrm>
            <a:off x="548640" y="5166360"/>
            <a:ext cx="11091672" cy="548640"/>
          </a:xfrm>
          <a:prstGeom prst="rect">
            <a:avLst/>
          </a:prstGeom>
          <a:noFill/>
          <a:ln/>
        </p:spPr>
        <p:txBody>
          <a:bodyPr wrap="square" rtlCol="0" anchor="t"/>
          <a:lstStyle/>
          <a:p>
            <a:pPr indent="0" marL="0">
              <a:buNone/>
            </a:pPr>
            <a:r>
              <a:rPr lang="en-US" sz="1450" dirty="0">
                <a:solidFill>
                  <a:srgbClr val="757575"/>
                </a:solidFill>
                <a:latin typeface="Arial" pitchFamily="34" charset="0"/>
                <a:ea typeface="Arial" pitchFamily="34" charset="-122"/>
                <a:cs typeface="Arial" pitchFamily="34" charset="-120"/>
              </a:rPr>
              <a:t>Spring elige automáticamente el handler más específico para cada excepción — sin que tengas que tocar el orden de nada.</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Un id que no es un id</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sp>
        <p:nvSpPr>
          <p:cNvPr id="5" name="Text 3"/>
          <p:cNvSpPr/>
          <p:nvPr/>
        </p:nvSpPr>
        <p:spPr>
          <a:xfrm>
            <a:off x="548640" y="1463040"/>
            <a:ext cx="11091672" cy="1051560"/>
          </a:xfrm>
          <a:prstGeom prst="rect">
            <a:avLst/>
          </a:prstGeom>
          <a:noFill/>
          <a:ln/>
        </p:spPr>
        <p:txBody>
          <a:bodyPr wrap="square" rtlCol="0" anchor="t"/>
          <a:lstStyle/>
          <a:p>
            <a:pPr indent="0" marL="0">
              <a:buNone/>
            </a:pPr>
            <a:r>
              <a:rPr lang="en-US" sz="1850" dirty="0">
                <a:solidFill>
                  <a:srgbClr val="212121"/>
                </a:solidFill>
                <a:latin typeface="Arial" pitchFamily="34" charset="0"/>
                <a:ea typeface="Arial" pitchFamily="34" charset="-122"/>
                <a:cs typeface="Arial" pitchFamily="34" charset="-120"/>
              </a:rPr>
              <a:t>GET /api/v1/libros/no-es-un-numero (un solo segmento, coincide con GET /api/v1/libros/{id}). Deberías ver un 400 —el id no tiene el formato correcto—, pero lo que sale es otra vez un 500 Error interno.</a:t>
            </a:r>
            <a:endParaRPr lang="en-US" sz="1850" dirty="0"/>
          </a:p>
        </p:txBody>
      </p:sp>
      <p:sp>
        <p:nvSpPr>
          <p:cNvPr id="6" name="Shape 4"/>
          <p:cNvSpPr/>
          <p:nvPr/>
        </p:nvSpPr>
        <p:spPr>
          <a:xfrm>
            <a:off x="548640" y="2834640"/>
            <a:ext cx="11091672" cy="1280160"/>
          </a:xfrm>
          <a:prstGeom prst="roundRect">
            <a:avLst/>
          </a:prstGeom>
          <a:solidFill>
            <a:srgbClr val="FFF3E0"/>
          </a:solidFill>
          <a:ln w="19050">
            <a:solidFill>
              <a:srgbClr val="FFA000"/>
            </a:solidFill>
            <a:prstDash val="solid"/>
          </a:ln>
        </p:spPr>
      </p:sp>
      <p:sp>
        <p:nvSpPr>
          <p:cNvPr id="7" name="Text 5"/>
          <p:cNvSpPr/>
          <p:nvPr/>
        </p:nvSpPr>
        <p:spPr>
          <a:xfrm>
            <a:off x="822960" y="2926080"/>
            <a:ext cx="10543032" cy="1097280"/>
          </a:xfrm>
          <a:prstGeom prst="rect">
            <a:avLst/>
          </a:prstGeom>
          <a:noFill/>
          <a:ln/>
        </p:spPr>
        <p:txBody>
          <a:bodyPr wrap="square" rtlCol="0" anchor="ctr"/>
          <a:lstStyle/>
          <a:p>
            <a:pPr indent="0" marL="0">
              <a:buNone/>
            </a:pPr>
            <a:r>
              <a:rPr lang="en-US" sz="1800" dirty="0">
                <a:solidFill>
                  <a:srgbClr val="212121"/>
                </a:solidFill>
                <a:latin typeface="Arial" pitchFamily="34" charset="0"/>
                <a:ea typeface="Arial" pitchFamily="34" charset="-122"/>
                <a:cs typeface="Arial" pitchFamily="34" charset="-120"/>
              </a:rPr>
              <a:t>Spring intenta convertir el segmento de la URL al tipo esperado (Long id), no puede, y lanza MethodArgumentTypeMismatchException. Como tampoco tiene handler propio, cae otra vez en el Handler 5 genérico.</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El mismo patrón exacto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sp>
        <p:nvSpPr>
          <p:cNvPr id="5" name="Shape 3"/>
          <p:cNvSpPr/>
          <p:nvPr/>
        </p:nvSpPr>
        <p:spPr>
          <a:xfrm>
            <a:off x="548640" y="1371600"/>
            <a:ext cx="11091672" cy="3017520"/>
          </a:xfrm>
          <a:prstGeom prst="rect">
            <a:avLst/>
          </a:prstGeom>
          <a:solidFill>
            <a:srgbClr val="ECEFF1"/>
          </a:solidFill>
          <a:ln w="12700">
            <a:solidFill>
              <a:srgbClr val="EEEEEE"/>
            </a:solidFill>
            <a:prstDash val="solid"/>
          </a:ln>
        </p:spPr>
      </p:sp>
      <p:sp>
        <p:nvSpPr>
          <p:cNvPr id="6" name="Shape 4"/>
          <p:cNvSpPr/>
          <p:nvPr/>
        </p:nvSpPr>
        <p:spPr>
          <a:xfrm>
            <a:off x="548640" y="1371600"/>
            <a:ext cx="73152" cy="3017520"/>
          </a:xfrm>
          <a:prstGeom prst="rect">
            <a:avLst/>
          </a:prstGeom>
          <a:solidFill>
            <a:srgbClr val="FFA000"/>
          </a:solidFill>
          <a:ln w="12700">
            <a:solidFill>
              <a:srgbClr val="FFA000"/>
            </a:solidFill>
            <a:prstDash val="solid"/>
          </a:ln>
        </p:spPr>
      </p:sp>
      <p:sp>
        <p:nvSpPr>
          <p:cNvPr id="7" name="Text 5"/>
          <p:cNvSpPr/>
          <p:nvPr/>
        </p:nvSpPr>
        <p:spPr>
          <a:xfrm>
            <a:off x="822960" y="1481328"/>
            <a:ext cx="10588752" cy="2798064"/>
          </a:xfrm>
          <a:prstGeom prst="rect">
            <a:avLst/>
          </a:prstGeom>
          <a:noFill/>
          <a:ln/>
        </p:spPr>
        <p:txBody>
          <a:bodyPr wrap="square" rtlCol="0" anchor="t"/>
          <a:lstStyle/>
          <a:p>
            <a:pPr indent="0" marL="0">
              <a:buNone/>
            </a:pPr>
            <a:r>
              <a:rPr lang="en-US" sz="1300" dirty="0">
                <a:solidFill>
                  <a:srgbClr val="263238"/>
                </a:solidFill>
                <a:latin typeface="Courier New" pitchFamily="34" charset="0"/>
                <a:ea typeface="Courier New" pitchFamily="34" charset="-122"/>
                <a:cs typeface="Courier New" pitchFamily="34" charset="-120"/>
              </a:rPr>
              <a:t>@ExceptionHandler(MethodArgumentTypeMismatchException.class)</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public ResponseEntity&lt;ErrorResponse&gt; handleMethodArgumentTypeMismatchException(</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MethodArgumentTypeMismatchException ex, HttpServletRequest request) {</a:t>
            </a:r>
            <a:endParaRPr lang="en-US" sz="1300" dirty="0"/>
          </a:p>
          <a:p>
            <a:pPr indent="0" marL="0">
              <a:buNone/>
            </a:pP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ErrorResponse response = new ErrorResponse(</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LocalDateTime.now().toString(), 400, "Parámetro inválido",</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"El valor '%s' no es válido para el parámetro '%s'".formatted(</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ex.getValue(), ex.getName()),</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request.getRequestURI());</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return ResponseEntity.status(HttpStatus.BAD_REQUEST).body(response);</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p:txBody>
      </p:sp>
      <p:sp>
        <p:nvSpPr>
          <p:cNvPr id="8" name="Text 6"/>
          <p:cNvSpPr/>
          <p:nvPr/>
        </p:nvSpPr>
        <p:spPr>
          <a:xfrm>
            <a:off x="548640" y="4709160"/>
            <a:ext cx="11091672" cy="685800"/>
          </a:xfrm>
          <a:prstGeom prst="rect">
            <a:avLst/>
          </a:prstGeom>
          <a:noFill/>
          <a:ln/>
        </p:spPr>
        <p:txBody>
          <a:bodyPr wrap="square" rtlCol="0" anchor="t"/>
          <a:lstStyle/>
          <a:p>
            <a:pPr indent="0" marL="0">
              <a:buNone/>
            </a:pPr>
            <a:r>
              <a:rPr lang="en-US" sz="1550" dirty="0">
                <a:solidFill>
                  <a:srgbClr val="757575"/>
                </a:solidFill>
                <a:latin typeface="Arial" pitchFamily="34" charset="0"/>
                <a:ea typeface="Arial" pitchFamily="34" charset="-122"/>
                <a:cs typeface="Arial" pitchFamily="34" charset="-120"/>
              </a:rPr>
              <a:t>ex.getValue() da el valor que ha llegado y ex.getName() el nombre del parámetro — el mensaje dice exactamente qué ha fallado, sin adivinarlo.</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Cerrando la última grieta: AccessDeniedHandler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sp>
        <p:nvSpPr>
          <p:cNvPr id="5" name="Text 3"/>
          <p:cNvSpPr/>
          <p:nvPr/>
        </p:nvSpPr>
        <p:spPr>
          <a:xfrm>
            <a:off x="548640" y="1463040"/>
            <a:ext cx="11091672" cy="914400"/>
          </a:xfrm>
          <a:prstGeom prst="rect">
            <a:avLst/>
          </a:prstGeom>
          <a:noFill/>
          <a:ln/>
        </p:spPr>
        <p:txBody>
          <a:bodyPr wrap="square" rtlCol="0" anchor="t"/>
          <a:lstStyle/>
          <a:p>
            <a:pPr indent="0" marL="0">
              <a:buNone/>
            </a:pPr>
            <a:r>
              <a:rPr lang="en-US" sz="1850" dirty="0">
                <a:solidFill>
                  <a:srgbClr val="212121"/>
                </a:solidFill>
                <a:latin typeface="Arial" pitchFamily="34" charset="0"/>
                <a:ea typeface="Arial" pitchFamily="34" charset="-122"/>
                <a:cs typeface="Arial" pitchFamily="34" charset="-120"/>
              </a:rPr>
              <a:t>El 403 de la tabla tampoco pasa por tu GlobalExceptionHandler —lo genera un filtro de seguridad, igual que el 401—, así que sale con el formato por defecto de Spring.</a:t>
            </a:r>
            <a:endParaRPr lang="en-US" sz="1850" dirty="0"/>
          </a:p>
        </p:txBody>
      </p:sp>
      <p:sp>
        <p:nvSpPr>
          <p:cNvPr id="6" name="Shape 4"/>
          <p:cNvSpPr/>
          <p:nvPr/>
        </p:nvSpPr>
        <p:spPr>
          <a:xfrm>
            <a:off x="548640" y="2697480"/>
            <a:ext cx="11091672" cy="1371600"/>
          </a:xfrm>
          <a:prstGeom prst="roundRect">
            <a:avLst/>
          </a:prstGeom>
          <a:solidFill>
            <a:srgbClr val="FFF3E0"/>
          </a:solidFill>
          <a:ln w="19050">
            <a:solidFill>
              <a:srgbClr val="FFA000"/>
            </a:solidFill>
            <a:prstDash val="solid"/>
          </a:ln>
        </p:spPr>
      </p:sp>
      <p:sp>
        <p:nvSpPr>
          <p:cNvPr id="7" name="Text 5"/>
          <p:cNvSpPr/>
          <p:nvPr/>
        </p:nvSpPr>
        <p:spPr>
          <a:xfrm>
            <a:off x="822960" y="2788920"/>
            <a:ext cx="10543032" cy="1188720"/>
          </a:xfrm>
          <a:prstGeom prst="rect">
            <a:avLst/>
          </a:prstGeom>
          <a:noFill/>
          <a:ln/>
        </p:spPr>
        <p:txBody>
          <a:bodyPr wrap="square" rtlCol="0" anchor="ctr"/>
          <a:lstStyle/>
          <a:p>
            <a:pPr indent="0" marL="0">
              <a:buNone/>
            </a:pPr>
            <a:r>
              <a:rPr lang="en-US" sz="1850" dirty="0">
                <a:solidFill>
                  <a:srgbClr val="212121"/>
                </a:solidFill>
                <a:latin typeface="Arial" pitchFamily="34" charset="0"/>
                <a:ea typeface="Arial" pitchFamily="34" charset="-122"/>
                <a:cs typeface="Arial" pitchFamily="34" charset="-120"/>
              </a:rPr>
              <a:t>Spring Security tiene su propia pieza para este trabajo: un AccessDeniedHandler, la contraparte exacta de AuthenticationEntryPoint —mismo patrón, mismo momento del ciclo, pero para "sí sé quién eres, no puedes hacer esto" en vez de "no sé quién eres".</a:t>
            </a:r>
            <a:endParaRPr lang="en-US" sz="1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ErrorResponseAccessDeniedHandler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sp>
        <p:nvSpPr>
          <p:cNvPr id="5" name="Shape 3"/>
          <p:cNvSpPr/>
          <p:nvPr/>
        </p:nvSpPr>
        <p:spPr>
          <a:xfrm>
            <a:off x="548640" y="1188720"/>
            <a:ext cx="11091672" cy="4206240"/>
          </a:xfrm>
          <a:prstGeom prst="rect">
            <a:avLst/>
          </a:prstGeom>
          <a:solidFill>
            <a:srgbClr val="ECEFF1"/>
          </a:solidFill>
          <a:ln w="12700">
            <a:solidFill>
              <a:srgbClr val="EEEEEE"/>
            </a:solidFill>
            <a:prstDash val="solid"/>
          </a:ln>
        </p:spPr>
      </p:sp>
      <p:sp>
        <p:nvSpPr>
          <p:cNvPr id="6" name="Shape 4"/>
          <p:cNvSpPr/>
          <p:nvPr/>
        </p:nvSpPr>
        <p:spPr>
          <a:xfrm>
            <a:off x="548640" y="1188720"/>
            <a:ext cx="73152" cy="4206240"/>
          </a:xfrm>
          <a:prstGeom prst="rect">
            <a:avLst/>
          </a:prstGeom>
          <a:solidFill>
            <a:srgbClr val="FFA000"/>
          </a:solidFill>
          <a:ln w="12700">
            <a:solidFill>
              <a:srgbClr val="FFA000"/>
            </a:solidFill>
            <a:prstDash val="solid"/>
          </a:ln>
        </p:spPr>
      </p:sp>
      <p:sp>
        <p:nvSpPr>
          <p:cNvPr id="7" name="Text 5"/>
          <p:cNvSpPr/>
          <p:nvPr/>
        </p:nvSpPr>
        <p:spPr>
          <a:xfrm>
            <a:off x="822960" y="1298448"/>
            <a:ext cx="10588752" cy="3986784"/>
          </a:xfrm>
          <a:prstGeom prst="rect">
            <a:avLst/>
          </a:prstGeom>
          <a:noFill/>
          <a:ln/>
        </p:spPr>
        <p:txBody>
          <a:bodyPr wrap="square" rtlCol="0" anchor="t"/>
          <a:lstStyle/>
          <a:p>
            <a:pPr indent="0" marL="0">
              <a:buNone/>
            </a:pPr>
            <a:r>
              <a:rPr lang="en-US" sz="1100" dirty="0">
                <a:solidFill>
                  <a:srgbClr val="263238"/>
                </a:solidFill>
                <a:latin typeface="Courier New" pitchFamily="34" charset="0"/>
                <a:ea typeface="Courier New" pitchFamily="34" charset="-122"/>
                <a:cs typeface="Courier New" pitchFamily="34" charset="-120"/>
              </a:rPr>
              <a:t>@Component</a:t>
            </a:r>
            <a:endParaRPr lang="en-US" sz="1100" dirty="0"/>
          </a:p>
          <a:p>
            <a:pPr indent="0" marL="0">
              <a:buNone/>
            </a:pPr>
            <a:r>
              <a:rPr lang="en-US" sz="1100" dirty="0">
                <a:solidFill>
                  <a:srgbClr val="263238"/>
                </a:solidFill>
                <a:latin typeface="Courier New" pitchFamily="34" charset="0"/>
                <a:ea typeface="Courier New" pitchFamily="34" charset="-122"/>
                <a:cs typeface="Courier New" pitchFamily="34" charset="-120"/>
              </a:rPr>
              <a:t>@RequiredArgsConstructor</a:t>
            </a:r>
            <a:endParaRPr lang="en-US" sz="1100" dirty="0"/>
          </a:p>
          <a:p>
            <a:pPr indent="0" marL="0">
              <a:buNone/>
            </a:pPr>
            <a:r>
              <a:rPr lang="en-US" sz="1100" dirty="0">
                <a:solidFill>
                  <a:srgbClr val="263238"/>
                </a:solidFill>
                <a:latin typeface="Courier New" pitchFamily="34" charset="0"/>
                <a:ea typeface="Courier New" pitchFamily="34" charset="-122"/>
                <a:cs typeface="Courier New" pitchFamily="34" charset="-120"/>
              </a:rPr>
              <a:t>public class ErrorResponseAccessDeniedHandler implements AccessDeniedHandler {</a:t>
            </a:r>
            <a:endParaRPr lang="en-US" sz="1100" dirty="0"/>
          </a:p>
          <a:p>
            <a:pPr indent="0" marL="0">
              <a:buNone/>
            </a:pPr>
            <a:endParaRPr lang="en-US" sz="1100" dirty="0"/>
          </a:p>
          <a:p>
            <a:pPr indent="0" marL="0">
              <a:buNone/>
            </a:pPr>
            <a:r>
              <a:rPr lang="en-US" sz="1100" dirty="0">
                <a:solidFill>
                  <a:srgbClr val="263238"/>
                </a:solidFill>
                <a:latin typeface="Courier New" pitchFamily="34" charset="0"/>
                <a:ea typeface="Courier New" pitchFamily="34" charset="-122"/>
                <a:cs typeface="Courier New" pitchFamily="34" charset="-120"/>
              </a:rPr>
              <a:t>    private final JsonMapper jsonMapper;</a:t>
            </a:r>
            <a:endParaRPr lang="en-US" sz="1100" dirty="0"/>
          </a:p>
          <a:p>
            <a:pPr indent="0" marL="0">
              <a:buNone/>
            </a:pPr>
            <a:endParaRPr lang="en-US" sz="1100" dirty="0"/>
          </a:p>
          <a:p>
            <a:pPr indent="0" marL="0">
              <a:buNone/>
            </a:pPr>
            <a:r>
              <a:rPr lang="en-US" sz="1100" dirty="0">
                <a:solidFill>
                  <a:srgbClr val="263238"/>
                </a:solidFill>
                <a:latin typeface="Courier New" pitchFamily="34" charset="0"/>
                <a:ea typeface="Courier New" pitchFamily="34" charset="-122"/>
                <a:cs typeface="Courier New" pitchFamily="34" charset="-120"/>
              </a:rPr>
              <a:t>    @Override</a:t>
            </a:r>
            <a:endParaRPr lang="en-US" sz="1100" dirty="0"/>
          </a:p>
          <a:p>
            <a:pPr indent="0" marL="0">
              <a:buNone/>
            </a:pPr>
            <a:r>
              <a:rPr lang="en-US" sz="1100" dirty="0">
                <a:solidFill>
                  <a:srgbClr val="263238"/>
                </a:solidFill>
                <a:latin typeface="Courier New" pitchFamily="34" charset="0"/>
                <a:ea typeface="Courier New" pitchFamily="34" charset="-122"/>
                <a:cs typeface="Courier New" pitchFamily="34" charset="-120"/>
              </a:rPr>
              <a:t>    public void handle(HttpServletRequest request, HttpServletResponse response,</a:t>
            </a:r>
            <a:endParaRPr lang="en-US" sz="1100" dirty="0"/>
          </a:p>
          <a:p>
            <a:pPr indent="0" marL="0">
              <a:buNone/>
            </a:pPr>
            <a:r>
              <a:rPr lang="en-US" sz="1100" dirty="0">
                <a:solidFill>
                  <a:srgbClr val="263238"/>
                </a:solidFill>
                <a:latin typeface="Courier New" pitchFamily="34" charset="0"/>
                <a:ea typeface="Courier New" pitchFamily="34" charset="-122"/>
                <a:cs typeface="Courier New" pitchFamily="34" charset="-120"/>
              </a:rPr>
              <a:t>                        AccessDeniedException accessDeniedException) throws IOException {</a:t>
            </a:r>
            <a:endParaRPr lang="en-US" sz="1100" dirty="0"/>
          </a:p>
          <a:p>
            <a:pPr indent="0" marL="0">
              <a:buNone/>
            </a:pPr>
            <a:endParaRPr lang="en-US" sz="1100" dirty="0"/>
          </a:p>
          <a:p>
            <a:pPr indent="0" marL="0">
              <a:buNone/>
            </a:pPr>
            <a:r>
              <a:rPr lang="en-US" sz="1100" dirty="0">
                <a:solidFill>
                  <a:srgbClr val="263238"/>
                </a:solidFill>
                <a:latin typeface="Courier New" pitchFamily="34" charset="0"/>
                <a:ea typeface="Courier New" pitchFamily="34" charset="-122"/>
                <a:cs typeface="Courier New" pitchFamily="34" charset="-120"/>
              </a:rPr>
              <a:t>        ErrorResponse error = new ErrorResponse(</a:t>
            </a:r>
            <a:endParaRPr lang="en-US" sz="1100" dirty="0"/>
          </a:p>
          <a:p>
            <a:pPr indent="0" marL="0">
              <a:buNone/>
            </a:pPr>
            <a:r>
              <a:rPr lang="en-US" sz="1100" dirty="0">
                <a:solidFill>
                  <a:srgbClr val="263238"/>
                </a:solidFill>
                <a:latin typeface="Courier New" pitchFamily="34" charset="0"/>
                <a:ea typeface="Courier New" pitchFamily="34" charset="-122"/>
                <a:cs typeface="Courier New" pitchFamily="34" charset="-120"/>
              </a:rPr>
              <a:t>                LocalDateTime.now().toString(), HttpStatus.FORBIDDEN.value(),</a:t>
            </a:r>
            <a:endParaRPr lang="en-US" sz="1100" dirty="0"/>
          </a:p>
          <a:p>
            <a:pPr indent="0" marL="0">
              <a:buNone/>
            </a:pPr>
            <a:r>
              <a:rPr lang="en-US" sz="1100" dirty="0">
                <a:solidFill>
                  <a:srgbClr val="263238"/>
                </a:solidFill>
                <a:latin typeface="Courier New" pitchFamily="34" charset="0"/>
                <a:ea typeface="Courier New" pitchFamily="34" charset="-122"/>
                <a:cs typeface="Courier New" pitchFamily="34" charset="-120"/>
              </a:rPr>
              <a:t>                "No autorizado", "No tienes permisos suficientes...", request.getRequestURI());</a:t>
            </a:r>
            <a:endParaRPr lang="en-US" sz="1100" dirty="0"/>
          </a:p>
          <a:p>
            <a:pPr indent="0" marL="0">
              <a:buNone/>
            </a:pPr>
            <a:endParaRPr lang="en-US" sz="1100" dirty="0"/>
          </a:p>
          <a:p>
            <a:pPr indent="0" marL="0">
              <a:buNone/>
            </a:pPr>
            <a:r>
              <a:rPr lang="en-US" sz="1100" dirty="0">
                <a:solidFill>
                  <a:srgbClr val="263238"/>
                </a:solidFill>
                <a:latin typeface="Courier New" pitchFamily="34" charset="0"/>
                <a:ea typeface="Courier New" pitchFamily="34" charset="-122"/>
                <a:cs typeface="Courier New" pitchFamily="34" charset="-120"/>
              </a:rPr>
              <a:t>        response.setStatus(HttpStatus.FORBIDDEN.value());</a:t>
            </a:r>
            <a:endParaRPr lang="en-US" sz="1100" dirty="0"/>
          </a:p>
          <a:p>
            <a:pPr indent="0" marL="0">
              <a:buNone/>
            </a:pPr>
            <a:r>
              <a:rPr lang="en-US" sz="1100" dirty="0">
                <a:solidFill>
                  <a:srgbClr val="263238"/>
                </a:solidFill>
                <a:latin typeface="Courier New" pitchFamily="34" charset="0"/>
                <a:ea typeface="Courier New" pitchFamily="34" charset="-122"/>
                <a:cs typeface="Courier New" pitchFamily="34" charset="-120"/>
              </a:rPr>
              <a:t>        response.setContentType(MediaType.APPLICATION_JSON_VALUE);</a:t>
            </a:r>
            <a:endParaRPr lang="en-US" sz="1100" dirty="0"/>
          </a:p>
          <a:p>
            <a:pPr indent="0" marL="0">
              <a:buNone/>
            </a:pPr>
            <a:r>
              <a:rPr lang="en-US" sz="1100" dirty="0">
                <a:solidFill>
                  <a:srgbClr val="263238"/>
                </a:solidFill>
                <a:latin typeface="Courier New" pitchFamily="34" charset="0"/>
                <a:ea typeface="Courier New" pitchFamily="34" charset="-122"/>
                <a:cs typeface="Courier New" pitchFamily="34" charset="-120"/>
              </a:rPr>
              <a:t>        response.getWriter().write(jsonMapper.writeValueAsString(error));</a:t>
            </a:r>
            <a:endParaRPr lang="en-US" sz="1100" dirty="0"/>
          </a:p>
          <a:p>
            <a:pPr indent="0" marL="0">
              <a:buNone/>
            </a:pPr>
            <a:r>
              <a:rPr lang="en-US" sz="1100" dirty="0">
                <a:solidFill>
                  <a:srgbClr val="263238"/>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263238"/>
                </a:solidFill>
                <a:latin typeface="Courier New" pitchFamily="34" charset="0"/>
                <a:ea typeface="Courier New" pitchFamily="34" charset="-122"/>
                <a:cs typeface="Courier New" pitchFamily="34" charset="-120"/>
              </a:rPr>
              <a: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Los dos conviven en el mismo bloque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sp>
        <p:nvSpPr>
          <p:cNvPr id="5" name="Shape 3"/>
          <p:cNvSpPr/>
          <p:nvPr/>
        </p:nvSpPr>
        <p:spPr>
          <a:xfrm>
            <a:off x="548640" y="1554480"/>
            <a:ext cx="11091672" cy="1371600"/>
          </a:xfrm>
          <a:prstGeom prst="rect">
            <a:avLst/>
          </a:prstGeom>
          <a:solidFill>
            <a:srgbClr val="ECEFF1"/>
          </a:solidFill>
          <a:ln w="12700">
            <a:solidFill>
              <a:srgbClr val="EEEEEE"/>
            </a:solidFill>
            <a:prstDash val="solid"/>
          </a:ln>
        </p:spPr>
      </p:sp>
      <p:sp>
        <p:nvSpPr>
          <p:cNvPr id="6" name="Shape 4"/>
          <p:cNvSpPr/>
          <p:nvPr/>
        </p:nvSpPr>
        <p:spPr>
          <a:xfrm>
            <a:off x="548640" y="1554480"/>
            <a:ext cx="73152" cy="1371600"/>
          </a:xfrm>
          <a:prstGeom prst="rect">
            <a:avLst/>
          </a:prstGeom>
          <a:solidFill>
            <a:srgbClr val="FFA000"/>
          </a:solidFill>
          <a:ln w="12700">
            <a:solidFill>
              <a:srgbClr val="FFA000"/>
            </a:solidFill>
            <a:prstDash val="solid"/>
          </a:ln>
        </p:spPr>
      </p:sp>
      <p:sp>
        <p:nvSpPr>
          <p:cNvPr id="7" name="Text 5"/>
          <p:cNvSpPr/>
          <p:nvPr/>
        </p:nvSpPr>
        <p:spPr>
          <a:xfrm>
            <a:off x="822960" y="1664208"/>
            <a:ext cx="10588752" cy="1152144"/>
          </a:xfrm>
          <a:prstGeom prst="rect">
            <a:avLst/>
          </a:prstGeom>
          <a:noFill/>
          <a:ln/>
        </p:spPr>
        <p:txBody>
          <a:bodyPr wrap="square" rtlCol="0" anchor="t"/>
          <a:lstStyle/>
          <a:p>
            <a:pPr indent="0" marL="0">
              <a:buNone/>
            </a:pPr>
            <a:r>
              <a:rPr lang="en-US" sz="1600" dirty="0">
                <a:solidFill>
                  <a:srgbClr val="263238"/>
                </a:solidFill>
                <a:latin typeface="Courier New" pitchFamily="34" charset="0"/>
                <a:ea typeface="Courier New" pitchFamily="34" charset="-122"/>
                <a:cs typeface="Courier New" pitchFamily="34" charset="-120"/>
              </a:rPr>
              <a:t>.exceptionHandling(exceptions -&gt; exceptions</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        .authenticationEntryPoint(customAuthenticationEntryPoint)</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        .accessDeniedHandler(customAccessDeniedHandler)</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a:t>
            </a:r>
            <a:endParaRPr lang="en-US" sz="1600" dirty="0"/>
          </a:p>
        </p:txBody>
      </p:sp>
      <p:sp>
        <p:nvSpPr>
          <p:cNvPr id="8" name="Shape 6"/>
          <p:cNvSpPr/>
          <p:nvPr/>
        </p:nvSpPr>
        <p:spPr>
          <a:xfrm>
            <a:off x="548640" y="3291840"/>
            <a:ext cx="11091672" cy="1097280"/>
          </a:xfrm>
          <a:prstGeom prst="roundRect">
            <a:avLst/>
          </a:prstGeom>
          <a:solidFill>
            <a:srgbClr val="FFF3E0"/>
          </a:solidFill>
          <a:ln w="19050">
            <a:solidFill>
              <a:srgbClr val="FFA000"/>
            </a:solidFill>
            <a:prstDash val="solid"/>
          </a:ln>
        </p:spPr>
      </p:sp>
      <p:sp>
        <p:nvSpPr>
          <p:cNvPr id="9" name="Text 7"/>
          <p:cNvSpPr/>
          <p:nvPr/>
        </p:nvSpPr>
        <p:spPr>
          <a:xfrm>
            <a:off x="822960" y="3383280"/>
            <a:ext cx="10543032" cy="91440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Con esto, los tres códigos de la tabla —401, 403 y 404— tienen ya el mismo formato ErrorResponse que el resto de tu API, sin excepciones sueltas por ningún sitio.</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Documentación como buena práctica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sp>
        <p:nvSpPr>
          <p:cNvPr id="5" name="Shape 3"/>
          <p:cNvSpPr/>
          <p:nvPr/>
        </p:nvSpPr>
        <p:spPr>
          <a:xfrm>
            <a:off x="548640" y="2286000"/>
            <a:ext cx="11091672" cy="1737360"/>
          </a:xfrm>
          <a:prstGeom prst="roundRect">
            <a:avLst/>
          </a:prstGeom>
          <a:solidFill>
            <a:srgbClr val="FFF3E0"/>
          </a:solidFill>
          <a:ln w="19050">
            <a:solidFill>
              <a:srgbClr val="FFA000"/>
            </a:solidFill>
            <a:prstDash val="solid"/>
          </a:ln>
        </p:spPr>
      </p:sp>
      <p:sp>
        <p:nvSpPr>
          <p:cNvPr id="6" name="Text 4"/>
          <p:cNvSpPr/>
          <p:nvPr/>
        </p:nvSpPr>
        <p:spPr>
          <a:xfrm>
            <a:off x="822960" y="2377440"/>
            <a:ext cx="10543032" cy="155448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Depurar y documentar van de la mano. La propia tabla de política de rutas que has visto al principio ya es esa documentación — un documento vivo que cualquiera puede consultar para saber exactamente qué puede hacer cada rol, sin leer el código Java línea a línea. Mantener esa tabla al día, en un fichero aparte (por ejemplo docs/seguridad.md), es exactamente el tipo de documentación que se espera de ti.</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Ideas clave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sp>
        <p:nvSpPr>
          <p:cNvPr id="5" name="Text 3"/>
          <p:cNvSpPr/>
          <p:nvPr/>
        </p:nvSpPr>
        <p:spPr>
          <a:xfrm>
            <a:off x="548640" y="1463040"/>
            <a:ext cx="11091672" cy="4206240"/>
          </a:xfrm>
          <a:prstGeom prst="rect">
            <a:avLst/>
          </a:prstGeom>
          <a:noFill/>
          <a:ln/>
        </p:spPr>
        <p:txBody>
          <a:bodyPr wrap="square" rtlCol="0" anchor="t"/>
          <a:lstStyle/>
          <a:p>
            <a:pPr marL="190500" indent="-190500">
              <a:spcAft>
                <a:spcPts val="1600"/>
              </a:spcAft>
              <a:buSzPct val="100000"/>
              <a:buChar char="•"/>
            </a:pPr>
            <a:r>
              <a:rPr lang="en-US" sz="1650" dirty="0">
                <a:solidFill>
                  <a:srgbClr val="212121"/>
                </a:solidFill>
                <a:latin typeface="Arial" pitchFamily="34" charset="0"/>
                <a:ea typeface="Arial" pitchFamily="34" charset="-122"/>
                <a:cs typeface="Arial" pitchFamily="34" charset="-120"/>
              </a:rPr>
              <a:t>La política de autorización se lee mejor como tabla (ruta × verbo × quién puede) que como código suelto.</a:t>
            </a:r>
            <a:endParaRPr lang="en-US" sz="1650" dirty="0"/>
          </a:p>
          <a:p>
            <a:pPr marL="190500" indent="-190500">
              <a:spcAft>
                <a:spcPts val="1600"/>
              </a:spcAft>
              <a:buSzPct val="100000"/>
              <a:buChar char="•"/>
            </a:pPr>
            <a:r>
              <a:rPr lang="en-US" sz="1650" dirty="0">
                <a:solidFill>
                  <a:srgbClr val="212121"/>
                </a:solidFill>
                <a:latin typeface="Arial" pitchFamily="34" charset="0"/>
                <a:ea typeface="Arial" pitchFamily="34" charset="-122"/>
                <a:cs typeface="Arial" pitchFamily="34" charset="-120"/>
              </a:rPr>
              <a:t>No existe una tabla verbo → rol universal: cada ruta se decide según lo que hace y para quién existe, no por convención.</a:t>
            </a:r>
            <a:endParaRPr lang="en-US" sz="1650" dirty="0"/>
          </a:p>
          <a:p>
            <a:pPr marL="190500" indent="-190500">
              <a:spcAft>
                <a:spcPts val="1600"/>
              </a:spcAft>
              <a:buSzPct val="100000"/>
              <a:buChar char="•"/>
            </a:pPr>
            <a:r>
              <a:rPr lang="en-US" sz="1650" dirty="0">
                <a:solidFill>
                  <a:srgbClr val="212121"/>
                </a:solidFill>
                <a:latin typeface="Arial" pitchFamily="34" charset="0"/>
                <a:ea typeface="Arial" pitchFamily="34" charset="-122"/>
                <a:cs typeface="Arial" pitchFamily="34" charset="-120"/>
              </a:rPr>
              <a:t>anyRequest().denyAll() cierra por defecto cualquier ruta sin regla explícita — cada ruta nueva necesita su propia regla o queda bloqueada, incluidas rutas que ya funcionaban con authenticated() y subrutas de acciones concretas.</a:t>
            </a:r>
            <a:endParaRPr lang="en-US" sz="1650" dirty="0"/>
          </a:p>
          <a:p>
            <a:pPr marL="190500" indent="-190500">
              <a:buSzPct val="100000"/>
              <a:buChar char="•"/>
            </a:pPr>
            <a:r>
              <a:rPr lang="en-US" sz="1650" dirty="0">
                <a:solidFill>
                  <a:srgbClr val="212121"/>
                </a:solidFill>
                <a:latin typeface="Arial" pitchFamily="34" charset="0"/>
                <a:ea typeface="Arial" pitchFamily="34" charset="-122"/>
                <a:cs typeface="Arial" pitchFamily="34" charset="-120"/>
              </a:rPr>
              <a:t>401 = no sabemos quién eres; 403 = sabemos quién eres pero no tienes permiso; 404 = la ruta no existe. denyAll() sin token también da 401, no 403.</a:t>
            </a:r>
            <a:endParaRPr lang="en-US" sz="1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Ideas clave (cont.)</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Roles y rutas protegidas</a:t>
            </a:r>
            <a:endParaRPr lang="en-US" sz="1100" dirty="0"/>
          </a:p>
        </p:txBody>
      </p:sp>
      <p:sp>
        <p:nvSpPr>
          <p:cNvPr id="5" name="Text 3"/>
          <p:cNvSpPr/>
          <p:nvPr/>
        </p:nvSpPr>
        <p:spPr>
          <a:xfrm>
            <a:off x="548640" y="1554480"/>
            <a:ext cx="11091672" cy="3840480"/>
          </a:xfrm>
          <a:prstGeom prst="rect">
            <a:avLst/>
          </a:prstGeom>
          <a:noFill/>
          <a:ln/>
        </p:spPr>
        <p:txBody>
          <a:bodyPr wrap="square" rtlCol="0" anchor="t"/>
          <a:lstStyle/>
          <a:p>
            <a:pPr marL="190500" indent="-190500">
              <a:spcAft>
                <a:spcPts val="1800"/>
              </a:spcAft>
              <a:buSzPct val="100000"/>
              <a:buChar char="•"/>
            </a:pPr>
            <a:r>
              <a:rPr lang="en-US" sz="1800" dirty="0">
                <a:solidFill>
                  <a:srgbClr val="212121"/>
                </a:solidFill>
                <a:latin typeface="Arial" pitchFamily="34" charset="0"/>
                <a:ea typeface="Arial" pitchFamily="34" charset="-122"/>
                <a:cs typeface="Arial" pitchFamily="34" charset="-120"/>
              </a:rPr>
              <a:t>NoResourceFoundException (ruta inexistente) y MethodArgumentTypeMismatchException (id con el tipo equivocado) caían en el Handler 5 genérico, dando 500 en vez de 404/400 — un handler específico lo arregla, sin tocar nada más.</a:t>
            </a:r>
            <a:endParaRPr lang="en-US" sz="1800" dirty="0"/>
          </a:p>
          <a:p>
            <a:pPr marL="190500" indent="-190500">
              <a:spcAft>
                <a:spcPts val="1800"/>
              </a:spcAft>
              <a:buSzPct val="100000"/>
              <a:buChar char="•"/>
            </a:pPr>
            <a:r>
              <a:rPr lang="en-US" sz="1800" dirty="0">
                <a:solidFill>
                  <a:srgbClr val="212121"/>
                </a:solidFill>
                <a:latin typeface="Arial" pitchFamily="34" charset="0"/>
                <a:ea typeface="Arial" pitchFamily="34" charset="-122"/>
                <a:cs typeface="Arial" pitchFamily="34" charset="-120"/>
              </a:rPr>
              <a:t>AccessDeniedHandler es la contraparte de AuthenticationEntryPoint para el 403: mismo patrón, registrado en el mismo .exceptionHandling(...).</a:t>
            </a:r>
            <a:endParaRPr lang="en-US" sz="1800" dirty="0"/>
          </a:p>
          <a:p>
            <a:pPr marL="190500" indent="-190500">
              <a:buSzPct val="100000"/>
              <a:buChar char="•"/>
            </a:pPr>
            <a:r>
              <a:rPr lang="en-US" sz="1800" dirty="0">
                <a:solidFill>
                  <a:srgbClr val="212121"/>
                </a:solidFill>
                <a:latin typeface="Arial" pitchFamily="34" charset="0"/>
                <a:ea typeface="Arial" pitchFamily="34" charset="-122"/>
                <a:cs typeface="Arial" pitchFamily="34" charset="-120"/>
              </a:rPr>
              <a:t>La tabla de política de rutas es, en sí misma, esa documentación.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Roles y rutas protegidas</dc:title>
  <dc:subject>PptxGenJS Presentation</dc:subject>
  <dc:creator>Programación de Servicios y Procesos</dc:creator>
  <cp:lastModifiedBy>Programación de Servicios y Procesos</cp:lastModifiedBy>
  <cp:revision>1</cp:revision>
  <dcterms:created xsi:type="dcterms:W3CDTF">2026-08-06T22:02:05Z</dcterms:created>
  <dcterms:modified xsi:type="dcterms:W3CDTF">2026-08-06T22:02:05Z</dcterms:modified>
</cp:coreProperties>
</file>