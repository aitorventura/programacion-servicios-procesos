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6606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E342E"/>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BCAAA4"/>
                </a:solidFill>
                <a:latin typeface="Arial" pitchFamily="34" charset="0"/>
                <a:ea typeface="Arial" pitchFamily="34" charset="-122"/>
                <a:cs typeface="Arial" pitchFamily="34" charset="-120"/>
              </a:rPr>
              <a:t>PROGRAMACIÓN DE SERVICIOS Y PROCESOS  —  TEMA 4: PROGRAMACIÓN DE COMUNICACIONES EN RED</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4000" b="1" dirty="0">
                <a:solidFill>
                  <a:srgbClr val="FFFFFF"/>
                </a:solidFill>
                <a:latin typeface="Arial" pitchFamily="34" charset="0"/>
                <a:ea typeface="Arial" pitchFamily="34" charset="-122"/>
                <a:cs typeface="Arial" pitchFamily="34" charset="-120"/>
              </a:rPr>
              <a:t>WebSocket con STOMP</a:t>
            </a:r>
            <a:endParaRPr lang="en-US" sz="4000" dirty="0"/>
          </a:p>
        </p:txBody>
      </p:sp>
      <p:sp>
        <p:nvSpPr>
          <p:cNvPr id="4" name="Shape 2"/>
          <p:cNvSpPr/>
          <p:nvPr/>
        </p:nvSpPr>
        <p:spPr>
          <a:xfrm>
            <a:off x="0" y="5120640"/>
            <a:ext cx="12188952" cy="914400"/>
          </a:xfrm>
          <a:prstGeom prst="rect">
            <a:avLst/>
          </a:prstGeom>
          <a:solidFill>
            <a:srgbClr val="FFA000"/>
          </a:solidFill>
          <a:ln w="12700">
            <a:solidFill>
              <a:srgbClr val="FFA000"/>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El canal de actividad en vivo</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¿Cómo se entera un cliente de algo que acaba de pasar?</a:t>
            </a:r>
            <a:endParaRPr lang="en-US" sz="2500" dirty="0"/>
          </a:p>
        </p:txBody>
      </p:sp>
      <p:sp>
        <p:nvSpPr>
          <p:cNvPr id="4" name="Text 2"/>
          <p:cNvSpPr/>
          <p:nvPr/>
        </p:nvSpPr>
        <p:spPr>
          <a:xfrm>
            <a:off x="548640" y="1737360"/>
            <a:ext cx="11091672" cy="1005840"/>
          </a:xfrm>
          <a:prstGeom prst="rect">
            <a:avLst/>
          </a:prstGeom>
          <a:noFill/>
          <a:ln/>
        </p:spPr>
        <p:txBody>
          <a:bodyPr wrap="square" rtlCol="0" anchor="t"/>
          <a:lstStyle/>
          <a:p>
            <a:pPr marL="0" indent="0">
              <a:buNone/>
            </a:pPr>
            <a:r>
              <a:rPr lang="en-US" sz="2400" dirty="0">
                <a:solidFill>
                  <a:srgbClr val="212121"/>
                </a:solidFill>
                <a:latin typeface="Arial" pitchFamily="34" charset="0"/>
                <a:ea typeface="Arial" pitchFamily="34" charset="-122"/>
                <a:cs typeface="Arial" pitchFamily="34" charset="-120"/>
              </a:rPr>
              <a:t>Con REST puro, el cliente siempre pregunta primero: manda una petición, el servidor responde, y ahí termina esa conversación.</a:t>
            </a:r>
            <a:endParaRPr lang="en-US" sz="2400" dirty="0"/>
          </a:p>
        </p:txBody>
      </p:sp>
      <p:sp>
        <p:nvSpPr>
          <p:cNvPr id="5" name="Shape 3"/>
          <p:cNvSpPr/>
          <p:nvPr/>
        </p:nvSpPr>
        <p:spPr>
          <a:xfrm>
            <a:off x="548640" y="2880360"/>
            <a:ext cx="11091672" cy="1371600"/>
          </a:xfrm>
          <a:prstGeom prst="roundRect">
            <a:avLst/>
          </a:prstGeom>
          <a:solidFill>
            <a:srgbClr val="FFF3E0"/>
          </a:solidFill>
          <a:ln w="19050">
            <a:solidFill>
              <a:srgbClr val="FFA000"/>
            </a:solidFill>
            <a:prstDash val="solid"/>
          </a:ln>
        </p:spPr>
        <p:txBody>
          <a:bodyPr/>
          <a:lstStyle/>
          <a:p>
            <a:endParaRPr lang="es-ES"/>
          </a:p>
        </p:txBody>
      </p:sp>
      <p:sp>
        <p:nvSpPr>
          <p:cNvPr id="6" name="Text 4"/>
          <p:cNvSpPr/>
          <p:nvPr/>
        </p:nvSpPr>
        <p:spPr>
          <a:xfrm>
            <a:off x="822960" y="2971800"/>
            <a:ext cx="10543032" cy="1188720"/>
          </a:xfrm>
          <a:prstGeom prst="rect">
            <a:avLst/>
          </a:prstGeom>
          <a:noFill/>
          <a:ln/>
        </p:spPr>
        <p:txBody>
          <a:bodyPr wrap="square" rtlCol="0" anchor="ctr"/>
          <a:lstStyle/>
          <a:p>
            <a:pPr marL="0" indent="0">
              <a:buNone/>
            </a:pPr>
            <a:r>
              <a:rPr lang="en-US" sz="2200" dirty="0">
                <a:solidFill>
                  <a:srgbClr val="212121"/>
                </a:solidFill>
                <a:latin typeface="Arial" pitchFamily="34" charset="0"/>
                <a:ea typeface="Arial" pitchFamily="34" charset="-122"/>
                <a:cs typeface="Arial" pitchFamily="34" charset="-120"/>
              </a:rPr>
              <a:t>¿Qué pasa cuando el servidor sabe algo que al cliente le interesa, y el cliente todavía no ha preguntado por ello? Con petición-respuesta puro, el servidor solo puede reaccionar, nunca tomar la iniciativa.</a:t>
            </a:r>
            <a:endParaRPr lang="en-US" sz="2200" dirty="0"/>
          </a:p>
        </p:txBody>
      </p:sp>
      <p:sp>
        <p:nvSpPr>
          <p:cNvPr id="7"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4 · WebSocket con STOMP</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Las soluciones históricas, en orden de aparición</a:t>
            </a:r>
            <a:endParaRPr lang="en-US" sz="2500" dirty="0"/>
          </a:p>
        </p:txBody>
      </p:sp>
      <p:sp>
        <p:nvSpPr>
          <p:cNvPr id="4" name="Text 2"/>
          <p:cNvSpPr/>
          <p:nvPr/>
        </p:nvSpPr>
        <p:spPr>
          <a:xfrm>
            <a:off x="548640" y="1371600"/>
            <a:ext cx="11091672" cy="3108960"/>
          </a:xfrm>
          <a:prstGeom prst="rect">
            <a:avLst/>
          </a:prstGeom>
          <a:noFill/>
          <a:ln/>
        </p:spPr>
        <p:txBody>
          <a:bodyPr wrap="square" rtlCol="0" anchor="t"/>
          <a:lstStyle/>
          <a:p>
            <a:pPr marL="0" indent="0">
              <a:spcAft>
                <a:spcPts val="1400"/>
              </a:spcAft>
              <a:buNone/>
            </a:pPr>
            <a:r>
              <a:rPr lang="en-US" sz="2000" dirty="0">
                <a:solidFill>
                  <a:srgbClr val="212121"/>
                </a:solidFill>
                <a:latin typeface="Arial" pitchFamily="34" charset="0"/>
                <a:ea typeface="Arial" pitchFamily="34" charset="-122"/>
                <a:cs typeface="Arial" pitchFamily="34" charset="-120"/>
              </a:rPr>
              <a:t>1. Recargar la página — a mano, o con un setTimeout. Brutal y lento: el usuario ve parpadear toda la página por un dato que probablemente ni ha cambiado.</a:t>
            </a:r>
            <a:endParaRPr lang="en-US" sz="2000" dirty="0"/>
          </a:p>
          <a:p>
            <a:pPr marL="0" indent="0">
              <a:spcAft>
                <a:spcPts val="1400"/>
              </a:spcAft>
              <a:buNone/>
            </a:pPr>
            <a:r>
              <a:rPr lang="en-US" sz="2000" dirty="0">
                <a:solidFill>
                  <a:srgbClr val="212121"/>
                </a:solidFill>
                <a:latin typeface="Arial" pitchFamily="34" charset="0"/>
                <a:ea typeface="Arial" pitchFamily="34" charset="-122"/>
                <a:cs typeface="Arial" pitchFamily="34" charset="-120"/>
              </a:rPr>
              <a:t>2. Polling: el cliente pregunta cada X segundos, ¿ha cambiado algo? Funciona, pero con coste real: peticiones constantes, casi siempre "no, nada nuevo", y retraso de hasta X segundos.</a:t>
            </a:r>
            <a:endParaRPr lang="en-US" sz="2000" dirty="0"/>
          </a:p>
          <a:p>
            <a:pPr marL="0" indent="0">
              <a:spcAft>
                <a:spcPts val="1400"/>
              </a:spcAft>
              <a:buNone/>
            </a:pPr>
            <a:r>
              <a:rPr lang="en-US" sz="2000" dirty="0">
                <a:solidFill>
                  <a:srgbClr val="212121"/>
                </a:solidFill>
                <a:latin typeface="Arial" pitchFamily="34" charset="0"/>
                <a:ea typeface="Arial" pitchFamily="34" charset="-122"/>
                <a:cs typeface="Arial" pitchFamily="34" charset="-120"/>
              </a:rPr>
              <a:t>3. Long polling: el servidor retiene la respuesta hasta que hay algo que contar. Mejora el retraso, pero sigue siendo, en el fondo, peticiones repetidas.</a:t>
            </a:r>
            <a:endParaRPr lang="en-US" sz="2000" dirty="0"/>
          </a:p>
        </p:txBody>
      </p:sp>
      <p:sp>
        <p:nvSpPr>
          <p:cNvPr id="5" name="Shape 3"/>
          <p:cNvSpPr/>
          <p:nvPr/>
        </p:nvSpPr>
        <p:spPr>
          <a:xfrm>
            <a:off x="548640" y="4572000"/>
            <a:ext cx="11091672" cy="1051560"/>
          </a:xfrm>
          <a:prstGeom prst="roundRect">
            <a:avLst/>
          </a:prstGeom>
          <a:solidFill>
            <a:srgbClr val="FFF3E0"/>
          </a:solidFill>
          <a:ln w="19050">
            <a:solidFill>
              <a:srgbClr val="FFA000"/>
            </a:solidFill>
            <a:prstDash val="solid"/>
          </a:ln>
        </p:spPr>
        <p:txBody>
          <a:bodyPr/>
          <a:lstStyle/>
          <a:p>
            <a:endParaRPr lang="es-ES"/>
          </a:p>
        </p:txBody>
      </p:sp>
      <p:sp>
        <p:nvSpPr>
          <p:cNvPr id="6" name="Text 4"/>
          <p:cNvSpPr/>
          <p:nvPr/>
        </p:nvSpPr>
        <p:spPr>
          <a:xfrm>
            <a:off x="822960" y="4663440"/>
            <a:ext cx="10543032" cy="868680"/>
          </a:xfrm>
          <a:prstGeom prst="rect">
            <a:avLst/>
          </a:prstGeom>
          <a:noFill/>
          <a:ln/>
        </p:spPr>
        <p:txBody>
          <a:bodyPr wrap="square" rtlCol="0" anchor="ctr"/>
          <a:lstStyle/>
          <a:p>
            <a:pPr marL="0" indent="0">
              <a:buNone/>
            </a:pPr>
            <a:r>
              <a:rPr lang="en-US" sz="1900" dirty="0">
                <a:solidFill>
                  <a:srgbClr val="212121"/>
                </a:solidFill>
                <a:latin typeface="Arial" pitchFamily="34" charset="0"/>
                <a:ea typeface="Arial" pitchFamily="34" charset="-122"/>
                <a:cs typeface="Arial" pitchFamily="34" charset="-120"/>
              </a:rPr>
              <a:t>Las tres dan vueltas al mismo obstáculo: el cliente sigue siendo quien pregunta. WebSocket elimina la necesidad de preguntar, en vez de perfeccionar la pregunta.</a:t>
            </a:r>
            <a:endParaRPr lang="en-US" sz="1900" dirty="0"/>
          </a:p>
        </p:txBody>
      </p:sp>
      <p:sp>
        <p:nvSpPr>
          <p:cNvPr id="7"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4 · WebSocket con STOMP</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WebSocket: el canal bidireccional persistente</a:t>
            </a:r>
            <a:endParaRPr lang="en-US" sz="2500" dirty="0"/>
          </a:p>
        </p:txBody>
      </p:sp>
      <p:sp>
        <p:nvSpPr>
          <p:cNvPr id="4" name="Text 2"/>
          <p:cNvSpPr/>
          <p:nvPr/>
        </p:nvSpPr>
        <p:spPr>
          <a:xfrm>
            <a:off x="548640" y="1554480"/>
            <a:ext cx="11091672" cy="1188720"/>
          </a:xfrm>
          <a:prstGeom prst="rect">
            <a:avLst/>
          </a:prstGeom>
          <a:noFill/>
          <a:ln/>
        </p:spPr>
        <p:txBody>
          <a:bodyPr wrap="square" rtlCol="0" anchor="t"/>
          <a:lstStyle/>
          <a:p>
            <a:pPr marL="0" indent="0">
              <a:buNone/>
            </a:pPr>
            <a:r>
              <a:rPr lang="en-US" sz="2200" dirty="0">
                <a:solidFill>
                  <a:srgbClr val="212121"/>
                </a:solidFill>
                <a:latin typeface="Arial" pitchFamily="34" charset="0"/>
                <a:ea typeface="Arial" pitchFamily="34" charset="-122"/>
                <a:cs typeface="Arial" pitchFamily="34" charset="-120"/>
              </a:rPr>
              <a:t>WebSocket implementa el tercer modelo de comunicación (visto en el apartado anterior) mediante un protocolo bidireccional sobre una conexión TCP que permanece abierta mientras ambos extremos la mantienen.</a:t>
            </a:r>
            <a:endParaRPr lang="en-US" sz="2200" dirty="0"/>
          </a:p>
        </p:txBody>
      </p:sp>
      <p:sp>
        <p:nvSpPr>
          <p:cNvPr id="5" name="Shape 3"/>
          <p:cNvSpPr/>
          <p:nvPr/>
        </p:nvSpPr>
        <p:spPr>
          <a:xfrm>
            <a:off x="548640" y="2880360"/>
            <a:ext cx="11091672" cy="1280160"/>
          </a:xfrm>
          <a:prstGeom prst="roundRect">
            <a:avLst/>
          </a:prstGeom>
          <a:solidFill>
            <a:srgbClr val="FFF3E0"/>
          </a:solidFill>
          <a:ln w="19050">
            <a:solidFill>
              <a:srgbClr val="FFA000"/>
            </a:solidFill>
            <a:prstDash val="solid"/>
          </a:ln>
        </p:spPr>
        <p:txBody>
          <a:bodyPr/>
          <a:lstStyle/>
          <a:p>
            <a:endParaRPr lang="es-ES"/>
          </a:p>
        </p:txBody>
      </p:sp>
      <p:sp>
        <p:nvSpPr>
          <p:cNvPr id="6" name="Text 4"/>
          <p:cNvSpPr/>
          <p:nvPr/>
        </p:nvSpPr>
        <p:spPr>
          <a:xfrm>
            <a:off x="822960" y="2971800"/>
            <a:ext cx="10543032" cy="109728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Cliente y servidor pueden enviar mensajes en cualquier momento, sin abrir una conexión nueva para cada intercambio. No es el mismo API que el Socket de Java clásico, aunque por debajo siga existiendo una conexión TCP.</a:t>
            </a:r>
            <a:endParaRPr lang="en-US" sz="2000" dirty="0"/>
          </a:p>
        </p:txBody>
      </p:sp>
      <p:sp>
        <p:nvSpPr>
          <p:cNvPr id="7"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4 · WebSocket con STOMP</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Del HTTP normal al canal permanente</a:t>
            </a:r>
            <a:endParaRPr lang="en-US" sz="2500" dirty="0"/>
          </a:p>
        </p:txBody>
      </p:sp>
      <p:sp>
        <p:nvSpPr>
          <p:cNvPr id="4" name="Text 2"/>
          <p:cNvSpPr/>
          <p:nvPr/>
        </p:nvSpPr>
        <p:spPr>
          <a:xfrm>
            <a:off x="548640" y="1325880"/>
            <a:ext cx="11091672" cy="91440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El navegador manda una única petición HTTP con una cabecera especial (Upgrade) que pide cambiar de protocolo. Si el servidor acepta, la conexión no se cierra: se queda abierta de forma permanente.</a:t>
            </a:r>
            <a:endParaRPr lang="en-US" sz="1900" dirty="0"/>
          </a:p>
        </p:txBody>
      </p:sp>
      <p:pic>
        <p:nvPicPr>
          <p:cNvPr id="5" name="Image 0" descr="C:/Users/Aitor/docxgen/img/handshake_upgrade.png"/>
          <p:cNvPicPr>
            <a:picLocks noChangeAspect="1"/>
          </p:cNvPicPr>
          <p:nvPr/>
        </p:nvPicPr>
        <p:blipFill>
          <a:blip r:embed="rId3"/>
          <a:stretch>
            <a:fillRect/>
          </a:stretch>
        </p:blipFill>
        <p:spPr>
          <a:xfrm>
            <a:off x="2690977" y="2240280"/>
            <a:ext cx="6332570" cy="3882468"/>
          </a:xfrm>
          <a:prstGeom prst="rect">
            <a:avLst/>
          </a:prstGeom>
        </p:spPr>
      </p:pic>
      <p:sp>
        <p:nvSpPr>
          <p:cNvPr id="6" name="Text 3"/>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4 · WebSocket con STOMP</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 cliente no se queda esperando: el callback</a:t>
            </a:r>
            <a:endParaRPr lang="en-US" sz="2500" dirty="0"/>
          </a:p>
        </p:txBody>
      </p:sp>
      <p:sp>
        <p:nvSpPr>
          <p:cNvPr id="4" name="Text 2"/>
          <p:cNvSpPr/>
          <p:nvPr/>
        </p:nvSpPr>
        <p:spPr>
          <a:xfrm>
            <a:off x="548640" y="1737360"/>
            <a:ext cx="11091672" cy="1005840"/>
          </a:xfrm>
          <a:prstGeom prst="rect">
            <a:avLst/>
          </a:prstGeom>
          <a:noFill/>
          <a:ln/>
        </p:spPr>
        <p:txBody>
          <a:bodyPr wrap="square" rtlCol="0" anchor="t"/>
          <a:lstStyle/>
          <a:p>
            <a:pPr marL="0" indent="0">
              <a:buNone/>
            </a:pPr>
            <a:r>
              <a:rPr lang="en-US" sz="2300" dirty="0">
                <a:solidFill>
                  <a:srgbClr val="212121"/>
                </a:solidFill>
                <a:latin typeface="Arial" pitchFamily="34" charset="0"/>
                <a:ea typeface="Arial" pitchFamily="34" charset="-122"/>
                <a:cs typeface="Arial" pitchFamily="34" charset="-120"/>
              </a:rPr>
              <a:t>El servidor manda mensajes sin que nada los haya provocado desde el cliente. Y el cliente, en su lado, tampoco se queda bloqueado esperándolos.</a:t>
            </a:r>
            <a:endParaRPr lang="en-US" sz="2300" dirty="0"/>
          </a:p>
        </p:txBody>
      </p:sp>
      <p:sp>
        <p:nvSpPr>
          <p:cNvPr id="5" name="Shape 3"/>
          <p:cNvSpPr/>
          <p:nvPr/>
        </p:nvSpPr>
        <p:spPr>
          <a:xfrm>
            <a:off x="548640" y="2880360"/>
            <a:ext cx="11091672" cy="1371600"/>
          </a:xfrm>
          <a:prstGeom prst="roundRect">
            <a:avLst/>
          </a:prstGeom>
          <a:solidFill>
            <a:srgbClr val="FFF3E0"/>
          </a:solidFill>
          <a:ln w="19050">
            <a:solidFill>
              <a:srgbClr val="FFA000"/>
            </a:solidFill>
            <a:prstDash val="solid"/>
          </a:ln>
        </p:spPr>
        <p:txBody>
          <a:bodyPr/>
          <a:lstStyle/>
          <a:p>
            <a:endParaRPr lang="es-ES"/>
          </a:p>
        </p:txBody>
      </p:sp>
      <p:sp>
        <p:nvSpPr>
          <p:cNvPr id="6" name="Text 4"/>
          <p:cNvSpPr/>
          <p:nvPr/>
        </p:nvSpPr>
        <p:spPr>
          <a:xfrm>
            <a:off x="822960" y="2971800"/>
            <a:ext cx="10543032" cy="1188720"/>
          </a:xfrm>
          <a:prstGeom prst="rect">
            <a:avLst/>
          </a:prstGeom>
          <a:noFill/>
          <a:ln/>
        </p:spPr>
        <p:txBody>
          <a:bodyPr wrap="square" rtlCol="0" anchor="ctr"/>
          <a:lstStyle/>
          <a:p>
            <a:pPr marL="0" indent="0">
              <a:buNone/>
            </a:pPr>
            <a:r>
              <a:rPr lang="en-US" sz="2100" dirty="0">
                <a:solidFill>
                  <a:srgbClr val="212121"/>
                </a:solidFill>
                <a:latin typeface="Arial" pitchFamily="34" charset="0"/>
                <a:ea typeface="Arial" pitchFamily="34" charset="-122"/>
                <a:cs typeface="Arial" pitchFamily="34" charset="-120"/>
              </a:rPr>
              <a:t>El cliente deja registrado un aviso —un callback— y sigue a lo suyo; en cuanto llega un mensaje por ese canal, se ejecuta ese aviso automáticamente, tantas veces como mensajes lleguen. Es el mismo patrón onConnect/subscribe de la Actividad 4.2.</a:t>
            </a:r>
            <a:endParaRPr lang="en-US" sz="2100" dirty="0"/>
          </a:p>
        </p:txBody>
      </p:sp>
      <p:sp>
        <p:nvSpPr>
          <p:cNvPr id="7"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4 · WebSocket con STOMP</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Qué es STOMP</a:t>
            </a:r>
            <a:endParaRPr lang="en-US" sz="2500" dirty="0"/>
          </a:p>
        </p:txBody>
      </p:sp>
      <p:sp>
        <p:nvSpPr>
          <p:cNvPr id="4" name="Text 2"/>
          <p:cNvSpPr/>
          <p:nvPr/>
        </p:nvSpPr>
        <p:spPr>
          <a:xfrm>
            <a:off x="548640" y="1371600"/>
            <a:ext cx="11091672" cy="914400"/>
          </a:xfrm>
          <a:prstGeom prst="rect">
            <a:avLst/>
          </a:prstGeom>
          <a:noFill/>
          <a:ln/>
        </p:spPr>
        <p:txBody>
          <a:bodyPr wrap="square" rtlCol="0" anchor="t"/>
          <a:lstStyle/>
          <a:p>
            <a:pPr marL="0" indent="0">
              <a:buNone/>
            </a:pPr>
            <a:r>
              <a:rPr lang="en-US" sz="2100" dirty="0">
                <a:solidFill>
                  <a:srgbClr val="212121"/>
                </a:solidFill>
                <a:latin typeface="Arial" pitchFamily="34" charset="0"/>
                <a:ea typeface="Arial" pitchFamily="34" charset="-122"/>
                <a:cs typeface="Arial" pitchFamily="34" charset="-120"/>
              </a:rPr>
              <a:t>WebSocket por sí solo no define conceptos como destinos, suscripciones o tipos de aviso. STOMP (Simple Text Oriented Messaging Protocol) añade esa capa encima:</a:t>
            </a:r>
            <a:endParaRPr lang="en-US" sz="2100" dirty="0"/>
          </a:p>
        </p:txBody>
      </p:sp>
      <p:sp>
        <p:nvSpPr>
          <p:cNvPr id="5" name="Text 3"/>
          <p:cNvSpPr/>
          <p:nvPr/>
        </p:nvSpPr>
        <p:spPr>
          <a:xfrm>
            <a:off x="548640" y="2377440"/>
            <a:ext cx="11091672" cy="1371600"/>
          </a:xfrm>
          <a:prstGeom prst="rect">
            <a:avLst/>
          </a:prstGeom>
          <a:noFill/>
          <a:ln/>
        </p:spPr>
        <p:txBody>
          <a:bodyPr wrap="square" rtlCol="0" anchor="t"/>
          <a:lstStyle/>
          <a:p>
            <a:pPr marL="190500" indent="-190500">
              <a:spcAft>
                <a:spcPts val="1400"/>
              </a:spcAft>
              <a:buSzPct val="100000"/>
              <a:buChar char="•"/>
            </a:pPr>
            <a:r>
              <a:rPr lang="en-US" sz="2000" dirty="0">
                <a:solidFill>
                  <a:srgbClr val="212121"/>
                </a:solidFill>
                <a:latin typeface="Arial" pitchFamily="34" charset="0"/>
                <a:ea typeface="Arial" pitchFamily="34" charset="-122"/>
                <a:cs typeface="Arial" pitchFamily="34" charset="-120"/>
              </a:rPr>
              <a:t>Destino: un nombre para cada tipo de mensaje, como /topic/notas o /topic/alertas-stock.</a:t>
            </a:r>
            <a:endParaRPr lang="en-US" sz="2000" dirty="0"/>
          </a:p>
          <a:p>
            <a:pPr marL="190500" indent="-190500">
              <a:spcAft>
                <a:spcPts val="1400"/>
              </a:spcAft>
              <a:buSzPct val="100000"/>
              <a:buChar char="•"/>
            </a:pPr>
            <a:r>
              <a:rPr lang="en-US" sz="2000" dirty="0">
                <a:solidFill>
                  <a:srgbClr val="212121"/>
                </a:solidFill>
                <a:latin typeface="Arial" pitchFamily="34" charset="0"/>
                <a:ea typeface="Arial" pitchFamily="34" charset="-122"/>
                <a:cs typeface="Arial" pitchFamily="34" charset="-120"/>
              </a:rPr>
              <a:t>Suscripción: cada cliente se suscribe solo a los destinos que le interesan, sin que le lleguen los demás.</a:t>
            </a:r>
            <a:endParaRPr lang="en-US" sz="2000" dirty="0"/>
          </a:p>
        </p:txBody>
      </p:sp>
      <p:sp>
        <p:nvSpPr>
          <p:cNvPr id="6" name="Shape 4"/>
          <p:cNvSpPr/>
          <p:nvPr/>
        </p:nvSpPr>
        <p:spPr>
          <a:xfrm>
            <a:off x="548640" y="3931920"/>
            <a:ext cx="11091672" cy="914400"/>
          </a:xfrm>
          <a:prstGeom prst="roundRect">
            <a:avLst/>
          </a:prstGeom>
          <a:solidFill>
            <a:srgbClr val="FFF3E0"/>
          </a:solidFill>
          <a:ln w="19050">
            <a:solidFill>
              <a:srgbClr val="FFA000"/>
            </a:solidFill>
            <a:prstDash val="solid"/>
          </a:ln>
        </p:spPr>
        <p:txBody>
          <a:bodyPr/>
          <a:lstStyle/>
          <a:p>
            <a:endParaRPr lang="es-ES"/>
          </a:p>
        </p:txBody>
      </p:sp>
      <p:sp>
        <p:nvSpPr>
          <p:cNvPr id="7" name="Text 5"/>
          <p:cNvSpPr/>
          <p:nvPr/>
        </p:nvSpPr>
        <p:spPr>
          <a:xfrm>
            <a:off x="822960" y="4023360"/>
            <a:ext cx="10543032" cy="73152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El mismo patrón de publicación-suscripción que ya conoces de ApplicationEventPublisher (Tema 3), ahora con el suscriptor fuera de la JVM, en el navegador.</a:t>
            </a:r>
            <a:endParaRPr lang="en-US" sz="1800" dirty="0"/>
          </a:p>
        </p:txBody>
      </p:sp>
      <p:sp>
        <p:nvSpPr>
          <p:cNvPr id="8" name="Text 6"/>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4 · WebSocket con STOMP</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 reparto de mensajes: distinto al de RabbitMQ</a:t>
            </a:r>
            <a:endParaRPr lang="en-US" sz="2500" dirty="0"/>
          </a:p>
        </p:txBody>
      </p:sp>
      <p:sp>
        <p:nvSpPr>
          <p:cNvPr id="4" name="Text 2"/>
          <p:cNvSpPr/>
          <p:nvPr/>
        </p:nvSpPr>
        <p:spPr>
          <a:xfrm>
            <a:off x="548640" y="1325880"/>
            <a:ext cx="4567062" cy="457200"/>
          </a:xfrm>
          <a:prstGeom prst="rect">
            <a:avLst/>
          </a:prstGeom>
          <a:noFill/>
          <a:ln/>
        </p:spPr>
        <p:txBody>
          <a:bodyPr wrap="square" rtlCol="0" anchor="ctr"/>
          <a:lstStyle/>
          <a:p>
            <a:pPr marL="0" indent="0" algn="ctr">
              <a:buNone/>
            </a:pPr>
            <a:r>
              <a:rPr lang="en-US" sz="1700" b="1" dirty="0">
                <a:solidFill>
                  <a:srgbClr val="4E342E"/>
                </a:solidFill>
                <a:latin typeface="Arial" pitchFamily="34" charset="0"/>
                <a:ea typeface="Arial" pitchFamily="34" charset="-122"/>
                <a:cs typeface="Arial" pitchFamily="34" charset="-120"/>
              </a:rPr>
              <a:t>Cola de RabbitMQ (Tema 3)</a:t>
            </a:r>
            <a:endParaRPr lang="en-US" sz="1700" dirty="0"/>
          </a:p>
        </p:txBody>
      </p:sp>
      <p:sp>
        <p:nvSpPr>
          <p:cNvPr id="5" name="Text 3"/>
          <p:cNvSpPr/>
          <p:nvPr/>
        </p:nvSpPr>
        <p:spPr>
          <a:xfrm>
            <a:off x="5298582" y="1325880"/>
            <a:ext cx="6341730" cy="457200"/>
          </a:xfrm>
          <a:prstGeom prst="rect">
            <a:avLst/>
          </a:prstGeom>
          <a:noFill/>
          <a:ln/>
        </p:spPr>
        <p:txBody>
          <a:bodyPr wrap="square" rtlCol="0" anchor="ctr"/>
          <a:lstStyle/>
          <a:p>
            <a:pPr marL="0" indent="0" algn="ctr">
              <a:buNone/>
            </a:pPr>
            <a:r>
              <a:rPr lang="en-US" sz="1700" b="1" dirty="0">
                <a:solidFill>
                  <a:srgbClr val="4E342E"/>
                </a:solidFill>
                <a:latin typeface="Arial" pitchFamily="34" charset="0"/>
                <a:ea typeface="Arial" pitchFamily="34" charset="-122"/>
                <a:cs typeface="Arial" pitchFamily="34" charset="-120"/>
              </a:rPr>
              <a:t>Topic de STOMP</a:t>
            </a:r>
            <a:endParaRPr lang="en-US" sz="1700" dirty="0"/>
          </a:p>
        </p:txBody>
      </p:sp>
      <p:pic>
        <p:nvPicPr>
          <p:cNvPr id="6" name="Image 0" descr="C:/Users/Aitor/docxgen/img/rabbitmq_cola_simple.png"/>
          <p:cNvPicPr>
            <a:picLocks noChangeAspect="1"/>
          </p:cNvPicPr>
          <p:nvPr/>
        </p:nvPicPr>
        <p:blipFill>
          <a:blip r:embed="rId3"/>
          <a:stretch>
            <a:fillRect/>
          </a:stretch>
        </p:blipFill>
        <p:spPr>
          <a:xfrm>
            <a:off x="283981" y="2377440"/>
            <a:ext cx="5778900" cy="1051560"/>
          </a:xfrm>
          <a:prstGeom prst="rect">
            <a:avLst/>
          </a:prstGeom>
        </p:spPr>
      </p:pic>
      <p:pic>
        <p:nvPicPr>
          <p:cNvPr id="7" name="Image 1" descr="C:/Users/Aitor/docxgen/img/stomp_topic_simple.png"/>
          <p:cNvPicPr>
            <a:picLocks noChangeAspect="1"/>
          </p:cNvPicPr>
          <p:nvPr/>
        </p:nvPicPr>
        <p:blipFill>
          <a:blip r:embed="rId4"/>
          <a:stretch>
            <a:fillRect/>
          </a:stretch>
        </p:blipFill>
        <p:spPr>
          <a:xfrm>
            <a:off x="6062881" y="2026721"/>
            <a:ext cx="5778900" cy="3505399"/>
          </a:xfrm>
          <a:prstGeom prst="rect">
            <a:avLst/>
          </a:prstGeom>
        </p:spPr>
      </p:pic>
      <p:sp>
        <p:nvSpPr>
          <p:cNvPr id="8" name="Shape 4"/>
          <p:cNvSpPr/>
          <p:nvPr/>
        </p:nvSpPr>
        <p:spPr>
          <a:xfrm>
            <a:off x="669562" y="3924176"/>
            <a:ext cx="4751524" cy="2450592"/>
          </a:xfrm>
          <a:prstGeom prst="roundRect">
            <a:avLst/>
          </a:prstGeom>
          <a:solidFill>
            <a:srgbClr val="FFF3E0"/>
          </a:solidFill>
          <a:ln w="19050">
            <a:solidFill>
              <a:srgbClr val="FFA000"/>
            </a:solidFill>
            <a:prstDash val="solid"/>
          </a:ln>
        </p:spPr>
        <p:txBody>
          <a:bodyPr/>
          <a:lstStyle/>
          <a:p>
            <a:endParaRPr lang="es-ES"/>
          </a:p>
        </p:txBody>
      </p:sp>
      <p:sp>
        <p:nvSpPr>
          <p:cNvPr id="9" name="Text 5"/>
          <p:cNvSpPr/>
          <p:nvPr/>
        </p:nvSpPr>
        <p:spPr>
          <a:xfrm>
            <a:off x="1302899" y="4784925"/>
            <a:ext cx="3750021" cy="868680"/>
          </a:xfrm>
          <a:prstGeom prst="rect">
            <a:avLst/>
          </a:prstGeom>
          <a:noFill/>
          <a:ln/>
        </p:spPr>
        <p:txBody>
          <a:bodyPr wrap="square" rtlCol="0" anchor="ctr"/>
          <a:lstStyle/>
          <a:p>
            <a:pPr marL="0" indent="0">
              <a:buNone/>
            </a:pPr>
            <a:r>
              <a:rPr lang="en-US" sz="1800" dirty="0">
                <a:solidFill>
                  <a:srgbClr val="212121"/>
                </a:solidFill>
                <a:latin typeface="Arial" pitchFamily="34" charset="0"/>
                <a:ea typeface="Arial" pitchFamily="34" charset="-122"/>
                <a:cs typeface="Arial" pitchFamily="34" charset="-120"/>
              </a:rPr>
              <a:t>Un destino STOMP puede tener varios suscriptores a la vez, y todos reciben su propia copia. En una misma cola de RabbitMQ, cada mensaje se entrega a uno de sus consumidores.</a:t>
            </a:r>
            <a:endParaRPr lang="en-US" sz="1800" dirty="0"/>
          </a:p>
        </p:txBody>
      </p:sp>
      <p:sp>
        <p:nvSpPr>
          <p:cNvPr id="10" name="Text 6"/>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4 · WebSocket con STOMP</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El caso de uso: actividad en vivo</a:t>
            </a:r>
            <a:endParaRPr lang="en-US" sz="2500" dirty="0"/>
          </a:p>
        </p:txBody>
      </p:sp>
      <p:sp>
        <p:nvSpPr>
          <p:cNvPr id="4" name="Text 2"/>
          <p:cNvSpPr/>
          <p:nvPr/>
        </p:nvSpPr>
        <p:spPr>
          <a:xfrm>
            <a:off x="548640" y="1645920"/>
            <a:ext cx="11091672" cy="1188720"/>
          </a:xfrm>
          <a:prstGeom prst="rect">
            <a:avLst/>
          </a:prstGeom>
          <a:noFill/>
          <a:ln/>
        </p:spPr>
        <p:txBody>
          <a:bodyPr wrap="square" rtlCol="0" anchor="t"/>
          <a:lstStyle/>
          <a:p>
            <a:pPr marL="0" indent="0">
              <a:buNone/>
            </a:pPr>
            <a:r>
              <a:rPr lang="en-US" sz="2200" dirty="0">
                <a:solidFill>
                  <a:srgbClr val="212121"/>
                </a:solidFill>
                <a:latin typeface="Arial" pitchFamily="34" charset="0"/>
                <a:ea typeface="Arial" pitchFamily="34" charset="-122"/>
                <a:cs typeface="Arial" pitchFamily="34" charset="-120"/>
              </a:rPr>
              <a:t>Cada vez que se crea, modifica o borra un Libro, ActividadService.registrar() ya guarda ese registro en la base de datos — hoy solo puede consultarse con GET /api/v1/actividad, en frío, y solo por ADMIN.</a:t>
            </a:r>
            <a:endParaRPr lang="en-US" sz="2200" dirty="0"/>
          </a:p>
        </p:txBody>
      </p:sp>
      <p:sp>
        <p:nvSpPr>
          <p:cNvPr id="5" name="Shape 3"/>
          <p:cNvSpPr/>
          <p:nvPr/>
        </p:nvSpPr>
        <p:spPr>
          <a:xfrm>
            <a:off x="548640" y="2971800"/>
            <a:ext cx="11091672" cy="1005840"/>
          </a:xfrm>
          <a:prstGeom prst="roundRect">
            <a:avLst/>
          </a:prstGeom>
          <a:solidFill>
            <a:srgbClr val="FFF3E0"/>
          </a:solidFill>
          <a:ln w="19050">
            <a:solidFill>
              <a:srgbClr val="FFA000"/>
            </a:solidFill>
            <a:prstDash val="solid"/>
          </a:ln>
        </p:spPr>
        <p:txBody>
          <a:bodyPr/>
          <a:lstStyle/>
          <a:p>
            <a:endParaRPr lang="es-ES"/>
          </a:p>
        </p:txBody>
      </p:sp>
      <p:sp>
        <p:nvSpPr>
          <p:cNvPr id="6" name="Text 4"/>
          <p:cNvSpPr/>
          <p:nvPr/>
        </p:nvSpPr>
        <p:spPr>
          <a:xfrm>
            <a:off x="822960" y="3063240"/>
            <a:ext cx="10543032" cy="822960"/>
          </a:xfrm>
          <a:prstGeom prst="rect">
            <a:avLst/>
          </a:prstGeom>
          <a:noFill/>
          <a:ln/>
        </p:spPr>
        <p:txBody>
          <a:bodyPr wrap="square" rtlCol="0" anchor="ctr"/>
          <a:lstStyle/>
          <a:p>
            <a:pPr marL="0" indent="0">
              <a:buNone/>
            </a:pPr>
            <a:r>
              <a:rPr lang="en-US" sz="2100" dirty="0">
                <a:solidFill>
                  <a:srgbClr val="212121"/>
                </a:solidFill>
                <a:latin typeface="Arial" pitchFamily="34" charset="0"/>
                <a:ea typeface="Arial" pitchFamily="34" charset="-122"/>
                <a:cs typeface="Arial" pitchFamily="34" charset="-120"/>
              </a:rPr>
              <a:t>La pieza que falta: publicar esos mismos registros en vivo, según ocurren, a quien esté mirando en ese momento.</a:t>
            </a:r>
            <a:endParaRPr lang="en-US" sz="2100" dirty="0"/>
          </a:p>
        </p:txBody>
      </p:sp>
      <p:sp>
        <p:nvSpPr>
          <p:cNvPr id="7" name="Text 5"/>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4 · WebSocket con STOMP</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La foto completa de lo que vas a construir</a:t>
            </a:r>
            <a:endParaRPr lang="en-US" sz="2500" dirty="0"/>
          </a:p>
        </p:txBody>
      </p:sp>
      <p:pic>
        <p:nvPicPr>
          <p:cNvPr id="4" name="Image 0" descr="C:/Users/Aitor/docxgen/img/actividad_en_vivo_secuencia.png"/>
          <p:cNvPicPr>
            <a:picLocks noChangeAspect="1"/>
          </p:cNvPicPr>
          <p:nvPr/>
        </p:nvPicPr>
        <p:blipFill>
          <a:blip r:embed="rId3"/>
          <a:stretch>
            <a:fillRect/>
          </a:stretch>
        </p:blipFill>
        <p:spPr>
          <a:xfrm>
            <a:off x="2031242" y="1006014"/>
            <a:ext cx="8866913" cy="5239164"/>
          </a:xfrm>
          <a:prstGeom prst="rect">
            <a:avLst/>
          </a:prstGeom>
        </p:spPr>
      </p:pic>
      <p:sp>
        <p:nvSpPr>
          <p:cNvPr id="5"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4 · WebSocket con STOMP</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Las tres piezas base de la configuración</a:t>
            </a:r>
            <a:endParaRPr lang="en-US" sz="2500" dirty="0"/>
          </a:p>
        </p:txBody>
      </p:sp>
      <p:sp>
        <p:nvSpPr>
          <p:cNvPr id="4" name="Shape 2"/>
          <p:cNvSpPr/>
          <p:nvPr/>
        </p:nvSpPr>
        <p:spPr>
          <a:xfrm>
            <a:off x="548640" y="1097280"/>
            <a:ext cx="11091672" cy="3794760"/>
          </a:xfrm>
          <a:prstGeom prst="rect">
            <a:avLst/>
          </a:prstGeom>
          <a:solidFill>
            <a:srgbClr val="ECEFF1"/>
          </a:solidFill>
          <a:ln w="12700">
            <a:solidFill>
              <a:srgbClr val="EEEEEE"/>
            </a:solidFill>
            <a:prstDash val="solid"/>
          </a:ln>
        </p:spPr>
        <p:txBody>
          <a:bodyPr/>
          <a:lstStyle/>
          <a:p>
            <a:endParaRPr lang="es-ES"/>
          </a:p>
        </p:txBody>
      </p:sp>
      <p:sp>
        <p:nvSpPr>
          <p:cNvPr id="5" name="Shape 3"/>
          <p:cNvSpPr/>
          <p:nvPr/>
        </p:nvSpPr>
        <p:spPr>
          <a:xfrm>
            <a:off x="548640" y="1097280"/>
            <a:ext cx="73152" cy="3794760"/>
          </a:xfrm>
          <a:prstGeom prst="rect">
            <a:avLst/>
          </a:prstGeom>
          <a:solidFill>
            <a:srgbClr val="FFA000"/>
          </a:solidFill>
          <a:ln w="12700">
            <a:solidFill>
              <a:srgbClr val="FFA000"/>
            </a:solidFill>
            <a:prstDash val="solid"/>
          </a:ln>
        </p:spPr>
        <p:txBody>
          <a:bodyPr/>
          <a:lstStyle/>
          <a:p>
            <a:endParaRPr lang="es-ES"/>
          </a:p>
        </p:txBody>
      </p:sp>
      <p:sp>
        <p:nvSpPr>
          <p:cNvPr id="6" name="Text 4"/>
          <p:cNvSpPr/>
          <p:nvPr/>
        </p:nvSpPr>
        <p:spPr>
          <a:xfrm>
            <a:off x="822960" y="1207008"/>
            <a:ext cx="10588752" cy="3575304"/>
          </a:xfrm>
          <a:prstGeom prst="rect">
            <a:avLst/>
          </a:prstGeom>
          <a:noFill/>
          <a:ln/>
        </p:spPr>
        <p:txBody>
          <a:bodyPr wrap="square" rtlCol="0" anchor="t"/>
          <a:lstStyle/>
          <a:p>
            <a:pPr marL="0" indent="0">
              <a:buNone/>
            </a:pPr>
            <a:r>
              <a:rPr lang="en-US" sz="1500" dirty="0">
                <a:solidFill>
                  <a:srgbClr val="263238"/>
                </a:solidFill>
                <a:latin typeface="Courier New" pitchFamily="34" charset="0"/>
                <a:ea typeface="Courier New" pitchFamily="34" charset="-122"/>
                <a:cs typeface="Courier New" pitchFamily="34" charset="-120"/>
              </a:rPr>
              <a:t>@Configuration</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@EnableWebSocketMessageBroker</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public class WebSocketConfig implements WebSocketMessageBrokerConfigurer {</a:t>
            </a:r>
            <a:endParaRPr lang="en-US" sz="1500" dirty="0"/>
          </a:p>
          <a:p>
            <a:pPr marL="0" indent="0">
              <a:buNone/>
            </a:pP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@Override</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public void registerStompEndpoints(StompEndpointRegistry registry)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registry.addEndpoint("/ws-actividad").setAllowedOriginPatterns("*");</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a:t>
            </a:r>
            <a:endParaRPr lang="en-US" sz="1500" dirty="0"/>
          </a:p>
          <a:p>
            <a:pPr marL="0" indent="0">
              <a:buNone/>
            </a:pP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@Override</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public void configureMessageBroker(MessageBrokerRegistry registry)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registry.enableSimpleBroker("/topic");</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registry.setApplicationDestinationPrefixes("/app");</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a:t>
            </a:r>
            <a:endParaRPr lang="en-US" sz="1500" dirty="0"/>
          </a:p>
        </p:txBody>
      </p:sp>
      <p:sp>
        <p:nvSpPr>
          <p:cNvPr id="7" name="Text 5"/>
          <p:cNvSpPr/>
          <p:nvPr/>
        </p:nvSpPr>
        <p:spPr>
          <a:xfrm>
            <a:off x="548640" y="5166360"/>
            <a:ext cx="11091672" cy="68580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Activar el soporte de mensajería WebSocket, declarar a qué URL se conecta el cliente, y decidir cómo se reparten los mensajes: las tres caben en una única clase de configuración.</a:t>
            </a:r>
            <a:endParaRPr lang="en-US" sz="1600" dirty="0"/>
          </a:p>
        </p:txBody>
      </p:sp>
      <p:sp>
        <p:nvSpPr>
          <p:cNvPr id="8" name="Text 6"/>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4 · WebSocket con STOMP</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Qué hace cada método</a:t>
            </a:r>
            <a:endParaRPr lang="en-US" sz="2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2999232"/>
        </p:xfrm>
        <a:graphic>
          <a:graphicData uri="http://schemas.openxmlformats.org/drawingml/2006/table">
            <a:tbl>
              <a:tblPr/>
              <a:tblGrid>
                <a:gridCol w="3771168">
                  <a:extLst>
                    <a:ext uri="{9D8B030D-6E8A-4147-A177-3AD203B41FA5}">
                      <a16:colId xmlns:a16="http://schemas.microsoft.com/office/drawing/2014/main" val="20000"/>
                    </a:ext>
                  </a:extLst>
                </a:gridCol>
                <a:gridCol w="7320504">
                  <a:extLst>
                    <a:ext uri="{9D8B030D-6E8A-4147-A177-3AD203B41FA5}">
                      <a16:colId xmlns:a16="http://schemas.microsoft.com/office/drawing/2014/main" val="20001"/>
                    </a:ext>
                  </a:extLst>
                </a:gridCol>
              </a:tblGrid>
              <a:tr h="749808">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Método</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700" b="1" dirty="0">
                          <a:solidFill>
                            <a:srgbClr val="FFFFFF"/>
                          </a:solidFill>
                          <a:latin typeface="Arial" pitchFamily="34" charset="0"/>
                          <a:ea typeface="Arial" pitchFamily="34" charset="-122"/>
                          <a:cs typeface="Arial" pitchFamily="34" charset="-120"/>
                        </a:rPr>
                        <a:t>Responsabilidad</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extLst>
                  <a:ext uri="{0D108BD9-81ED-4DB2-BD59-A6C34878D82A}">
                    <a16:rowId xmlns:a16="http://schemas.microsoft.com/office/drawing/2014/main" val="10000"/>
                  </a:ext>
                </a:extLst>
              </a:tr>
              <a:tr h="749808">
                <a:tc>
                  <a:txBody>
                    <a:bodyPr/>
                    <a:lstStyle/>
                    <a:p>
                      <a:pPr marL="0" indent="0">
                        <a:buNone/>
                      </a:pPr>
                      <a:r>
                        <a:rPr lang="en-US" sz="1500" b="1" dirty="0">
                          <a:solidFill>
                            <a:srgbClr val="212121"/>
                          </a:solidFill>
                          <a:latin typeface="Arial" pitchFamily="34" charset="0"/>
                          <a:ea typeface="Arial" pitchFamily="34" charset="-122"/>
                          <a:cs typeface="Arial" pitchFamily="34" charset="-120"/>
                        </a:rPr>
                        <a:t>@EnableWebSocketMessageBroker</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Activa el soporte de mensajería WebSocket con STOMP sobre toda la aplicación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buNone/>
                      </a:pPr>
                      <a:r>
                        <a:rPr lang="en-US" sz="1500" b="1" dirty="0">
                          <a:solidFill>
                            <a:srgbClr val="212121"/>
                          </a:solidFill>
                          <a:latin typeface="Arial" pitchFamily="34" charset="0"/>
                          <a:ea typeface="Arial" pitchFamily="34" charset="-122"/>
                          <a:cs typeface="Arial" pitchFamily="34" charset="-120"/>
                        </a:rPr>
                        <a:t>registerStompEndpoints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Declara la URL a la que el cliente se conecta inicialmente — el /ws-actividad</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749808">
                <a:tc>
                  <a:txBody>
                    <a:bodyPr/>
                    <a:lstStyle/>
                    <a:p>
                      <a:pPr marL="0" indent="0">
                        <a:buNone/>
                      </a:pPr>
                      <a:r>
                        <a:rPr lang="en-US" sz="1500" b="1" dirty="0">
                          <a:solidFill>
                            <a:srgbClr val="212121"/>
                          </a:solidFill>
                          <a:latin typeface="Arial" pitchFamily="34" charset="0"/>
                          <a:ea typeface="Arial" pitchFamily="34" charset="-122"/>
                          <a:cs typeface="Arial" pitchFamily="34" charset="-120"/>
                        </a:rPr>
                        <a:t>configureMessageBroker</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Activa el broker (mismo concepto que en RabbitMQ) y decide qué prefijos gestiona: /topic y /app</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4416552"/>
            <a:ext cx="11091672" cy="1600200"/>
          </a:xfrm>
          <a:prstGeom prst="roundRect">
            <a:avLst/>
          </a:prstGeom>
          <a:solidFill>
            <a:srgbClr val="FFF3E0"/>
          </a:solidFill>
          <a:ln w="28575">
            <a:solidFill>
              <a:srgbClr val="FFA000"/>
            </a:solidFill>
            <a:prstDash val="solid"/>
          </a:ln>
        </p:spPr>
        <p:txBody>
          <a:bodyPr/>
          <a:lstStyle/>
          <a:p>
            <a:endParaRPr lang="es-ES"/>
          </a:p>
        </p:txBody>
      </p:sp>
      <p:sp>
        <p:nvSpPr>
          <p:cNvPr id="6" name="Text 3"/>
          <p:cNvSpPr/>
          <p:nvPr/>
        </p:nvSpPr>
        <p:spPr>
          <a:xfrm>
            <a:off x="822960" y="4526280"/>
            <a:ext cx="10543032" cy="1380744"/>
          </a:xfrm>
          <a:prstGeom prst="rect">
            <a:avLst/>
          </a:prstGeom>
          <a:noFill/>
          <a:ln/>
        </p:spPr>
        <p:txBody>
          <a:bodyPr wrap="square" rtlCol="0" anchor="t"/>
          <a:lstStyle/>
          <a:p>
            <a:pPr marL="0" indent="0">
              <a:buNone/>
            </a:pPr>
            <a:r>
              <a:rPr lang="en-US" sz="1600" b="1" dirty="0">
                <a:solidFill>
                  <a:srgbClr val="4E342E"/>
                </a:solidFill>
                <a:latin typeface="Arial" pitchFamily="34" charset="0"/>
                <a:ea typeface="Arial" pitchFamily="34" charset="-122"/>
                <a:cs typeface="Arial" pitchFamily="34" charset="-120"/>
              </a:rPr>
              <a:t>Aquí no hace falta ningún @RestController
</a:t>
            </a:r>
            <a:endParaRPr lang="en-US" sz="1600" dirty="0"/>
          </a:p>
          <a:p>
            <a:pPr marL="0" indent="0">
              <a:buNone/>
            </a:pPr>
            <a:r>
              <a:rPr lang="en-US" sz="1500" dirty="0">
                <a:solidFill>
                  <a:srgbClr val="212121"/>
                </a:solidFill>
                <a:latin typeface="Arial" pitchFamily="34" charset="0"/>
                <a:ea typeface="Arial" pitchFamily="34" charset="-122"/>
                <a:cs typeface="Arial" pitchFamily="34" charset="-120"/>
              </a:rPr>
              <a:t>registerStompEndpoints ya declara el endpoint — a diferencia de REST, no hace falta @GetMapping. El @MessageMapping("/app") sí es el equivalente de @RequestMapping, pero solo para mensajes que llegan después de que la conexión ya esté establecida.</a:t>
            </a:r>
            <a:endParaRPr lang="en-US" sz="1600" dirty="0"/>
          </a:p>
        </p:txBody>
      </p:sp>
      <p:sp>
        <p:nvSpPr>
          <p:cNvPr id="7" name="Text 4"/>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4 · WebSocket con STOMP</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Dónde aparece el destino concreto, y quién lo pone</a:t>
            </a:r>
            <a:endParaRPr lang="en-US" sz="2500" dirty="0"/>
          </a:p>
        </p:txBody>
      </p:sp>
      <p:sp>
        <p:nvSpPr>
          <p:cNvPr id="4" name="Text 2"/>
          <p:cNvSpPr/>
          <p:nvPr/>
        </p:nvSpPr>
        <p:spPr>
          <a:xfrm>
            <a:off x="548640" y="1097280"/>
            <a:ext cx="11091672" cy="59436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El código de configuración solo declara el prefijo /topic, nunca /topic/actividad. El destino concreto aparece en otros dos sitios:</a:t>
            </a:r>
            <a:endParaRPr lang="en-US" sz="1800" dirty="0"/>
          </a:p>
        </p:txBody>
      </p:sp>
      <p:sp>
        <p:nvSpPr>
          <p:cNvPr id="5" name="Shape 3"/>
          <p:cNvSpPr/>
          <p:nvPr/>
        </p:nvSpPr>
        <p:spPr>
          <a:xfrm>
            <a:off x="548640" y="1737360"/>
            <a:ext cx="11091672" cy="86868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737360"/>
            <a:ext cx="73152" cy="868680"/>
          </a:xfrm>
          <a:prstGeom prst="rect">
            <a:avLst/>
          </a:prstGeom>
          <a:solidFill>
            <a:srgbClr val="FFA000"/>
          </a:solidFill>
          <a:ln w="12700">
            <a:solidFill>
              <a:srgbClr val="FFA000"/>
            </a:solidFill>
            <a:prstDash val="solid"/>
          </a:ln>
        </p:spPr>
        <p:txBody>
          <a:bodyPr/>
          <a:lstStyle/>
          <a:p>
            <a:endParaRPr lang="es-ES"/>
          </a:p>
        </p:txBody>
      </p:sp>
      <p:sp>
        <p:nvSpPr>
          <p:cNvPr id="7" name="Text 5"/>
          <p:cNvSpPr/>
          <p:nvPr/>
        </p:nvSpPr>
        <p:spPr>
          <a:xfrm>
            <a:off x="822960" y="1847088"/>
            <a:ext cx="10588752" cy="649224"/>
          </a:xfrm>
          <a:prstGeom prst="rect">
            <a:avLst/>
          </a:prstGeom>
          <a:noFill/>
          <a:ln/>
        </p:spPr>
        <p:txBody>
          <a:bodyPr wrap="square" rtlCol="0" anchor="t"/>
          <a:lstStyle/>
          <a:p>
            <a:pPr marL="0" indent="0">
              <a:buNone/>
            </a:pPr>
            <a:r>
              <a:rPr lang="en-US" sz="1500" dirty="0">
                <a:solidFill>
                  <a:srgbClr val="263238"/>
                </a:solidFill>
                <a:latin typeface="Courier New" pitchFamily="34" charset="0"/>
                <a:ea typeface="Courier New" pitchFamily="34" charset="-122"/>
                <a:cs typeface="Courier New" pitchFamily="34" charset="-120"/>
              </a:rPr>
              <a:t>// Servidor (Actividad 4.2)</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messagingTemplate.convertAndSend("/topic/actividad", "Nuevo Libro");</a:t>
            </a:r>
            <a:endParaRPr lang="en-US" sz="1500" dirty="0"/>
          </a:p>
        </p:txBody>
      </p:sp>
      <p:sp>
        <p:nvSpPr>
          <p:cNvPr id="8" name="Shape 6"/>
          <p:cNvSpPr/>
          <p:nvPr/>
        </p:nvSpPr>
        <p:spPr>
          <a:xfrm>
            <a:off x="548640" y="2834640"/>
            <a:ext cx="11091672" cy="1234440"/>
          </a:xfrm>
          <a:prstGeom prst="rect">
            <a:avLst/>
          </a:prstGeom>
          <a:solidFill>
            <a:srgbClr val="ECEFF1"/>
          </a:solidFill>
          <a:ln w="12700">
            <a:solidFill>
              <a:srgbClr val="EEEEEE"/>
            </a:solidFill>
            <a:prstDash val="solid"/>
          </a:ln>
        </p:spPr>
        <p:txBody>
          <a:bodyPr/>
          <a:lstStyle/>
          <a:p>
            <a:endParaRPr lang="es-ES"/>
          </a:p>
        </p:txBody>
      </p:sp>
      <p:sp>
        <p:nvSpPr>
          <p:cNvPr id="9" name="Shape 7"/>
          <p:cNvSpPr/>
          <p:nvPr/>
        </p:nvSpPr>
        <p:spPr>
          <a:xfrm>
            <a:off x="548640" y="2834640"/>
            <a:ext cx="73152" cy="1234440"/>
          </a:xfrm>
          <a:prstGeom prst="rect">
            <a:avLst/>
          </a:prstGeom>
          <a:solidFill>
            <a:srgbClr val="FFA000"/>
          </a:solidFill>
          <a:ln w="12700">
            <a:solidFill>
              <a:srgbClr val="FFA000"/>
            </a:solidFill>
            <a:prstDash val="solid"/>
          </a:ln>
        </p:spPr>
        <p:txBody>
          <a:bodyPr/>
          <a:lstStyle/>
          <a:p>
            <a:endParaRPr lang="es-ES"/>
          </a:p>
        </p:txBody>
      </p:sp>
      <p:sp>
        <p:nvSpPr>
          <p:cNvPr id="10" name="Text 8"/>
          <p:cNvSpPr/>
          <p:nvPr/>
        </p:nvSpPr>
        <p:spPr>
          <a:xfrm>
            <a:off x="822960" y="2944368"/>
            <a:ext cx="10588752" cy="1014984"/>
          </a:xfrm>
          <a:prstGeom prst="rect">
            <a:avLst/>
          </a:prstGeom>
          <a:noFill/>
          <a:ln/>
        </p:spPr>
        <p:txBody>
          <a:bodyPr wrap="square" rtlCol="0" anchor="t"/>
          <a:lstStyle/>
          <a:p>
            <a:pPr marL="0" indent="0">
              <a:buNone/>
            </a:pPr>
            <a:r>
              <a:rPr lang="en-US" sz="1500" dirty="0">
                <a:solidFill>
                  <a:srgbClr val="263238"/>
                </a:solidFill>
                <a:latin typeface="Courier New" pitchFamily="34" charset="0"/>
                <a:ea typeface="Courier New" pitchFamily="34" charset="-122"/>
                <a:cs typeface="Courier New" pitchFamily="34" charset="-120"/>
              </a:rPr>
              <a:t>// Cliente</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client.subscribe('/topic/actividad', function (mensaje)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console.log('Ha llegado un aviso:', mensaje.body);</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a:t>
            </a:r>
            <a:endParaRPr lang="en-US" sz="1500" dirty="0"/>
          </a:p>
        </p:txBody>
      </p:sp>
      <p:sp>
        <p:nvSpPr>
          <p:cNvPr id="11" name="Shape 9"/>
          <p:cNvSpPr/>
          <p:nvPr/>
        </p:nvSpPr>
        <p:spPr>
          <a:xfrm>
            <a:off x="548640" y="4297680"/>
            <a:ext cx="11091672" cy="777240"/>
          </a:xfrm>
          <a:prstGeom prst="roundRect">
            <a:avLst/>
          </a:prstGeom>
          <a:solidFill>
            <a:srgbClr val="FFF3E0"/>
          </a:solidFill>
          <a:ln w="19050">
            <a:solidFill>
              <a:srgbClr val="FFA000"/>
            </a:solidFill>
            <a:prstDash val="solid"/>
          </a:ln>
        </p:spPr>
        <p:txBody>
          <a:bodyPr/>
          <a:lstStyle/>
          <a:p>
            <a:endParaRPr lang="es-ES"/>
          </a:p>
        </p:txBody>
      </p:sp>
      <p:sp>
        <p:nvSpPr>
          <p:cNvPr id="12" name="Text 10"/>
          <p:cNvSpPr/>
          <p:nvPr/>
        </p:nvSpPr>
        <p:spPr>
          <a:xfrm>
            <a:off x="822960" y="4389120"/>
            <a:ext cx="10543032" cy="594360"/>
          </a:xfrm>
          <a:prstGeom prst="rect">
            <a:avLst/>
          </a:prstGeom>
          <a:noFill/>
          <a:ln/>
        </p:spPr>
        <p:txBody>
          <a:bodyPr wrap="square" rtlCol="0" anchor="ctr"/>
          <a:lstStyle/>
          <a:p>
            <a:pPr marL="0" indent="0">
              <a:buNone/>
            </a:pPr>
            <a:r>
              <a:rPr lang="en-US" sz="1700" dirty="0">
                <a:solidFill>
                  <a:srgbClr val="212121"/>
                </a:solidFill>
                <a:latin typeface="Arial" pitchFamily="34" charset="0"/>
                <a:ea typeface="Arial" pitchFamily="34" charset="-122"/>
                <a:cs typeface="Arial" pitchFamily="34" charset="-120"/>
              </a:rPr>
              <a:t>Publicador y suscriptor tienen que escribir el mismo nombre, carácter a carácter, para encontrarse — no se declara en un sitio central.</a:t>
            </a:r>
            <a:endParaRPr lang="en-US" sz="1700" dirty="0"/>
          </a:p>
        </p:txBody>
      </p:sp>
      <p:sp>
        <p:nvSpPr>
          <p:cNvPr id="13" name="Text 11"/>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4 · WebSocket con STOMP</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La diferencia clave con RabbitMQ</a:t>
            </a:r>
            <a:endParaRPr lang="en-US" sz="2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3" cy="3840480"/>
        </p:xfrm>
        <a:graphic>
          <a:graphicData uri="http://schemas.openxmlformats.org/drawingml/2006/table">
            <a:tbl>
              <a:tblPr/>
              <a:tblGrid>
                <a:gridCol w="2883835">
                  <a:extLst>
                    <a:ext uri="{9D8B030D-6E8A-4147-A177-3AD203B41FA5}">
                      <a16:colId xmlns:a16="http://schemas.microsoft.com/office/drawing/2014/main" val="20000"/>
                    </a:ext>
                  </a:extLst>
                </a:gridCol>
                <a:gridCol w="4103919">
                  <a:extLst>
                    <a:ext uri="{9D8B030D-6E8A-4147-A177-3AD203B41FA5}">
                      <a16:colId xmlns:a16="http://schemas.microsoft.com/office/drawing/2014/main" val="20001"/>
                    </a:ext>
                  </a:extLst>
                </a:gridCol>
                <a:gridCol w="4103919">
                  <a:extLst>
                    <a:ext uri="{9D8B030D-6E8A-4147-A177-3AD203B41FA5}">
                      <a16:colId xmlns:a16="http://schemas.microsoft.com/office/drawing/2014/main" val="20002"/>
                    </a:ext>
                  </a:extLst>
                </a:gridCol>
              </a:tblGrid>
              <a:tr h="960120">
                <a:tc>
                  <a:txBody>
                    <a:bodyPr/>
                    <a:lstStyle/>
                    <a:p>
                      <a:pPr marL="0" indent="0" algn="ctr">
                        <a:buNone/>
                      </a:pP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RabbitMQ (Tema 3)</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STOMP</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extLst>
                  <a:ext uri="{0D108BD9-81ED-4DB2-BD59-A6C34878D82A}">
                    <a16:rowId xmlns:a16="http://schemas.microsoft.com/office/drawing/2014/main" val="10000"/>
                  </a:ext>
                </a:extLst>
              </a:tr>
              <a:tr h="960120">
                <a:tc>
                  <a:txBody>
                    <a:bodyPr/>
                    <a:lstStyle/>
                    <a:p>
                      <a:pPr marL="0" indent="0">
                        <a:buNone/>
                      </a:pPr>
                      <a:r>
                        <a:rPr lang="en-US" sz="1400" b="1" dirty="0">
                          <a:solidFill>
                            <a:srgbClr val="212121"/>
                          </a:solidFill>
                          <a:latin typeface="Arial" pitchFamily="34" charset="0"/>
                          <a:ea typeface="Arial" pitchFamily="34" charset="-122"/>
                          <a:cs typeface="Arial" pitchFamily="34" charset="-120"/>
                        </a:rPr>
                        <a:t>Qué declaras en la configuración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Cada cola, con su propio @Bean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Solo el prefijo ("/topic")</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60120">
                <a:tc>
                  <a:txBody>
                    <a:bodyPr/>
                    <a:lstStyle/>
                    <a:p>
                      <a:pPr marL="0" indent="0">
                        <a:buNone/>
                      </a:pPr>
                      <a:r>
                        <a:rPr lang="en-US" sz="1400" b="1" dirty="0">
                          <a:solidFill>
                            <a:srgbClr val="212121"/>
                          </a:solidFill>
                          <a:latin typeface="Arial" pitchFamily="34" charset="0"/>
                          <a:ea typeface="Arial" pitchFamily="34" charset="-122"/>
                          <a:cs typeface="Arial" pitchFamily="34" charset="-120"/>
                        </a:rPr>
                        <a:t>Dónde aparece el nombre concreto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En la propia declaración de la cola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Solo donde se publica y donde se suscribe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960120">
                <a:tc>
                  <a:txBody>
                    <a:bodyPr/>
                    <a:lstStyle/>
                    <a:p>
                      <a:pPr marL="0" indent="0">
                        <a:buNone/>
                      </a:pPr>
                      <a:r>
                        <a:rPr lang="en-US" sz="1400" b="1" dirty="0">
                          <a:solidFill>
                            <a:srgbClr val="212121"/>
                          </a:solidFill>
                          <a:latin typeface="Arial" pitchFamily="34" charset="0"/>
                          <a:ea typeface="Arial" pitchFamily="34" charset="-122"/>
                          <a:cs typeface="Arial" pitchFamily="34" charset="-120"/>
                        </a:rPr>
                        <a:t>Si publicador y receptor no coinciden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binding y la routing key deciden si llega; si no encajan, puede quedar sin enrutar</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mensaje se publica en otro destino y ese suscriptor no lo recibe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4 · WebSocket con STOMP</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Dos mundos distintos, y dónde vive cada línea</a:t>
            </a:r>
            <a:endParaRPr lang="en-US" sz="2500" dirty="0"/>
          </a:p>
        </p:txBody>
      </p:sp>
      <p:pic>
        <p:nvPicPr>
          <p:cNvPr id="4" name="Image 0" descr="C:/Users/Aitor/docxgen/img/servidor_navegador_mundos.png"/>
          <p:cNvPicPr>
            <a:picLocks noChangeAspect="1"/>
          </p:cNvPicPr>
          <p:nvPr/>
        </p:nvPicPr>
        <p:blipFill>
          <a:blip r:embed="rId3"/>
          <a:stretch>
            <a:fillRect/>
          </a:stretch>
        </p:blipFill>
        <p:spPr>
          <a:xfrm>
            <a:off x="986145" y="1371600"/>
            <a:ext cx="10216662" cy="1600200"/>
          </a:xfrm>
          <a:prstGeom prst="rect">
            <a:avLst/>
          </a:prstGeom>
        </p:spPr>
      </p:pic>
      <p:sp>
        <p:nvSpPr>
          <p:cNvPr id="5" name="Text 2"/>
          <p:cNvSpPr/>
          <p:nvPr/>
        </p:nvSpPr>
        <p:spPr>
          <a:xfrm>
            <a:off x="548640" y="3337560"/>
            <a:ext cx="11091672" cy="1737360"/>
          </a:xfrm>
          <a:prstGeom prst="rect">
            <a:avLst/>
          </a:prstGeom>
          <a:noFill/>
          <a:ln/>
        </p:spPr>
        <p:txBody>
          <a:bodyPr wrap="square" rtlCol="0" anchor="t"/>
          <a:lstStyle/>
          <a:p>
            <a:pPr marL="190500" indent="-190500">
              <a:spcAft>
                <a:spcPts val="1200"/>
              </a:spcAft>
              <a:buSzPct val="100000"/>
              <a:buChar char="•"/>
            </a:pPr>
            <a:r>
              <a:rPr lang="en-US" sz="1800" dirty="0">
                <a:solidFill>
                  <a:srgbClr val="212121"/>
                </a:solidFill>
                <a:latin typeface="Arial" pitchFamily="34" charset="0"/>
                <a:ea typeface="Arial" pitchFamily="34" charset="-122"/>
                <a:cs typeface="Arial" pitchFamily="34" charset="-120"/>
              </a:rPr>
              <a:t>Java (WebSocketConfig, messagingTemplate.convertAndSend) vive en tu proyecto Spring: se compila con Maven, mismo servidor de siempre.</a:t>
            </a:r>
            <a:endParaRPr lang="en-US" sz="1800" dirty="0"/>
          </a:p>
          <a:p>
            <a:pPr marL="190500" indent="-190500">
              <a:spcAft>
                <a:spcPts val="1200"/>
              </a:spcAft>
              <a:buSzPct val="100000"/>
              <a:buChar char="•"/>
            </a:pPr>
            <a:r>
              <a:rPr lang="en-US" sz="1800" dirty="0">
                <a:solidFill>
                  <a:srgbClr val="212121"/>
                </a:solidFill>
                <a:latin typeface="Arial" pitchFamily="34" charset="0"/>
                <a:ea typeface="Arial" pitchFamily="34" charset="-122"/>
                <a:cs typeface="Arial" pitchFamily="34" charset="-120"/>
              </a:rPr>
              <a:t>JavaScript del cliente no lo ejecutas tú: es un fichero en src/main/resources/static/ que ejecuta el navegador de quien lo visita, sin compilar nada.</a:t>
            </a:r>
            <a:endParaRPr lang="en-US" sz="1800" dirty="0"/>
          </a:p>
        </p:txBody>
      </p:sp>
      <p:sp>
        <p:nvSpPr>
          <p:cNvPr id="6" name="Text 3"/>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4 · WebSocket con STOMP</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Dónde escribes tú esa línea, en tu propio proyecto</a:t>
            </a:r>
            <a:endParaRPr lang="en-US" sz="2500" dirty="0"/>
          </a:p>
        </p:txBody>
      </p:sp>
      <p:sp>
        <p:nvSpPr>
          <p:cNvPr id="4" name="Shape 2"/>
          <p:cNvSpPr/>
          <p:nvPr/>
        </p:nvSpPr>
        <p:spPr>
          <a:xfrm>
            <a:off x="548640" y="1097280"/>
            <a:ext cx="11091672" cy="3246120"/>
          </a:xfrm>
          <a:prstGeom prst="rect">
            <a:avLst/>
          </a:prstGeom>
          <a:solidFill>
            <a:srgbClr val="ECEFF1"/>
          </a:solidFill>
          <a:ln w="12700">
            <a:solidFill>
              <a:srgbClr val="EEEEEE"/>
            </a:solidFill>
            <a:prstDash val="solid"/>
          </a:ln>
        </p:spPr>
        <p:txBody>
          <a:bodyPr/>
          <a:lstStyle/>
          <a:p>
            <a:endParaRPr lang="es-ES"/>
          </a:p>
        </p:txBody>
      </p:sp>
      <p:sp>
        <p:nvSpPr>
          <p:cNvPr id="5" name="Shape 3"/>
          <p:cNvSpPr/>
          <p:nvPr/>
        </p:nvSpPr>
        <p:spPr>
          <a:xfrm>
            <a:off x="548640" y="1097280"/>
            <a:ext cx="73152" cy="3246120"/>
          </a:xfrm>
          <a:prstGeom prst="rect">
            <a:avLst/>
          </a:prstGeom>
          <a:solidFill>
            <a:srgbClr val="FFA000"/>
          </a:solidFill>
          <a:ln w="12700">
            <a:solidFill>
              <a:srgbClr val="FFA000"/>
            </a:solidFill>
            <a:prstDash val="solid"/>
          </a:ln>
        </p:spPr>
        <p:txBody>
          <a:bodyPr/>
          <a:lstStyle/>
          <a:p>
            <a:endParaRPr lang="es-ES"/>
          </a:p>
        </p:txBody>
      </p:sp>
      <p:sp>
        <p:nvSpPr>
          <p:cNvPr id="6" name="Text 4"/>
          <p:cNvSpPr/>
          <p:nvPr/>
        </p:nvSpPr>
        <p:spPr>
          <a:xfrm>
            <a:off x="822960" y="1207008"/>
            <a:ext cx="10588752" cy="3026664"/>
          </a:xfrm>
          <a:prstGeom prst="rect">
            <a:avLst/>
          </a:prstGeom>
          <a:noFill/>
          <a:ln/>
        </p:spPr>
        <p:txBody>
          <a:bodyPr wrap="square" rtlCol="0" anchor="t"/>
          <a:lstStyle/>
          <a:p>
            <a:pPr marL="0" indent="0">
              <a:buNone/>
            </a:pPr>
            <a:r>
              <a:rPr lang="en-US" sz="1500" dirty="0">
                <a:solidFill>
                  <a:srgbClr val="263238"/>
                </a:solidFill>
                <a:latin typeface="Courier New" pitchFamily="34" charset="0"/>
                <a:ea typeface="Courier New" pitchFamily="34" charset="-122"/>
                <a:cs typeface="Courier New" pitchFamily="34" charset="-120"/>
              </a:rPr>
              <a:t>@Service</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@RequiredArgsConstructor</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public class NotaLecturaService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private final NotaLecturaRepository notaLecturaRepository;</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private final SimpMessagingTemplate messagingTemplate; // pieza nueva</a:t>
            </a:r>
            <a:endParaRPr lang="en-US" sz="1500" dirty="0"/>
          </a:p>
          <a:p>
            <a:pPr marL="0" indent="0">
              <a:buNone/>
            </a:pP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public NotaLectura crear(NotaLecturaCreateDTO dto)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NotaLectura guardada = notaLecturaRepository.save(mapToEntity(dto));</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messagingTemplate.convertAndSend("/topic/notas", guardada); // pieza nueva</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return guardada;</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    }</a:t>
            </a:r>
            <a:endParaRPr lang="en-US" sz="1500" dirty="0"/>
          </a:p>
          <a:p>
            <a:pPr marL="0" indent="0">
              <a:buNone/>
            </a:pPr>
            <a:r>
              <a:rPr lang="en-US" sz="1500" dirty="0">
                <a:solidFill>
                  <a:srgbClr val="263238"/>
                </a:solidFill>
                <a:latin typeface="Courier New" pitchFamily="34" charset="0"/>
                <a:ea typeface="Courier New" pitchFamily="34" charset="-122"/>
                <a:cs typeface="Courier New" pitchFamily="34" charset="-120"/>
              </a:rPr>
              <a:t>}</a:t>
            </a:r>
            <a:endParaRPr lang="en-US" sz="1500" dirty="0"/>
          </a:p>
        </p:txBody>
      </p:sp>
      <p:sp>
        <p:nvSpPr>
          <p:cNvPr id="7" name="Text 5"/>
          <p:cNvSpPr/>
          <p:nvPr/>
        </p:nvSpPr>
        <p:spPr>
          <a:xfrm>
            <a:off x="548640" y="4617720"/>
            <a:ext cx="11091672" cy="777240"/>
          </a:xfrm>
          <a:prstGeom prst="rect">
            <a:avLst/>
          </a:prstGeom>
          <a:noFill/>
          <a:ln/>
        </p:spPr>
        <p:txBody>
          <a:bodyPr wrap="square" rtlCol="0" anchor="t"/>
          <a:lstStyle/>
          <a:p>
            <a:pPr marL="0" indent="0">
              <a:buNone/>
            </a:pPr>
            <a:r>
              <a:rPr lang="en-US" sz="1600" dirty="0">
                <a:solidFill>
                  <a:srgbClr val="212121"/>
                </a:solidFill>
                <a:latin typeface="Arial" pitchFamily="34" charset="0"/>
                <a:ea typeface="Arial" pitchFamily="34" charset="-122"/>
                <a:cs typeface="Arial" pitchFamily="34" charset="-120"/>
              </a:rPr>
              <a:t>SimpMessagingTemplate se inyecta por constructor igual que cualquier repositorio o servicio ya conocido — el mismo método que guardaba en base de datos, ahora también publica por WebSocket.</a:t>
            </a:r>
            <a:endParaRPr lang="en-US" sz="1600" dirty="0"/>
          </a:p>
        </p:txBody>
      </p:sp>
      <p:sp>
        <p:nvSpPr>
          <p:cNvPr id="8" name="Text 6"/>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4 · WebSocket con STOMP</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Dos preguntas frecuentes</a:t>
            </a:r>
            <a:endParaRPr lang="en-US" sz="2500" dirty="0"/>
          </a:p>
        </p:txBody>
      </p:sp>
      <p:sp>
        <p:nvSpPr>
          <p:cNvPr id="4" name="Shape 2"/>
          <p:cNvSpPr/>
          <p:nvPr/>
        </p:nvSpPr>
        <p:spPr>
          <a:xfrm>
            <a:off x="548640" y="1508760"/>
            <a:ext cx="11091672" cy="1737360"/>
          </a:xfrm>
          <a:prstGeom prst="roundRect">
            <a:avLst/>
          </a:prstGeom>
          <a:solidFill>
            <a:srgbClr val="FFF3E0"/>
          </a:solidFill>
          <a:ln w="28575">
            <a:solidFill>
              <a:srgbClr val="FFA000"/>
            </a:solidFill>
            <a:prstDash val="solid"/>
          </a:ln>
        </p:spPr>
        <p:txBody>
          <a:bodyPr/>
          <a:lstStyle/>
          <a:p>
            <a:endParaRPr lang="es-ES"/>
          </a:p>
        </p:txBody>
      </p:sp>
      <p:sp>
        <p:nvSpPr>
          <p:cNvPr id="5" name="Text 3"/>
          <p:cNvSpPr/>
          <p:nvPr/>
        </p:nvSpPr>
        <p:spPr>
          <a:xfrm>
            <a:off x="822960" y="1618488"/>
            <a:ext cx="10543032" cy="1517904"/>
          </a:xfrm>
          <a:prstGeom prst="rect">
            <a:avLst/>
          </a:prstGeom>
          <a:noFill/>
          <a:ln/>
        </p:spPr>
        <p:txBody>
          <a:bodyPr wrap="square" rtlCol="0" anchor="t"/>
          <a:lstStyle/>
          <a:p>
            <a:pPr marL="0" indent="0">
              <a:buNone/>
            </a:pPr>
            <a:r>
              <a:rPr lang="en-US" sz="1900" b="1" dirty="0">
                <a:solidFill>
                  <a:srgbClr val="4E342E"/>
                </a:solidFill>
                <a:latin typeface="Arial" pitchFamily="34" charset="0"/>
                <a:ea typeface="Arial" pitchFamily="34" charset="-122"/>
                <a:cs typeface="Arial" pitchFamily="34" charset="-120"/>
              </a:rPr>
              <a:t>¿El cliente recibe el objeto guardada tal cual?
</a:t>
            </a:r>
            <a:endParaRPr lang="en-US" sz="1900" dirty="0"/>
          </a:p>
          <a:p>
            <a:pPr marL="0" indent="0">
              <a:buNone/>
            </a:pPr>
            <a:r>
              <a:rPr lang="en-US" sz="1800" dirty="0">
                <a:solidFill>
                  <a:srgbClr val="212121"/>
                </a:solidFill>
                <a:latin typeface="Arial" pitchFamily="34" charset="0"/>
                <a:ea typeface="Arial" pitchFamily="34" charset="-122"/>
                <a:cs typeface="Arial" pitchFamily="34" charset="-120"/>
              </a:rPr>
              <a:t>No. convertAndSend(destino, objeto) lo convierte primero a JSON, igual que Spring hace con cualquier respuesta REST. En JavaScript, mensaje.body es una cadena de texto: hace falta JSON.parse(mensaje.body) antes de leer sus campos.</a:t>
            </a:r>
            <a:endParaRPr lang="en-US" sz="1900" dirty="0"/>
          </a:p>
        </p:txBody>
      </p:sp>
      <p:sp>
        <p:nvSpPr>
          <p:cNvPr id="6" name="Shape 4"/>
          <p:cNvSpPr/>
          <p:nvPr/>
        </p:nvSpPr>
        <p:spPr>
          <a:xfrm>
            <a:off x="548640" y="3566160"/>
            <a:ext cx="11091672" cy="1737360"/>
          </a:xfrm>
          <a:prstGeom prst="roundRect">
            <a:avLst/>
          </a:prstGeom>
          <a:solidFill>
            <a:srgbClr val="FFF3E0"/>
          </a:solidFill>
          <a:ln w="28575">
            <a:solidFill>
              <a:srgbClr val="FFA000"/>
            </a:solidFill>
            <a:prstDash val="solid"/>
          </a:ln>
        </p:spPr>
        <p:txBody>
          <a:bodyPr/>
          <a:lstStyle/>
          <a:p>
            <a:endParaRPr lang="es-ES"/>
          </a:p>
        </p:txBody>
      </p:sp>
      <p:sp>
        <p:nvSpPr>
          <p:cNvPr id="7" name="Text 5"/>
          <p:cNvSpPr/>
          <p:nvPr/>
        </p:nvSpPr>
        <p:spPr>
          <a:xfrm>
            <a:off x="822960" y="3675888"/>
            <a:ext cx="10543032" cy="1517904"/>
          </a:xfrm>
          <a:prstGeom prst="rect">
            <a:avLst/>
          </a:prstGeom>
          <a:noFill/>
          <a:ln/>
        </p:spPr>
        <p:txBody>
          <a:bodyPr wrap="square" rtlCol="0" anchor="t"/>
          <a:lstStyle/>
          <a:p>
            <a:pPr marL="0" indent="0">
              <a:buNone/>
            </a:pPr>
            <a:r>
              <a:rPr lang="en-US" sz="1900" b="1" dirty="0">
                <a:solidFill>
                  <a:srgbClr val="4E342E"/>
                </a:solidFill>
                <a:latin typeface="Arial" pitchFamily="34" charset="0"/>
                <a:ea typeface="Arial" pitchFamily="34" charset="-122"/>
                <a:cs typeface="Arial" pitchFamily="34" charset="-120"/>
              </a:rPr>
              <a:t>¿En qué hilo se ejecuta ese convertAndSend?
</a:t>
            </a:r>
            <a:endParaRPr lang="en-US" sz="1900" dirty="0"/>
          </a:p>
          <a:p>
            <a:pPr marL="0" indent="0">
              <a:buNone/>
            </a:pPr>
            <a:r>
              <a:rPr lang="en-US" sz="1800" dirty="0">
                <a:solidFill>
                  <a:srgbClr val="212121"/>
                </a:solidFill>
                <a:latin typeface="Arial" pitchFamily="34" charset="0"/>
                <a:ea typeface="Arial" pitchFamily="34" charset="-122"/>
                <a:cs typeface="Arial" pitchFamily="34" charset="-120"/>
              </a:rPr>
              <a:t>En tu proyecto real, registrar(...) lo llama el consumer de RabbitMQ (Tema 3), desde uno de sus hilos de escucha, no desde el hilo de Tomcat que atendió la petición original. Spring distribuye el mensaje mediante su propia infraestructura de mensajería.</a:t>
            </a:r>
            <a:endParaRPr lang="en-US" sz="1900" dirty="0"/>
          </a:p>
        </p:txBody>
      </p:sp>
      <p:sp>
        <p:nvSpPr>
          <p:cNvPr id="8" name="Text 6"/>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4 · WebSocket con STOMP</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Comparado con lo que ya conoces</a:t>
            </a:r>
            <a:endParaRPr lang="en-US" sz="2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91673" cy="3291840"/>
        </p:xfrm>
        <a:graphic>
          <a:graphicData uri="http://schemas.openxmlformats.org/drawingml/2006/table">
            <a:tbl>
              <a:tblPr/>
              <a:tblGrid>
                <a:gridCol w="2883835">
                  <a:extLst>
                    <a:ext uri="{9D8B030D-6E8A-4147-A177-3AD203B41FA5}">
                      <a16:colId xmlns:a16="http://schemas.microsoft.com/office/drawing/2014/main" val="20000"/>
                    </a:ext>
                  </a:extLst>
                </a:gridCol>
                <a:gridCol w="4103919">
                  <a:extLst>
                    <a:ext uri="{9D8B030D-6E8A-4147-A177-3AD203B41FA5}">
                      <a16:colId xmlns:a16="http://schemas.microsoft.com/office/drawing/2014/main" val="20001"/>
                    </a:ext>
                  </a:extLst>
                </a:gridCol>
                <a:gridCol w="4103919">
                  <a:extLst>
                    <a:ext uri="{9D8B030D-6E8A-4147-A177-3AD203B41FA5}">
                      <a16:colId xmlns:a16="http://schemas.microsoft.com/office/drawing/2014/main" val="20002"/>
                    </a:ext>
                  </a:extLst>
                </a:gridCol>
              </a:tblGrid>
              <a:tr h="658368">
                <a:tc>
                  <a:txBody>
                    <a:bodyPr/>
                    <a:lstStyle/>
                    <a:p>
                      <a:pPr marL="0" indent="0" algn="ctr">
                        <a:buNone/>
                      </a:pP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REST</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WebSocket</a:t>
                      </a:r>
                      <a:endParaRPr lang="en-US" sz="16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6D4C41"/>
                    </a:solidFill>
                  </a:tcPr>
                </a:tc>
                <a:extLst>
                  <a:ext uri="{0D108BD9-81ED-4DB2-BD59-A6C34878D82A}">
                    <a16:rowId xmlns:a16="http://schemas.microsoft.com/office/drawing/2014/main" val="10000"/>
                  </a:ext>
                </a:extLst>
              </a:tr>
              <a:tr h="658368">
                <a:tc>
                  <a:txBody>
                    <a:bodyPr/>
                    <a:lstStyle/>
                    <a:p>
                      <a:pPr marL="0" indent="0">
                        <a:buNone/>
                      </a:pPr>
                      <a:r>
                        <a:rPr lang="en-US" sz="1400" b="1" dirty="0">
                          <a:solidFill>
                            <a:srgbClr val="212121"/>
                          </a:solidFill>
                          <a:latin typeface="Arial" pitchFamily="34" charset="0"/>
                          <a:ea typeface="Arial" pitchFamily="34" charset="-122"/>
                          <a:cs typeface="Arial" pitchFamily="34" charset="-120"/>
                        </a:rPr>
                        <a:t>Quién inicia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cliente, cada vez</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cliente, una vez (la conexión inicial)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400" b="1" dirty="0">
                          <a:solidFill>
                            <a:srgbClr val="212121"/>
                          </a:solidFill>
                          <a:latin typeface="Arial" pitchFamily="34" charset="0"/>
                          <a:ea typeface="Arial" pitchFamily="34" charset="-122"/>
                          <a:cs typeface="Arial" pitchFamily="34" charset="-120"/>
                        </a:rPr>
                        <a:t>Respuestas por petición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Una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Ninguna fija — el servidor envía cuando quiere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658368">
                <a:tc>
                  <a:txBody>
                    <a:bodyPr/>
                    <a:lstStyle/>
                    <a:p>
                      <a:pPr marL="0" indent="0">
                        <a:buNone/>
                      </a:pPr>
                      <a:r>
                        <a:rPr lang="en-US" sz="1400" b="1" dirty="0">
                          <a:solidFill>
                            <a:srgbClr val="212121"/>
                          </a:solidFill>
                          <a:latin typeface="Arial" pitchFamily="34" charset="0"/>
                          <a:ea typeface="Arial" pitchFamily="34" charset="-122"/>
                          <a:cs typeface="Arial" pitchFamily="34" charset="-120"/>
                        </a:rPr>
                        <a:t>Duración de la conexión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Corta, se cierra tras la respuesta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Persistente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400" b="1" dirty="0">
                          <a:solidFill>
                            <a:srgbClr val="212121"/>
                          </a:solidFill>
                          <a:latin typeface="Arial" pitchFamily="34" charset="0"/>
                          <a:ea typeface="Arial" pitchFamily="34" charset="-122"/>
                          <a:cs typeface="Arial" pitchFamily="34" charset="-120"/>
                        </a:rPr>
                        <a:t>Caso de uso típico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Consultas bajo demanda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Notificaciones en tiempo real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5" name="Shape 2"/>
          <p:cNvSpPr/>
          <p:nvPr/>
        </p:nvSpPr>
        <p:spPr>
          <a:xfrm>
            <a:off x="548640" y="4663440"/>
            <a:ext cx="11091672" cy="1051560"/>
          </a:xfrm>
          <a:prstGeom prst="roundRect">
            <a:avLst/>
          </a:prstGeom>
          <a:solidFill>
            <a:srgbClr val="FFF3E0"/>
          </a:solidFill>
          <a:ln w="19050">
            <a:solidFill>
              <a:srgbClr val="FFA000"/>
            </a:solidFill>
            <a:prstDash val="solid"/>
          </a:ln>
        </p:spPr>
        <p:txBody>
          <a:bodyPr/>
          <a:lstStyle/>
          <a:p>
            <a:endParaRPr lang="es-ES"/>
          </a:p>
        </p:txBody>
      </p:sp>
      <p:sp>
        <p:nvSpPr>
          <p:cNvPr id="6" name="Text 3"/>
          <p:cNvSpPr/>
          <p:nvPr/>
        </p:nvSpPr>
        <p:spPr>
          <a:xfrm>
            <a:off x="822960" y="4754880"/>
            <a:ext cx="10543032" cy="868680"/>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La comparación conceptual más directa sigue siendo con ApplicationEventPublisher, no con RabbitMQ: ambos siguen un modelo de publicación-suscripción. Y la concurrencia de los navegadores la gestiona Spring, no tú — aquí no escribes ningún Thread.</a:t>
            </a:r>
            <a:endParaRPr lang="en-US" sz="1600" dirty="0"/>
          </a:p>
        </p:txBody>
      </p:sp>
      <p:sp>
        <p:nvSpPr>
          <p:cNvPr id="7" name="Text 4"/>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4 · WebSocket con STOMP</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4E342E"/>
          </a:solidFill>
          <a:ln w="12700">
            <a:solidFill>
              <a:srgbClr val="4E342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500" b="1" dirty="0">
                <a:solidFill>
                  <a:srgbClr val="FFFFFF"/>
                </a:solidFill>
                <a:latin typeface="Arial" pitchFamily="34" charset="0"/>
                <a:ea typeface="Arial" pitchFamily="34" charset="-122"/>
                <a:cs typeface="Arial" pitchFamily="34" charset="-120"/>
              </a:rPr>
              <a:t>Ideas clave</a:t>
            </a:r>
            <a:endParaRPr lang="en-US" sz="2500" dirty="0"/>
          </a:p>
        </p:txBody>
      </p:sp>
      <p:sp>
        <p:nvSpPr>
          <p:cNvPr id="4" name="Text 2"/>
          <p:cNvSpPr/>
          <p:nvPr/>
        </p:nvSpPr>
        <p:spPr>
          <a:xfrm>
            <a:off x="548640" y="1234440"/>
            <a:ext cx="11091672" cy="4663440"/>
          </a:xfrm>
          <a:prstGeom prst="rect">
            <a:avLst/>
          </a:prstGeom>
          <a:noFill/>
          <a:ln/>
        </p:spPr>
        <p:txBody>
          <a:bodyPr wrap="square" rtlCol="0" anchor="t"/>
          <a:lstStyle/>
          <a:p>
            <a:pPr marL="342900" indent="-342900">
              <a:spcAft>
                <a:spcPts val="800"/>
              </a:spcAft>
              <a:buSzPct val="100000"/>
              <a:buChar char="•"/>
            </a:pPr>
            <a:r>
              <a:rPr lang="en-US" sz="1800" dirty="0">
                <a:solidFill>
                  <a:srgbClr val="212121"/>
                </a:solidFill>
                <a:latin typeface="Arial" pitchFamily="34" charset="0"/>
                <a:ea typeface="Arial" pitchFamily="34" charset="-122"/>
                <a:cs typeface="Arial" pitchFamily="34" charset="-120"/>
              </a:rPr>
              <a:t>El problema de fondo: con petición-respuesta puro, el cliente siempre pregunta primero. Recargar, polling y long polling son soluciones parciales al mismo problema.</a:t>
            </a:r>
            <a:endParaRPr lang="en-US" sz="1800" dirty="0"/>
          </a:p>
          <a:p>
            <a:pPr marL="342900" indent="-342900">
              <a:spcAft>
                <a:spcPts val="800"/>
              </a:spcAft>
              <a:buSzPct val="100000"/>
              <a:buChar char="•"/>
            </a:pPr>
            <a:r>
              <a:rPr lang="en-US" sz="1800" dirty="0">
                <a:solidFill>
                  <a:srgbClr val="212121"/>
                </a:solidFill>
                <a:latin typeface="Arial" pitchFamily="34" charset="0"/>
                <a:ea typeface="Arial" pitchFamily="34" charset="-122"/>
                <a:cs typeface="Arial" pitchFamily="34" charset="-120"/>
              </a:rPr>
              <a:t>WebSocket es el canal bidireccional persistente: petición HTTP inicial con cabecera Upgrade, después conexión permanente donde el servidor envía sin que el cliente pregunte, y el cliente recibe por callback.</a:t>
            </a:r>
            <a:endParaRPr lang="en-US" sz="1800" dirty="0"/>
          </a:p>
          <a:p>
            <a:pPr marL="342900" indent="-342900">
              <a:spcAft>
                <a:spcPts val="800"/>
              </a:spcAft>
              <a:buSzPct val="100000"/>
              <a:buChar char="•"/>
            </a:pPr>
            <a:r>
              <a:rPr lang="en-US" sz="1800" dirty="0">
                <a:solidFill>
                  <a:srgbClr val="212121"/>
                </a:solidFill>
                <a:latin typeface="Arial" pitchFamily="34" charset="0"/>
                <a:ea typeface="Arial" pitchFamily="34" charset="-122"/>
                <a:cs typeface="Arial" pitchFamily="34" charset="-120"/>
              </a:rPr>
              <a:t>STOMP añade semántica de mensajería (destinos, suscripciones) sobre WebSocket. @EnableWebSocketMessageBroker + registerStompEndpoints + configureMessageBroker son las tres piezas de configuración base.</a:t>
            </a:r>
            <a:endParaRPr lang="en-US" sz="1800" dirty="0"/>
          </a:p>
          <a:p>
            <a:pPr marL="342900" indent="-342900">
              <a:spcAft>
                <a:spcPts val="800"/>
              </a:spcAft>
              <a:buSzPct val="100000"/>
              <a:buChar char="•"/>
            </a:pPr>
            <a:r>
              <a:rPr lang="en-US" sz="1800" dirty="0">
                <a:solidFill>
                  <a:srgbClr val="212121"/>
                </a:solidFill>
                <a:latin typeface="Arial" pitchFamily="34" charset="0"/>
                <a:ea typeface="Arial" pitchFamily="34" charset="-122"/>
                <a:cs typeface="Arial" pitchFamily="34" charset="-120"/>
              </a:rPr>
              <a:t>Mismo modelo pub-sub que ApplicationEventPublisher (Tema 3), pero con el suscriptor fuera de la JVM. En una cola RabbitMQ varios consumidores compiten; en un topic STOMP todos los suscriptores reciben cada publicación.</a:t>
            </a:r>
            <a:endParaRPr lang="en-US" sz="1800" dirty="0"/>
          </a:p>
        </p:txBody>
      </p:sp>
      <p:sp>
        <p:nvSpPr>
          <p:cNvPr id="5" name="Text 3"/>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Tema 4 · WebSocket con STOMP</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1752</Words>
  <Application>Microsoft Office PowerPoint</Application>
  <PresentationFormat>Panorámica</PresentationFormat>
  <Paragraphs>161</Paragraphs>
  <Slides>19</Slides>
  <Notes>19</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19</vt:i4>
      </vt:variant>
    </vt:vector>
  </HeadingPairs>
  <TitlesOfParts>
    <vt:vector size="22"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WebSocket con STOMP: el canal de actividad en vivo</dc:title>
  <dc:subject>PptxGenJS Presentation</dc:subject>
  <dc:creator>Programación de Servicios y Procesos</dc:creator>
  <cp:lastModifiedBy>VENTURA EDO, AITOR</cp:lastModifiedBy>
  <cp:revision>2</cp:revision>
  <dcterms:created xsi:type="dcterms:W3CDTF">2026-08-10T18:15:54Z</dcterms:created>
  <dcterms:modified xsi:type="dcterms:W3CDTF">2026-08-10T21:58:38Z</dcterms:modified>
</cp:coreProperties>
</file>